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heme/themeOverride2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4"/>
    <p:sldMasterId id="2147484143" r:id="rId5"/>
  </p:sldMasterIdLst>
  <p:notesMasterIdLst>
    <p:notesMasterId r:id="rId31"/>
  </p:notesMasterIdLst>
  <p:handoutMasterIdLst>
    <p:handoutMasterId r:id="rId32"/>
  </p:handoutMasterIdLst>
  <p:sldIdLst>
    <p:sldId id="2147480458" r:id="rId6"/>
    <p:sldId id="2147480501" r:id="rId7"/>
    <p:sldId id="2147480436" r:id="rId8"/>
    <p:sldId id="436" r:id="rId9"/>
    <p:sldId id="2147480480" r:id="rId10"/>
    <p:sldId id="2147480451" r:id="rId11"/>
    <p:sldId id="2147480490" r:id="rId12"/>
    <p:sldId id="2147480488" r:id="rId13"/>
    <p:sldId id="2147480470" r:id="rId14"/>
    <p:sldId id="2147480489" r:id="rId15"/>
    <p:sldId id="2147480491" r:id="rId16"/>
    <p:sldId id="2147480493" r:id="rId17"/>
    <p:sldId id="2147480481" r:id="rId18"/>
    <p:sldId id="2147480446" r:id="rId19"/>
    <p:sldId id="2147480473" r:id="rId20"/>
    <p:sldId id="2147480435" r:id="rId21"/>
    <p:sldId id="2147480483" r:id="rId22"/>
    <p:sldId id="2147480457" r:id="rId23"/>
    <p:sldId id="2147480449" r:id="rId24"/>
    <p:sldId id="2147480453" r:id="rId25"/>
    <p:sldId id="2147480460" r:id="rId26"/>
    <p:sldId id="2147480444" r:id="rId27"/>
    <p:sldId id="444" r:id="rId28"/>
    <p:sldId id="2147480201" r:id="rId29"/>
    <p:sldId id="2147480433" r:id="rId30"/>
  </p:sldIdLst>
  <p:sldSz cx="12192000" cy="6858000"/>
  <p:notesSz cx="6858000" cy="9144000"/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7140006-9459-4C7E-BFB2-E8AE377C0D79}">
          <p14:sldIdLst>
            <p14:sldId id="2147480458"/>
            <p14:sldId id="2147480501"/>
            <p14:sldId id="2147480436"/>
            <p14:sldId id="436"/>
            <p14:sldId id="2147480480"/>
            <p14:sldId id="2147480451"/>
            <p14:sldId id="2147480490"/>
            <p14:sldId id="2147480488"/>
            <p14:sldId id="2147480470"/>
            <p14:sldId id="2147480489"/>
            <p14:sldId id="2147480491"/>
            <p14:sldId id="2147480493"/>
            <p14:sldId id="2147480481"/>
            <p14:sldId id="2147480446"/>
            <p14:sldId id="2147480473"/>
            <p14:sldId id="2147480435"/>
          </p14:sldIdLst>
        </p14:section>
        <p14:section name="Appendix" id="{15208455-C6DF-403A-BDC5-278B532B61B3}">
          <p14:sldIdLst>
            <p14:sldId id="2147480483"/>
            <p14:sldId id="2147480457"/>
            <p14:sldId id="2147480449"/>
            <p14:sldId id="2147480453"/>
            <p14:sldId id="2147480460"/>
            <p14:sldId id="2147480444"/>
            <p14:sldId id="444"/>
            <p14:sldId id="2147480201"/>
            <p14:sldId id="21474804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9FBB26-463A-0A31-F3FB-D577FA1BC459}" name="Garcia, Angel" initials="AG" userId="S::Angel.Garcia2@ingrammicro.com::b3601146-c454-46ae-ad01-5191df00e7ae" providerId="AD"/>
  <p188:author id="{FA05F69A-BE81-43C2-6790-0C08C1B0E84D}" name="Gadient, Etienne" initials="EG" userId="S::Etienne.Gadient@ingrammicro.com::6d995e2e-231c-44fb-bdf9-06006cb58843" providerId="AD"/>
  <p188:author id="{DE0D12D4-1694-4921-676B-DD1D3569FF7B}" name="Gadient, Etienne" initials="GE" userId="S::etienne.gadient@ingrammicro.com::6d995e2e-231c-44fb-bdf9-06006cb58843" providerId="AD"/>
  <p188:author id="{050A7FD6-8939-5BB0-7AE3-9820A4DB721D}" name="Ajrouch, Samih" initials="SA" userId="S::Samih.Ajrouch@ingrammicro.com::a6041a44-58f0-41fe-a2ac-d4401c6a1e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66"/>
    <a:srgbClr val="00CC00"/>
    <a:srgbClr val="000000"/>
    <a:srgbClr val="0077D4"/>
    <a:srgbClr val="1570EF"/>
    <a:srgbClr val="99CCFF"/>
    <a:srgbClr val="808000"/>
    <a:srgbClr val="EFEFEF"/>
    <a:srgbClr val="147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01" autoAdjust="0"/>
  </p:normalViewPr>
  <p:slideViewPr>
    <p:cSldViewPr snapToGrid="0">
      <p:cViewPr varScale="1">
        <p:scale>
          <a:sx n="85" d="100"/>
          <a:sy n="85" d="100"/>
        </p:scale>
        <p:origin x="24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Workloads Assessed</a:t>
            </a:r>
          </a:p>
          <a:p>
            <a:pPr>
              <a:defRPr/>
            </a:pPr>
            <a:r>
              <a:rPr lang="en-US" dirty="0"/>
              <a:t>N=&lt;&gt;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'OS Quantity'!$B$1</c:f>
              <c:strCache>
                <c:ptCount val="1"/>
                <c:pt idx="0">
                  <c:v>Quantity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329-4779-A550-81B11E02B6F2}"/>
              </c:ext>
            </c:extLst>
          </c:dPt>
          <c:dPt>
            <c:idx val="1"/>
            <c:bubble3D val="0"/>
            <c:spPr>
              <a:solidFill>
                <a:schemeClr val="accent2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329-4779-A550-81B11E02B6F2}"/>
              </c:ext>
            </c:extLst>
          </c:dPt>
          <c:dPt>
            <c:idx val="2"/>
            <c:bubble3D val="0"/>
            <c:spPr>
              <a:solidFill>
                <a:schemeClr val="accent2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329-4779-A550-81B11E02B6F2}"/>
              </c:ext>
            </c:extLst>
          </c:dPt>
          <c:dPt>
            <c:idx val="3"/>
            <c:bubble3D val="0"/>
            <c:spPr>
              <a:solidFill>
                <a:schemeClr val="accent2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329-4779-A550-81B11E02B6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'OS Quantity'!$A$2:$A$3</c:f>
              <c:strCache>
                <c:ptCount val="2"/>
                <c:pt idx="0">
                  <c:v>Windows</c:v>
                </c:pt>
                <c:pt idx="1">
                  <c:v>Linux</c:v>
                </c:pt>
              </c:strCache>
            </c:strRef>
          </c:cat>
          <c:val>
            <c:numRef>
              <c:f>'OS Quantity'!$B$2:$B$3</c:f>
              <c:numCache>
                <c:formatCode>General</c:formatCode>
                <c:ptCount val="2"/>
                <c:pt idx="0">
                  <c:v>93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29-4779-A550-81B11E02B6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accent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Workloads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2C-48AC-8DED-3C5C41B9B425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2C-48AC-8DED-3C5C41B9B425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2C-48AC-8DED-3C5C41B9B425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62C-48AC-8DED-3C5C41B9B425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62C-48AC-8DED-3C5C41B9B425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62C-48AC-8DED-3C5C41B9B42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CC4FC6B-20BD-4FF0-9963-8AA542C4E9D1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, 0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62C-48AC-8DED-3C5C41B9B425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12972985581796"/>
                      <c:h val="0.1203565778389595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762C-48AC-8DED-3C5C41B9B4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Rehost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63-43FA-9ACB-E3EFAACECB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>
              <a:latin typeface="Poppins Light" panose="00000400000000000000" pitchFamily="2" charset="0"/>
              <a:cs typeface="Poppins Light" panose="00000400000000000000" pitchFamily="2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Readiness Scores</c:v>
                </c:pt>
              </c:strCache>
            </c:strRef>
          </c:tx>
          <c:spPr>
            <a:solidFill>
              <a:srgbClr val="FFFF0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FFF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7707-4350-97D6-F09AD7987732}"/>
              </c:ext>
            </c:extLst>
          </c:dPt>
          <c:dPt>
            <c:idx val="1"/>
            <c:invertIfNegative val="1"/>
            <c:bubble3D val="0"/>
            <c:spPr>
              <a:solidFill>
                <a:srgbClr val="FFFF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7707-4350-97D6-F09AD7987732}"/>
              </c:ext>
            </c:extLst>
          </c:dPt>
          <c:dPt>
            <c:idx val="2"/>
            <c:invertIfNegative val="1"/>
            <c:bubble3D val="0"/>
            <c:spPr>
              <a:solidFill>
                <a:srgbClr val="FF00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7707-4350-97D6-F09AD7987732}"/>
              </c:ext>
            </c:extLst>
          </c:dPt>
          <c:dPt>
            <c:idx val="3"/>
            <c:invertIfNegative val="1"/>
            <c:bubble3D val="0"/>
            <c:spPr>
              <a:solidFill>
                <a:srgbClr val="FFFF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7707-4350-97D6-F09AD7987732}"/>
              </c:ext>
            </c:extLst>
          </c:dPt>
          <c:dPt>
            <c:idx val="4"/>
            <c:invertIfNegative val="1"/>
            <c:bubble3D val="0"/>
            <c:spPr>
              <a:solidFill>
                <a:srgbClr val="FF00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7707-4350-97D6-F09AD7987732}"/>
              </c:ext>
            </c:extLst>
          </c:dPt>
          <c:dPt>
            <c:idx val="5"/>
            <c:invertIfNegative val="1"/>
            <c:bubble3D val="0"/>
            <c:spPr>
              <a:solidFill>
                <a:srgbClr val="FFFF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7707-4350-97D6-F09AD7987732}"/>
              </c:ext>
            </c:extLst>
          </c:dPt>
          <c:dPt>
            <c:idx val="6"/>
            <c:invertIfNegative val="1"/>
            <c:bubble3D val="0"/>
            <c:spPr>
              <a:solidFill>
                <a:srgbClr val="FFFF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7707-4350-97D6-F09AD7987732}"/>
              </c:ext>
            </c:extLst>
          </c:dPt>
          <c:dPt>
            <c:idx val="7"/>
            <c:invertIfNegative val="1"/>
            <c:bubble3D val="0"/>
            <c:spPr>
              <a:solidFill>
                <a:srgbClr val="FFFF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7707-4350-97D6-F09AD7987732}"/>
              </c:ext>
            </c:extLst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2.</a:t>
                    </a:r>
                    <a:fld id="{65BB4068-BABA-4D9A-8FFB-D2A5F3E5533A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7707-4350-97D6-F09AD798773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2.5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707-4350-97D6-F09AD798773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3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707-4350-97D6-F09AD798773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3.8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707-4350-97D6-F09AD79877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Security &amp; Compliance</c:v>
                </c:pt>
                <c:pt idx="1">
                  <c:v>Operating Model</c:v>
                </c:pt>
                <c:pt idx="2">
                  <c:v>Migration Process &amp; Experience</c:v>
                </c:pt>
                <c:pt idx="3">
                  <c:v>Application Portfolio Disco...</c:v>
                </c:pt>
                <c:pt idx="4">
                  <c:v>Landing Zone</c:v>
                </c:pt>
                <c:pt idx="5">
                  <c:v>Skills &amp; COE</c:v>
                </c:pt>
                <c:pt idx="6">
                  <c:v>Customer Migration Project ...</c:v>
                </c:pt>
                <c:pt idx="7">
                  <c:v>Business Case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2.2999999999999998</c:v>
                </c:pt>
                <c:pt idx="1">
                  <c:v>1.6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3.5</c:v>
                </c:pt>
                <c:pt idx="6">
                  <c:v>3.5</c:v>
                </c:pt>
                <c:pt idx="7">
                  <c:v>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7707-4350-97D6-F09AD798773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24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Perspectives</c:v>
                </c:pt>
              </c:strCache>
            </c:strRef>
          </c:tx>
          <c:spPr>
            <a:solidFill>
              <a:srgbClr val="FF9B00"/>
            </a:solidFill>
          </c:spPr>
          <c:cat>
            <c:strRef>
              <c:f>Sheet1!$A$2:$A$7</c:f>
              <c:strCache>
                <c:ptCount val="6"/>
                <c:pt idx="0">
                  <c:v>Business</c:v>
                </c:pt>
                <c:pt idx="1">
                  <c:v>Platform</c:v>
                </c:pt>
                <c:pt idx="2">
                  <c:v>People</c:v>
                </c:pt>
                <c:pt idx="3">
                  <c:v>Governance</c:v>
                </c:pt>
                <c:pt idx="4">
                  <c:v>Operations</c:v>
                </c:pt>
                <c:pt idx="5">
                  <c:v>Security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32</c:v>
                </c:pt>
                <c:pt idx="2">
                  <c:v>60</c:v>
                </c:pt>
                <c:pt idx="3">
                  <c:v>42.220000000000006</c:v>
                </c:pt>
                <c:pt idx="4">
                  <c:v>34</c:v>
                </c:pt>
                <c:pt idx="5">
                  <c:v>42.220000000000006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D8-4044-9A98-2A3F71B812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</c:v>
                </c:pt>
              </c:strCache>
            </c:strRef>
          </c:tx>
          <c:spPr>
            <a:noFill/>
            <a:ln w="45720">
              <a:solidFill>
                <a:srgbClr val="00FF00"/>
              </a:solidFill>
            </a:ln>
          </c:spPr>
          <c:cat>
            <c:strRef>
              <c:f>Sheet1!$A$2:$A$7</c:f>
              <c:strCache>
                <c:ptCount val="6"/>
                <c:pt idx="0">
                  <c:v>Business</c:v>
                </c:pt>
                <c:pt idx="1">
                  <c:v>Platform</c:v>
                </c:pt>
                <c:pt idx="2">
                  <c:v>People</c:v>
                </c:pt>
                <c:pt idx="3">
                  <c:v>Governance</c:v>
                </c:pt>
                <c:pt idx="4">
                  <c:v>Operations</c:v>
                </c:pt>
                <c:pt idx="5">
                  <c:v>Security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D8-4044-9A98-2A3F71B812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pPr>
            <a:endParaRPr lang="en-US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100"/>
        </c:scaling>
        <c:delete val="0"/>
        <c:axPos val="l"/>
        <c:majorGridlines/>
        <c:numFmt formatCode="0&quot;%&quot;" sourceLinked="0"/>
        <c:majorTickMark val="cross"/>
        <c:minorTickMark val="none"/>
        <c:tickLblPos val="nextTo"/>
        <c:txPr>
          <a:bodyPr/>
          <a:lstStyle/>
          <a:p>
            <a:pPr>
              <a:defRPr sz="1300" b="1">
                <a:solidFill>
                  <a:schemeClr val="tx1"/>
                </a:solidFill>
              </a:defRPr>
            </a:pPr>
            <a:endParaRPr lang="en-US"/>
          </a:p>
        </c:txPr>
        <c:crossAx val="2073612648"/>
        <c:crosses val="autoZero"/>
        <c:crossBetween val="between"/>
        <c:majorUnit val="2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Perspectives</c:v>
                </c:pt>
              </c:strCache>
            </c:strRef>
          </c:tx>
          <c:spPr>
            <a:solidFill>
              <a:srgbClr val="FF9B00"/>
            </a:solidFill>
          </c:spPr>
          <c:cat>
            <c:strRef>
              <c:f>Sheet1!$A$2:$A$7</c:f>
              <c:strCache>
                <c:ptCount val="6"/>
                <c:pt idx="0">
                  <c:v>Business</c:v>
                </c:pt>
                <c:pt idx="1">
                  <c:v>Platform</c:v>
                </c:pt>
                <c:pt idx="2">
                  <c:v>People</c:v>
                </c:pt>
                <c:pt idx="3">
                  <c:v>Governance</c:v>
                </c:pt>
                <c:pt idx="4">
                  <c:v>Operations</c:v>
                </c:pt>
                <c:pt idx="5">
                  <c:v>Security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32</c:v>
                </c:pt>
                <c:pt idx="2">
                  <c:v>60</c:v>
                </c:pt>
                <c:pt idx="3">
                  <c:v>42.220000000000006</c:v>
                </c:pt>
                <c:pt idx="4">
                  <c:v>34</c:v>
                </c:pt>
                <c:pt idx="5">
                  <c:v>42.220000000000006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87-40BE-A6B3-7D80ADF794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</c:v>
                </c:pt>
              </c:strCache>
            </c:strRef>
          </c:tx>
          <c:spPr>
            <a:noFill/>
            <a:ln w="45720">
              <a:solidFill>
                <a:srgbClr val="00FF00"/>
              </a:solidFill>
            </a:ln>
          </c:spPr>
          <c:cat>
            <c:strRef>
              <c:f>Sheet1!$A$2:$A$7</c:f>
              <c:strCache>
                <c:ptCount val="6"/>
                <c:pt idx="0">
                  <c:v>Business</c:v>
                </c:pt>
                <c:pt idx="1">
                  <c:v>Platform</c:v>
                </c:pt>
                <c:pt idx="2">
                  <c:v>People</c:v>
                </c:pt>
                <c:pt idx="3">
                  <c:v>Governance</c:v>
                </c:pt>
                <c:pt idx="4">
                  <c:v>Operations</c:v>
                </c:pt>
                <c:pt idx="5">
                  <c:v>Security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87-40BE-A6B3-7D80ADF794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atin typeface="Poppins Light" panose="00000400000000000000" pitchFamily="2" charset="0"/>
                <a:cs typeface="Poppins Light" panose="00000400000000000000" pitchFamily="2" charset="0"/>
              </a:defRPr>
            </a:pPr>
            <a:endParaRPr lang="en-US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100"/>
        </c:scaling>
        <c:delete val="0"/>
        <c:axPos val="l"/>
        <c:majorGridlines/>
        <c:numFmt formatCode="0&quot;%&quot;" sourceLinked="0"/>
        <c:majorTickMark val="cross"/>
        <c:minorTickMark val="none"/>
        <c:tickLblPos val="nextTo"/>
        <c:txPr>
          <a:bodyPr/>
          <a:lstStyle/>
          <a:p>
            <a:pPr>
              <a:defRPr sz="1300" b="1">
                <a:solidFill>
                  <a:schemeClr val="tx1"/>
                </a:solidFill>
              </a:defRPr>
            </a:pPr>
            <a:endParaRPr lang="en-US"/>
          </a:p>
        </c:txPr>
        <c:crossAx val="2073612648"/>
        <c:crosses val="autoZero"/>
        <c:crossBetween val="between"/>
        <c:majorUnit val="2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Workstreams</c:v>
                </c:pt>
              </c:strCache>
            </c:strRef>
          </c:tx>
          <c:spPr>
            <a:solidFill>
              <a:srgbClr val="FF9B00"/>
            </a:solidFill>
          </c:spPr>
          <c:cat>
            <c:strRef>
              <c:f>Sheet1!$A$2:$A$9</c:f>
              <c:strCache>
                <c:ptCount val="8"/>
                <c:pt idx="0">
                  <c:v>Business Case</c:v>
                </c:pt>
                <c:pt idx="1">
                  <c:v>Customer Migration Project Plan</c:v>
                </c:pt>
                <c:pt idx="2">
                  <c:v>Skills &amp; COE</c:v>
                </c:pt>
                <c:pt idx="3">
                  <c:v>Landing Zone</c:v>
                </c:pt>
                <c:pt idx="4">
                  <c:v>Application Portfolio Discovery &amp; Planning</c:v>
                </c:pt>
                <c:pt idx="5">
                  <c:v>Migration Process &amp; Experience</c:v>
                </c:pt>
                <c:pt idx="6">
                  <c:v>Operating Model</c:v>
                </c:pt>
                <c:pt idx="7">
                  <c:v>Security &amp; Compliance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76.66</c:v>
                </c:pt>
                <c:pt idx="1">
                  <c:v>60</c:v>
                </c:pt>
                <c:pt idx="2">
                  <c:v>50</c:v>
                </c:pt>
                <c:pt idx="3">
                  <c:v>20</c:v>
                </c:pt>
                <c:pt idx="4">
                  <c:v>46.660000000000004</c:v>
                </c:pt>
                <c:pt idx="5">
                  <c:v>20</c:v>
                </c:pt>
                <c:pt idx="6">
                  <c:v>32.86</c:v>
                </c:pt>
                <c:pt idx="7">
                  <c:v>45.46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F4-4058-8135-843C7B183B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</c:v>
                </c:pt>
              </c:strCache>
            </c:strRef>
          </c:tx>
          <c:spPr>
            <a:noFill/>
            <a:ln w="45720">
              <a:solidFill>
                <a:srgbClr val="00FF00"/>
              </a:solidFill>
            </a:ln>
          </c:spPr>
          <c:cat>
            <c:strRef>
              <c:f>Sheet1!$A$2:$A$9</c:f>
              <c:strCache>
                <c:ptCount val="8"/>
                <c:pt idx="0">
                  <c:v>Business Case</c:v>
                </c:pt>
                <c:pt idx="1">
                  <c:v>Customer Migration Project Plan</c:v>
                </c:pt>
                <c:pt idx="2">
                  <c:v>Skills &amp; COE</c:v>
                </c:pt>
                <c:pt idx="3">
                  <c:v>Landing Zone</c:v>
                </c:pt>
                <c:pt idx="4">
                  <c:v>Application Portfolio Discovery &amp; Planning</c:v>
                </c:pt>
                <c:pt idx="5">
                  <c:v>Migration Process &amp; Experience</c:v>
                </c:pt>
                <c:pt idx="6">
                  <c:v>Operating Model</c:v>
                </c:pt>
                <c:pt idx="7">
                  <c:v>Security &amp; Compliance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F4-4058-8135-843C7B183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 b="0">
                <a:latin typeface="Poppins Light" panose="00000400000000000000" pitchFamily="2" charset="0"/>
                <a:cs typeface="Poppins Light" panose="00000400000000000000" pitchFamily="2" charset="0"/>
              </a:defRPr>
            </a:pPr>
            <a:endParaRPr lang="en-US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100"/>
        </c:scaling>
        <c:delete val="0"/>
        <c:axPos val="l"/>
        <c:majorGridlines/>
        <c:numFmt formatCode="0&quot;%&quot;" sourceLinked="0"/>
        <c:majorTickMark val="cross"/>
        <c:minorTickMark val="none"/>
        <c:tickLblPos val="nextTo"/>
        <c:txPr>
          <a:bodyPr/>
          <a:lstStyle/>
          <a:p>
            <a:pPr>
              <a:defRPr sz="1300" b="1">
                <a:solidFill>
                  <a:schemeClr val="tx1"/>
                </a:solidFill>
              </a:defRPr>
            </a:pPr>
            <a:endParaRPr lang="en-US"/>
          </a:p>
        </c:txPr>
        <c:crossAx val="2073612648"/>
        <c:crosses val="autoZero"/>
        <c:crossBetween val="between"/>
        <c:majorUnit val="2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841239316239316"/>
          <c:y val="9.4039351851851846E-2"/>
        </c:manualLayout>
      </c:layout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Case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CB2-42B7-AF97-7A76B5E5715D}"/>
              </c:ext>
            </c:extLst>
          </c:dPt>
          <c:dPt>
            <c:idx val="1"/>
            <c:invertIfNegative val="1"/>
            <c:bubble3D val="0"/>
            <c:spPr>
              <a:solidFill>
                <a:srgbClr val="00CC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CB2-42B7-AF97-7A76B5E5715D}"/>
              </c:ext>
            </c:extLst>
          </c:dPt>
          <c:dPt>
            <c:idx val="2"/>
            <c:invertIfNegative val="1"/>
            <c:bubble3D val="0"/>
            <c:spPr>
              <a:solidFill>
                <a:srgbClr val="00CC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5CB2-42B7-AF97-7A76B5E5715D}"/>
              </c:ext>
            </c:extLst>
          </c:dPt>
          <c:dPt>
            <c:idx val="3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5CB2-42B7-AF97-7A76B5E5715D}"/>
              </c:ext>
            </c:extLst>
          </c:dPt>
          <c:dPt>
            <c:idx val="4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5CB2-42B7-AF97-7A76B5E571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Specific Migratio...</c:v>
                </c:pt>
                <c:pt idx="1">
                  <c:v>Migration Funding...</c:v>
                </c:pt>
                <c:pt idx="2">
                  <c:v>Key Stakeholder S...</c:v>
                </c:pt>
                <c:pt idx="3">
                  <c:v>High Level Busine...</c:v>
                </c:pt>
                <c:pt idx="4">
                  <c:v>AVERAGE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3.3</c:v>
                </c:pt>
                <c:pt idx="4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CB2-42B7-AF97-7A76B5E5715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Migration Project Plan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F5B-44FA-975C-0DD70274AA88}"/>
              </c:ext>
            </c:extLst>
          </c:dPt>
          <c:dPt>
            <c:idx val="1"/>
            <c:invertIfNegative val="1"/>
            <c:bubble3D val="0"/>
            <c:spPr>
              <a:solidFill>
                <a:srgbClr val="00CC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F5B-44FA-975C-0DD70274AA88}"/>
              </c:ext>
            </c:extLst>
          </c:dPt>
          <c:dPt>
            <c:idx val="2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DF5B-44FA-975C-0DD70274AA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Project Managemen...</c:v>
                </c:pt>
                <c:pt idx="1">
                  <c:v>Determine Deliver...</c:v>
                </c:pt>
                <c:pt idx="2">
                  <c:v>AVERAGE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5B-44FA-975C-0DD70274AA8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Skills &amp; COE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323-4A23-9821-1615C9A71DAC}"/>
              </c:ext>
            </c:extLst>
          </c:dPt>
          <c:dPt>
            <c:idx val="1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323-4A23-9821-1615C9A71DAC}"/>
              </c:ext>
            </c:extLst>
          </c:dPt>
          <c:dPt>
            <c:idx val="2"/>
            <c:invertIfNegative val="1"/>
            <c:bubble3D val="0"/>
            <c:spPr>
              <a:solidFill>
                <a:srgbClr val="00CC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323-4A23-9821-1615C9A71DAC}"/>
              </c:ext>
            </c:extLst>
          </c:dPt>
          <c:dPt>
            <c:idx val="3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323-4A23-9821-1615C9A71DA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Design or Evolve COE</c:v>
                </c:pt>
                <c:pt idx="1">
                  <c:v>Experience baseline</c:v>
                </c:pt>
                <c:pt idx="2">
                  <c:v>Single Threaded L...</c:v>
                </c:pt>
                <c:pt idx="3">
                  <c:v>AVERAGE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1.5</c:v>
                </c:pt>
                <c:pt idx="2">
                  <c:v>5</c:v>
                </c:pt>
                <c:pt idx="3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23-4A23-9821-1615C9A71DA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Landing Zone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44A0-49C7-AF52-E17B2E11254B}"/>
              </c:ext>
            </c:extLst>
          </c:dPt>
          <c:dPt>
            <c:idx val="1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44A0-49C7-AF52-E17B2E1125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Account Design &amp; ...</c:v>
                </c:pt>
                <c:pt idx="1">
                  <c:v>AVERAGE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A0-49C7-AF52-E17B2E11254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 Portfolio Discovery &amp; Planning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0DA9-4CC8-992C-6604D09769F2}"/>
              </c:ext>
            </c:extLst>
          </c:dPt>
          <c:dPt>
            <c:idx val="1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0DA9-4CC8-992C-6604D09769F2}"/>
              </c:ext>
            </c:extLst>
          </c:dPt>
          <c:dPt>
            <c:idx val="2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0DA9-4CC8-992C-6604D09769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Workload Owner Bu...</c:v>
                </c:pt>
                <c:pt idx="1">
                  <c:v>Application Disco...</c:v>
                </c:pt>
                <c:pt idx="2">
                  <c:v>AVERAGE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2.2000000000000002</c:v>
                </c:pt>
                <c:pt idx="2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A9-4CC8-992C-6604D09769F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Migration Process &amp; Experience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930-4F13-A990-16C8494CE477}"/>
              </c:ext>
            </c:extLst>
          </c:dPt>
          <c:dPt>
            <c:idx val="1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930-4F13-A990-16C8494CE47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Migration Experience</c:v>
                </c:pt>
                <c:pt idx="1">
                  <c:v>AVERAGE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30-4F13-A990-16C8494CE47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Model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7E8-4F3A-A5C2-4B962E5456F7}"/>
              </c:ext>
            </c:extLst>
          </c:dPt>
          <c:dPt>
            <c:idx val="1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7E8-4F3A-A5C2-4B962E5456F7}"/>
              </c:ext>
            </c:extLst>
          </c:dPt>
          <c:dPt>
            <c:idx val="2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7E8-4F3A-A5C2-4B962E5456F7}"/>
              </c:ext>
            </c:extLst>
          </c:dPt>
          <c:dPt>
            <c:idx val="3"/>
            <c:invertIfNegative val="1"/>
            <c:bubble3D val="0"/>
            <c:spPr>
              <a:solidFill>
                <a:srgbClr val="FFFFFF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A7E8-4F3A-A5C2-4B962E5456F7}"/>
              </c:ext>
            </c:extLst>
          </c:dPt>
          <c:dPt>
            <c:idx val="4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A7E8-4F3A-A5C2-4B962E5456F7}"/>
              </c:ext>
            </c:extLst>
          </c:dPt>
          <c:dPt>
            <c:idx val="5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A7E8-4F3A-A5C2-4B962E5456F7}"/>
              </c:ext>
            </c:extLst>
          </c:dPt>
          <c:dPt>
            <c:idx val="6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A7E8-4F3A-A5C2-4B962E5456F7}"/>
              </c:ext>
            </c:extLst>
          </c:dPt>
          <c:dPt>
            <c:idx val="7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A7E8-4F3A-A5C2-4B962E5456F7}"/>
              </c:ext>
            </c:extLst>
          </c:dPt>
          <c:dPt>
            <c:idx val="8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A7E8-4F3A-A5C2-4B962E5456F7}"/>
              </c:ext>
            </c:extLst>
          </c:dPt>
          <c:dPt>
            <c:idx val="9"/>
            <c:invertIfNegative val="1"/>
            <c:bubble3D val="0"/>
            <c:spPr>
              <a:solidFill>
                <a:srgbClr val="00CC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A7E8-4F3A-A5C2-4B962E5456F7}"/>
              </c:ext>
            </c:extLst>
          </c:dPt>
          <c:dPt>
            <c:idx val="10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5-A7E8-4F3A-A5C2-4B962E5456F7}"/>
              </c:ext>
            </c:extLst>
          </c:dPt>
          <c:dPt>
            <c:idx val="11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A7E8-4F3A-A5C2-4B962E5456F7}"/>
              </c:ext>
            </c:extLst>
          </c:dPt>
          <c:dPt>
            <c:idx val="12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9-A7E8-4F3A-A5C2-4B962E5456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Incident Response</c:v>
                </c:pt>
                <c:pt idx="1">
                  <c:v>CI/CD Pipelines</c:v>
                </c:pt>
                <c:pt idx="2">
                  <c:v>Cloud Ready Opera...</c:v>
                </c:pt>
                <c:pt idx="3">
                  <c:v>Cost Management</c:v>
                </c:pt>
                <c:pt idx="4">
                  <c:v>Service Catalog</c:v>
                </c:pt>
                <c:pt idx="5">
                  <c:v>BCP/DR</c:v>
                </c:pt>
                <c:pt idx="6">
                  <c:v>Config Management...</c:v>
                </c:pt>
                <c:pt idx="7">
                  <c:v>Asset Management</c:v>
                </c:pt>
                <c:pt idx="8">
                  <c:v>Backup</c:v>
                </c:pt>
                <c:pt idx="9">
                  <c:v>AMI/Patching</c:v>
                </c:pt>
                <c:pt idx="10">
                  <c:v>Managed Service P...</c:v>
                </c:pt>
                <c:pt idx="11">
                  <c:v>Current Operation...</c:v>
                </c:pt>
                <c:pt idx="12">
                  <c:v>AVERAGE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</c:v>
                </c:pt>
                <c:pt idx="1">
                  <c:v>1.5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1.5</c:v>
                </c:pt>
                <c:pt idx="7">
                  <c:v>1</c:v>
                </c:pt>
                <c:pt idx="8">
                  <c:v>1</c:v>
                </c:pt>
                <c:pt idx="9">
                  <c:v>4</c:v>
                </c:pt>
                <c:pt idx="10">
                  <c:v>1</c:v>
                </c:pt>
                <c:pt idx="11">
                  <c:v>3</c:v>
                </c:pt>
                <c:pt idx="12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A7E8-4F3A-A5C2-4B962E5456F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&amp; Compliance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7B0-46EF-838F-32E8D658A9B1}"/>
              </c:ext>
            </c:extLst>
          </c:dPt>
          <c:dPt>
            <c:idx val="1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7B0-46EF-838F-32E8D658A9B1}"/>
              </c:ext>
            </c:extLst>
          </c:dPt>
          <c:dPt>
            <c:idx val="2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7B0-46EF-838F-32E8D658A9B1}"/>
              </c:ext>
            </c:extLst>
          </c:dPt>
          <c:dPt>
            <c:idx val="3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E7B0-46EF-838F-32E8D658A9B1}"/>
              </c:ext>
            </c:extLst>
          </c:dPt>
          <c:dPt>
            <c:idx val="4"/>
            <c:invertIfNegative val="1"/>
            <c:bubble3D val="0"/>
            <c:spPr>
              <a:solidFill>
                <a:srgbClr val="FF3333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E7B0-46EF-838F-32E8D658A9B1}"/>
              </c:ext>
            </c:extLst>
          </c:dPt>
          <c:dPt>
            <c:idx val="5"/>
            <c:invertIfNegative val="1"/>
            <c:bubble3D val="0"/>
            <c:spPr>
              <a:solidFill>
                <a:srgbClr val="00CC00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E7B0-46EF-838F-32E8D658A9B1}"/>
              </c:ext>
            </c:extLst>
          </c:dPt>
          <c:dPt>
            <c:idx val="6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E7B0-46EF-838F-32E8D658A9B1}"/>
              </c:ext>
            </c:extLst>
          </c:dPt>
          <c:dPt>
            <c:idx val="7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E7B0-46EF-838F-32E8D658A9B1}"/>
              </c:ext>
            </c:extLst>
          </c:dPt>
          <c:dPt>
            <c:idx val="8"/>
            <c:invertIfNegative val="1"/>
            <c:bubble3D val="0"/>
            <c:spPr>
              <a:solidFill>
                <a:srgbClr val="FFFF66"/>
              </a:solidFill>
              <a:ln w="254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E7B0-46EF-838F-32E8D658A9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Security Operatio...</c:v>
                </c:pt>
                <c:pt idx="1">
                  <c:v>DevSecOps Principles</c:v>
                </c:pt>
                <c:pt idx="2">
                  <c:v>Lifecycle Securit...</c:v>
                </c:pt>
                <c:pt idx="3">
                  <c:v>Logging &amp; Monitoring</c:v>
                </c:pt>
                <c:pt idx="4">
                  <c:v>Governance, Risk ...</c:v>
                </c:pt>
                <c:pt idx="5">
                  <c:v>3rd Party Risk</c:v>
                </c:pt>
                <c:pt idx="6">
                  <c:v>Security Referenc...</c:v>
                </c:pt>
                <c:pt idx="7">
                  <c:v>Security Strategy</c:v>
                </c:pt>
                <c:pt idx="8">
                  <c:v>AVERAGE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4</c:v>
                </c:pt>
                <c:pt idx="6">
                  <c:v>3</c:v>
                </c:pt>
                <c:pt idx="7">
                  <c:v>2.2999999999999998</c:v>
                </c:pt>
                <c:pt idx="8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7B0-46EF-838F-32E8D658A9B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one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0EBAF-D955-C443-AB02-2BCBC779757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Proprietary information of Ingram Micro Inc. - Do not distribute or duplicate without Ingram Micro's express written permission.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DC8B-0A09-DC4E-ABCE-FAAA12F03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7494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A641A-FC50-3840-A830-42D90553FE8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Proprietary information of Ingram Micro Inc. - Do not distribute or duplicate without Ingram Micro's express written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96355-3DDC-9949-861F-AD0908BFC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76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95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45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60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99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74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34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64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358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DD23-2D1E-3FA5-F393-17963D8E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FB09F-8C06-3421-11C3-A635844BC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C13BE-FF65-9BFD-2C90-B7D919410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384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Some pro’s about migrating to the cloud. Mainly supporting documents to present to executive team or board. </a:t>
            </a:r>
          </a:p>
        </p:txBody>
      </p:sp>
    </p:spTree>
    <p:extLst>
      <p:ext uri="{BB962C8B-B14F-4D97-AF65-F5344CB8AC3E}">
        <p14:creationId xmlns:p14="http://schemas.microsoft.com/office/powerpoint/2010/main" val="31549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C36C0-981A-33E1-D8CF-0D9146BA7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3F69C-6494-C1DD-AC3A-B75A79B18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EBAB7-25DC-EDB1-F841-B5C4C59AA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E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457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7.sv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5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9.svg"/><Relationship Id="rId5" Type="http://schemas.openxmlformats.org/officeDocument/2006/relationships/image" Target="../media/image7.png"/><Relationship Id="rId4" Type="http://schemas.openxmlformats.org/officeDocument/2006/relationships/image" Target="../media/image88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9.svg"/><Relationship Id="rId5" Type="http://schemas.openxmlformats.org/officeDocument/2006/relationships/image" Target="../media/image7.png"/><Relationship Id="rId4" Type="http://schemas.openxmlformats.org/officeDocument/2006/relationships/image" Target="../media/image9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94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89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9.svg"/><Relationship Id="rId5" Type="http://schemas.openxmlformats.org/officeDocument/2006/relationships/image" Target="../media/image7.png"/><Relationship Id="rId4" Type="http://schemas.openxmlformats.org/officeDocument/2006/relationships/image" Target="../media/image10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3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4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2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C02180-D13F-2C19-F33F-FE8AEBD20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7540" y="0"/>
            <a:ext cx="242446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31536-FDA4-82F8-1051-93A2844CBB12}"/>
              </a:ext>
            </a:extLst>
          </p:cNvPr>
          <p:cNvSpPr txBox="1">
            <a:spLocks/>
          </p:cNvSpPr>
          <p:nvPr userDrawn="1"/>
        </p:nvSpPr>
        <p:spPr>
          <a:xfrm>
            <a:off x="993624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F898B2-BC2C-1322-4FFB-D95B64ED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247674"/>
            <a:ext cx="5906589" cy="2247900"/>
          </a:xfrm>
        </p:spPr>
        <p:txBody>
          <a:bodyPr anchor="b"/>
          <a:lstStyle>
            <a:lvl1pPr>
              <a:lnSpc>
                <a:spcPct val="100000"/>
              </a:lnSpc>
              <a:defRPr sz="4800" b="0" i="0" spc="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327A4-00DD-0731-6882-3B0310AF59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0600" y="4568144"/>
            <a:ext cx="8777288" cy="1549400"/>
          </a:xfrm>
        </p:spPr>
        <p:txBody>
          <a:bodyPr>
            <a:normAutofit/>
          </a:bodyPr>
          <a:lstStyle>
            <a:lvl1pPr>
              <a:defRPr sz="2400"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EC245A0-2A55-6C42-609C-92CE3411ED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837" y="577283"/>
            <a:ext cx="1487444" cy="26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7021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bg>
      <p:bgPr>
        <a:solidFill>
          <a:srgbClr val="147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C02180-D13F-2C19-F33F-FE8AEBD20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7540" y="0"/>
            <a:ext cx="242446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31536-FDA4-82F8-1051-93A2844CBB12}"/>
              </a:ext>
            </a:extLst>
          </p:cNvPr>
          <p:cNvSpPr txBox="1">
            <a:spLocks/>
          </p:cNvSpPr>
          <p:nvPr userDrawn="1"/>
        </p:nvSpPr>
        <p:spPr>
          <a:xfrm>
            <a:off x="993624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bg1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EC245A0-2A55-6C42-609C-92CE3411ED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837" y="577283"/>
            <a:ext cx="1487444" cy="26872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6918406-42FA-20FE-584C-912F91B5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247674"/>
            <a:ext cx="5906589" cy="2247900"/>
          </a:xfrm>
        </p:spPr>
        <p:txBody>
          <a:bodyPr anchor="b"/>
          <a:lstStyle>
            <a:lvl1pPr>
              <a:lnSpc>
                <a:spcPct val="100000"/>
              </a:lnSpc>
              <a:defRPr sz="4800" b="0" i="0" spc="3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B3AB1ED-9126-C650-FFF5-BC8E7DC656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0600" y="4568144"/>
            <a:ext cx="8777288" cy="1549400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9316637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C02180-D13F-2C19-F33F-FE8AEBD20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7540" y="0"/>
            <a:ext cx="242446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31536-FDA4-82F8-1051-93A2844CBB12}"/>
              </a:ext>
            </a:extLst>
          </p:cNvPr>
          <p:cNvSpPr txBox="1">
            <a:spLocks/>
          </p:cNvSpPr>
          <p:nvPr userDrawn="1"/>
        </p:nvSpPr>
        <p:spPr>
          <a:xfrm>
            <a:off x="993624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EC245A0-2A55-6C42-609C-92CE3411ED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837" y="577283"/>
            <a:ext cx="1487444" cy="26872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699C050-01E4-4ECA-E50D-476B8C5B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247674"/>
            <a:ext cx="5906589" cy="2247900"/>
          </a:xfrm>
        </p:spPr>
        <p:txBody>
          <a:bodyPr anchor="b"/>
          <a:lstStyle>
            <a:lvl1pPr>
              <a:lnSpc>
                <a:spcPct val="100000"/>
              </a:lnSpc>
              <a:defRPr sz="4800" b="0" i="0" spc="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3A959F-425E-FABB-6E2A-EC307EA9D9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0600" y="4568144"/>
            <a:ext cx="8777288" cy="1549400"/>
          </a:xfrm>
        </p:spPr>
        <p:txBody>
          <a:bodyPr>
            <a:normAutofit/>
          </a:bodyPr>
          <a:lstStyle>
            <a:lvl1pPr>
              <a:defRPr sz="2400"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22678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7E52821-E61D-48F2-C7A2-3B8AD1E14D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39800" cy="6858000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298532-9C29-F477-C7D8-550D5F5DF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90600" y="2482796"/>
            <a:ext cx="10419522" cy="3778304"/>
          </a:xfrm>
        </p:spPr>
        <p:txBody>
          <a:bodyPr/>
          <a:lstStyle>
            <a:lvl1pPr marL="288925" indent="-288925">
              <a:buClr>
                <a:srgbClr val="1470F0"/>
              </a:buClr>
              <a:buFont typeface="Arial" panose="020B0604020202020204" pitchFamily="34" charset="0"/>
              <a:buChar char="•"/>
              <a:defRPr sz="2400" b="1" spc="0"/>
            </a:lvl1pPr>
            <a:lvl2pPr marL="285750" indent="-285750">
              <a:buClr>
                <a:srgbClr val="1470F0"/>
              </a:buClr>
              <a:buFont typeface="Arial" panose="020B0604020202020204" pitchFamily="34" charset="0"/>
              <a:buChar char="•"/>
              <a:defRPr/>
            </a:lvl2pPr>
            <a:lvl3pPr marL="396875" indent="-168275">
              <a:buClr>
                <a:srgbClr val="1470F0"/>
              </a:buClr>
              <a:buFont typeface="Arial" panose="020B0604020202020204" pitchFamily="34" charset="0"/>
              <a:buChar char="•"/>
              <a:defRPr/>
            </a:lvl3pPr>
            <a:lvl4pPr marL="396875" indent="-168275">
              <a:buClr>
                <a:srgbClr val="1470F0"/>
              </a:buClr>
              <a:buFont typeface="Arial" panose="020B0604020202020204" pitchFamily="34" charset="0"/>
              <a:buChar char="•"/>
              <a:defRPr/>
            </a:lvl4pPr>
            <a:lvl5pPr marL="396875" indent="-168275">
              <a:buClr>
                <a:srgbClr val="1470F0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DD8366C-97B0-AB29-227E-4E92FDE3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06290"/>
            <a:ext cx="10629900" cy="116287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D3F91-D6FD-625A-91A2-F66275B4ED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828663"/>
            <a:ext cx="10629900" cy="574675"/>
          </a:xfrm>
        </p:spPr>
        <p:txBody>
          <a:bodyPr>
            <a:normAutofit/>
          </a:bodyPr>
          <a:lstStyle>
            <a:lvl1pPr>
              <a:defRPr sz="2500"/>
            </a:lvl1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8302140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bg>
      <p:bgPr>
        <a:solidFill>
          <a:srgbClr val="147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298532-9C29-F477-C7D8-550D5F5DF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6900" y="2602067"/>
            <a:ext cx="10071100" cy="3541556"/>
          </a:xfrm>
        </p:spPr>
        <p:txBody>
          <a:bodyPr/>
          <a:lstStyle>
            <a:lvl1pPr marL="0" indent="0" defTabSz="1311275">
              <a:lnSpc>
                <a:spcPct val="150000"/>
              </a:lnSpc>
              <a:buFont typeface="Arial" panose="020B0604020202020204" pitchFamily="34" charset="0"/>
              <a:buNone/>
              <a:defRPr sz="2200" b="0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buFont typeface="Arial" panose="020B0604020202020204" pitchFamily="34" charset="0"/>
              <a:buNone/>
              <a:defRPr b="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b="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b="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DD8366C-97B0-AB29-227E-4E92FDE3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520686"/>
            <a:ext cx="9753600" cy="10336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B1C44E6-1072-6631-0E39-2450F16FB9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FAC13-9520-376A-9274-611A9222FA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6900" y="596900"/>
            <a:ext cx="4229100" cy="317500"/>
          </a:xfrm>
        </p:spPr>
        <p:txBody>
          <a:bodyPr>
            <a:noAutofit/>
          </a:bodyPr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defRPr sz="1200" b="0"/>
            </a:lvl2pPr>
            <a:lvl3pPr>
              <a:defRPr sz="1000" b="0"/>
            </a:lvl3pPr>
            <a:lvl4pPr>
              <a:defRPr sz="700" b="0"/>
            </a:lvl4pPr>
            <a:lvl5pPr>
              <a:defRPr sz="700" b="0"/>
            </a:lvl5pPr>
          </a:lstStyle>
          <a:p>
            <a:pPr lvl="0"/>
            <a:r>
              <a:rPr lang="en-US"/>
              <a:t>Click to edit date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A450E6-28C9-8C01-69DD-D46CC050DC02}"/>
              </a:ext>
            </a:extLst>
          </p:cNvPr>
          <p:cNvCxnSpPr>
            <a:cxnSpLocks/>
          </p:cNvCxnSpPr>
          <p:nvPr userDrawn="1"/>
        </p:nvCxnSpPr>
        <p:spPr>
          <a:xfrm>
            <a:off x="1955800" y="6154135"/>
            <a:ext cx="94956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5580632-3B80-C880-9C4E-85FFCEC07534}"/>
              </a:ext>
            </a:extLst>
          </p:cNvPr>
          <p:cNvSpPr txBox="1">
            <a:spLocks/>
          </p:cNvSpPr>
          <p:nvPr userDrawn="1"/>
        </p:nvSpPr>
        <p:spPr>
          <a:xfrm>
            <a:off x="2451699" y="6396718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>
                <a:solidFill>
                  <a:schemeClr val="bg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bg1"/>
              </a:solidFill>
            </a:endParaRPr>
          </a:p>
        </p:txBody>
      </p:sp>
      <p:pic>
        <p:nvPicPr>
          <p:cNvPr id="8" name="Graphic 4">
            <a:extLst>
              <a:ext uri="{FF2B5EF4-FFF2-40B4-BE49-F238E27FC236}">
                <a16:creationId xmlns:a16="http://schemas.microsoft.com/office/drawing/2014/main" id="{F1A4954D-E21E-D8B1-63D2-7D12CE06D7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1394" y="6372225"/>
            <a:ext cx="840068" cy="15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6221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58264EDD-74DE-EBEA-D9AE-BCBCEC998E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357" t="45034" r="67092" b="280"/>
          <a:stretch/>
        </p:blipFill>
        <p:spPr>
          <a:xfrm>
            <a:off x="0" y="0"/>
            <a:ext cx="12206990" cy="68716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CC4163-7761-B6EE-DD67-F205358CC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308" y="3487624"/>
            <a:ext cx="5102738" cy="2387600"/>
          </a:xfr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BEF9D74-2CDE-4FA5-6B37-6299615C8768}"/>
              </a:ext>
            </a:extLst>
          </p:cNvPr>
          <p:cNvSpPr txBox="1">
            <a:spLocks/>
          </p:cNvSpPr>
          <p:nvPr userDrawn="1"/>
        </p:nvSpPr>
        <p:spPr>
          <a:xfrm>
            <a:off x="790428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Proprietary information of Ingram Micro — Do not distribute o duplicate without ngram Micro's express written permission.</a:t>
            </a:r>
            <a:endParaRPr lang="en-US" sz="600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DF4B4B9-89FB-7D70-A982-F322983FA0A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6899" y="5379460"/>
            <a:ext cx="2115004" cy="38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616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81A097-D710-1608-B01C-1EEAF8742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5" b="685"/>
          <a:stretch/>
        </p:blipFill>
        <p:spPr>
          <a:xfrm>
            <a:off x="991611" y="0"/>
            <a:ext cx="11200389" cy="6858001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42D8124-4A31-42EB-DC61-D60D0A29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91" y="62879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Poppins light" panose="00000400000000000000" pitchFamily="2" charset="0"/>
              </a:defRPr>
            </a:lvl1pPr>
          </a:lstStyle>
          <a:p>
            <a:fld id="{0EF4EBE3-098B-884F-AA88-8A461D97DF4A}" type="datetime3">
              <a:rPr lang="es-ES_tradnl" smtClean="0"/>
              <a:pPr/>
              <a:t>22.12.25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EB531C6-3FD1-3FC9-93AE-F22ACF99FA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0" t="28070" r="279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3239B-F4CD-B82A-184F-7EED12797AB2}"/>
              </a:ext>
            </a:extLst>
          </p:cNvPr>
          <p:cNvSpPr txBox="1">
            <a:spLocks/>
          </p:cNvSpPr>
          <p:nvPr userDrawn="1"/>
        </p:nvSpPr>
        <p:spPr>
          <a:xfrm>
            <a:off x="790428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bg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CD50F8-9FA7-F007-D53B-D72C22D9F2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1807" y="6146355"/>
            <a:ext cx="1487444" cy="26872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73CEA9D-5E08-C88F-730E-3A4F4A03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403034"/>
            <a:ext cx="4744278" cy="208721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43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81A097-D710-1608-B01C-1EEAF8742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97"/>
          <a:stretch/>
        </p:blipFill>
        <p:spPr>
          <a:xfrm flipH="1">
            <a:off x="12000" y="-1"/>
            <a:ext cx="12192000" cy="685800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DED71F1-436A-D0EB-0620-2C308FAAC5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0" t="28070" r="279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54F62-C4DC-6D74-C1A6-CB82AB8A7599}"/>
              </a:ext>
            </a:extLst>
          </p:cNvPr>
          <p:cNvSpPr txBox="1">
            <a:spLocks/>
          </p:cNvSpPr>
          <p:nvPr userDrawn="1"/>
        </p:nvSpPr>
        <p:spPr>
          <a:xfrm>
            <a:off x="790428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86575BB-73E0-2CC0-07AD-09861FD754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1807" y="6146355"/>
            <a:ext cx="1487444" cy="268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609386-5B70-5626-91E8-E629C576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373217"/>
            <a:ext cx="4764157" cy="199084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2110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C27A03-4528-9AED-6A82-FE7BCBF97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7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2C58555-8398-E6DC-F680-C6AC424CBF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0" t="28070" r="279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54F62-C4DC-6D74-C1A6-CB82AB8A7599}"/>
              </a:ext>
            </a:extLst>
          </p:cNvPr>
          <p:cNvSpPr txBox="1">
            <a:spLocks/>
          </p:cNvSpPr>
          <p:nvPr userDrawn="1"/>
        </p:nvSpPr>
        <p:spPr>
          <a:xfrm>
            <a:off x="790428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86575BB-73E0-2CC0-07AD-09861FD754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1807" y="6146355"/>
            <a:ext cx="1487444" cy="268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609386-5B70-5626-91E8-E629C576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373217"/>
            <a:ext cx="4764157" cy="199084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2551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8819-513A-ACE5-3C6F-91B1DA36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4934"/>
            <a:ext cx="10515600" cy="14878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FE70E-AC2D-7E28-C895-6685FC879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82795"/>
            <a:ext cx="5181600" cy="3694167"/>
          </a:xfrm>
        </p:spPr>
        <p:txBody>
          <a:bodyPr/>
          <a:lstStyle>
            <a:lvl1pPr>
              <a:defRPr spc="0">
                <a:solidFill>
                  <a:srgbClr val="1570E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DE429-E198-9D73-719C-19DE5037C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82795"/>
            <a:ext cx="5181600" cy="3694167"/>
          </a:xfrm>
        </p:spPr>
        <p:txBody>
          <a:bodyPr/>
          <a:lstStyle>
            <a:lvl1pPr>
              <a:defRPr spc="0">
                <a:solidFill>
                  <a:srgbClr val="1570E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FF4230-BF87-17F3-11AF-9F099F57EE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2001" cy="57613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50ACD5-88C7-3949-F057-772C24ECC439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5413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11669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E87A07D-9AE7-8C4F-15C7-C50C34F7B2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696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10A04E-BA0F-360F-7376-95FA2057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366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3A251-135B-56B2-02EC-716E718F4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6757"/>
            <a:ext cx="5157787" cy="548318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22FEE-ECDC-EFDB-0EA6-62073CFA0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pc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903490-7094-8DED-B1AE-6D22CA1B2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6757"/>
            <a:ext cx="5183188" cy="548318"/>
          </a:xfr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B9258-5079-830B-688C-414A5D609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pc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2C122-C216-1A2C-498F-ACBAAF07DB08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46422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B8EE-5FAB-BB7F-7745-AECF2BD70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94934"/>
            <a:ext cx="10629900" cy="14878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898BA5-A1EE-7255-CAA7-16E80CEC0E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2509" y="0"/>
            <a:ext cx="559491" cy="6858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A2976D-7CAA-71B5-196F-EA79EEE7EF9C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265537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572787-96F6-5EE4-7C45-F16F0966FDE3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26941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CA1468-2843-7B40-8311-59EDD0C0ED1A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F42F836-77C2-9C06-91FD-1290F372B6FA}"/>
              </a:ext>
            </a:extLst>
          </p:cNvPr>
          <p:cNvSpPr txBox="1">
            <a:spLocks/>
          </p:cNvSpPr>
          <p:nvPr userDrawn="1"/>
        </p:nvSpPr>
        <p:spPr>
          <a:xfrm>
            <a:off x="762261" y="6362817"/>
            <a:ext cx="350922" cy="21542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D8D877B3-D348-4611-9BDB-C5374591D951}" type="slidenum">
              <a:rPr lang="en-US" sz="800" smtClean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l"/>
              <a:t>‹#›</a:t>
            </a:fld>
            <a:endParaRPr lang="en-US" sz="105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164BEB6-D557-2B25-3ADA-FF027E77EB87}"/>
              </a:ext>
            </a:extLst>
          </p:cNvPr>
          <p:cNvSpPr txBox="1">
            <a:spLocks/>
          </p:cNvSpPr>
          <p:nvPr userDrawn="1"/>
        </p:nvSpPr>
        <p:spPr>
          <a:xfrm>
            <a:off x="3590615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" name="Graphic 4">
            <a:extLst>
              <a:ext uri="{FF2B5EF4-FFF2-40B4-BE49-F238E27FC236}">
                <a16:creationId xmlns:a16="http://schemas.microsoft.com/office/drawing/2014/main" id="{6C5A2E8B-B747-BD52-2658-0CE3F13E2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394" y="6372225"/>
            <a:ext cx="840068" cy="15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75210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12192001" cy="6143618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pic>
        <p:nvPicPr>
          <p:cNvPr id="2" name="Graphic 4">
            <a:extLst>
              <a:ext uri="{FF2B5EF4-FFF2-40B4-BE49-F238E27FC236}">
                <a16:creationId xmlns:a16="http://schemas.microsoft.com/office/drawing/2014/main" id="{384C7E97-39D1-364E-C482-DC74D8F656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394" y="6372225"/>
            <a:ext cx="840068" cy="15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652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D64ACB-A553-EBC9-A350-966B3BC3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5BCABE-A34C-0B41-960C-4C36D4410282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DC0DBE4-EA67-49A4-861E-E62D3055F7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1359" y="0"/>
            <a:ext cx="1960641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61060" y="2380797"/>
            <a:ext cx="4229100" cy="1621619"/>
          </a:xfrm>
        </p:spPr>
        <p:txBody>
          <a:bodyPr/>
          <a:lstStyle>
            <a:lvl1pPr>
              <a:defRPr sz="3600" spc="300">
                <a:ln w="15875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101D4-8AB1-8144-A02D-D1BE7844D5F4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61060" y="2380797"/>
            <a:ext cx="4229100" cy="1621619"/>
          </a:xfrm>
        </p:spPr>
        <p:txBody>
          <a:bodyPr/>
          <a:lstStyle>
            <a:lvl1pPr>
              <a:defRPr sz="3600" spc="300">
                <a:ln w="15875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101D4-8AB1-8144-A02D-D1BE7844D5F4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83722371-6705-ABDD-2B14-6F10ED8B43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0"/>
            <a:ext cx="7772400" cy="6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43293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61060" y="2380797"/>
            <a:ext cx="4229100" cy="1621619"/>
          </a:xfrm>
        </p:spPr>
        <p:txBody>
          <a:bodyPr/>
          <a:lstStyle>
            <a:lvl1pPr>
              <a:defRPr sz="3600" spc="300">
                <a:ln w="15875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101D4-8AB1-8144-A02D-D1BE7844D5F4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95434F4C-5BB3-6474-A488-210BCA0365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2509" y="0"/>
            <a:ext cx="559491" cy="6858000"/>
          </a:xfrm>
          <a:prstGeom prst="rect">
            <a:avLst/>
          </a:prstGeom>
        </p:spPr>
      </p:pic>
      <p:pic>
        <p:nvPicPr>
          <p:cNvPr id="2" name="Graphic 4">
            <a:extLst>
              <a:ext uri="{FF2B5EF4-FFF2-40B4-BE49-F238E27FC236}">
                <a16:creationId xmlns:a16="http://schemas.microsoft.com/office/drawing/2014/main" id="{2DB9064E-E799-6278-BB2B-237A47F2DAE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1394" y="6372225"/>
            <a:ext cx="840068" cy="15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1203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61060" y="2380797"/>
            <a:ext cx="4229100" cy="1621619"/>
          </a:xfrm>
        </p:spPr>
        <p:txBody>
          <a:bodyPr/>
          <a:lstStyle>
            <a:lvl1pPr>
              <a:defRPr sz="3600" spc="300">
                <a:ln w="15875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101D4-8AB1-8144-A02D-D1BE7844D5F4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B4A4D5F5-4532-E499-217A-10EF17A762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47339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61060" y="2380797"/>
            <a:ext cx="4229100" cy="1621619"/>
          </a:xfrm>
        </p:spPr>
        <p:txBody>
          <a:bodyPr/>
          <a:lstStyle>
            <a:lvl1pPr>
              <a:defRPr sz="3600" spc="300">
                <a:ln w="15875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101D4-8AB1-8144-A02D-D1BE7844D5F4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17996211-68BB-E531-3B92-02234698E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39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477510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65036" y="1204404"/>
            <a:ext cx="4229100" cy="1621619"/>
          </a:xfrm>
          <a:ln>
            <a:noFill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6464A-E2D5-1A40-8418-59975693670B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37BA3B4A-1021-0CC9-1990-27C05C392C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2001" cy="57613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65036" y="1204404"/>
            <a:ext cx="7130388" cy="1621619"/>
          </a:xfrm>
          <a:ln>
            <a:noFill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6464A-E2D5-1A40-8418-59975693670B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DC45F1F0-A197-FA10-13B6-02080354E6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758" y="0"/>
            <a:ext cx="466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5729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027335-0F8F-1947-B8BC-08B596CAD9E7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EC20B10E-BB0D-0479-BBB6-79443B9244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66EFB47-3703-CB02-404D-332F11906D9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53153" y="2290219"/>
            <a:ext cx="1866901" cy="1301578"/>
          </a:xfrm>
          <a:prstGeom prst="roundRect">
            <a:avLst>
              <a:gd name="adj" fmla="val 281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E5D462C9-EF85-B4D7-AA41-832A066AA66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53153" y="4235103"/>
            <a:ext cx="1866901" cy="1301578"/>
          </a:xfrm>
          <a:prstGeom prst="roundRect">
            <a:avLst>
              <a:gd name="adj" fmla="val 236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00429272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882167-11FB-954E-841B-4011F7CFB1D9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5093715-BF04-DB86-2607-2A495B23D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69693" cy="6858000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5A395DC5-7213-B7FB-4F2B-5D2A4AB11E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53153" y="1181100"/>
            <a:ext cx="1866901" cy="1301578"/>
          </a:xfrm>
          <a:prstGeom prst="roundRect">
            <a:avLst>
              <a:gd name="adj" fmla="val 281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64074917-2BD9-25DB-BE65-CE62FE01F76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653153" y="2918167"/>
            <a:ext cx="1866901" cy="1301578"/>
          </a:xfrm>
          <a:prstGeom prst="roundRect">
            <a:avLst>
              <a:gd name="adj" fmla="val 236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4D39B23C-A73D-3C48-20A5-E738F43F5ED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53153" y="4655233"/>
            <a:ext cx="1866901" cy="1301578"/>
          </a:xfrm>
          <a:prstGeom prst="roundRect">
            <a:avLst>
              <a:gd name="adj" fmla="val 236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F24EF6F-1397-6DD5-01BB-7633D4834C4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9600" y="0"/>
            <a:ext cx="7772400" cy="6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29253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F9FA8D-5A63-B349-8CB5-1EAD2D7592E7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A7B0B00B-4508-0BCA-D988-3E3EA252D3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39800" cy="6858000"/>
          </a:xfrm>
          <a:prstGeom prst="rect">
            <a:avLst/>
          </a:prstGeom>
        </p:spPr>
      </p:pic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442BB95-F779-3FE8-30E8-118EFD1634C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53153" y="1181100"/>
            <a:ext cx="1866901" cy="1301578"/>
          </a:xfrm>
          <a:prstGeom prst="roundRect">
            <a:avLst>
              <a:gd name="adj" fmla="val 281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8692408-7206-0F2F-B7C2-A372E969A8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53153" y="2907197"/>
            <a:ext cx="1866901" cy="1301578"/>
          </a:xfrm>
          <a:prstGeom prst="roundRect">
            <a:avLst>
              <a:gd name="adj" fmla="val 236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467462327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6DD0AB-9ED8-EE40-898B-1C3C92D2EC2D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1E5091CF-0A4C-0AAA-BC66-F82DD3B07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05719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0F808C-B61E-F616-3083-E2026515CE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324"/>
            <a:ext cx="12192000" cy="685534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6DD0AB-9ED8-EE40-898B-1C3C92D2EC2D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3BCA1AD-DAED-9B98-A8CC-F838A5978A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1394" y="6372225"/>
            <a:ext cx="840068" cy="151768"/>
          </a:xfrm>
          <a:prstGeom prst="rect">
            <a:avLst/>
          </a:prstGeom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E43C4F4-27B1-3DBB-81C7-0A34B5BD7004}"/>
              </a:ext>
            </a:extLst>
          </p:cNvPr>
          <p:cNvSpPr txBox="1">
            <a:spLocks/>
          </p:cNvSpPr>
          <p:nvPr userDrawn="1"/>
        </p:nvSpPr>
        <p:spPr>
          <a:xfrm>
            <a:off x="762261" y="6362817"/>
            <a:ext cx="350922" cy="21542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D8D877B3-D348-4611-9BDB-C5374591D951}" type="slidenum">
              <a:rPr lang="en-US" sz="800" smtClea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l"/>
              <a:t>‹#›</a:t>
            </a:fld>
            <a:endParaRPr lang="en-US" sz="105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88BFA2E3-BDDF-7CEB-2CEB-FCFD6F2579CC}"/>
              </a:ext>
            </a:extLst>
          </p:cNvPr>
          <p:cNvSpPr txBox="1">
            <a:spLocks/>
          </p:cNvSpPr>
          <p:nvPr userDrawn="1"/>
        </p:nvSpPr>
        <p:spPr>
          <a:xfrm>
            <a:off x="3590615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219788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5"/>
            <a:ext cx="8477747" cy="745212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6F2106-F1AD-EC48-8065-4BEB964FAD35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F4CE5294-69E0-EF0B-8A04-E490F61B72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5"/>
            <a:ext cx="7772400" cy="10913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57084" y="757583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-10526" y="3927944"/>
            <a:ext cx="12202526" cy="221567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D5C892A-14EB-8689-479D-3CAF8A1E53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07493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865036" y="431581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9D55C912-A2FC-EB9C-260F-7056608D293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4558" y="2313828"/>
            <a:ext cx="3748377" cy="2798861"/>
          </a:xfrm>
          <a:prstGeom prst="roundRect">
            <a:avLst>
              <a:gd name="adj" fmla="val 2634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8050A001-111C-27E7-E5A1-6371CEB6B8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962935" y="2313828"/>
            <a:ext cx="3748377" cy="2798861"/>
          </a:xfrm>
          <a:prstGeom prst="roundRect">
            <a:avLst>
              <a:gd name="adj" fmla="val 2634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EF130EFA-16D7-59A9-703E-9C84FC317C5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711312" y="2313827"/>
            <a:ext cx="3748377" cy="2798861"/>
          </a:xfrm>
          <a:prstGeom prst="roundRect">
            <a:avLst>
              <a:gd name="adj" fmla="val 2634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B2E092-1350-5487-95AE-82607E813633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31C20C19-D6B9-AA25-B736-7CF1D6EF7E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0"/>
            <a:ext cx="7772400" cy="6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69304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861061" y="2618190"/>
            <a:ext cx="3233862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620-DEED-1740-B08F-A7EFF1E9E91B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5E368B0-9477-C289-FDDC-EB8467E20B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758" y="0"/>
            <a:ext cx="466242" cy="6858000"/>
          </a:xfrm>
          <a:prstGeom prst="rect">
            <a:avLst/>
          </a:prstGeom>
        </p:spPr>
      </p:pic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F89E236-1AF1-5F99-3D86-4731468F6A5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94923" y="-1"/>
            <a:ext cx="3598627" cy="2060681"/>
          </a:xfrm>
          <a:prstGeom prst="roundRect">
            <a:avLst>
              <a:gd name="adj" fmla="val 2672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9F483854-57DA-E90B-09CF-294848230DD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94922" y="2060673"/>
            <a:ext cx="3598627" cy="2022254"/>
          </a:xfrm>
          <a:prstGeom prst="roundRect">
            <a:avLst>
              <a:gd name="adj" fmla="val 2672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2456ACA0-6C1E-7A71-7A59-5B9549DB52F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094922" y="4082936"/>
            <a:ext cx="3598627" cy="2060681"/>
          </a:xfrm>
          <a:prstGeom prst="roundRect">
            <a:avLst>
              <a:gd name="adj" fmla="val 2672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596645429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31130F-3804-C144-9082-67BE14F8D5E2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291FD631-F86E-D436-8CA3-BBE667FD55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061" y="2618190"/>
            <a:ext cx="3233862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F7138D1-7AE9-73B2-E9D1-5DAC2EFF1B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39800" cy="6858000"/>
          </a:xfrm>
          <a:prstGeom prst="rect">
            <a:avLst/>
          </a:prstGeom>
        </p:spPr>
      </p:pic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8B6AA30-EFB0-249D-2BC3-6DEF24D0DA2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97094" y="-1"/>
            <a:ext cx="3113597" cy="2060681"/>
          </a:xfrm>
          <a:prstGeom prst="roundRect">
            <a:avLst>
              <a:gd name="adj" fmla="val 2672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9EFFE9CA-6988-38C8-7576-015CDA4E290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85280" y="2060673"/>
            <a:ext cx="3113598" cy="2022254"/>
          </a:xfrm>
          <a:prstGeom prst="roundRect">
            <a:avLst>
              <a:gd name="adj" fmla="val 2672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A87571B2-3025-F4DC-EA5B-35E4B89F04D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97094" y="4082936"/>
            <a:ext cx="3113598" cy="2060681"/>
          </a:xfrm>
          <a:prstGeom prst="roundRect">
            <a:avLst>
              <a:gd name="adj" fmla="val 2672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7FF588-282D-464B-81D7-2D172B23C83C}"/>
              </a:ext>
            </a:extLst>
          </p:cNvPr>
          <p:cNvSpPr/>
          <p:nvPr userDrawn="1"/>
        </p:nvSpPr>
        <p:spPr>
          <a:xfrm>
            <a:off x="11208152" y="4833"/>
            <a:ext cx="983848" cy="6858000"/>
          </a:xfrm>
          <a:prstGeom prst="rect">
            <a:avLst/>
          </a:prstGeom>
          <a:solidFill>
            <a:srgbClr val="147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 light" panose="00000400000000000000" pitchFamily="2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135464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3752193" y="439532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B926C8A-0A6B-8B1E-7586-10D5C79F59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152627" y="3330308"/>
            <a:ext cx="1092569" cy="197385"/>
          </a:xfrm>
          <a:prstGeom prst="rect">
            <a:avLst/>
          </a:prstGeom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70CF665-7F8E-8F7D-850A-8BCE009F15E3}"/>
              </a:ext>
            </a:extLst>
          </p:cNvPr>
          <p:cNvSpPr txBox="1">
            <a:spLocks/>
          </p:cNvSpPr>
          <p:nvPr userDrawn="1"/>
        </p:nvSpPr>
        <p:spPr>
          <a:xfrm>
            <a:off x="3590615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433325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3554175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5157080" y="996124"/>
            <a:ext cx="4229100" cy="1621619"/>
          </a:xfrm>
        </p:spPr>
        <p:txBody>
          <a:bodyPr/>
          <a:lstStyle>
            <a:lvl1pPr>
              <a:defRPr sz="36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572C0-5B36-77B9-0B86-6CEC74EED571}"/>
              </a:ext>
            </a:extLst>
          </p:cNvPr>
          <p:cNvSpPr/>
          <p:nvPr userDrawn="1"/>
        </p:nvSpPr>
        <p:spPr>
          <a:xfrm>
            <a:off x="3556503" y="4833"/>
            <a:ext cx="983848" cy="6858000"/>
          </a:xfrm>
          <a:prstGeom prst="rect">
            <a:avLst/>
          </a:prstGeom>
          <a:solidFill>
            <a:srgbClr val="147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 light" panose="000004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402B802-510E-A1DA-29E4-04CF773980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500978" y="3330308"/>
            <a:ext cx="1092569" cy="197385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928CFD7-9362-9631-F30B-66B59D911151}"/>
              </a:ext>
            </a:extLst>
          </p:cNvPr>
          <p:cNvSpPr txBox="1">
            <a:spLocks/>
          </p:cNvSpPr>
          <p:nvPr userDrawn="1"/>
        </p:nvSpPr>
        <p:spPr>
          <a:xfrm>
            <a:off x="5002364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F548F1-5927-5CF8-DD13-464412115FAA}"/>
              </a:ext>
            </a:extLst>
          </p:cNvPr>
          <p:cNvCxnSpPr>
            <a:cxnSpLocks/>
          </p:cNvCxnSpPr>
          <p:nvPr userDrawn="1"/>
        </p:nvCxnSpPr>
        <p:spPr>
          <a:xfrm>
            <a:off x="5157080" y="6143625"/>
            <a:ext cx="629438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032012" y="9961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7FC303-EBD3-EF4B-83BF-CFF74E185DC8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C04BAF6C-963E-F983-531C-753F0673A1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772400" cy="389974"/>
          </a:xfrm>
          <a:prstGeom prst="rect">
            <a:avLst/>
          </a:prstGeom>
        </p:spPr>
      </p:pic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4AE82AE1-0FDD-39AC-58CE-F505F02CCE6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793683" y="3998153"/>
            <a:ext cx="3093359" cy="2123167"/>
          </a:xfrm>
          <a:prstGeom prst="roundRect">
            <a:avLst>
              <a:gd name="adj" fmla="val 2885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A65EFB0-18BA-B58F-48C2-08FC30DAF5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61113" y="1158797"/>
            <a:ext cx="5524500" cy="2839357"/>
          </a:xfrm>
          <a:prstGeom prst="roundRect">
            <a:avLst>
              <a:gd name="adj" fmla="val 2175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84333872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446851" y="1919866"/>
            <a:ext cx="4229100" cy="1857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D28CA1-26E7-0E40-8703-352B736214FC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8DC83924-24CB-E888-C889-DD35B0D8B4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0"/>
            <a:ext cx="7772400" cy="611191"/>
          </a:xfrm>
          <a:prstGeom prst="rect">
            <a:avLst/>
          </a:prstGeom>
        </p:spPr>
      </p:pic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7BBFA0C-9E2E-878C-2A81-E9E6E01C9E9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08816" y="-103696"/>
            <a:ext cx="2062437" cy="5800553"/>
          </a:xfrm>
          <a:prstGeom prst="roundRect">
            <a:avLst>
              <a:gd name="adj" fmla="val 381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881741F7-A352-E971-B246-918CDCCC708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71253" y="-103696"/>
            <a:ext cx="2062437" cy="5067582"/>
          </a:xfrm>
          <a:prstGeom prst="roundRect">
            <a:avLst>
              <a:gd name="adj" fmla="val 381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7C63CF40-60E2-B8A8-50A4-4CE5019B40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-103696"/>
            <a:ext cx="2008816" cy="3209752"/>
          </a:xfrm>
          <a:prstGeom prst="roundRect">
            <a:avLst>
              <a:gd name="adj" fmla="val 381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6882A6-A37F-72FA-994B-FCFD34E73B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-1"/>
            <a:ext cx="7772400" cy="6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97835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5040086" y="2728688"/>
            <a:ext cx="2024743" cy="3414932"/>
          </a:xfrm>
          <a:prstGeom prst="round2SameRect">
            <a:avLst>
              <a:gd name="adj1" fmla="val 3026"/>
              <a:gd name="adj2" fmla="val 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3015343" y="1181101"/>
            <a:ext cx="2024743" cy="4962521"/>
          </a:xfrm>
          <a:prstGeom prst="round2SameRect">
            <a:avLst>
              <a:gd name="adj1" fmla="val 3948"/>
              <a:gd name="adj2" fmla="val 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6096000" y="9961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65609E-75C9-4646-B1D2-056E6F324B78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AC0C974-77FA-6F85-C9E6-D1B9104A64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0600" y="1952170"/>
            <a:ext cx="2024743" cy="4191449"/>
          </a:xfrm>
          <a:prstGeom prst="round2SameRect">
            <a:avLst>
              <a:gd name="adj1" fmla="val 3844"/>
              <a:gd name="adj2" fmla="val 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1814022-C0E6-A532-6FE0-B9A1F957B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758" y="0"/>
            <a:ext cx="466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42088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135464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3730032" y="261819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924804-BC35-5F1C-90DC-E4C1119208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9C21C0-1F31-692A-903C-C0F9E0B2E680}"/>
              </a:ext>
            </a:extLst>
          </p:cNvPr>
          <p:cNvCxnSpPr>
            <a:cxnSpLocks/>
          </p:cNvCxnSpPr>
          <p:nvPr userDrawn="1"/>
        </p:nvCxnSpPr>
        <p:spPr>
          <a:xfrm>
            <a:off x="3730032" y="6143625"/>
            <a:ext cx="77214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B4A5B08-E01A-084F-1CA3-680102B27152}"/>
              </a:ext>
            </a:extLst>
          </p:cNvPr>
          <p:cNvSpPr txBox="1">
            <a:spLocks/>
          </p:cNvSpPr>
          <p:nvPr userDrawn="1"/>
        </p:nvSpPr>
        <p:spPr>
          <a:xfrm>
            <a:off x="762261" y="6362817"/>
            <a:ext cx="350922" cy="21542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D8D877B3-D348-4611-9BDB-C5374591D951}" type="slidenum">
              <a:rPr lang="en-US" sz="800" smtClean="0">
                <a:solidFill>
                  <a:schemeClr val="bg1">
                    <a:alpha val="7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l"/>
              <a:t>‹#›</a:t>
            </a:fld>
            <a:endParaRPr lang="en-US" sz="1050">
              <a:solidFill>
                <a:schemeClr val="bg1">
                  <a:alpha val="7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118302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135464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3730032" y="261819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F5EA5B-2440-E942-B48A-808DDCBB05DA}"/>
              </a:ext>
            </a:extLst>
          </p:cNvPr>
          <p:cNvCxnSpPr>
            <a:cxnSpLocks/>
          </p:cNvCxnSpPr>
          <p:nvPr userDrawn="1"/>
        </p:nvCxnSpPr>
        <p:spPr>
          <a:xfrm>
            <a:off x="3730032" y="6143625"/>
            <a:ext cx="77214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5188E750-FC6E-9C6A-FAC5-B23542CBD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0"/>
            <a:ext cx="7772400" cy="611191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D84F56B-B9C2-F259-1709-5B1180C0FABF}"/>
              </a:ext>
            </a:extLst>
          </p:cNvPr>
          <p:cNvSpPr txBox="1">
            <a:spLocks/>
          </p:cNvSpPr>
          <p:nvPr userDrawn="1"/>
        </p:nvSpPr>
        <p:spPr>
          <a:xfrm>
            <a:off x="762261" y="6362817"/>
            <a:ext cx="350922" cy="21542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D8D877B3-D348-4611-9BDB-C5374591D951}" type="slidenum">
              <a:rPr lang="en-US" sz="800" smtClea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l"/>
              <a:t>‹#›</a:t>
            </a:fld>
            <a:endParaRPr lang="en-US" sz="105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5A473DA-7349-7052-1831-60158A36763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0"/>
            <a:ext cx="7772400" cy="6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27721"/>
      </p:ext>
    </p:extLst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9428E6E-1694-33AE-17CF-C72339DBF4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1359" y="0"/>
            <a:ext cx="1960641" cy="6858000"/>
          </a:xfrm>
          <a:prstGeom prst="rect">
            <a:avLst/>
          </a:prstGeom>
        </p:spPr>
      </p:pic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371547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15EF77A2-6E0E-EDB5-613F-CF5A083533B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 rot="5400000">
            <a:off x="3448051" y="-3448051"/>
            <a:ext cx="3429000" cy="10325102"/>
          </a:xfrm>
          <a:prstGeom prst="round2SameRect">
            <a:avLst>
              <a:gd name="adj1" fmla="val 2511"/>
              <a:gd name="adj2" fmla="val 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B25071-E974-681C-F23A-52775CE76429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340583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371547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89A978-D2FF-1F59-0844-1B0176D6ED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758" y="0"/>
            <a:ext cx="466242" cy="6858000"/>
          </a:xfrm>
          <a:prstGeom prst="rect">
            <a:avLst/>
          </a:prstGeom>
        </p:spPr>
      </p:pic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27E8D7D-BD00-A392-5BC1-5BCA8B816B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 rot="5400000">
            <a:off x="3448051" y="-3448051"/>
            <a:ext cx="3429000" cy="10325102"/>
          </a:xfrm>
          <a:prstGeom prst="round2SameRect">
            <a:avLst>
              <a:gd name="adj1" fmla="val 2511"/>
              <a:gd name="adj2" fmla="val 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78A5EA-9F33-AB5B-E407-95623BEE018B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430765"/>
      </p:ext>
    </p:extLst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3429000"/>
            <a:ext cx="12192000" cy="2714618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9DDA3-E545-1794-199F-355313D3F2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60904"/>
      </p:ext>
    </p:extLst>
  </p:cSld>
  <p:clrMapOvr>
    <a:masterClrMapping/>
  </p:clrMapOvr>
  <p:transition spd="slow"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C445C7F-AA70-EBEF-C3ED-4EF4AB001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1359" y="0"/>
            <a:ext cx="1960641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2C4C30-CF4A-FD4B-B8EB-AD5707292491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AEE9BF8-4096-6AED-88B3-9B8B48BF9F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866901" y="3069236"/>
            <a:ext cx="4229100" cy="2521857"/>
          </a:xfrm>
          <a:prstGeom prst="roundRect">
            <a:avLst>
              <a:gd name="adj" fmla="val 279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B850225-2F5E-4739-9618-FE5939D0BE7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89701" y="3069235"/>
            <a:ext cx="4229100" cy="2521857"/>
          </a:xfrm>
          <a:prstGeom prst="roundRect">
            <a:avLst>
              <a:gd name="adj" fmla="val 279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389430103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D3C2D9-45E8-9F47-98D9-AB2AC36D3F37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180E68CB-87AD-94A8-E1B1-3CAB798EFE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758" y="0"/>
            <a:ext cx="466242" cy="6858000"/>
          </a:xfrm>
          <a:prstGeom prst="rect">
            <a:avLst/>
          </a:prstGeom>
        </p:spPr>
      </p:pic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6E6FEE3-C35E-325C-83A6-050FEF2F50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498" y="2569027"/>
            <a:ext cx="3423557" cy="2198915"/>
          </a:xfrm>
          <a:prstGeom prst="roundRect">
            <a:avLst>
              <a:gd name="adj" fmla="val 3319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5F28EDB-126B-82CD-B967-4DBAEF6964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96059" y="2558343"/>
            <a:ext cx="3423557" cy="2198915"/>
          </a:xfrm>
          <a:prstGeom prst="roundRect">
            <a:avLst>
              <a:gd name="adj" fmla="val 3319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DD2113F9-9131-AD17-ABB5-4A1EC2AC1C2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19616" y="2558343"/>
            <a:ext cx="3423557" cy="2198915"/>
          </a:xfrm>
          <a:prstGeom prst="roundRect">
            <a:avLst>
              <a:gd name="adj" fmla="val 3319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8FFE39-7811-8378-133B-E25449180D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-1"/>
            <a:ext cx="7772400" cy="6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17979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574D44-6639-2794-ABA1-B621D2AAE0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2509" y="0"/>
            <a:ext cx="559491" cy="6858000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5B8775A-6158-08CB-6B59-977F0E5B21D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14227" y="3004456"/>
            <a:ext cx="2385785" cy="3127830"/>
          </a:xfrm>
          <a:prstGeom prst="roundRect">
            <a:avLst>
              <a:gd name="adj" fmla="val 2945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5B80AFB-DB9C-D16D-703E-4B2DA4F287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00012" y="3004456"/>
            <a:ext cx="2385785" cy="3127830"/>
          </a:xfrm>
          <a:prstGeom prst="roundRect">
            <a:avLst>
              <a:gd name="adj" fmla="val 2945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804A4023-A7E7-B570-4D77-118EB84A32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085797" y="3004456"/>
            <a:ext cx="2385785" cy="3127830"/>
          </a:xfrm>
          <a:prstGeom prst="roundRect">
            <a:avLst>
              <a:gd name="adj" fmla="val 2945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08B189B-9D0E-D1B3-81C6-51148070907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71582" y="3004456"/>
            <a:ext cx="2385785" cy="3127830"/>
          </a:xfrm>
          <a:prstGeom prst="roundRect">
            <a:avLst>
              <a:gd name="adj" fmla="val 2945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124539187"/>
      </p:ext>
    </p:extLst>
  </p:cSld>
  <p:clrMapOvr>
    <a:masterClrMapping/>
  </p:clrMapOvr>
  <p:transition spd="slow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60046C1-3A6C-31F1-3022-624E36490BF7}"/>
              </a:ext>
            </a:extLst>
          </p:cNvPr>
          <p:cNvSpPr/>
          <p:nvPr userDrawn="1"/>
        </p:nvSpPr>
        <p:spPr>
          <a:xfrm>
            <a:off x="4064000" y="6357146"/>
            <a:ext cx="5637892" cy="323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latin typeface="Poppins light" panose="00000400000000000000" pitchFamily="2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7105587" y="2220685"/>
            <a:ext cx="4229100" cy="1857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F85044-D137-2E16-D74C-B0FDD9F9C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0"/>
            <a:ext cx="7772400" cy="611191"/>
          </a:xfrm>
          <a:prstGeom prst="rect">
            <a:avLst/>
          </a:prstGeom>
        </p:spPr>
      </p:pic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47621E9D-E41E-9EE6-FF3B-00BC1E650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322287" y="2318656"/>
            <a:ext cx="2220685" cy="2220685"/>
          </a:xfrm>
          <a:prstGeom prst="roundRect">
            <a:avLst>
              <a:gd name="adj" fmla="val 2433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1235D015-5AE4-29A5-4316-F3370D27CD9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644573" y="2318655"/>
            <a:ext cx="2220685" cy="2220685"/>
          </a:xfrm>
          <a:prstGeom prst="roundRect">
            <a:avLst>
              <a:gd name="adj" fmla="val 2433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B0DFC710-E54A-5458-5272-6428D7F6FDA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318654"/>
            <a:ext cx="2220685" cy="2220685"/>
          </a:xfrm>
          <a:prstGeom prst="roundRect">
            <a:avLst>
              <a:gd name="adj" fmla="val 2433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1140C8-B20A-5B05-222A-EA9F4B4C05C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22287" y="4623596"/>
            <a:ext cx="2220685" cy="2220685"/>
          </a:xfrm>
          <a:prstGeom prst="roundRect">
            <a:avLst>
              <a:gd name="adj" fmla="val 2433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759BF4B5-9659-3289-1CE0-39C33DAECB3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4623594"/>
            <a:ext cx="2220685" cy="2220685"/>
          </a:xfrm>
          <a:prstGeom prst="roundRect">
            <a:avLst>
              <a:gd name="adj" fmla="val 2433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87DBBBB2-B973-1786-1D8B-E5C23F5242D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13721"/>
            <a:ext cx="2220685" cy="2220685"/>
          </a:xfrm>
          <a:prstGeom prst="roundRect">
            <a:avLst>
              <a:gd name="adj" fmla="val 2433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A6DED8-A699-9DC1-CD62-90192E3491C8}"/>
              </a:ext>
            </a:extLst>
          </p:cNvPr>
          <p:cNvCxnSpPr>
            <a:cxnSpLocks/>
          </p:cNvCxnSpPr>
          <p:nvPr userDrawn="1"/>
        </p:nvCxnSpPr>
        <p:spPr>
          <a:xfrm>
            <a:off x="4644574" y="6143625"/>
            <a:ext cx="68068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49AF12DC-3408-5450-9F7A-B101AB069B82}"/>
              </a:ext>
            </a:extLst>
          </p:cNvPr>
          <p:cNvSpPr txBox="1">
            <a:spLocks/>
          </p:cNvSpPr>
          <p:nvPr userDrawn="1"/>
        </p:nvSpPr>
        <p:spPr>
          <a:xfrm>
            <a:off x="4644573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461281"/>
      </p:ext>
    </p:extLst>
  </p:cSld>
  <p:clrMapOvr>
    <a:masterClrMapping/>
  </p:clrMapOvr>
  <p:transition spd="slow"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1066800" y="426985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CC0CD5-6949-D04E-AED1-F4865F59BA00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718B48B-ED41-70C9-FA6D-D07F45EE8CE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66799" y="1181101"/>
            <a:ext cx="2079699" cy="2019300"/>
          </a:xfrm>
          <a:prstGeom prst="roundRect">
            <a:avLst>
              <a:gd name="adj" fmla="val 269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4C1BE9B2-47FD-4BF5-94B3-BFA6DAB13FE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146498" y="1176337"/>
            <a:ext cx="2065867" cy="2019300"/>
          </a:xfrm>
          <a:prstGeom prst="roundRect">
            <a:avLst>
              <a:gd name="adj" fmla="val 269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13072631-539F-4552-B32A-4F50C23F9FB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26197" y="1176337"/>
            <a:ext cx="2065867" cy="2019300"/>
          </a:xfrm>
          <a:prstGeom prst="roundRect">
            <a:avLst>
              <a:gd name="adj" fmla="val 269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58AD80C8-C261-7F2E-234E-0ED25D67A73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305896" y="1171573"/>
            <a:ext cx="2065867" cy="2019300"/>
          </a:xfrm>
          <a:prstGeom prst="roundRect">
            <a:avLst>
              <a:gd name="adj" fmla="val 269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B21E96E5-2F34-3FAE-9072-896D4C98EC5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385595" y="1176337"/>
            <a:ext cx="2065867" cy="2019300"/>
          </a:xfrm>
          <a:prstGeom prst="roundRect">
            <a:avLst>
              <a:gd name="adj" fmla="val 2691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0808770-31A2-4E2C-5D96-B9B073E10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8610"/>
      </p:ext>
    </p:extLst>
  </p:cSld>
  <p:clrMapOvr>
    <a:masterClrMapping/>
  </p:clrMapOvr>
  <p:transition spd="slow">
    <p:push dir="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5873" y="6418877"/>
            <a:ext cx="513735" cy="227164"/>
          </a:xfrm>
          <a:prstGeom prst="rect">
            <a:avLst/>
          </a:prstGeom>
        </p:spPr>
        <p:txBody>
          <a:bodyPr/>
          <a:lstStyle>
            <a:lvl1pPr>
              <a:defRPr>
                <a:latin typeface="Poppins light" panose="00000400000000000000" pitchFamily="2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011714" cy="685799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3060095" y="1"/>
            <a:ext cx="3011714" cy="685799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120190" y="1"/>
            <a:ext cx="3011714" cy="685799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180286" y="1"/>
            <a:ext cx="3011714" cy="685799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EAA081B-52B7-BBEE-241A-B36F245DBC52}"/>
              </a:ext>
            </a:extLst>
          </p:cNvPr>
          <p:cNvSpPr txBox="1">
            <a:spLocks/>
          </p:cNvSpPr>
          <p:nvPr userDrawn="1"/>
        </p:nvSpPr>
        <p:spPr>
          <a:xfrm>
            <a:off x="3590615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79674"/>
      </p:ext>
    </p:extLst>
  </p:cSld>
  <p:clrMapOvr>
    <a:masterClrMapping/>
  </p:clrMapOvr>
  <p:transition spd="slow">
    <p:push dir="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8DCD94A-98B3-265D-86FF-A367A0C6C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39800" cy="6858000"/>
          </a:xfrm>
          <a:prstGeom prst="rect">
            <a:avLst/>
          </a:prstGeom>
        </p:spPr>
      </p:pic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F652C70-9FAC-ED54-C00B-48FB21C349C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89873" y="1181100"/>
            <a:ext cx="7361588" cy="4962521"/>
          </a:xfrm>
          <a:prstGeom prst="roundRect">
            <a:avLst>
              <a:gd name="adj" fmla="val 2429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8ADAE9-7D31-8155-BE5F-7F4F86ADAC99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45E9499-5FF2-9621-45BE-1A88F82A74B5}"/>
              </a:ext>
            </a:extLst>
          </p:cNvPr>
          <p:cNvSpPr txBox="1">
            <a:spLocks/>
          </p:cNvSpPr>
          <p:nvPr userDrawn="1"/>
        </p:nvSpPr>
        <p:spPr>
          <a:xfrm>
            <a:off x="3590615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744297"/>
      </p:ext>
    </p:extLst>
  </p:cSld>
  <p:clrMapOvr>
    <a:masterClrMapping/>
  </p:clrMapOvr>
  <p:transition spd="slow">
    <p:push dir="u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BE7D009-2528-AF46-491D-1C419BAF9302}"/>
              </a:ext>
            </a:extLst>
          </p:cNvPr>
          <p:cNvSpPr/>
          <p:nvPr userDrawn="1"/>
        </p:nvSpPr>
        <p:spPr>
          <a:xfrm>
            <a:off x="3426379" y="6328903"/>
            <a:ext cx="3588171" cy="317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latin typeface="Poppins light" panose="00000400000000000000" pitchFamily="2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2312408" y="0"/>
            <a:ext cx="2227943" cy="6865257"/>
          </a:xfrm>
          <a:prstGeom prst="rect">
            <a:avLst/>
          </a:prstGeom>
          <a:solidFill>
            <a:srgbClr val="147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 light" panose="00000400000000000000" pitchFamily="2" charset="0"/>
            </a:endParaRP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4835C78-2A35-357F-2AA2-EC06ABF0F8B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2312409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48C406-6F17-7581-B2BF-F9FC2478CE6F}"/>
              </a:ext>
            </a:extLst>
          </p:cNvPr>
          <p:cNvSpPr/>
          <p:nvPr userDrawn="1"/>
        </p:nvSpPr>
        <p:spPr>
          <a:xfrm>
            <a:off x="6589486" y="6328903"/>
            <a:ext cx="2071914" cy="317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latin typeface="Poppins light" panose="00000400000000000000" pitchFamily="2" charset="0"/>
            </a:endParaRPr>
          </a:p>
        </p:txBody>
      </p:sp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5185879" y="1000025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E2CE1D8-5B6F-41CC-75DD-5A8358ACD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2113F9BA-1EDD-1BAD-DC7D-FAF62A8235C3}"/>
              </a:ext>
            </a:extLst>
          </p:cNvPr>
          <p:cNvSpPr txBox="1">
            <a:spLocks/>
          </p:cNvSpPr>
          <p:nvPr userDrawn="1"/>
        </p:nvSpPr>
        <p:spPr>
          <a:xfrm>
            <a:off x="5002364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8BDFB6-47D5-5CA4-80B4-618121E2D5B3}"/>
              </a:ext>
            </a:extLst>
          </p:cNvPr>
          <p:cNvCxnSpPr>
            <a:cxnSpLocks/>
          </p:cNvCxnSpPr>
          <p:nvPr userDrawn="1"/>
        </p:nvCxnSpPr>
        <p:spPr>
          <a:xfrm>
            <a:off x="5157080" y="6143625"/>
            <a:ext cx="629438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076526"/>
      </p:ext>
    </p:extLst>
  </p:cSld>
  <p:clrMapOvr>
    <a:masterClrMapping/>
  </p:clrMapOvr>
  <p:transition spd="slow">
    <p:push dir="u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DAA877-FC4B-6FE0-21A5-52D54C869330}"/>
              </a:ext>
            </a:extLst>
          </p:cNvPr>
          <p:cNvSpPr/>
          <p:nvPr userDrawn="1"/>
        </p:nvSpPr>
        <p:spPr>
          <a:xfrm>
            <a:off x="5834144" y="6301649"/>
            <a:ext cx="2759013" cy="309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  <a:latin typeface="Poppins light" panose="00000400000000000000" pitchFamily="2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834144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9CE0DC5-0774-8B91-5827-46705BDA8342}"/>
              </a:ext>
            </a:extLst>
          </p:cNvPr>
          <p:cNvSpPr txBox="1">
            <a:spLocks/>
          </p:cNvSpPr>
          <p:nvPr userDrawn="1"/>
        </p:nvSpPr>
        <p:spPr>
          <a:xfrm>
            <a:off x="3590615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6CAA7F-9B73-A5B2-0C81-67EF5EC530E9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8667947-091F-56E7-CE98-F317EB45F65A}"/>
              </a:ext>
            </a:extLst>
          </p:cNvPr>
          <p:cNvSpPr txBox="1">
            <a:spLocks/>
          </p:cNvSpPr>
          <p:nvPr userDrawn="1"/>
        </p:nvSpPr>
        <p:spPr>
          <a:xfrm>
            <a:off x="762261" y="6362817"/>
            <a:ext cx="350922" cy="21542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D8D877B3-D348-4611-9BDB-C5374591D951}" type="slidenum">
              <a:rPr lang="en-US" sz="800" smtClea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l"/>
              <a:t>‹#›</a:t>
            </a:fld>
            <a:endParaRPr lang="en-US" sz="105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903D4E9-10AE-34C9-EDB0-75DC22292A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-1"/>
            <a:ext cx="7772400" cy="611191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A3B77644-F91C-ADE7-B6A4-3C101F480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607" y="1000025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3910072-F471-2A9E-7444-41968B287DFB}"/>
              </a:ext>
            </a:extLst>
          </p:cNvPr>
          <p:cNvSpPr/>
          <p:nvPr userDrawn="1"/>
        </p:nvSpPr>
        <p:spPr>
          <a:xfrm>
            <a:off x="4404105" y="6275553"/>
            <a:ext cx="2606296" cy="345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latin typeface="Poppins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86D9C-773F-6990-312C-3E727DCD789A}"/>
              </a:ext>
            </a:extLst>
          </p:cNvPr>
          <p:cNvSpPr/>
          <p:nvPr userDrawn="1"/>
        </p:nvSpPr>
        <p:spPr>
          <a:xfrm>
            <a:off x="5834144" y="6275553"/>
            <a:ext cx="3247943" cy="345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latin typeface="Poppins light" panose="00000400000000000000" pitchFamily="2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540351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2E1AEEE-CA40-AEE6-F45E-5B4B8B672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0"/>
            <a:ext cx="7772400" cy="611191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E3BF9DBE-7139-82F5-5AA1-282E67FD6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5879" y="1000025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BEBD040-9DD0-5492-68C6-5DBBCF0F3E6E}"/>
              </a:ext>
            </a:extLst>
          </p:cNvPr>
          <p:cNvSpPr txBox="1">
            <a:spLocks/>
          </p:cNvSpPr>
          <p:nvPr userDrawn="1"/>
        </p:nvSpPr>
        <p:spPr>
          <a:xfrm>
            <a:off x="5002364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5A1D43-C32B-33FD-ADED-5BFB3A319BCE}"/>
              </a:ext>
            </a:extLst>
          </p:cNvPr>
          <p:cNvCxnSpPr>
            <a:cxnSpLocks/>
          </p:cNvCxnSpPr>
          <p:nvPr userDrawn="1"/>
        </p:nvCxnSpPr>
        <p:spPr>
          <a:xfrm>
            <a:off x="5157080" y="6143625"/>
            <a:ext cx="629438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5EDCC4D5-235B-7930-0581-D7CBD802B7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25801"/>
      </p:ext>
    </p:extLst>
  </p:cSld>
  <p:clrMapOvr>
    <a:masterClrMapping/>
  </p:clrMapOvr>
  <p:transition spd="slow">
    <p:push dir="u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10594" y="1000025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6D4DF9-1310-9942-91FE-8E7F6FC13975}"/>
              </a:ext>
            </a:extLst>
          </p:cNvPr>
          <p:cNvCxnSpPr>
            <a:cxnSpLocks/>
          </p:cNvCxnSpPr>
          <p:nvPr userDrawn="1"/>
        </p:nvCxnSpPr>
        <p:spPr>
          <a:xfrm>
            <a:off x="740538" y="6143625"/>
            <a:ext cx="107109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61344BB6-A435-B9A9-F245-D4C44DAF330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 rot="10800000">
            <a:off x="6201904" y="-6"/>
            <a:ext cx="5313201" cy="6143630"/>
          </a:xfrm>
          <a:prstGeom prst="round2SameRect">
            <a:avLst>
              <a:gd name="adj1" fmla="val 2586"/>
              <a:gd name="adj2" fmla="val 0"/>
            </a:avLst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0" spc="0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2D0CC39E-FAB6-7A3D-4941-5A56D1183933}"/>
              </a:ext>
            </a:extLst>
          </p:cNvPr>
          <p:cNvSpPr txBox="1">
            <a:spLocks/>
          </p:cNvSpPr>
          <p:nvPr userDrawn="1"/>
        </p:nvSpPr>
        <p:spPr>
          <a:xfrm>
            <a:off x="3590615" y="635714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818521"/>
      </p:ext>
    </p:extLst>
  </p:cSld>
  <p:clrMapOvr>
    <a:masterClrMapping/>
  </p:clrMapOvr>
  <p:transition spd="slow">
    <p:push dir="u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1000025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C71D327-48C6-2BC6-D075-69900518B9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833"/>
            <a:ext cx="7772400" cy="475712"/>
          </a:xfrm>
          <a:prstGeom prst="rect">
            <a:avLst/>
          </a:prstGeom>
        </p:spPr>
      </p:pic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2AC542C-038C-DB0B-8B92-023492C3F8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14700"/>
            <a:ext cx="4064000" cy="2828923"/>
          </a:xfrm>
          <a:prstGeom prst="roundRect">
            <a:avLst>
              <a:gd name="adj" fmla="val 3950"/>
            </a:avLst>
          </a:prstGeom>
          <a:pattFill prst="pct5">
            <a:fgClr>
              <a:schemeClr val="bg1">
                <a:lumMod val="6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200" spc="0"/>
            </a:lvl1pPr>
          </a:lstStyle>
          <a:p>
            <a:r>
              <a:rPr lang="en-US"/>
              <a:t>Drag &amp; Drop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67691894-4FCA-1C31-41E9-A9D5E2BF67C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072328" y="3314699"/>
            <a:ext cx="4064000" cy="2828923"/>
          </a:xfrm>
          <a:prstGeom prst="roundRect">
            <a:avLst>
              <a:gd name="adj" fmla="val 3950"/>
            </a:avLst>
          </a:prstGeom>
          <a:pattFill prst="pct5">
            <a:fgClr>
              <a:schemeClr val="bg1">
                <a:lumMod val="6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200" spc="0"/>
            </a:lvl1pPr>
          </a:lstStyle>
          <a:p>
            <a:r>
              <a:rPr lang="en-US"/>
              <a:t>Drag &amp; Drop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350A59-9ABB-8CF7-DCF5-A889274B784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44656" y="3314698"/>
            <a:ext cx="4064000" cy="2828923"/>
          </a:xfrm>
          <a:prstGeom prst="roundRect">
            <a:avLst>
              <a:gd name="adj" fmla="val 3950"/>
            </a:avLst>
          </a:prstGeom>
          <a:pattFill prst="pct5">
            <a:fgClr>
              <a:schemeClr val="bg1">
                <a:lumMod val="6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200" spc="0"/>
            </a:lvl1pPr>
          </a:lstStyle>
          <a:p>
            <a:r>
              <a:rPr lang="en-US"/>
              <a:t>Drag &amp; Drop Picture</a:t>
            </a:r>
          </a:p>
        </p:txBody>
      </p:sp>
    </p:spTree>
    <p:extLst>
      <p:ext uri="{BB962C8B-B14F-4D97-AF65-F5344CB8AC3E}">
        <p14:creationId xmlns:p14="http://schemas.microsoft.com/office/powerpoint/2010/main" val="801168682"/>
      </p:ext>
    </p:extLst>
  </p:cSld>
  <p:clrMapOvr>
    <a:masterClrMapping/>
  </p:clrMapOvr>
  <p:transition spd="slow">
    <p:push dir="u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6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81A097-D710-1608-B01C-1EEAF8742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F632A13-40B6-C014-8FA9-B8E95C19BA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C1078D7-9F28-B005-6ECD-1558F0B7A94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1807" y="577283"/>
            <a:ext cx="1487444" cy="268724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68E82-8FB3-97F9-3375-E60E23B21A14}"/>
              </a:ext>
            </a:extLst>
          </p:cNvPr>
          <p:cNvSpPr txBox="1">
            <a:spLocks/>
          </p:cNvSpPr>
          <p:nvPr userDrawn="1"/>
        </p:nvSpPr>
        <p:spPr>
          <a:xfrm>
            <a:off x="872725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CEF398-E6FC-F60E-71BB-639C90169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725" y="4359432"/>
            <a:ext cx="3346578" cy="14878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0971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7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81A097-D710-1608-B01C-1EEAF8742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12204001" cy="685800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C8BF833-25E8-BFBC-31FC-55AB21773B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E149080-01F0-E596-F0A7-A2AF0A3CE37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1807" y="577283"/>
            <a:ext cx="1487444" cy="268724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1B0C5FA-636D-7612-973B-0D983238C5F5}"/>
              </a:ext>
            </a:extLst>
          </p:cNvPr>
          <p:cNvSpPr txBox="1">
            <a:spLocks/>
          </p:cNvSpPr>
          <p:nvPr userDrawn="1"/>
        </p:nvSpPr>
        <p:spPr>
          <a:xfrm>
            <a:off x="872725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B591221A-CCBD-3859-CFAE-E30578F8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725" y="4359432"/>
            <a:ext cx="3346578" cy="14878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4289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8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3C04B8-60D4-352F-43A4-1084240A6A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509513" cy="685800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DD68482-481D-CC1C-66AD-9405968CE0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2B7B117-122A-CA83-068B-1DEA414AAFF7}"/>
              </a:ext>
            </a:extLst>
          </p:cNvPr>
          <p:cNvSpPr txBox="1">
            <a:spLocks/>
          </p:cNvSpPr>
          <p:nvPr userDrawn="1"/>
        </p:nvSpPr>
        <p:spPr>
          <a:xfrm>
            <a:off x="872725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E1A08D5-A3C9-FE9D-67C4-26F2062E9C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1807" y="577283"/>
            <a:ext cx="1487444" cy="26872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C6C23EA-C81D-51D2-FE43-DB8DC047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725" y="4359432"/>
            <a:ext cx="3346578" cy="14878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1335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outdoor, clouds, cloudy&#10;&#10;Description automatically generated">
            <a:extLst>
              <a:ext uri="{FF2B5EF4-FFF2-40B4-BE49-F238E27FC236}">
                <a16:creationId xmlns:a16="http://schemas.microsoft.com/office/drawing/2014/main" id="{0D541334-B20C-7258-A756-04F8D3F67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D610970-78D2-C6C4-C917-5C9757FBCF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1807" y="6146355"/>
            <a:ext cx="1487444" cy="26872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9788637-D945-F037-682F-BC7599B1AA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357" t="45034" r="67092" b="280"/>
          <a:stretch/>
        </p:blipFill>
        <p:spPr>
          <a:xfrm>
            <a:off x="0" y="0"/>
            <a:ext cx="12206990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0DEB8D0-2B25-16C3-5540-43B208EF0B63}"/>
              </a:ext>
            </a:extLst>
          </p:cNvPr>
          <p:cNvSpPr txBox="1">
            <a:spLocks/>
          </p:cNvSpPr>
          <p:nvPr userDrawn="1"/>
        </p:nvSpPr>
        <p:spPr>
          <a:xfrm>
            <a:off x="1219966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455F1C-5000-A022-9630-0F2A47BB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050368"/>
            <a:ext cx="4980878" cy="14878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CCCE32-C42D-EDE6-8FC0-467F18DA0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9200" y="5538788"/>
            <a:ext cx="4981575" cy="69532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200"/>
            </a:lvl2pPr>
            <a:lvl3pPr>
              <a:defRPr sz="10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1567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4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sitting at a table&#10;&#10;Description automatically generated with low confidence">
            <a:extLst>
              <a:ext uri="{FF2B5EF4-FFF2-40B4-BE49-F238E27FC236}">
                <a16:creationId xmlns:a16="http://schemas.microsoft.com/office/drawing/2014/main" id="{FBF792D6-9E7F-109E-C517-7E5968128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"/>
            <a:ext cx="12192000" cy="6858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03CF795-0FDE-A2E1-533E-AACA91859C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1807" y="6146355"/>
            <a:ext cx="1487444" cy="2687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336B7F2-C205-27E2-5FCF-DA382641C8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357" t="45034" r="67092" b="280"/>
          <a:stretch/>
        </p:blipFill>
        <p:spPr>
          <a:xfrm>
            <a:off x="0" y="-6824"/>
            <a:ext cx="12206990" cy="6871648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5E75709-D0B1-4240-5470-5A90D1D85A1D}"/>
              </a:ext>
            </a:extLst>
          </p:cNvPr>
          <p:cNvSpPr txBox="1">
            <a:spLocks/>
          </p:cNvSpPr>
          <p:nvPr userDrawn="1"/>
        </p:nvSpPr>
        <p:spPr>
          <a:xfrm>
            <a:off x="1219966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B4D211A-06D3-4E6C-F0D8-F45B0A13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050368"/>
            <a:ext cx="4980878" cy="14878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07E53B3-48B1-4461-F6B1-D3FE06EEF3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9200" y="5538788"/>
            <a:ext cx="4981575" cy="69532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200"/>
            </a:lvl2pPr>
            <a:lvl3pPr>
              <a:defRPr sz="10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420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5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climbing a mountain&#10;&#10;Description automatically generated with medium confidence">
            <a:extLst>
              <a:ext uri="{FF2B5EF4-FFF2-40B4-BE49-F238E27FC236}">
                <a16:creationId xmlns:a16="http://schemas.microsoft.com/office/drawing/2014/main" id="{EE74B40D-7185-B1E5-C649-1874CBB764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30897AD-F036-3A85-2B93-54E711C4D8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357" t="45034" r="67092" b="280"/>
          <a:stretch/>
        </p:blipFill>
        <p:spPr>
          <a:xfrm>
            <a:off x="0" y="0"/>
            <a:ext cx="12206990" cy="68716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2DF4F84-3827-2BF2-3D90-69AF9A63C4A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1807" y="6146355"/>
            <a:ext cx="1487444" cy="268724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DDD057C-CF5B-42C5-64D8-06C67EEC9F3E}"/>
              </a:ext>
            </a:extLst>
          </p:cNvPr>
          <p:cNvSpPr txBox="1">
            <a:spLocks/>
          </p:cNvSpPr>
          <p:nvPr userDrawn="1"/>
        </p:nvSpPr>
        <p:spPr>
          <a:xfrm>
            <a:off x="1219966" y="6364060"/>
            <a:ext cx="7593403" cy="2271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30" rtl="0" eaLnBrk="1" latinLnBrk="0" hangingPunct="1">
              <a:defRPr sz="700" b="0" i="0" kern="1200" spc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Proprietary information of Ingram Micro — Do not distribute or duplicate without Ingram Micro's express written permission.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EFAD5F-49B9-A869-2266-0A995328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050368"/>
            <a:ext cx="4980878" cy="14878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816775A-889E-D8F9-CBFA-97AA5227BA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9200" y="5538788"/>
            <a:ext cx="4981575" cy="69532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200"/>
            </a:lvl2pPr>
            <a:lvl3pPr>
              <a:defRPr sz="10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701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260DE7-04AD-4C12-9D26-5A8DB9DF7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74F9FA-D015-474A-AB83-4D7AE427C6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3" y="551424"/>
            <a:ext cx="1003173" cy="600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" y="2026179"/>
            <a:ext cx="6460999" cy="757130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6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3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9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1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72998-CF78-E641-92D5-30F654C2CA87}"/>
              </a:ext>
            </a:extLst>
          </p:cNvPr>
          <p:cNvSpPr txBox="1"/>
          <p:nvPr userDrawn="1"/>
        </p:nvSpPr>
        <p:spPr>
          <a:xfrm>
            <a:off x="693760" y="6389814"/>
            <a:ext cx="1778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</a:rPr>
              <a:t>© 2025, Amazon Web Services, Inc. or its affiliates.</a:t>
            </a:r>
          </a:p>
        </p:txBody>
      </p:sp>
    </p:spTree>
    <p:extLst>
      <p:ext uri="{BB962C8B-B14F-4D97-AF65-F5344CB8AC3E}">
        <p14:creationId xmlns:p14="http://schemas.microsoft.com/office/powerpoint/2010/main" val="113489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AA13C1F-8C67-404B-B806-4F34A751FD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" y="2026179"/>
            <a:ext cx="6460999" cy="757130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6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3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9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1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0E4D76-1B78-41A6-A9DC-5B3B502BB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3" y="551424"/>
            <a:ext cx="1003173" cy="600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89266F3-C1EE-CA46-BF0D-AE29EC149890}"/>
              </a:ext>
            </a:extLst>
          </p:cNvPr>
          <p:cNvSpPr txBox="1"/>
          <p:nvPr userDrawn="1"/>
        </p:nvSpPr>
        <p:spPr>
          <a:xfrm>
            <a:off x="693760" y="6389814"/>
            <a:ext cx="1778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</a:rPr>
              <a:t>© 2025, Amazon Web Services, Inc. or its affiliates.</a:t>
            </a:r>
          </a:p>
        </p:txBody>
      </p:sp>
    </p:spTree>
    <p:extLst>
      <p:ext uri="{BB962C8B-B14F-4D97-AF65-F5344CB8AC3E}">
        <p14:creationId xmlns:p14="http://schemas.microsoft.com/office/powerpoint/2010/main" val="64551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7BCE-DF1C-9941-A12E-A31A5F71AD93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5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5BE89-FE1B-4E4D-90F0-7B3CCBA597B3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3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3242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39" indent="0">
              <a:spcAft>
                <a:spcPts val="1800"/>
              </a:spcAft>
              <a:buNone/>
              <a:defRPr/>
            </a:lvl2pPr>
            <a:lvl3pPr marL="628625" indent="0">
              <a:spcAft>
                <a:spcPts val="1800"/>
              </a:spcAft>
              <a:buNone/>
              <a:defRPr/>
            </a:lvl3pPr>
            <a:lvl4pPr marL="914363" indent="0">
              <a:spcAft>
                <a:spcPts val="1800"/>
              </a:spcAft>
              <a:buNone/>
              <a:defRPr/>
            </a:lvl4pPr>
            <a:lvl5pPr marL="1142954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866B5-5A5C-8240-98AA-260A2F078626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6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11A3FE-4D6A-4FEE-B1CD-1FE73B8F23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CD3A-D9BE-A141-AAA4-F8F1B1A5517A}" type="datetime1">
              <a:rPr lang="en-US" smtClean="0"/>
              <a:t>12/22/2025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5E28A0-3B8E-4865-89EE-429105F735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1" y="6335089"/>
            <a:ext cx="348827" cy="208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11377F-BA28-3845-97F3-53D98620ADA8}"/>
              </a:ext>
            </a:extLst>
          </p:cNvPr>
          <p:cNvSpPr txBox="1"/>
          <p:nvPr userDrawn="1"/>
        </p:nvSpPr>
        <p:spPr>
          <a:xfrm>
            <a:off x="5206976" y="6389814"/>
            <a:ext cx="1778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/>
              <a:t>© 2025, Amazon Web Services, Inc. or its affiliates.</a:t>
            </a:r>
          </a:p>
        </p:txBody>
      </p:sp>
    </p:spTree>
    <p:extLst>
      <p:ext uri="{BB962C8B-B14F-4D97-AF65-F5344CB8AC3E}">
        <p14:creationId xmlns:p14="http://schemas.microsoft.com/office/powerpoint/2010/main" val="237325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0280A60-AE9B-4B6A-975D-35CFC5451D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42C9EB4-F1AF-4D5B-B797-12A017CD00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3" y="703824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070AF26-7CD2-427C-AA91-5007610CFA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C7F58AC-B161-4FBE-9FD6-B35E51E34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1CD2A80-C504-434F-936F-3B2B1AFCEF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5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47C96C28-DBE7-41AE-B2A4-8E50C128D8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5" y="3990975"/>
            <a:ext cx="1981201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E9D8EDA-E4CA-4B74-9177-7D67910B1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5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B45939A9-6CA0-455E-9033-788F15899C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5" y="3990975"/>
            <a:ext cx="1981201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78BB98-DB57-6243-8C6E-FEF0FC8E56F8}"/>
              </a:ext>
            </a:extLst>
          </p:cNvPr>
          <p:cNvSpPr txBox="1"/>
          <p:nvPr userDrawn="1"/>
        </p:nvSpPr>
        <p:spPr>
          <a:xfrm>
            <a:off x="693760" y="6389814"/>
            <a:ext cx="1778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</a:rPr>
              <a:t>© 2025, Amazon Web Services, Inc. or its affiliates.</a:t>
            </a:r>
          </a:p>
        </p:txBody>
      </p:sp>
    </p:spTree>
    <p:extLst>
      <p:ext uri="{BB962C8B-B14F-4D97-AF65-F5344CB8AC3E}">
        <p14:creationId xmlns:p14="http://schemas.microsoft.com/office/powerpoint/2010/main" val="44077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1"/>
            <a:ext cx="7353300" cy="182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>
                <a:latin typeface="+mj-lt"/>
              </a:rPr>
              <a:t>Do not use layouts after this slide.</a:t>
            </a:r>
            <a:br>
              <a:rPr lang="en-US" sz="6000">
                <a:latin typeface="+mj-lt"/>
              </a:rPr>
            </a:br>
            <a:r>
              <a:rPr lang="en-US" sz="2000">
                <a:latin typeface="+mj-lt"/>
              </a:rPr>
              <a:t>They are not part of the official template.</a:t>
            </a:r>
            <a:endParaRPr lang="en-US" sz="600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</p:spTree>
    <p:extLst>
      <p:ext uri="{BB962C8B-B14F-4D97-AF65-F5344CB8AC3E}">
        <p14:creationId xmlns:p14="http://schemas.microsoft.com/office/powerpoint/2010/main" val="305075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_of_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0CA0-5CE7-1A4B-ACE6-C7A15B8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3249"/>
            <a:ext cx="10433050" cy="5355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0D4E-8635-D746-9FE7-1EE20F49E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11258550" cy="2173608"/>
          </a:xfrm>
          <a:prstGeom prst="rect">
            <a:avLst/>
          </a:prstGeom>
        </p:spPr>
        <p:txBody>
          <a:bodyPr/>
          <a:lstStyle>
            <a:lvl5pPr>
              <a:defRPr sz="158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7501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and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53248"/>
            <a:ext cx="10485967" cy="727655"/>
          </a:xfrm>
        </p:spPr>
        <p:txBody>
          <a:bodyPr>
            <a:normAutofit/>
          </a:bodyPr>
          <a:lstStyle>
            <a:lvl1pPr>
              <a:defRPr sz="31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8B8829-AB11-E54F-AFFF-11D6AD397D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1750" y="1371601"/>
            <a:ext cx="5334000" cy="48013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05C376-814F-9B49-99E8-6F17D4026F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1371602"/>
            <a:ext cx="5334000" cy="3884333"/>
          </a:xfrm>
          <a:prstGeom prst="rect">
            <a:avLst/>
          </a:prstGeom>
        </p:spPr>
        <p:txBody>
          <a:bodyPr/>
          <a:lstStyle>
            <a:lvl1pPr marL="0" marR="0" indent="0" algn="l" defTabSz="6095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83" b="1">
                <a:latin typeface="+mn-lt"/>
              </a:defRPr>
            </a:lvl1pPr>
          </a:lstStyle>
          <a:p>
            <a:pPr marL="0" marR="0" lvl="0" indent="0" algn="l" defTabSz="6095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6095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6095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6095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6095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6095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506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w_to_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763619" y="-3790123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133B37-BB08-4347-B71D-D01F225ECB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" name="TextBox 5"/>
          <p:cNvSpPr txBox="1"/>
          <p:nvPr userDrawn="1"/>
        </p:nvSpPr>
        <p:spPr>
          <a:xfrm>
            <a:off x="9914967" y="8139952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71130-A3F1-D24E-A5F9-FD45DA62A9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1" y="6275882"/>
            <a:ext cx="591151" cy="3534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F59969-BB76-0545-A5CB-3D34504EB147}"/>
              </a:ext>
            </a:extLst>
          </p:cNvPr>
          <p:cNvSpPr txBox="1"/>
          <p:nvPr userDrawn="1"/>
        </p:nvSpPr>
        <p:spPr>
          <a:xfrm>
            <a:off x="449053" y="6412898"/>
            <a:ext cx="5929575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6095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11622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_Bulleted_Sectio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48"/>
            <a:ext cx="10464800" cy="727655"/>
          </a:xfrm>
        </p:spPr>
        <p:txBody>
          <a:bodyPr>
            <a:normAutofit/>
          </a:bodyPr>
          <a:lstStyle>
            <a:lvl1pPr>
              <a:defRPr sz="31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C5D45-2516-944B-852E-9416AD2871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371600"/>
            <a:ext cx="5334000" cy="2184400"/>
          </a:xfrm>
          <a:prstGeom prst="rect">
            <a:avLst/>
          </a:prstGeom>
        </p:spPr>
        <p:txBody>
          <a:bodyPr/>
          <a:lstStyle>
            <a:lvl5pPr>
              <a:defRPr sz="158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680DD99-A52C-8C44-9396-106AF36BB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1750" y="1371600"/>
            <a:ext cx="5334000" cy="2184400"/>
          </a:xfrm>
          <a:prstGeom prst="rect">
            <a:avLst/>
          </a:prstGeom>
        </p:spPr>
        <p:txBody>
          <a:bodyPr/>
          <a:lstStyle>
            <a:lvl5pPr>
              <a:defRPr sz="158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A1025BD-66EE-CB47-95FB-71C600437B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1750" y="3724836"/>
            <a:ext cx="5334000" cy="2184400"/>
          </a:xfrm>
          <a:prstGeom prst="rect">
            <a:avLst/>
          </a:prstGeom>
        </p:spPr>
        <p:txBody>
          <a:bodyPr/>
          <a:lstStyle>
            <a:lvl5pPr>
              <a:defRPr sz="158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E770ECF-1C09-6F4C-BA98-A9B2C775B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6250" y="3724836"/>
            <a:ext cx="5334000" cy="2184400"/>
          </a:xfrm>
          <a:prstGeom prst="rect">
            <a:avLst/>
          </a:prstGeom>
        </p:spPr>
        <p:txBody>
          <a:bodyPr/>
          <a:lstStyle>
            <a:lvl5pPr>
              <a:defRPr sz="158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3407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75" y="289511"/>
            <a:ext cx="11652356" cy="738664"/>
          </a:xfrm>
        </p:spPr>
        <p:txBody>
          <a:bodyPr lIns="182880" tIns="146304" rIns="182880" bIns="146304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577808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_Image_Cen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909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6900" y="994934"/>
            <a:ext cx="9753600" cy="1487862"/>
          </a:xfrm>
          <a:prstGeom prst="rect">
            <a:avLst/>
          </a:prstGeom>
          <a:ln>
            <a:noFill/>
          </a:ln>
          <a:effectLst/>
        </p:spPr>
        <p:txBody>
          <a:bodyPr vert="horz" lIns="0" tIns="192024" rIns="0" bIns="0" rtlCol="0" anchor="t" anchorCtr="0">
            <a:noAutofit/>
          </a:bodyPr>
          <a:lstStyle/>
          <a:p>
            <a:r>
              <a:rPr lang="en-US"/>
              <a:t>Your Title Here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866900" y="2514600"/>
            <a:ext cx="9753600" cy="311044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98913B31-1FC5-A359-134C-8313B74EEB47}"/>
              </a:ext>
            </a:extLst>
          </p:cNvPr>
          <p:cNvPicPr>
            <a:picLocks noChangeAspect="1"/>
          </p:cNvPicPr>
          <p:nvPr userDrawn="1"/>
        </p:nvPicPr>
        <p:blipFill>
          <a:blip r:embed="rId6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0611394" y="6372225"/>
            <a:ext cx="840068" cy="151768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3E4040A-801B-364E-4247-EC5AC62EF0F1}"/>
              </a:ext>
            </a:extLst>
          </p:cNvPr>
          <p:cNvSpPr txBox="1">
            <a:spLocks/>
          </p:cNvSpPr>
          <p:nvPr userDrawn="1"/>
        </p:nvSpPr>
        <p:spPr>
          <a:xfrm>
            <a:off x="548700" y="6395297"/>
            <a:ext cx="350922" cy="21542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8D877B3-D348-4611-9BDB-C5374591D951}" type="slidenum">
              <a:rPr lang="en-US" sz="800" smtClea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r"/>
              <a:t>‹#›</a:t>
            </a:fld>
            <a:endParaRPr lang="en-US" sz="105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B96A353-6BBB-C6CB-000F-1FC6180363AE}"/>
              </a:ext>
            </a:extLst>
          </p:cNvPr>
          <p:cNvSpPr txBox="1">
            <a:spLocks/>
          </p:cNvSpPr>
          <p:nvPr userDrawn="1"/>
        </p:nvSpPr>
        <p:spPr>
          <a:xfrm>
            <a:off x="3743015" y="6389626"/>
            <a:ext cx="5010770" cy="21542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Proprietary information of Ingram Micro — Do not distribute or duplicate without Ingram Micro's express written permission.</a:t>
            </a:r>
            <a:endParaRPr lang="en-US" sz="900" b="0" i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141" r:id="rId2"/>
    <p:sldLayoutId id="2147484130" r:id="rId3"/>
    <p:sldLayoutId id="2147484133" r:id="rId4"/>
    <p:sldLayoutId id="2147484140" r:id="rId5"/>
    <p:sldLayoutId id="2147484132" r:id="rId6"/>
    <p:sldLayoutId id="2147484091" r:id="rId7"/>
    <p:sldLayoutId id="2147484093" r:id="rId8"/>
    <p:sldLayoutId id="2147484139" r:id="rId9"/>
    <p:sldLayoutId id="2147484135" r:id="rId10"/>
    <p:sldLayoutId id="2147484136" r:id="rId11"/>
    <p:sldLayoutId id="2147484137" r:id="rId12"/>
    <p:sldLayoutId id="2147484008" r:id="rId13"/>
    <p:sldLayoutId id="2147484018" r:id="rId14"/>
    <p:sldLayoutId id="2147484009" r:id="rId15"/>
    <p:sldLayoutId id="2147484023" r:id="rId16"/>
    <p:sldLayoutId id="2147484011" r:id="rId17"/>
    <p:sldLayoutId id="2147484127" r:id="rId18"/>
    <p:sldLayoutId id="2147484103" r:id="rId19"/>
    <p:sldLayoutId id="2147484102" r:id="rId20"/>
    <p:sldLayoutId id="2147484101" r:id="rId21"/>
    <p:sldLayoutId id="2147484012" r:id="rId22"/>
    <p:sldLayoutId id="2147484100" r:id="rId23"/>
    <p:sldLayoutId id="2147484111" r:id="rId24"/>
    <p:sldLayoutId id="2147484112" r:id="rId25"/>
    <p:sldLayoutId id="2147484113" r:id="rId26"/>
    <p:sldLayoutId id="2147484106" r:id="rId27"/>
    <p:sldLayoutId id="2147484105" r:id="rId28"/>
    <p:sldLayoutId id="2147484013" r:id="rId29"/>
    <p:sldLayoutId id="2147484014" r:id="rId30"/>
    <p:sldLayoutId id="2147484015" r:id="rId31"/>
    <p:sldLayoutId id="2147484016" r:id="rId32"/>
    <p:sldLayoutId id="2147484017" r:id="rId33"/>
    <p:sldLayoutId id="2147484020" r:id="rId34"/>
    <p:sldLayoutId id="2147484021" r:id="rId35"/>
    <p:sldLayoutId id="2147484107" r:id="rId36"/>
    <p:sldLayoutId id="2147484108" r:id="rId37"/>
    <p:sldLayoutId id="2147484109" r:id="rId38"/>
    <p:sldLayoutId id="2147484114" r:id="rId39"/>
    <p:sldLayoutId id="2147484104" r:id="rId40"/>
    <p:sldLayoutId id="2147484122" r:id="rId41"/>
    <p:sldLayoutId id="2147484115" r:id="rId42"/>
    <p:sldLayoutId id="2147484031" r:id="rId43"/>
    <p:sldLayoutId id="2147484116" r:id="rId44"/>
    <p:sldLayoutId id="2147484117" r:id="rId45"/>
    <p:sldLayoutId id="2147484118" r:id="rId46"/>
    <p:sldLayoutId id="2147484119" r:id="rId47"/>
    <p:sldLayoutId id="2147484034" r:id="rId48"/>
    <p:sldLayoutId id="2147484037" r:id="rId49"/>
    <p:sldLayoutId id="2147484120" r:id="rId50"/>
    <p:sldLayoutId id="2147484121" r:id="rId51"/>
    <p:sldLayoutId id="2147484051" r:id="rId52"/>
    <p:sldLayoutId id="2147484129" r:id="rId53"/>
    <p:sldLayoutId id="2147484041" r:id="rId54"/>
    <p:sldLayoutId id="2147484124" r:id="rId55"/>
    <p:sldLayoutId id="2147484097" r:id="rId56"/>
    <p:sldLayoutId id="2147484098" r:id="rId57"/>
    <p:sldLayoutId id="2147484099" r:id="rId58"/>
    <p:sldLayoutId id="2147484094" r:id="rId59"/>
    <p:sldLayoutId id="2147484095" r:id="rId60"/>
    <p:sldLayoutId id="2147484096" r:id="rId61"/>
  </p:sldLayoutIdLst>
  <p:transition spd="slow">
    <p:push dir="u"/>
  </p:transition>
  <p:hf hdr="0" dt="0"/>
  <p:txStyles>
    <p:titleStyle>
      <a:lvl1pPr algn="l" defTabSz="914318" rtl="0" eaLnBrk="1" latinLnBrk="0" hangingPunct="1">
        <a:lnSpc>
          <a:spcPct val="80000"/>
        </a:lnSpc>
        <a:spcBef>
          <a:spcPct val="0"/>
        </a:spcBef>
        <a:buNone/>
        <a:defRPr sz="4400" b="0" i="0" kern="1200" spc="300" baseline="0">
          <a:ln w="12700">
            <a:noFill/>
          </a:ln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0" indent="0" algn="l" defTabSz="914318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800" b="0" i="0" kern="1200" spc="3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0" indent="0" algn="l" defTabSz="914318" rtl="0" eaLnBrk="1" latinLnBrk="0" hangingPunct="1">
        <a:lnSpc>
          <a:spcPct val="120000"/>
        </a:lnSpc>
        <a:spcBef>
          <a:spcPts val="499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2pPr>
      <a:lvl3pPr marL="0" indent="0" algn="l" defTabSz="914318" rtl="0" eaLnBrk="1" latinLnBrk="0" hangingPunct="1">
        <a:lnSpc>
          <a:spcPct val="120000"/>
        </a:lnSpc>
        <a:spcBef>
          <a:spcPts val="499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3pPr>
      <a:lvl4pPr marL="0" indent="0" algn="l" defTabSz="914318" rtl="0" eaLnBrk="1" latinLnBrk="0" hangingPunct="1">
        <a:lnSpc>
          <a:spcPct val="120000"/>
        </a:lnSpc>
        <a:spcBef>
          <a:spcPts val="499"/>
        </a:spcBef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4pPr>
      <a:lvl5pPr marL="0" indent="0" algn="l" defTabSz="914318" rtl="0" eaLnBrk="1" latinLnBrk="0" hangingPunct="1">
        <a:lnSpc>
          <a:spcPct val="120000"/>
        </a:lnSpc>
        <a:spcBef>
          <a:spcPts val="499"/>
        </a:spcBef>
        <a:buFont typeface="Arial" panose="020B0604020202020204" pitchFamily="34" charset="0"/>
        <a:buNone/>
        <a:defRPr sz="1000" b="0" i="0" kern="1200" baseline="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orient="horz" pos="2160">
          <p15:clr>
            <a:srgbClr val="F26B43"/>
          </p15:clr>
        </p15:guide>
        <p15:guide id="28" pos="624" userDrawn="1">
          <p15:clr>
            <a:srgbClr val="F26B43"/>
          </p15:clr>
        </p15:guide>
        <p15:guide id="29" pos="7320" userDrawn="1">
          <p15:clr>
            <a:srgbClr val="F26B43"/>
          </p15:clr>
        </p15:guide>
        <p15:guide id="48" pos="1176" userDrawn="1">
          <p15:clr>
            <a:srgbClr val="F26B43"/>
          </p15:clr>
        </p15:guide>
        <p15:guide id="51" orient="horz" pos="74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2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C29CE-3041-7140-9BA9-DCB3249F163A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4F7D2-009A-40A3-9C6D-5D576E0365C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1" y="6335089"/>
            <a:ext cx="348827" cy="208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BF6604-AFFA-2144-84A8-B114434DA9D8}"/>
              </a:ext>
            </a:extLst>
          </p:cNvPr>
          <p:cNvSpPr txBox="1"/>
          <p:nvPr userDrawn="1"/>
        </p:nvSpPr>
        <p:spPr>
          <a:xfrm>
            <a:off x="5206976" y="6389814"/>
            <a:ext cx="1778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/>
              <a:t>© 2025, Amazon Web Services, Inc. or its affiliates.</a:t>
            </a:r>
          </a:p>
        </p:txBody>
      </p:sp>
    </p:spTree>
    <p:extLst>
      <p:ext uri="{BB962C8B-B14F-4D97-AF65-F5344CB8AC3E}">
        <p14:creationId xmlns:p14="http://schemas.microsoft.com/office/powerpoint/2010/main" val="3536874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  <p:sldLayoutId id="2147484154" r:id="rId11"/>
    <p:sldLayoutId id="2147484156" r:id="rId12"/>
    <p:sldLayoutId id="2147484157" r:id="rId13"/>
    <p:sldLayoutId id="2147484158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1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1pPr>
      <a:lvl2pPr marL="514329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2pPr>
      <a:lvl3pPr marL="857216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47" indent="-171443" algn="l" defTabSz="914363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4pPr>
      <a:lvl5pPr marL="1201690" indent="-171443" algn="l" defTabSz="914363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sv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09.svg"/><Relationship Id="rId9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sv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sv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10" Type="http://schemas.openxmlformats.org/officeDocument/2006/relationships/chart" Target="../charts/chart14.xml"/><Relationship Id="rId4" Type="http://schemas.openxmlformats.org/officeDocument/2006/relationships/chart" Target="../charts/chart8.xml"/><Relationship Id="rId9" Type="http://schemas.openxmlformats.org/officeDocument/2006/relationships/chart" Target="../charts/char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" Type="http://schemas.openxmlformats.org/officeDocument/2006/relationships/image" Target="../media/image130.png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4" Type="http://schemas.openxmlformats.org/officeDocument/2006/relationships/image" Target="../media/image132.sv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8E7EA511-2157-6E30-A74C-EA205DC5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26" y="3870452"/>
            <a:ext cx="5818632" cy="1815391"/>
          </a:xfrm>
        </p:spPr>
        <p:txBody>
          <a:bodyPr/>
          <a:lstStyle/>
          <a:p>
            <a:br>
              <a:rPr lang="en-US" sz="2800" b="1" spc="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br>
              <a:rPr lang="en-US" sz="2800" b="1" spc="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800" b="1" spc="300" dirty="0">
                <a:latin typeface="Poppins Light" panose="00000400000000000000" pitchFamily="2" charset="0"/>
                <a:cs typeface="Poppins Light" panose="00000400000000000000" pitchFamily="2" charset="0"/>
              </a:rPr>
              <a:t>MAP Assessment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D21F93B6-5920-B306-D0BA-63F6783ED934}"/>
              </a:ext>
            </a:extLst>
          </p:cNvPr>
          <p:cNvSpPr txBox="1">
            <a:spLocks/>
          </p:cNvSpPr>
          <p:nvPr/>
        </p:nvSpPr>
        <p:spPr>
          <a:xfrm>
            <a:off x="277368" y="44334"/>
            <a:ext cx="5818632" cy="1815391"/>
          </a:xfrm>
          <a:prstGeom prst="rect">
            <a:avLst/>
          </a:prstGeom>
          <a:ln>
            <a:noFill/>
          </a:ln>
          <a:effectLst/>
        </p:spPr>
        <p:txBody>
          <a:bodyPr vert="horz" lIns="0" tIns="192024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spc="300" baseline="0">
                <a:ln w="12700">
                  <a:noFill/>
                </a:ln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b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</a:br>
            <a:endParaRPr lang="en-US" sz="2800" b="1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9231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8D2B-E2D8-4D36-2907-B6762A0F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0654AB-46B0-C176-9A6A-5849B49D37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15568" y="1609345"/>
            <a:ext cx="10396727" cy="4541784"/>
          </a:xfrm>
        </p:spPr>
        <p:txBody>
          <a:bodyPr vert="horz" lIns="0" tIns="45720" rIns="0" bIns="45720" rtlCol="0" anchor="t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Poppins light"/>
                <a:cs typeface="Poppins light"/>
              </a:rPr>
              <a:t>Executive Summary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Poppins light"/>
                <a:cs typeface="Poppins light"/>
              </a:rPr>
              <a:t>Assessment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Poppins light"/>
                <a:cs typeface="Poppins light"/>
              </a:rPr>
              <a:t>AWS Cost Analysis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Poppins light"/>
                <a:cs typeface="Poppins light"/>
              </a:rPr>
              <a:t>AWS Workload (7R) Analysis</a:t>
            </a:r>
            <a:endParaRPr lang="en-US" sz="16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Poppins light"/>
                <a:cs typeface="Poppins light"/>
              </a:rPr>
              <a:t>Appendix</a:t>
            </a:r>
          </a:p>
          <a:p>
            <a:pPr marL="861695" lvl="1" indent="-342900">
              <a:buFont typeface="+mj-lt"/>
              <a:buAutoNum type="arabicPeriod"/>
            </a:pPr>
            <a:r>
              <a:rPr lang="en-US" sz="1200" dirty="0">
                <a:latin typeface="Poppins light"/>
                <a:cs typeface="Poppins light"/>
              </a:rPr>
              <a:t>Migration Readiness Assessment Findings</a:t>
            </a:r>
          </a:p>
          <a:p>
            <a:pPr marL="861695" lvl="1" indent="-342900">
              <a:buFont typeface="+mj-lt"/>
              <a:buAutoNum type="arabicPeriod"/>
            </a:pPr>
            <a:r>
              <a:rPr lang="en-US" sz="1200" dirty="0">
                <a:latin typeface="Poppins light"/>
                <a:cs typeface="Poppins light"/>
              </a:rPr>
              <a:t>Supporting Materials and Analysis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6A281E9-5154-AA9A-A7B2-03A3B7ECD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76" y="706871"/>
            <a:ext cx="4040124" cy="902474"/>
          </a:xfrm>
        </p:spPr>
        <p:txBody>
          <a:bodyPr/>
          <a:lstStyle/>
          <a:p>
            <a:r>
              <a:rPr lang="en-US" b="1">
                <a:latin typeface="Poppins light" panose="00000400000000000000" pitchFamily="2" charset="0"/>
                <a:cs typeface="Poppins light" panose="00000400000000000000" pitchFamily="2" charset="0"/>
              </a:rPr>
              <a:t>Agenda </a:t>
            </a:r>
          </a:p>
        </p:txBody>
      </p:sp>
    </p:spTree>
    <p:extLst>
      <p:ext uri="{BB962C8B-B14F-4D97-AF65-F5344CB8AC3E}">
        <p14:creationId xmlns:p14="http://schemas.microsoft.com/office/powerpoint/2010/main" val="268123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738EC00-6A3F-858D-A3F1-B1107592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920E2-01B6-4160-0324-D3DB2E7C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82" y="536558"/>
            <a:ext cx="10515600" cy="745446"/>
          </a:xfrm>
        </p:spPr>
        <p:txBody>
          <a:bodyPr/>
          <a:lstStyle/>
          <a:p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Executive Summary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3AD60E-8022-8E70-F35F-C697EB6645A0}"/>
              </a:ext>
            </a:extLst>
          </p:cNvPr>
          <p:cNvSpPr/>
          <p:nvPr/>
        </p:nvSpPr>
        <p:spPr>
          <a:xfrm>
            <a:off x="2342072" y="3891490"/>
            <a:ext cx="3582758" cy="13618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&lt;&gt;</a:t>
            </a:r>
            <a:r>
              <a:rPr lang="en-US" sz="1600" dirty="0">
                <a:latin typeface="Poppins Light" panose="00000400000000000000" pitchFamily="2" charset="0"/>
                <a:cs typeface="Poppins Light" panose="00000400000000000000" pitchFamily="2" charset="0"/>
              </a:rPr>
              <a:t> migration </a:t>
            </a:r>
          </a:p>
          <a:p>
            <a:pPr algn="ctr"/>
            <a:r>
              <a:rPr lang="en-US" sz="1600" dirty="0">
                <a:latin typeface="Poppins Light" panose="00000400000000000000" pitchFamily="2" charset="0"/>
                <a:cs typeface="Poppins Light" panose="00000400000000000000" pitchFamily="2" charset="0"/>
              </a:rPr>
              <a:t>scenario illustrated </a:t>
            </a:r>
          </a:p>
          <a:p>
            <a:pPr algn="ctr"/>
            <a:r>
              <a:rPr lang="en-US" sz="1600" dirty="0">
                <a:latin typeface="Poppins Light" panose="00000400000000000000" pitchFamily="2" charset="0"/>
                <a:cs typeface="Poppins Light" panose="00000400000000000000" pitchFamily="2" charset="0"/>
              </a:rPr>
              <a:t>(Migrate only)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BF9D63-8DF0-263C-0B35-89BEFD21EDC2}"/>
              </a:ext>
            </a:extLst>
          </p:cNvPr>
          <p:cNvSpPr/>
          <p:nvPr/>
        </p:nvSpPr>
        <p:spPr>
          <a:xfrm>
            <a:off x="2342072" y="1905811"/>
            <a:ext cx="3582756" cy="13618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&lt;&gt;</a:t>
            </a:r>
            <a:r>
              <a:rPr lang="en-US" sz="1600" dirty="0">
                <a:latin typeface="Poppins Light" panose="00000400000000000000" pitchFamily="2" charset="0"/>
                <a:cs typeface="Poppins Light" panose="00000400000000000000" pitchFamily="2" charset="0"/>
              </a:rPr>
              <a:t> Windows Machines , </a:t>
            </a:r>
            <a:r>
              <a:rPr lang="en-US" sz="1600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&lt;&gt;</a:t>
            </a:r>
            <a:r>
              <a:rPr lang="en-US" sz="1600" dirty="0">
                <a:latin typeface="Poppins Light" panose="00000400000000000000" pitchFamily="2" charset="0"/>
                <a:cs typeface="Poppins Light" panose="00000400000000000000" pitchFamily="2" charset="0"/>
              </a:rPr>
              <a:t>Linux</a:t>
            </a:r>
          </a:p>
          <a:p>
            <a:pPr algn="ctr"/>
            <a:r>
              <a:rPr lang="en-US" sz="1600" dirty="0">
                <a:latin typeface="Poppins Light" panose="00000400000000000000" pitchFamily="2" charset="0"/>
                <a:cs typeface="Poppins Light" panose="00000400000000000000" pitchFamily="2" charset="0"/>
              </a:rPr>
              <a:t>Within Application Discovery Scope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FE3E47-D272-7F92-408B-7D7E83C9B1CE}"/>
              </a:ext>
            </a:extLst>
          </p:cNvPr>
          <p:cNvSpPr/>
          <p:nvPr/>
        </p:nvSpPr>
        <p:spPr>
          <a:xfrm>
            <a:off x="6282711" y="3891490"/>
            <a:ext cx="3582758" cy="13618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&lt;&gt;</a:t>
            </a: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of servers were analyzed and right-sized with </a:t>
            </a:r>
            <a:r>
              <a:rPr lang="en-US" sz="1600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&lt;&gt;</a:t>
            </a:r>
            <a:r>
              <a:rPr lang="en-US" sz="1600" dirty="0">
                <a:latin typeface="Poppins Light" panose="00000400000000000000" pitchFamily="2" charset="0"/>
                <a:cs typeface="Poppins Light" panose="00000400000000000000" pitchFamily="2" charset="0"/>
              </a:rPr>
              <a:t> Servers having less than </a:t>
            </a:r>
            <a:r>
              <a:rPr lang="en-US" sz="1600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&lt;&gt;</a:t>
            </a:r>
            <a:r>
              <a:rPr lang="en-US" sz="1600" dirty="0">
                <a:latin typeface="Poppins Light" panose="00000400000000000000" pitchFamily="2" charset="0"/>
                <a:cs typeface="Poppins Light" panose="00000400000000000000" pitchFamily="2" charset="0"/>
              </a:rPr>
              <a:t> Average CPU Utilization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28C41EA-14F1-FB0D-4A78-624250F55F69}"/>
              </a:ext>
            </a:extLst>
          </p:cNvPr>
          <p:cNvSpPr/>
          <p:nvPr/>
        </p:nvSpPr>
        <p:spPr>
          <a:xfrm>
            <a:off x="6282711" y="1905811"/>
            <a:ext cx="3582758" cy="13618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buClr>
                <a:srgbClr val="FFFFFF"/>
              </a:buClr>
              <a:defRPr/>
            </a:pPr>
            <a:r>
              <a:rPr lang="en-US" sz="1600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&lt;&gt;</a:t>
            </a: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TB Storage</a:t>
            </a:r>
          </a:p>
          <a:p>
            <a:pPr lvl="0" algn="ctr" defTabSz="914400">
              <a:buClr>
                <a:srgbClr val="FFFFFF"/>
              </a:buClr>
              <a:defRPr/>
            </a:pPr>
            <a:r>
              <a:rPr lang="en-US" sz="1600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&lt;&gt;</a:t>
            </a: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TB Utilized</a:t>
            </a:r>
          </a:p>
        </p:txBody>
      </p:sp>
    </p:spTree>
    <p:extLst>
      <p:ext uri="{BB962C8B-B14F-4D97-AF65-F5344CB8AC3E}">
        <p14:creationId xmlns:p14="http://schemas.microsoft.com/office/powerpoint/2010/main" val="1943248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7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B031D7-FB47-00C1-3269-03E8E1DC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49059"/>
            <a:ext cx="10629900" cy="1487862"/>
          </a:xfrm>
        </p:spPr>
        <p:txBody>
          <a:bodyPr/>
          <a:lstStyle/>
          <a:p>
            <a:r>
              <a:rPr lang="en-US"/>
              <a:t>Assessment Scope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F82F907D-1000-9CC3-DFA3-EF778A926A98}"/>
              </a:ext>
            </a:extLst>
          </p:cNvPr>
          <p:cNvSpPr txBox="1">
            <a:spLocks/>
          </p:cNvSpPr>
          <p:nvPr/>
        </p:nvSpPr>
        <p:spPr>
          <a:xfrm>
            <a:off x="3296217" y="1052413"/>
            <a:ext cx="1904999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30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&lt;&gt;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3072889A-02E8-7A7C-190A-4390268C412F}"/>
              </a:ext>
            </a:extLst>
          </p:cNvPr>
          <p:cNvSpPr txBox="1">
            <a:spLocks/>
          </p:cNvSpPr>
          <p:nvPr/>
        </p:nvSpPr>
        <p:spPr>
          <a:xfrm>
            <a:off x="3310215" y="2237332"/>
            <a:ext cx="1904999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30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&lt;&gt;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79B05AA3-B44E-1394-9EC7-103CBED4A66B}"/>
              </a:ext>
            </a:extLst>
          </p:cNvPr>
          <p:cNvSpPr txBox="1">
            <a:spLocks/>
          </p:cNvSpPr>
          <p:nvPr/>
        </p:nvSpPr>
        <p:spPr>
          <a:xfrm>
            <a:off x="3310215" y="2568221"/>
            <a:ext cx="1904999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30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/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0FB707C3-0846-C34E-DCB1-B3F5D4EEFC74}"/>
              </a:ext>
            </a:extLst>
          </p:cNvPr>
          <p:cNvSpPr txBox="1">
            <a:spLocks/>
          </p:cNvSpPr>
          <p:nvPr/>
        </p:nvSpPr>
        <p:spPr>
          <a:xfrm>
            <a:off x="3323563" y="2866884"/>
            <a:ext cx="1904999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30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&lt;&gt;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DF18A042-1C34-4043-59DD-927FB19E3D44}"/>
              </a:ext>
            </a:extLst>
          </p:cNvPr>
          <p:cNvSpPr txBox="1">
            <a:spLocks/>
          </p:cNvSpPr>
          <p:nvPr/>
        </p:nvSpPr>
        <p:spPr>
          <a:xfrm>
            <a:off x="3323563" y="3443200"/>
            <a:ext cx="1904999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30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&lt;&gt;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BB3F9-6A06-8FB8-BF29-4AA5FD384556}"/>
              </a:ext>
            </a:extLst>
          </p:cNvPr>
          <p:cNvSpPr txBox="1"/>
          <p:nvPr/>
        </p:nvSpPr>
        <p:spPr>
          <a:xfrm>
            <a:off x="1329013" y="2305620"/>
            <a:ext cx="1981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Roboto Regular" panose="02000000000000000000" pitchFamily="2" charset="0"/>
                <a:ea typeface="Roboto Regular" panose="02000000000000000000" pitchFamily="2" charset="0"/>
              </a:rPr>
              <a:t>Windows OS: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4B9A8-633E-30D0-F49D-14FCB694C6A0}"/>
              </a:ext>
            </a:extLst>
          </p:cNvPr>
          <p:cNvSpPr txBox="1"/>
          <p:nvPr/>
        </p:nvSpPr>
        <p:spPr>
          <a:xfrm>
            <a:off x="1315666" y="2901967"/>
            <a:ext cx="1981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Roboto Regular" panose="02000000000000000000" pitchFamily="2" charset="0"/>
                <a:ea typeface="Roboto Regular" panose="02000000000000000000" pitchFamily="2" charset="0"/>
              </a:rPr>
              <a:t>Total Cores: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09ACE1-B215-096E-D98F-F92E135C851E}"/>
              </a:ext>
            </a:extLst>
          </p:cNvPr>
          <p:cNvSpPr txBox="1"/>
          <p:nvPr/>
        </p:nvSpPr>
        <p:spPr>
          <a:xfrm>
            <a:off x="1315665" y="3475271"/>
            <a:ext cx="1981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Roboto Regular" panose="02000000000000000000" pitchFamily="2" charset="0"/>
                <a:ea typeface="Roboto Regular" panose="02000000000000000000" pitchFamily="2" charset="0"/>
              </a:rPr>
              <a:t>Total Workloads: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4FE148-1859-8E9A-F8FA-07C311AD5158}"/>
              </a:ext>
            </a:extLst>
          </p:cNvPr>
          <p:cNvSpPr txBox="1"/>
          <p:nvPr/>
        </p:nvSpPr>
        <p:spPr>
          <a:xfrm>
            <a:off x="1315667" y="1096347"/>
            <a:ext cx="1981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Roboto Regular" panose="02000000000000000000" pitchFamily="2" charset="0"/>
                <a:ea typeface="Roboto Regular" panose="02000000000000000000" pitchFamily="2" charset="0"/>
              </a:rPr>
              <a:t>Datacenters:</a:t>
            </a:r>
          </a:p>
        </p:txBody>
      </p:sp>
      <p:pic>
        <p:nvPicPr>
          <p:cNvPr id="18" name="Graphic 17" descr="Modern architecture with solid fill">
            <a:extLst>
              <a:ext uri="{FF2B5EF4-FFF2-40B4-BE49-F238E27FC236}">
                <a16:creationId xmlns:a16="http://schemas.microsoft.com/office/drawing/2014/main" id="{4DBA26E9-BB5F-1380-46D8-996E181B5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234" y="984783"/>
            <a:ext cx="592461" cy="592461"/>
          </a:xfrm>
          <a:prstGeom prst="rect">
            <a:avLst/>
          </a:prstGeom>
        </p:spPr>
      </p:pic>
      <p:pic>
        <p:nvPicPr>
          <p:cNvPr id="19" name="Graphic 18" descr="Server with solid fill">
            <a:extLst>
              <a:ext uri="{FF2B5EF4-FFF2-40B4-BE49-F238E27FC236}">
                <a16:creationId xmlns:a16="http://schemas.microsoft.com/office/drawing/2014/main" id="{FFA08E6B-A179-6AE2-6A9A-9C48721763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284" y="2346451"/>
            <a:ext cx="712918" cy="712918"/>
          </a:xfrm>
          <a:prstGeom prst="rect">
            <a:avLst/>
          </a:prstGeom>
        </p:spPr>
      </p:pic>
      <p:pic>
        <p:nvPicPr>
          <p:cNvPr id="20" name="Graphic 19" descr="Database with solid fill">
            <a:extLst>
              <a:ext uri="{FF2B5EF4-FFF2-40B4-BE49-F238E27FC236}">
                <a16:creationId xmlns:a16="http://schemas.microsoft.com/office/drawing/2014/main" id="{27CFC454-D32C-D346-DEE0-A428CDE7AC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005" y="4282168"/>
            <a:ext cx="712918" cy="71291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3FE69A3-027D-F042-5099-980169090EBE}"/>
              </a:ext>
            </a:extLst>
          </p:cNvPr>
          <p:cNvSpPr txBox="1"/>
          <p:nvPr/>
        </p:nvSpPr>
        <p:spPr>
          <a:xfrm>
            <a:off x="1315016" y="4393553"/>
            <a:ext cx="238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Roboto Regular" panose="02000000000000000000" pitchFamily="2" charset="0"/>
                <a:ea typeface="Roboto Regular" panose="02000000000000000000" pitchFamily="2" charset="0"/>
              </a:rPr>
              <a:t>Storage Provisioned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DE747A90-8926-1091-9898-ED41A4447EBF}"/>
              </a:ext>
            </a:extLst>
          </p:cNvPr>
          <p:cNvSpPr txBox="1">
            <a:spLocks/>
          </p:cNvSpPr>
          <p:nvPr/>
        </p:nvSpPr>
        <p:spPr>
          <a:xfrm>
            <a:off x="3295567" y="4349619"/>
            <a:ext cx="1904999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30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&lt;&gt; TB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015226-E5A3-014E-3B17-BCF07B05B923}"/>
              </a:ext>
            </a:extLst>
          </p:cNvPr>
          <p:cNvSpPr txBox="1"/>
          <p:nvPr/>
        </p:nvSpPr>
        <p:spPr>
          <a:xfrm>
            <a:off x="8888429" y="1101032"/>
            <a:ext cx="203449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Roboto Regular" panose="02000000000000000000" pitchFamily="2" charset="0"/>
                <a:ea typeface="Roboto Regular" panose="02000000000000000000" pitchFamily="2" charset="0"/>
              </a:rPr>
              <a:t>Assets Collected: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29E66F-D0A4-3C88-AC2B-9C8DAE8EBFDB}"/>
              </a:ext>
            </a:extLst>
          </p:cNvPr>
          <p:cNvSpPr txBox="1"/>
          <p:nvPr/>
        </p:nvSpPr>
        <p:spPr>
          <a:xfrm>
            <a:off x="8814262" y="3868900"/>
            <a:ext cx="256431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Roboto Regular" panose="02000000000000000000" pitchFamily="2" charset="0"/>
                <a:ea typeface="Roboto Regular" panose="02000000000000000000" pitchFamily="2" charset="0"/>
              </a:rPr>
              <a:t>Additional Information:</a:t>
            </a:r>
          </a:p>
        </p:txBody>
      </p:sp>
      <p:sp>
        <p:nvSpPr>
          <p:cNvPr id="30" name="Text Placeholder 52">
            <a:extLst>
              <a:ext uri="{FF2B5EF4-FFF2-40B4-BE49-F238E27FC236}">
                <a16:creationId xmlns:a16="http://schemas.microsoft.com/office/drawing/2014/main" id="{7E155613-9C2E-38E5-9265-2B7A890593DF}"/>
              </a:ext>
            </a:extLst>
          </p:cNvPr>
          <p:cNvSpPr txBox="1">
            <a:spLocks/>
          </p:cNvSpPr>
          <p:nvPr/>
        </p:nvSpPr>
        <p:spPr>
          <a:xfrm>
            <a:off x="8888428" y="1621315"/>
            <a:ext cx="2520115" cy="1524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342900" indent="-34290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+mj-lt"/>
              <a:buAutoNum type="arabicPeriod"/>
              <a:defRPr sz="1800" b="0" i="0" kern="1200" spc="3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accent1"/>
                </a:solidFill>
              </a:rPr>
              <a:t>Workshop Findings</a:t>
            </a:r>
          </a:p>
          <a:p>
            <a:r>
              <a:rPr lang="en-US" sz="1100">
                <a:solidFill>
                  <a:schemeClr val="accent1"/>
                </a:solidFill>
              </a:rPr>
              <a:t>Microsoft EA Contracts and Licensing</a:t>
            </a:r>
          </a:p>
          <a:p>
            <a:r>
              <a:rPr lang="en-US" sz="1100">
                <a:solidFill>
                  <a:schemeClr val="accent1"/>
                </a:solidFill>
              </a:rPr>
              <a:t>Interview findings</a:t>
            </a:r>
          </a:p>
          <a:p>
            <a:endParaRPr lang="en-US" sz="1200">
              <a:solidFill>
                <a:schemeClr val="accent1"/>
              </a:solidFill>
            </a:endParaRPr>
          </a:p>
        </p:txBody>
      </p:sp>
      <p:sp>
        <p:nvSpPr>
          <p:cNvPr id="31" name="Text Placeholder 52">
            <a:extLst>
              <a:ext uri="{FF2B5EF4-FFF2-40B4-BE49-F238E27FC236}">
                <a16:creationId xmlns:a16="http://schemas.microsoft.com/office/drawing/2014/main" id="{904081B5-8340-0D92-8EBC-31CA61963C5D}"/>
              </a:ext>
            </a:extLst>
          </p:cNvPr>
          <p:cNvSpPr txBox="1">
            <a:spLocks/>
          </p:cNvSpPr>
          <p:nvPr/>
        </p:nvSpPr>
        <p:spPr>
          <a:xfrm>
            <a:off x="8858459" y="4426524"/>
            <a:ext cx="2520115" cy="1524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342900" indent="-34290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 spc="3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accent1"/>
                </a:solidFill>
              </a:rPr>
              <a:t>Collection Period: </a:t>
            </a:r>
            <a:r>
              <a:rPr lang="en-US" sz="1100" dirty="0">
                <a:solidFill>
                  <a:srgbClr val="FF0000"/>
                </a:solidFill>
              </a:rPr>
              <a:t>Dates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Tools Used: </a:t>
            </a:r>
          </a:p>
          <a:p>
            <a:pPr marL="633413" lvl="1"/>
            <a:r>
              <a:rPr lang="en-US" sz="1100" dirty="0">
                <a:solidFill>
                  <a:srgbClr val="FF0000"/>
                </a:solidFill>
              </a:rPr>
              <a:t>Tools used</a:t>
            </a:r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29D7572B-C5C5-A0C2-EACE-3FBDC6E138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3022570"/>
              </p:ext>
            </p:extLst>
          </p:nvPr>
        </p:nvGraphicFramePr>
        <p:xfrm>
          <a:off x="5478307" y="1923769"/>
          <a:ext cx="2707859" cy="2738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7B093DB-4E50-B769-FB09-B0985C571703}"/>
              </a:ext>
            </a:extLst>
          </p:cNvPr>
          <p:cNvSpPr txBox="1"/>
          <p:nvPr/>
        </p:nvSpPr>
        <p:spPr>
          <a:xfrm>
            <a:off x="1315016" y="4782191"/>
            <a:ext cx="238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Roboto Regular" panose="02000000000000000000" pitchFamily="2" charset="0"/>
                <a:ea typeface="Roboto Regular" panose="02000000000000000000" pitchFamily="2" charset="0"/>
              </a:rPr>
              <a:t>Storage Utilized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975B8DBC-FC17-16D4-E196-EC621DF60FCA}"/>
              </a:ext>
            </a:extLst>
          </p:cNvPr>
          <p:cNvSpPr txBox="1">
            <a:spLocks/>
          </p:cNvSpPr>
          <p:nvPr/>
        </p:nvSpPr>
        <p:spPr>
          <a:xfrm>
            <a:off x="3295567" y="4738257"/>
            <a:ext cx="1904999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30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&lt;&gt; TB </a:t>
            </a:r>
          </a:p>
        </p:txBody>
      </p:sp>
    </p:spTree>
    <p:extLst>
      <p:ext uri="{BB962C8B-B14F-4D97-AF65-F5344CB8AC3E}">
        <p14:creationId xmlns:p14="http://schemas.microsoft.com/office/powerpoint/2010/main" val="269041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490C4D-2FFA-4AE2-4A61-028B4F49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373217"/>
            <a:ext cx="5210175" cy="1990841"/>
          </a:xfrm>
        </p:spPr>
        <p:txBody>
          <a:bodyPr/>
          <a:lstStyle/>
          <a:p>
            <a:r>
              <a:rPr lang="en-US"/>
              <a:t>Seven “R” Workload analysis</a:t>
            </a:r>
          </a:p>
        </p:txBody>
      </p:sp>
    </p:spTree>
    <p:extLst>
      <p:ext uri="{BB962C8B-B14F-4D97-AF65-F5344CB8AC3E}">
        <p14:creationId xmlns:p14="http://schemas.microsoft.com/office/powerpoint/2010/main" val="118247621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A146-15E1-D5A4-EE39-8F52DB9E6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583921"/>
            <a:ext cx="10515600" cy="815578"/>
          </a:xfrm>
        </p:spPr>
        <p:txBody>
          <a:bodyPr/>
          <a:lstStyle/>
          <a:p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AWS seven “Rs”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275CF4-104C-3A9F-F625-5AF4D8E5B1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4233672"/>
            <a:ext cx="1078311" cy="14242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9CF464-0ACE-BAEC-455F-E54C7115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50" y="1737359"/>
            <a:ext cx="10394099" cy="41289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953ED8-3D64-0F02-F328-6908A272C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00" y="3891959"/>
            <a:ext cx="1232996" cy="226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4DBD61-5FB7-CFD7-9DC3-D6AB41569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5316" y="4370832"/>
            <a:ext cx="663876" cy="47908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CCB744F-87EC-3656-3C23-3A6F7E7F4682}"/>
              </a:ext>
            </a:extLst>
          </p:cNvPr>
          <p:cNvGrpSpPr/>
          <p:nvPr/>
        </p:nvGrpSpPr>
        <p:grpSpPr>
          <a:xfrm>
            <a:off x="9308592" y="1518941"/>
            <a:ext cx="1042416" cy="246221"/>
            <a:chOff x="7205472" y="1075207"/>
            <a:chExt cx="1042416" cy="2462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7D0911-37CD-B5D0-9410-2409401F9E05}"/>
                </a:ext>
              </a:extLst>
            </p:cNvPr>
            <p:cNvSpPr txBox="1"/>
            <p:nvPr/>
          </p:nvSpPr>
          <p:spPr>
            <a:xfrm>
              <a:off x="7205472" y="1075207"/>
              <a:ext cx="1042416" cy="246221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/>
                <a:t>Modernizing</a:t>
              </a:r>
              <a:endParaRPr lang="en-US" sz="800"/>
            </a:p>
          </p:txBody>
        </p:sp>
        <p:sp>
          <p:nvSpPr>
            <p:cNvPr id="5" name="Star: 5 Points 4">
              <a:extLst>
                <a:ext uri="{FF2B5EF4-FFF2-40B4-BE49-F238E27FC236}">
                  <a16:creationId xmlns:a16="http://schemas.microsoft.com/office/drawing/2014/main" id="{0D7D5368-D79E-AEC2-B9FF-C086C2DE920A}"/>
                </a:ext>
              </a:extLst>
            </p:cNvPr>
            <p:cNvSpPr/>
            <p:nvPr/>
          </p:nvSpPr>
          <p:spPr>
            <a:xfrm>
              <a:off x="8001000" y="1075207"/>
              <a:ext cx="201168" cy="215444"/>
            </a:xfrm>
            <a:prstGeom prst="star5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B972BC-86CE-DF99-B71D-4A1F6200DC5F}"/>
              </a:ext>
            </a:extLst>
          </p:cNvPr>
          <p:cNvGrpSpPr/>
          <p:nvPr/>
        </p:nvGrpSpPr>
        <p:grpSpPr>
          <a:xfrm>
            <a:off x="6958584" y="1555648"/>
            <a:ext cx="1042416" cy="246221"/>
            <a:chOff x="7205472" y="1075207"/>
            <a:chExt cx="1042416" cy="24622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9BE76-4BCA-3DD4-2CC9-F6E9C2D55814}"/>
                </a:ext>
              </a:extLst>
            </p:cNvPr>
            <p:cNvSpPr txBox="1"/>
            <p:nvPr/>
          </p:nvSpPr>
          <p:spPr>
            <a:xfrm>
              <a:off x="7205472" y="1075207"/>
              <a:ext cx="1042416" cy="246221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/>
                <a:t>Modernizing</a:t>
              </a:r>
              <a:endParaRPr lang="en-US" sz="800"/>
            </a:p>
          </p:txBody>
        </p:sp>
        <p:sp>
          <p:nvSpPr>
            <p:cNvPr id="14" name="Star: 5 Points 13">
              <a:extLst>
                <a:ext uri="{FF2B5EF4-FFF2-40B4-BE49-F238E27FC236}">
                  <a16:creationId xmlns:a16="http://schemas.microsoft.com/office/drawing/2014/main" id="{0E917FCA-350B-68D1-8C3D-A41EA2F13CDE}"/>
                </a:ext>
              </a:extLst>
            </p:cNvPr>
            <p:cNvSpPr/>
            <p:nvPr/>
          </p:nvSpPr>
          <p:spPr>
            <a:xfrm>
              <a:off x="8001000" y="1075207"/>
              <a:ext cx="201168" cy="215444"/>
            </a:xfrm>
            <a:prstGeom prst="star5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B4338B-EEBC-0972-A213-65C42F8B7350}"/>
              </a:ext>
            </a:extLst>
          </p:cNvPr>
          <p:cNvGrpSpPr/>
          <p:nvPr/>
        </p:nvGrpSpPr>
        <p:grpSpPr>
          <a:xfrm>
            <a:off x="4437888" y="1540259"/>
            <a:ext cx="1042416" cy="246221"/>
            <a:chOff x="7205472" y="1075207"/>
            <a:chExt cx="1042416" cy="2462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34A9CA8-5584-49F6-2D03-E5AE5BE9D944}"/>
                </a:ext>
              </a:extLst>
            </p:cNvPr>
            <p:cNvSpPr txBox="1"/>
            <p:nvPr/>
          </p:nvSpPr>
          <p:spPr>
            <a:xfrm>
              <a:off x="7205472" y="1075207"/>
              <a:ext cx="1042416" cy="246221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/>
                <a:t>Modernizing</a:t>
              </a:r>
              <a:endParaRPr lang="en-US" sz="800"/>
            </a:p>
          </p:txBody>
        </p:sp>
        <p:sp>
          <p:nvSpPr>
            <p:cNvPr id="17" name="Star: 5 Points 16">
              <a:extLst>
                <a:ext uri="{FF2B5EF4-FFF2-40B4-BE49-F238E27FC236}">
                  <a16:creationId xmlns:a16="http://schemas.microsoft.com/office/drawing/2014/main" id="{1B5883A0-AAB3-66F3-7EF0-2092BE929E9E}"/>
                </a:ext>
              </a:extLst>
            </p:cNvPr>
            <p:cNvSpPr/>
            <p:nvPr/>
          </p:nvSpPr>
          <p:spPr>
            <a:xfrm>
              <a:off x="8001000" y="1075207"/>
              <a:ext cx="201168" cy="215444"/>
            </a:xfrm>
            <a:prstGeom prst="star5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342231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E2193-6484-5113-B957-BD3CAD0D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AEAC83-263A-71BD-964D-E6D021A29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019751"/>
              </p:ext>
            </p:extLst>
          </p:nvPr>
        </p:nvGraphicFramePr>
        <p:xfrm>
          <a:off x="549806" y="1234052"/>
          <a:ext cx="7103879" cy="3907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515">
                  <a:extLst>
                    <a:ext uri="{9D8B030D-6E8A-4147-A177-3AD203B41FA5}">
                      <a16:colId xmlns:a16="http://schemas.microsoft.com/office/drawing/2014/main" val="3533081477"/>
                    </a:ext>
                  </a:extLst>
                </a:gridCol>
                <a:gridCol w="1404487">
                  <a:extLst>
                    <a:ext uri="{9D8B030D-6E8A-4147-A177-3AD203B41FA5}">
                      <a16:colId xmlns:a16="http://schemas.microsoft.com/office/drawing/2014/main" val="51495516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107697000"/>
                    </a:ext>
                  </a:extLst>
                </a:gridCol>
                <a:gridCol w="3527077">
                  <a:extLst>
                    <a:ext uri="{9D8B030D-6E8A-4147-A177-3AD203B41FA5}">
                      <a16:colId xmlns:a16="http://schemas.microsoft.com/office/drawing/2014/main" val="1922860864"/>
                    </a:ext>
                  </a:extLst>
                </a:gridCol>
              </a:tblGrid>
              <a:tr h="725959">
                <a:tc>
                  <a:txBody>
                    <a:bodyPr/>
                    <a:lstStyle/>
                    <a:p>
                      <a:r>
                        <a:rPr lang="en-US" sz="1400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604188"/>
                  </a:ext>
                </a:extLst>
              </a:tr>
              <a:tr h="454063">
                <a:tc>
                  <a:txBody>
                    <a:bodyPr/>
                    <a:lstStyle/>
                    <a:p>
                      <a:r>
                        <a:rPr lang="en-US" sz="1200" b="1" dirty="0"/>
                        <a:t>Rehost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1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656772"/>
                  </a:ext>
                </a:extLst>
              </a:tr>
              <a:tr h="454063">
                <a:tc>
                  <a:txBody>
                    <a:bodyPr/>
                    <a:lstStyle/>
                    <a:p>
                      <a:r>
                        <a:rPr lang="en-US" sz="1200" b="1" dirty="0"/>
                        <a:t>Replatform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21797"/>
                  </a:ext>
                </a:extLst>
              </a:tr>
              <a:tr h="454063">
                <a:tc>
                  <a:txBody>
                    <a:bodyPr/>
                    <a:lstStyle/>
                    <a:p>
                      <a:r>
                        <a:rPr lang="en-US" sz="1200" b="1" dirty="0"/>
                        <a:t>Repurchase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4448"/>
                  </a:ext>
                </a:extLst>
              </a:tr>
              <a:tr h="454063">
                <a:tc>
                  <a:txBody>
                    <a:bodyPr/>
                    <a:lstStyle/>
                    <a:p>
                      <a:r>
                        <a:rPr lang="en-US" sz="1200" b="1" dirty="0"/>
                        <a:t>Refactor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2920"/>
                  </a:ext>
                </a:extLst>
              </a:tr>
              <a:tr h="454063">
                <a:tc>
                  <a:txBody>
                    <a:bodyPr/>
                    <a:lstStyle/>
                    <a:p>
                      <a:r>
                        <a:rPr lang="en-US" sz="1200" b="1" dirty="0"/>
                        <a:t>Relocate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16163"/>
                  </a:ext>
                </a:extLst>
              </a:tr>
              <a:tr h="454063">
                <a:tc>
                  <a:txBody>
                    <a:bodyPr/>
                    <a:lstStyle/>
                    <a:p>
                      <a:r>
                        <a:rPr lang="en-US" sz="1200" b="1" dirty="0"/>
                        <a:t>Retire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03484"/>
                  </a:ext>
                </a:extLst>
              </a:tr>
              <a:tr h="454063">
                <a:tc>
                  <a:txBody>
                    <a:bodyPr/>
                    <a:lstStyle/>
                    <a:p>
                      <a:r>
                        <a:rPr lang="en-US" sz="1200" b="1" dirty="0"/>
                        <a:t>Retain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96516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AA413D50-9DC8-27B3-D80C-31CB37B25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76" y="149528"/>
            <a:ext cx="10629900" cy="766375"/>
          </a:xfrm>
          <a:ln>
            <a:noFill/>
          </a:ln>
          <a:effectLst/>
        </p:spPr>
        <p:txBody>
          <a:bodyPr vert="horz" lIns="0" tIns="192024" rIns="0" bIns="0" rtlCol="0" anchor="t" anchorCtr="0">
            <a:noAutofit/>
          </a:bodyPr>
          <a:lstStyle/>
          <a:p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MAP Journey based on 7R’s (Migrate)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F0873DC-CFCD-6CFA-5CA0-987F2BD397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2629960"/>
              </p:ext>
            </p:extLst>
          </p:nvPr>
        </p:nvGraphicFramePr>
        <p:xfrm>
          <a:off x="7641714" y="1373992"/>
          <a:ext cx="4000480" cy="3343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7432874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B5F549-2F94-40E8-7145-84A3C312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749" y="0"/>
            <a:ext cx="10629900" cy="1162878"/>
          </a:xfrm>
        </p:spPr>
        <p:txBody>
          <a:bodyPr/>
          <a:lstStyle/>
          <a:p>
            <a:pPr algn="ctr"/>
            <a:r>
              <a:rPr lang="en-US" dirty="0"/>
              <a:t>7 R Analysis Details</a:t>
            </a:r>
            <a:br>
              <a:rPr lang="en-US" dirty="0"/>
            </a:br>
            <a:r>
              <a:rPr lang="en-US" sz="2400" dirty="0"/>
              <a:t>Recommendations for migration to the cloud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75EE99-015E-46AC-2467-AA1DF4C4D968}"/>
              </a:ext>
            </a:extLst>
          </p:cNvPr>
          <p:cNvSpPr txBox="1"/>
          <p:nvPr/>
        </p:nvSpPr>
        <p:spPr>
          <a:xfrm>
            <a:off x="1284348" y="1856721"/>
            <a:ext cx="8885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Include details on discovered servers, recommended Ec2 instance type, R analysis against each server, Application Grouping, and wave planning info for the groups of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54618326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B062-461F-AF34-B235-50B305C4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912" y="0"/>
            <a:ext cx="10629900" cy="1487862"/>
          </a:xfrm>
        </p:spPr>
        <p:txBody>
          <a:bodyPr/>
          <a:lstStyle/>
          <a:p>
            <a:r>
              <a:rPr lang="en-US" sz="3600"/>
              <a:t>AWS Costs &amp; Migration Savings Details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2316C42-85EB-F60C-8E90-EDCF03EED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27192"/>
              </p:ext>
            </p:extLst>
          </p:nvPr>
        </p:nvGraphicFramePr>
        <p:xfrm>
          <a:off x="573911" y="949233"/>
          <a:ext cx="10721106" cy="4702718"/>
        </p:xfrm>
        <a:graphic>
          <a:graphicData uri="http://schemas.openxmlformats.org/drawingml/2006/table">
            <a:tbl>
              <a:tblPr/>
              <a:tblGrid>
                <a:gridCol w="1681742">
                  <a:extLst>
                    <a:ext uri="{9D8B030D-6E8A-4147-A177-3AD203B41FA5}">
                      <a16:colId xmlns:a16="http://schemas.microsoft.com/office/drawing/2014/main" val="2338146883"/>
                    </a:ext>
                  </a:extLst>
                </a:gridCol>
                <a:gridCol w="1681742">
                  <a:extLst>
                    <a:ext uri="{9D8B030D-6E8A-4147-A177-3AD203B41FA5}">
                      <a16:colId xmlns:a16="http://schemas.microsoft.com/office/drawing/2014/main" val="2385962151"/>
                    </a:ext>
                  </a:extLst>
                </a:gridCol>
                <a:gridCol w="1681742">
                  <a:extLst>
                    <a:ext uri="{9D8B030D-6E8A-4147-A177-3AD203B41FA5}">
                      <a16:colId xmlns:a16="http://schemas.microsoft.com/office/drawing/2014/main" val="1600367053"/>
                    </a:ext>
                  </a:extLst>
                </a:gridCol>
                <a:gridCol w="945980">
                  <a:extLst>
                    <a:ext uri="{9D8B030D-6E8A-4147-A177-3AD203B41FA5}">
                      <a16:colId xmlns:a16="http://schemas.microsoft.com/office/drawing/2014/main" val="374695251"/>
                    </a:ext>
                  </a:extLst>
                </a:gridCol>
                <a:gridCol w="936695">
                  <a:extLst>
                    <a:ext uri="{9D8B030D-6E8A-4147-A177-3AD203B41FA5}">
                      <a16:colId xmlns:a16="http://schemas.microsoft.com/office/drawing/2014/main" val="1037793109"/>
                    </a:ext>
                  </a:extLst>
                </a:gridCol>
                <a:gridCol w="955265">
                  <a:extLst>
                    <a:ext uri="{9D8B030D-6E8A-4147-A177-3AD203B41FA5}">
                      <a16:colId xmlns:a16="http://schemas.microsoft.com/office/drawing/2014/main" val="886390848"/>
                    </a:ext>
                  </a:extLst>
                </a:gridCol>
                <a:gridCol w="945980">
                  <a:extLst>
                    <a:ext uri="{9D8B030D-6E8A-4147-A177-3AD203B41FA5}">
                      <a16:colId xmlns:a16="http://schemas.microsoft.com/office/drawing/2014/main" val="4112811101"/>
                    </a:ext>
                  </a:extLst>
                </a:gridCol>
                <a:gridCol w="945980">
                  <a:extLst>
                    <a:ext uri="{9D8B030D-6E8A-4147-A177-3AD203B41FA5}">
                      <a16:colId xmlns:a16="http://schemas.microsoft.com/office/drawing/2014/main" val="4264400576"/>
                    </a:ext>
                  </a:extLst>
                </a:gridCol>
                <a:gridCol w="945980">
                  <a:extLst>
                    <a:ext uri="{9D8B030D-6E8A-4147-A177-3AD203B41FA5}">
                      <a16:colId xmlns:a16="http://schemas.microsoft.com/office/drawing/2014/main" val="1455021989"/>
                    </a:ext>
                  </a:extLst>
                </a:gridCol>
              </a:tblGrid>
              <a:tr h="310310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Migrate to AWS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633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AWS Costs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61671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Compute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350950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Storage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269067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Network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582099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AWS Support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919210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mpd="sng">
                      <a:noFill/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336455"/>
                  </a:ext>
                </a:extLst>
              </a:tr>
              <a:tr h="3361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810314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Partner Funding   (If Any)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50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56557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413160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855675"/>
                  </a:ext>
                </a:extLst>
              </a:tr>
              <a:tr h="310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730208"/>
                  </a:ext>
                </a:extLst>
              </a:tr>
              <a:tr h="3361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1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318" rtl="0" eaLnBrk="1" fontAlgn="b" latinLnBrk="0" hangingPunct="1">
                        <a:buNone/>
                      </a:pPr>
                      <a:endParaRPr lang="en-US" sz="1600" b="1" i="1" u="none" strike="noStrike" kern="1200" dirty="0">
                        <a:solidFill>
                          <a:srgbClr val="000000"/>
                        </a:solidFill>
                        <a:effectLst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1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1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649223"/>
                  </a:ext>
                </a:extLst>
              </a:tr>
              <a:tr h="3361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63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318" rtl="0" eaLnBrk="1" fontAlgn="b" latinLnBrk="0" hangingPunct="1">
                        <a:buNone/>
                      </a:pPr>
                      <a:endParaRPr 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1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1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1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419671"/>
                  </a:ext>
                </a:extLst>
              </a:tr>
              <a:tr h="31031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318" rtl="0" eaLnBrk="1" fontAlgn="b" latinLnBrk="0" hangingPunct="1"/>
                      <a:endParaRPr lang="en-US" sz="1600" b="1" i="0" u="none" strike="noStrike" kern="1200">
                        <a:solidFill>
                          <a:srgbClr val="000000"/>
                        </a:solidFill>
                        <a:effectLst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510602"/>
                  </a:ext>
                </a:extLst>
              </a:tr>
              <a:tr h="28080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Savings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F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18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1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i="0" u="none" strike="noStrike" kern="1200" noProof="0" dirty="0">
                        <a:solidFill>
                          <a:srgbClr val="FFFFFF"/>
                        </a:solidFill>
                        <a:effectLst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1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i="0" u="none" strike="noStrike" kern="1200" noProof="0" dirty="0">
                        <a:solidFill>
                          <a:srgbClr val="FFFFFF"/>
                        </a:solidFill>
                        <a:effectLst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1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 (Body)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 (Body)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715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33980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A4B4-A878-BA44-0972-CDDEC89C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338973"/>
            <a:ext cx="7626097" cy="630291"/>
          </a:xfrm>
        </p:spPr>
        <p:txBody>
          <a:bodyPr/>
          <a:lstStyle/>
          <a:p>
            <a:r>
              <a:rPr lang="en-US" sz="2800" b="1">
                <a:latin typeface="Poppins light"/>
                <a:cs typeface="Poppins light"/>
              </a:rPr>
              <a:t>MRA Readiness -Recommendations</a:t>
            </a:r>
            <a:endParaRPr lang="en-US" sz="2800" b="1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309633-93B8-67BD-EC98-736F77B121FA}"/>
              </a:ext>
            </a:extLst>
          </p:cNvPr>
          <p:cNvSpPr/>
          <p:nvPr/>
        </p:nvSpPr>
        <p:spPr>
          <a:xfrm>
            <a:off x="7573969" y="1020582"/>
            <a:ext cx="4016828" cy="504319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>
                <a:solidFill>
                  <a:schemeClr val="lt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Key Recommendations</a:t>
            </a:r>
          </a:p>
          <a:p>
            <a:pPr algn="ctr"/>
            <a:endParaRPr lang="en-US" b="1" u="sng">
              <a:solidFill>
                <a:schemeClr val="lt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lt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Build and standardize the cloud landing zone.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lt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lt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Establish clear migration processes and best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lt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lt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Upskill teams and formaliz</a:t>
            </a:r>
            <a:r>
              <a:rPr lang="en-US" sz="1600">
                <a:latin typeface="Poppins Light" panose="00000400000000000000" pitchFamily="2" charset="0"/>
                <a:cs typeface="Poppins Light" panose="00000400000000000000" pitchFamily="2" charset="0"/>
              </a:rPr>
              <a:t>e</a:t>
            </a:r>
            <a:r>
              <a:rPr lang="en-US" sz="1600">
                <a:solidFill>
                  <a:schemeClr val="lt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Cloud s</a:t>
            </a:r>
            <a:r>
              <a:rPr lang="en-US" sz="1600">
                <a:latin typeface="Poppins Light" panose="00000400000000000000" pitchFamily="2" charset="0"/>
                <a:cs typeface="Poppins Light" panose="00000400000000000000" pitchFamily="2" charset="0"/>
              </a:rPr>
              <a:t>ubject matter experts.</a:t>
            </a:r>
            <a:endParaRPr lang="en-US" sz="1600">
              <a:solidFill>
                <a:schemeClr val="lt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lt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lt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Embed security and compliance into all migration phases.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lt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lt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Use the well-established business case to secure executive sponsorship and alignment with all stakeholders.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AF3DD98-D3F1-864E-ACAF-E786D10FDE5C}"/>
              </a:ext>
            </a:extLst>
          </p:cNvPr>
          <p:cNvGraphicFramePr>
            <a:graphicFrameLocks noGrp="1"/>
          </p:cNvGraphicFramePr>
          <p:nvPr/>
        </p:nvGraphicFramePr>
        <p:xfrm>
          <a:off x="320039" y="1355499"/>
          <a:ext cx="6920124" cy="4517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749320-AC42-55E6-128F-4D3FC398C9A2}"/>
              </a:ext>
            </a:extLst>
          </p:cNvPr>
          <p:cNvSpPr txBox="1"/>
          <p:nvPr/>
        </p:nvSpPr>
        <p:spPr>
          <a:xfrm rot="20489528">
            <a:off x="735013" y="2723020"/>
            <a:ext cx="10916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35905533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1DE4E-B069-FBEC-4F80-6A5D83526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89E85F-5D84-07F1-A5CE-587D1FE031CE}"/>
              </a:ext>
            </a:extLst>
          </p:cNvPr>
          <p:cNvSpPr txBox="1">
            <a:spLocks/>
          </p:cNvSpPr>
          <p:nvPr/>
        </p:nvSpPr>
        <p:spPr>
          <a:xfrm>
            <a:off x="479765" y="396911"/>
            <a:ext cx="6352953" cy="580499"/>
          </a:xfrm>
          <a:prstGeom prst="rect">
            <a:avLst/>
          </a:prstGeom>
          <a:ln>
            <a:noFill/>
          </a:ln>
          <a:effectLst/>
        </p:spPr>
        <p:txBody>
          <a:bodyPr vert="horz" lIns="0" tIns="160020" rIns="0" bIns="0" rtlCol="0" anchor="t" anchorCtr="0">
            <a:noAutofit/>
          </a:bodyPr>
          <a:lstStyle>
            <a:lvl1pPr algn="l" defTabSz="1097182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280" b="0" i="0" kern="1200" spc="360" baseline="0">
                <a:ln w="12700">
                  <a:noFill/>
                </a:ln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3000" b="1">
                <a:latin typeface="Poppins Light" panose="00000400000000000000" pitchFamily="2" charset="0"/>
                <a:cs typeface="Poppins Light" panose="00000400000000000000" pitchFamily="2" charset="0"/>
              </a:rPr>
              <a:t>MRA Executive Summary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A8A7EEC-9893-D3E8-C44C-795C1C9C7131}"/>
              </a:ext>
            </a:extLst>
          </p:cNvPr>
          <p:cNvSpPr txBox="1">
            <a:spLocks/>
          </p:cNvSpPr>
          <p:nvPr/>
        </p:nvSpPr>
        <p:spPr>
          <a:xfrm>
            <a:off x="389712" y="1039131"/>
            <a:ext cx="3373273" cy="333425"/>
          </a:xfrm>
          <a:prstGeom prst="rect">
            <a:avLst/>
          </a:prstGeom>
        </p:spPr>
        <p:txBody>
          <a:bodyPr vert="horz" lIns="76200" tIns="38100" rIns="76200" bIns="3810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rgbClr val="FF99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Strategy and Desired Outcomes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FB5389-50B0-B408-7896-24CBE7DA6AD9}"/>
              </a:ext>
            </a:extLst>
          </p:cNvPr>
          <p:cNvSpPr txBox="1">
            <a:spLocks/>
          </p:cNvSpPr>
          <p:nvPr/>
        </p:nvSpPr>
        <p:spPr>
          <a:xfrm>
            <a:off x="7260559" y="1061200"/>
            <a:ext cx="3373273" cy="333425"/>
          </a:xfrm>
          <a:prstGeom prst="rect">
            <a:avLst/>
          </a:prstGeom>
        </p:spPr>
        <p:txBody>
          <a:bodyPr vert="horz" lIns="76200" tIns="38100" rIns="76200" bIns="3810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rgbClr val="FF99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MRA Objectives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3C66DB-F647-2220-4C49-0B31DC623436}"/>
              </a:ext>
            </a:extLst>
          </p:cNvPr>
          <p:cNvCxnSpPr>
            <a:cxnSpLocks/>
          </p:cNvCxnSpPr>
          <p:nvPr/>
        </p:nvCxnSpPr>
        <p:spPr>
          <a:xfrm flipH="1" flipV="1">
            <a:off x="459930" y="1332692"/>
            <a:ext cx="5535976" cy="2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8CA04C-08DB-29BE-B293-67912DD20DA5}"/>
              </a:ext>
            </a:extLst>
          </p:cNvPr>
          <p:cNvCxnSpPr>
            <a:cxnSpLocks/>
          </p:cNvCxnSpPr>
          <p:nvPr/>
        </p:nvCxnSpPr>
        <p:spPr>
          <a:xfrm flipH="1" flipV="1">
            <a:off x="7346608" y="1359657"/>
            <a:ext cx="4280038" cy="128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200ACF9-20F6-5811-CD9C-C9A6479DCF18}"/>
              </a:ext>
            </a:extLst>
          </p:cNvPr>
          <p:cNvSpPr txBox="1">
            <a:spLocks/>
          </p:cNvSpPr>
          <p:nvPr/>
        </p:nvSpPr>
        <p:spPr>
          <a:xfrm>
            <a:off x="1423395" y="3356668"/>
            <a:ext cx="3373273" cy="333425"/>
          </a:xfrm>
          <a:prstGeom prst="rect">
            <a:avLst/>
          </a:prstGeom>
        </p:spPr>
        <p:txBody>
          <a:bodyPr vert="horz" lIns="76200" tIns="38100" rIns="76200" bIns="3810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rgbClr val="FF9900"/>
                </a:solidFill>
              </a:rPr>
              <a:t>Strength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3C1BA00-8325-236E-3A2D-A3169BEC5CE3}"/>
              </a:ext>
            </a:extLst>
          </p:cNvPr>
          <p:cNvSpPr txBox="1">
            <a:spLocks/>
          </p:cNvSpPr>
          <p:nvPr/>
        </p:nvSpPr>
        <p:spPr>
          <a:xfrm>
            <a:off x="9561508" y="3381824"/>
            <a:ext cx="1568311" cy="333425"/>
          </a:xfrm>
          <a:prstGeom prst="rect">
            <a:avLst/>
          </a:prstGeom>
        </p:spPr>
        <p:txBody>
          <a:bodyPr vert="horz" lIns="76200" tIns="38100" rIns="76200" bIns="3810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2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6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1900" b="0" i="0" kern="1200">
                <a:solidFill>
                  <a:schemeClr val="tx1"/>
                </a:solidFill>
                <a:latin typeface="+mn-lt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rgbClr val="FF9900"/>
                </a:solidFill>
              </a:rPr>
              <a:t>Gaps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910056-D7DF-B1D1-F8BF-4E56FF8B5449}"/>
              </a:ext>
            </a:extLst>
          </p:cNvPr>
          <p:cNvGrpSpPr/>
          <p:nvPr/>
        </p:nvGrpSpPr>
        <p:grpSpPr>
          <a:xfrm>
            <a:off x="1245990" y="3377526"/>
            <a:ext cx="215910" cy="215910"/>
            <a:chOff x="6678273" y="4879632"/>
            <a:chExt cx="335601" cy="3356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210BEA-00A2-6E7D-99B2-4A9002CBAD08}"/>
                </a:ext>
              </a:extLst>
            </p:cNvPr>
            <p:cNvSpPr/>
            <p:nvPr/>
          </p:nvSpPr>
          <p:spPr>
            <a:xfrm>
              <a:off x="6678273" y="4879632"/>
              <a:ext cx="335601" cy="335601"/>
            </a:xfrm>
            <a:prstGeom prst="ellipse">
              <a:avLst/>
            </a:prstGeom>
            <a:solidFill>
              <a:srgbClr val="F896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884BA4C-F5B2-9610-C275-EC9B9581E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096" y="4962455"/>
              <a:ext cx="169954" cy="169954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58B24C-DC9F-4BEA-2579-52E472F106B1}"/>
              </a:ext>
            </a:extLst>
          </p:cNvPr>
          <p:cNvGrpSpPr/>
          <p:nvPr/>
        </p:nvGrpSpPr>
        <p:grpSpPr>
          <a:xfrm>
            <a:off x="9111556" y="3411894"/>
            <a:ext cx="215910" cy="215910"/>
            <a:chOff x="7265072" y="4879632"/>
            <a:chExt cx="335601" cy="3356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AA31E42-4DD5-1D79-7DED-CF8668006345}"/>
                </a:ext>
              </a:extLst>
            </p:cNvPr>
            <p:cNvSpPr/>
            <p:nvPr/>
          </p:nvSpPr>
          <p:spPr>
            <a:xfrm>
              <a:off x="7265072" y="4879632"/>
              <a:ext cx="335601" cy="335601"/>
            </a:xfrm>
            <a:prstGeom prst="ellipse">
              <a:avLst/>
            </a:prstGeom>
            <a:solidFill>
              <a:srgbClr val="F896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7748CA2-0EBF-7C9E-288C-E7D2E5CD9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4737" y="4962455"/>
              <a:ext cx="176269" cy="176269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26FF8-ADA3-619C-A4F5-FC82E4365C90}"/>
              </a:ext>
            </a:extLst>
          </p:cNvPr>
          <p:cNvSpPr/>
          <p:nvPr/>
        </p:nvSpPr>
        <p:spPr>
          <a:xfrm>
            <a:off x="389712" y="1456595"/>
            <a:ext cx="5562600" cy="142376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333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Notes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5CAEEA-3BB5-952B-640A-CA2E3744861E}"/>
              </a:ext>
            </a:extLst>
          </p:cNvPr>
          <p:cNvSpPr/>
          <p:nvPr/>
        </p:nvSpPr>
        <p:spPr>
          <a:xfrm>
            <a:off x="7227735" y="1455319"/>
            <a:ext cx="4398909" cy="155650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333" dirty="0">
                <a:solidFill>
                  <a:srgbClr val="FF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Notes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790EB3-1DE9-10EC-2CD5-EEF47643972B}"/>
              </a:ext>
            </a:extLst>
          </p:cNvPr>
          <p:cNvSpPr/>
          <p:nvPr/>
        </p:nvSpPr>
        <p:spPr>
          <a:xfrm>
            <a:off x="624522" y="3814111"/>
            <a:ext cx="3213302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/>
              <a:t>Single Threaded Leader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FB5BAF-0459-F327-63B2-5A219122290E}"/>
              </a:ext>
            </a:extLst>
          </p:cNvPr>
          <p:cNvSpPr/>
          <p:nvPr/>
        </p:nvSpPr>
        <p:spPr>
          <a:xfrm>
            <a:off x="634289" y="4386369"/>
            <a:ext cx="3213302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/>
              <a:t>Determine Delivery Model &amp; Approach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5A1D30-B46A-210C-61E2-C8E4818CFF18}"/>
              </a:ext>
            </a:extLst>
          </p:cNvPr>
          <p:cNvSpPr/>
          <p:nvPr/>
        </p:nvSpPr>
        <p:spPr>
          <a:xfrm>
            <a:off x="624521" y="4958626"/>
            <a:ext cx="3213302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/>
              <a:t>Migration Funding Commitment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969C34-13B0-3155-BD7C-8BED39C92F9C}"/>
              </a:ext>
            </a:extLst>
          </p:cNvPr>
          <p:cNvSpPr/>
          <p:nvPr/>
        </p:nvSpPr>
        <p:spPr>
          <a:xfrm>
            <a:off x="624521" y="5538594"/>
            <a:ext cx="3213302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/>
              <a:t>Key Stakeholder Sign-off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6905F1-4CBC-53F0-FC85-3CA5A721D0B4}"/>
              </a:ext>
            </a:extLst>
          </p:cNvPr>
          <p:cNvSpPr/>
          <p:nvPr/>
        </p:nvSpPr>
        <p:spPr>
          <a:xfrm>
            <a:off x="8413343" y="3768534"/>
            <a:ext cx="3213302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/>
              <a:t>Project Management Capability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2F14BD-8ABF-BD0F-161D-A64BB2B518D7}"/>
              </a:ext>
            </a:extLst>
          </p:cNvPr>
          <p:cNvSpPr/>
          <p:nvPr/>
        </p:nvSpPr>
        <p:spPr>
          <a:xfrm>
            <a:off x="8413343" y="4332076"/>
            <a:ext cx="3213302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/>
              <a:t>Managed Service Provider Identified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99E053-394F-0A4A-4F8A-5C530CCAC30E}"/>
              </a:ext>
            </a:extLst>
          </p:cNvPr>
          <p:cNvSpPr/>
          <p:nvPr/>
        </p:nvSpPr>
        <p:spPr>
          <a:xfrm>
            <a:off x="8413343" y="4958625"/>
            <a:ext cx="3213302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/>
              <a:t>Experience baseline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52CE88-D9B2-9909-F935-1EDDBE5D45C3}"/>
              </a:ext>
            </a:extLst>
          </p:cNvPr>
          <p:cNvSpPr/>
          <p:nvPr/>
        </p:nvSpPr>
        <p:spPr>
          <a:xfrm>
            <a:off x="8413343" y="5490306"/>
            <a:ext cx="3213302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/>
              <a:t>Application Discovery Data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8CC33A2A-0BA2-EDB8-134C-8C59FBFFF70F}"/>
              </a:ext>
            </a:extLst>
          </p:cNvPr>
          <p:cNvGraphicFramePr>
            <a:graphicFrameLocks noGrp="1"/>
          </p:cNvGraphicFramePr>
          <p:nvPr/>
        </p:nvGraphicFramePr>
        <p:xfrm>
          <a:off x="3571148" y="2655372"/>
          <a:ext cx="4749892" cy="3461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C69406A-BDF9-C919-5D05-C1E6A105A74D}"/>
              </a:ext>
            </a:extLst>
          </p:cNvPr>
          <p:cNvSpPr txBox="1"/>
          <p:nvPr/>
        </p:nvSpPr>
        <p:spPr>
          <a:xfrm rot="20489528">
            <a:off x="735013" y="2723020"/>
            <a:ext cx="10916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42186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70E731-536D-42BA-E0E7-DDA95FE72175}"/>
              </a:ext>
            </a:extLst>
          </p:cNvPr>
          <p:cNvSpPr txBox="1">
            <a:spLocks/>
          </p:cNvSpPr>
          <p:nvPr/>
        </p:nvSpPr>
        <p:spPr>
          <a:xfrm>
            <a:off x="616938" y="217426"/>
            <a:ext cx="10476178" cy="617018"/>
          </a:xfrm>
          <a:prstGeom prst="rect">
            <a:avLst/>
          </a:prstGeom>
          <a:ln>
            <a:noFill/>
          </a:ln>
          <a:effectLst/>
        </p:spPr>
        <p:txBody>
          <a:bodyPr vert="horz" lIns="0" tIns="192024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i="0" kern="1200" spc="300" baseline="0">
                <a:ln w="12700">
                  <a:noFill/>
                </a:ln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3000">
                <a:latin typeface="Poppins Light" panose="00000400000000000000" pitchFamily="2" charset="0"/>
                <a:cs typeface="Poppins Light" panose="00000400000000000000" pitchFamily="2" charset="0"/>
              </a:rPr>
              <a:t>MRA Areas of Focus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6BCD4B-0E26-E542-AD82-FE2FFB763652}"/>
              </a:ext>
            </a:extLst>
          </p:cNvPr>
          <p:cNvSpPr/>
          <p:nvPr/>
        </p:nvSpPr>
        <p:spPr>
          <a:xfrm rot="5400000">
            <a:off x="6635612" y="2143042"/>
            <a:ext cx="180000" cy="90000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" algn="ctr" rotWithShape="0">
              <a:schemeClr val="tx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000" tIns="30000" rIns="60000" bIns="3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8115" indent="-238115" algn="ctr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83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456432-3F8A-D8BA-4FF0-2FD8615F6841}"/>
              </a:ext>
            </a:extLst>
          </p:cNvPr>
          <p:cNvSpPr/>
          <p:nvPr/>
        </p:nvSpPr>
        <p:spPr>
          <a:xfrm>
            <a:off x="6950612" y="1588042"/>
            <a:ext cx="450000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000" tIns="30000" rIns="60000" bIns="3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You're already doing very well in the Business dimension; your definitive strength lies in Value Management, where you're already well-prepared.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FB30E-6E72-CA2E-8D31-869E1D629351}"/>
              </a:ext>
            </a:extLst>
          </p:cNvPr>
          <p:cNvSpPr/>
          <p:nvPr/>
        </p:nvSpPr>
        <p:spPr>
          <a:xfrm>
            <a:off x="6950612" y="2976781"/>
            <a:ext cx="450000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000" tIns="30000" rIns="60000" bIns="3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We estimate the most initial effort in the Platform dimension; we should especially focus on Application Migration Patterns and improve your capabilities.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935AA67-FBB9-1BE5-FF7D-3DDE02C05E01}"/>
              </a:ext>
            </a:extLst>
          </p:cNvPr>
          <p:cNvSpPr/>
          <p:nvPr/>
        </p:nvSpPr>
        <p:spPr>
          <a:xfrm rot="5400000">
            <a:off x="6635612" y="3531781"/>
            <a:ext cx="180000" cy="90000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" algn="ctr" rotWithShape="0">
              <a:schemeClr val="tx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000" tIns="30000" rIns="60000" bIns="3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8115" indent="-238115" algn="ctr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833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B42D5F-CFDC-CF18-674F-67877808A43F}"/>
              </a:ext>
            </a:extLst>
          </p:cNvPr>
          <p:cNvSpPr/>
          <p:nvPr/>
        </p:nvSpPr>
        <p:spPr>
          <a:xfrm>
            <a:off x="6950612" y="4365520"/>
            <a:ext cx="450000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000" tIns="30000" rIns="60000" bIns="3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In addition to that, in the Operations dimension, Cloud Service Management should receive some attention as well; so let's get started!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D8778622-B47A-8A40-0D5B-D2C69F75AF3C}"/>
              </a:ext>
            </a:extLst>
          </p:cNvPr>
          <p:cNvSpPr/>
          <p:nvPr/>
        </p:nvSpPr>
        <p:spPr>
          <a:xfrm rot="5400000">
            <a:off x="6635612" y="4920520"/>
            <a:ext cx="180000" cy="90000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" algn="ctr" rotWithShape="0">
              <a:schemeClr val="tx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000" tIns="30000" rIns="60000" bIns="3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8115" indent="-238115" algn="ctr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833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F1F66-D764-EFB2-0C70-AF2F028A8414}"/>
              </a:ext>
            </a:extLst>
          </p:cNvPr>
          <p:cNvSpPr/>
          <p:nvPr/>
        </p:nvSpPr>
        <p:spPr>
          <a:xfrm>
            <a:off x="6524676" y="1096577"/>
            <a:ext cx="50051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latin typeface="Poppins Light" panose="00000400000000000000" pitchFamily="2" charset="0"/>
                <a:ea typeface="Amazon Ember" panose="02000000000000000000" pitchFamily="2" charset="0"/>
                <a:cs typeface="Poppins Light" panose="00000400000000000000" pitchFamily="2" charset="0"/>
              </a:rPr>
              <a:t>AWS identified preliminary areas of focus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653B72B-B7EC-CA17-46A4-2143721F506F}"/>
              </a:ext>
            </a:extLst>
          </p:cNvPr>
          <p:cNvSpPr txBox="1">
            <a:spLocks/>
          </p:cNvSpPr>
          <p:nvPr/>
        </p:nvSpPr>
        <p:spPr>
          <a:xfrm>
            <a:off x="616938" y="1108676"/>
            <a:ext cx="5201973" cy="6412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Poppins Light" panose="00000400000000000000" pitchFamily="2" charset="0"/>
                <a:ea typeface="Amazon Ember" panose="02000000000000000000" pitchFamily="2" charset="0"/>
                <a:cs typeface="Poppins Light" panose="00000400000000000000" pitchFamily="2" charset="0"/>
              </a:rPr>
              <a:t>Cloud Adoption Framework Perspectives Radar Chart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390097C-F856-3801-B26D-CAB21BBCE488}"/>
              </a:ext>
            </a:extLst>
          </p:cNvPr>
          <p:cNvGraphicFramePr>
            <a:graphicFrameLocks noGrp="1"/>
          </p:cNvGraphicFramePr>
          <p:nvPr/>
        </p:nvGraphicFramePr>
        <p:xfrm>
          <a:off x="462779" y="1947355"/>
          <a:ext cx="5411548" cy="4173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7639F96-D6B7-BCD5-41D3-65D2C12D804C}"/>
              </a:ext>
            </a:extLst>
          </p:cNvPr>
          <p:cNvSpPr txBox="1"/>
          <p:nvPr/>
        </p:nvSpPr>
        <p:spPr>
          <a:xfrm rot="20489528">
            <a:off x="735013" y="2723020"/>
            <a:ext cx="10916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3298564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16D0-7018-0133-0D65-4F155047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F62B7D0-82AC-EDB5-6A50-06E5A70E6E02}"/>
              </a:ext>
            </a:extLst>
          </p:cNvPr>
          <p:cNvSpPr txBox="1">
            <a:spLocks/>
          </p:cNvSpPr>
          <p:nvPr/>
        </p:nvSpPr>
        <p:spPr>
          <a:xfrm>
            <a:off x="622171" y="325816"/>
            <a:ext cx="6438505" cy="616863"/>
          </a:xfrm>
          <a:prstGeom prst="rect">
            <a:avLst/>
          </a:prstGeom>
          <a:ln>
            <a:noFill/>
          </a:ln>
          <a:effectLst/>
        </p:spPr>
        <p:txBody>
          <a:bodyPr vert="horz" lIns="0" tIns="192024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i="0" kern="1200" spc="300" baseline="0">
                <a:ln w="12700">
                  <a:noFill/>
                </a:ln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MRA Areas of Focus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0AB01DA-3A80-F031-8177-0BB7AAFBDC79}"/>
              </a:ext>
            </a:extLst>
          </p:cNvPr>
          <p:cNvSpPr/>
          <p:nvPr/>
        </p:nvSpPr>
        <p:spPr>
          <a:xfrm rot="5400000">
            <a:off x="6279622" y="2139789"/>
            <a:ext cx="216000" cy="108000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" algn="ctr" rotWithShape="0">
              <a:schemeClr val="tx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2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570A18-B562-BCC7-C07D-3C07156E64EE}"/>
              </a:ext>
            </a:extLst>
          </p:cNvPr>
          <p:cNvSpPr/>
          <p:nvPr/>
        </p:nvSpPr>
        <p:spPr>
          <a:xfrm>
            <a:off x="6657622" y="1473789"/>
            <a:ext cx="5400000" cy="128038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You're already excelling in the Business Case dimension. Keep up the great work!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146BCF-A9F6-AEF2-3582-82EAE6479DCC}"/>
              </a:ext>
            </a:extLst>
          </p:cNvPr>
          <p:cNvSpPr/>
          <p:nvPr/>
        </p:nvSpPr>
        <p:spPr>
          <a:xfrm>
            <a:off x="6657622" y="2659988"/>
            <a:ext cx="5239005" cy="144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Put emphasis on improving the Landing Zone dimension to ensure you're well-prepared for a steady and successful cloud migration.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7B2F802-352C-462E-9932-E73CDB9BF955}"/>
              </a:ext>
            </a:extLst>
          </p:cNvPr>
          <p:cNvSpPr/>
          <p:nvPr/>
        </p:nvSpPr>
        <p:spPr>
          <a:xfrm rot="5400000">
            <a:off x="6279622" y="3362933"/>
            <a:ext cx="216000" cy="108000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" algn="ctr" rotWithShape="0">
              <a:schemeClr val="tx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2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9084ED-5C75-343F-9E4E-FCEC439A472B}"/>
              </a:ext>
            </a:extLst>
          </p:cNvPr>
          <p:cNvSpPr/>
          <p:nvPr/>
        </p:nvSpPr>
        <p:spPr>
          <a:xfrm>
            <a:off x="6657622" y="3993965"/>
            <a:ext cx="5400000" cy="144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Furthermore, be deliberate in boosting your capabilities in the Migration Process &amp; Experience dimension.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640FF87-8E1E-EF72-FC3E-E6F0D8E54176}"/>
              </a:ext>
            </a:extLst>
          </p:cNvPr>
          <p:cNvSpPr/>
          <p:nvPr/>
        </p:nvSpPr>
        <p:spPr>
          <a:xfrm rot="5400000">
            <a:off x="6279622" y="4659965"/>
            <a:ext cx="216000" cy="108000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" algn="ctr" rotWithShape="0">
              <a:schemeClr val="tx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2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95DDDE-B7EE-5BAF-6842-BA8D58EB35CD}"/>
              </a:ext>
            </a:extLst>
          </p:cNvPr>
          <p:cNvSpPr/>
          <p:nvPr/>
        </p:nvSpPr>
        <p:spPr>
          <a:xfrm>
            <a:off x="6240766" y="959445"/>
            <a:ext cx="5400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latin typeface="Poppins Light" panose="00000400000000000000" pitchFamily="2" charset="0"/>
                <a:ea typeface="Amazon Ember" panose="02000000000000000000" pitchFamily="2" charset="0"/>
                <a:cs typeface="Poppins Light" panose="00000400000000000000" pitchFamily="2" charset="0"/>
              </a:rPr>
              <a:t>AWS identified preliminary areas of focus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CA2CDF92-ADF0-F388-2407-87A8F4CB2CD5}"/>
              </a:ext>
            </a:extLst>
          </p:cNvPr>
          <p:cNvSpPr txBox="1">
            <a:spLocks/>
          </p:cNvSpPr>
          <p:nvPr/>
        </p:nvSpPr>
        <p:spPr>
          <a:xfrm>
            <a:off x="618286" y="992822"/>
            <a:ext cx="5715336" cy="6168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spc="300">
                <a:ln w="12700">
                  <a:noFill/>
                </a:ln>
                <a:latin typeface="Poppins Light" panose="00000400000000000000" pitchFamily="2" charset="0"/>
                <a:cs typeface="Poppins Light" panose="00000400000000000000" pitchFamily="2" charset="0"/>
              </a:rPr>
              <a:t>Mobilize Phase Readiness </a:t>
            </a:r>
          </a:p>
          <a:p>
            <a:pPr marL="0" indent="0">
              <a:buNone/>
            </a:pPr>
            <a:r>
              <a:rPr lang="en-US" sz="1600" spc="300">
                <a:ln w="12700">
                  <a:noFill/>
                </a:ln>
                <a:latin typeface="Poppins Light" panose="00000400000000000000" pitchFamily="2" charset="0"/>
                <a:cs typeface="Poppins Light" panose="00000400000000000000" pitchFamily="2" charset="0"/>
              </a:rPr>
              <a:t>Radar Chart</a:t>
            </a:r>
          </a:p>
          <a:p>
            <a:pPr marL="0" indent="0">
              <a:buNone/>
            </a:pPr>
            <a:endParaRPr lang="en-US" sz="1400">
              <a:solidFill>
                <a:srgbClr val="FF9900"/>
              </a:solidFill>
              <a:latin typeface="Amazon Ember" panose="02000000000000000000" pitchFamily="2" charset="0"/>
              <a:ea typeface="Amazon Ember" panose="02000000000000000000" pitchFamily="2" charset="0"/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24676F7-53C2-2540-09D2-D5414CF133B6}"/>
              </a:ext>
            </a:extLst>
          </p:cNvPr>
          <p:cNvGraphicFramePr>
            <a:graphicFrameLocks noGrp="1"/>
          </p:cNvGraphicFramePr>
          <p:nvPr/>
        </p:nvGraphicFramePr>
        <p:xfrm>
          <a:off x="555336" y="1480759"/>
          <a:ext cx="5432664" cy="4636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6454D34-69D2-9F93-775F-0A505564D943}"/>
              </a:ext>
            </a:extLst>
          </p:cNvPr>
          <p:cNvSpPr txBox="1"/>
          <p:nvPr/>
        </p:nvSpPr>
        <p:spPr>
          <a:xfrm rot="20489528">
            <a:off x="735013" y="2723020"/>
            <a:ext cx="10916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21089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489D-035B-7356-B3E9-A8658FE9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3BF9230F-75F5-9803-217B-ED8D88B1C7C7}"/>
              </a:ext>
            </a:extLst>
          </p:cNvPr>
          <p:cNvSpPr txBox="1">
            <a:spLocks/>
          </p:cNvSpPr>
          <p:nvPr/>
        </p:nvSpPr>
        <p:spPr>
          <a:xfrm>
            <a:off x="457200" y="511750"/>
            <a:ext cx="5638801" cy="525108"/>
          </a:xfrm>
          <a:prstGeom prst="rect">
            <a:avLst/>
          </a:prstGeom>
          <a:ln>
            <a:noFill/>
          </a:ln>
          <a:effectLst/>
        </p:spPr>
        <p:txBody>
          <a:bodyPr vert="horz" lIns="0" tIns="160020" rIns="0" bIns="0" rtlCol="0" anchor="t" anchorCtr="0">
            <a:noAutofit/>
          </a:bodyPr>
          <a:lstStyle>
            <a:lvl1pPr algn="l" defTabSz="1097182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280" b="0" i="0" kern="1200" spc="360" baseline="0">
                <a:ln w="12700">
                  <a:noFill/>
                </a:ln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MRA Readiness Scores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23E2A8C-247F-4759-69FA-ED5C5DCCAE4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899871"/>
          <a:ext cx="49530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FDEE7930-0BEA-1A6F-15C5-32D1C7148F77}"/>
              </a:ext>
            </a:extLst>
          </p:cNvPr>
          <p:cNvGraphicFramePr>
            <a:graphicFrameLocks noGrp="1"/>
          </p:cNvGraphicFramePr>
          <p:nvPr/>
        </p:nvGraphicFramePr>
        <p:xfrm>
          <a:off x="457198" y="2271471"/>
          <a:ext cx="4953000" cy="124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6CFB45F6-9AD2-244F-224B-9C86872AD70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437331"/>
          <a:ext cx="4953000" cy="124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99ACFDA5-9C18-A45C-26D5-8F319C45A8A9}"/>
              </a:ext>
            </a:extLst>
          </p:cNvPr>
          <p:cNvGraphicFramePr>
            <a:graphicFrameLocks noGrp="1"/>
          </p:cNvGraphicFramePr>
          <p:nvPr/>
        </p:nvGraphicFramePr>
        <p:xfrm>
          <a:off x="457198" y="4542231"/>
          <a:ext cx="4953000" cy="861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4DF3289B-5FDC-74D9-8A56-4F097AAE0695}"/>
              </a:ext>
            </a:extLst>
          </p:cNvPr>
          <p:cNvGraphicFramePr>
            <a:graphicFrameLocks noGrp="1"/>
          </p:cNvGraphicFramePr>
          <p:nvPr/>
        </p:nvGraphicFramePr>
        <p:xfrm>
          <a:off x="457198" y="5319471"/>
          <a:ext cx="4953000" cy="1021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58F59702-7C3A-3926-4FB5-DDF587CDED9D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120504"/>
          <a:ext cx="4953000" cy="97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BB6C534-F3EF-0749-48FB-F383870FA902}"/>
              </a:ext>
            </a:extLst>
          </p:cNvPr>
          <p:cNvGraphicFramePr>
            <a:graphicFrameLocks noGrp="1"/>
          </p:cNvGraphicFramePr>
          <p:nvPr/>
        </p:nvGraphicFramePr>
        <p:xfrm>
          <a:off x="6781802" y="1020228"/>
          <a:ext cx="4953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068B39EE-5F2A-2183-D66D-1906825A1EAA}"/>
              </a:ext>
            </a:extLst>
          </p:cNvPr>
          <p:cNvGraphicFramePr>
            <a:graphicFrameLocks noGrp="1"/>
          </p:cNvGraphicFramePr>
          <p:nvPr/>
        </p:nvGraphicFramePr>
        <p:xfrm>
          <a:off x="6781802" y="4068228"/>
          <a:ext cx="4953000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6A1A07A-892C-2D69-78DB-0458DAE777F8}"/>
              </a:ext>
            </a:extLst>
          </p:cNvPr>
          <p:cNvSpPr txBox="1"/>
          <p:nvPr/>
        </p:nvSpPr>
        <p:spPr>
          <a:xfrm rot="20489528">
            <a:off x="735013" y="2723020"/>
            <a:ext cx="10916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2751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4B06-C7D3-231F-CA13-4144573F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2D55-BD89-C83F-50F1-5B9FD53A2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32" y="539496"/>
            <a:ext cx="9639936" cy="785103"/>
          </a:xfrm>
        </p:spPr>
        <p:txBody>
          <a:bodyPr/>
          <a:lstStyle/>
          <a:p>
            <a:r>
              <a:rPr lang="en-US" sz="3200" b="1">
                <a:latin typeface="Poppins Light" panose="00000400000000000000" pitchFamily="2" charset="0"/>
                <a:cs typeface="Poppins Light" panose="00000400000000000000" pitchFamily="2" charset="0"/>
              </a:rPr>
              <a:t>Stay On Premise Cost Details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7DDC91-92C0-2512-6576-A27D084A7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07789"/>
              </p:ext>
            </p:extLst>
          </p:nvPr>
        </p:nvGraphicFramePr>
        <p:xfrm>
          <a:off x="846831" y="1911190"/>
          <a:ext cx="9412733" cy="2706528"/>
        </p:xfrm>
        <a:graphic>
          <a:graphicData uri="http://schemas.openxmlformats.org/drawingml/2006/table">
            <a:tbl>
              <a:tblPr/>
              <a:tblGrid>
                <a:gridCol w="1444511">
                  <a:extLst>
                    <a:ext uri="{9D8B030D-6E8A-4147-A177-3AD203B41FA5}">
                      <a16:colId xmlns:a16="http://schemas.microsoft.com/office/drawing/2014/main" val="940340443"/>
                    </a:ext>
                  </a:extLst>
                </a:gridCol>
                <a:gridCol w="1454543">
                  <a:extLst>
                    <a:ext uri="{9D8B030D-6E8A-4147-A177-3AD203B41FA5}">
                      <a16:colId xmlns:a16="http://schemas.microsoft.com/office/drawing/2014/main" val="4070088635"/>
                    </a:ext>
                  </a:extLst>
                </a:gridCol>
                <a:gridCol w="1457887">
                  <a:extLst>
                    <a:ext uri="{9D8B030D-6E8A-4147-A177-3AD203B41FA5}">
                      <a16:colId xmlns:a16="http://schemas.microsoft.com/office/drawing/2014/main" val="4202953101"/>
                    </a:ext>
                  </a:extLst>
                </a:gridCol>
                <a:gridCol w="829257">
                  <a:extLst>
                    <a:ext uri="{9D8B030D-6E8A-4147-A177-3AD203B41FA5}">
                      <a16:colId xmlns:a16="http://schemas.microsoft.com/office/drawing/2014/main" val="4232595870"/>
                    </a:ext>
                  </a:extLst>
                </a:gridCol>
                <a:gridCol w="829257">
                  <a:extLst>
                    <a:ext uri="{9D8B030D-6E8A-4147-A177-3AD203B41FA5}">
                      <a16:colId xmlns:a16="http://schemas.microsoft.com/office/drawing/2014/main" val="3728206291"/>
                    </a:ext>
                  </a:extLst>
                </a:gridCol>
                <a:gridCol w="829257">
                  <a:extLst>
                    <a:ext uri="{9D8B030D-6E8A-4147-A177-3AD203B41FA5}">
                      <a16:colId xmlns:a16="http://schemas.microsoft.com/office/drawing/2014/main" val="3241473983"/>
                    </a:ext>
                  </a:extLst>
                </a:gridCol>
                <a:gridCol w="829257">
                  <a:extLst>
                    <a:ext uri="{9D8B030D-6E8A-4147-A177-3AD203B41FA5}">
                      <a16:colId xmlns:a16="http://schemas.microsoft.com/office/drawing/2014/main" val="1601444719"/>
                    </a:ext>
                  </a:extLst>
                </a:gridCol>
                <a:gridCol w="829257">
                  <a:extLst>
                    <a:ext uri="{9D8B030D-6E8A-4147-A177-3AD203B41FA5}">
                      <a16:colId xmlns:a16="http://schemas.microsoft.com/office/drawing/2014/main" val="2247584425"/>
                    </a:ext>
                  </a:extLst>
                </a:gridCol>
                <a:gridCol w="909507">
                  <a:extLst>
                    <a:ext uri="{9D8B030D-6E8A-4147-A177-3AD203B41FA5}">
                      <a16:colId xmlns:a16="http://schemas.microsoft.com/office/drawing/2014/main" val="1773785395"/>
                    </a:ext>
                  </a:extLst>
                </a:gridCol>
              </a:tblGrid>
              <a:tr h="23486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Year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F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61960"/>
                  </a:ext>
                </a:extLst>
              </a:tr>
              <a:tr h="22368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515415"/>
                  </a:ext>
                </a:extLst>
              </a:tr>
              <a:tr h="223680">
                <a:tc rowSpan="10"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Stay On-premises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ADA"/>
                    </a:solidFill>
                  </a:tcPr>
                </a:tc>
                <a:tc rowSpan="10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78070"/>
                  </a:ext>
                </a:extLst>
              </a:tr>
              <a:tr h="2236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Compute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484"/>
                  </a:ext>
                </a:extLst>
              </a:tr>
              <a:tr h="2236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Database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737783"/>
                  </a:ext>
                </a:extLst>
              </a:tr>
              <a:tr h="2236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Database licenses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496601"/>
                  </a:ext>
                </a:extLst>
              </a:tr>
              <a:tr h="2236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Storage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152959"/>
                  </a:ext>
                </a:extLst>
              </a:tr>
              <a:tr h="2236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Network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38152"/>
                  </a:ext>
                </a:extLst>
              </a:tr>
              <a:tr h="2236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IT labor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1647"/>
                  </a:ext>
                </a:extLst>
              </a:tr>
              <a:tr h="2236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Other costs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159416"/>
                  </a:ext>
                </a:extLst>
              </a:tr>
              <a:tr h="2236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465893"/>
                  </a:ext>
                </a:extLst>
              </a:tr>
              <a:tr h="234864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4DA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4DA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4DA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4DA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4DA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4DA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4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3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30296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6A1152-FA56-B977-AEEE-3BE348C8E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3900911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44E4A3-F667-43AD-8AD6-31284B21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8759051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C2C89-DDCD-4857-2F24-5307B864D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DD5080-F4B2-C7E7-61FE-2430E6FD0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07" y="491401"/>
            <a:ext cx="10515600" cy="1487862"/>
          </a:xfrm>
        </p:spPr>
        <p:txBody>
          <a:bodyPr/>
          <a:lstStyle/>
          <a:p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MAP Assess Elements</a:t>
            </a:r>
          </a:p>
        </p:txBody>
      </p:sp>
      <p:pic>
        <p:nvPicPr>
          <p:cNvPr id="6" name="Picture 5" descr="A comparison of a diagram&#10;&#10;Description automatically generated with medium confidence">
            <a:extLst>
              <a:ext uri="{FF2B5EF4-FFF2-40B4-BE49-F238E27FC236}">
                <a16:creationId xmlns:a16="http://schemas.microsoft.com/office/drawing/2014/main" id="{A6298F97-B79F-94E3-F3F4-3F2204EA7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169461"/>
            <a:ext cx="10363200" cy="3453207"/>
          </a:xfrm>
          <a:prstGeom prst="rect">
            <a:avLst/>
          </a:prstGeom>
        </p:spPr>
      </p:pic>
      <p:pic>
        <p:nvPicPr>
          <p:cNvPr id="2" name="Picture 1">
            <a:hlinkClick r:id="rId3" action="ppaction://hlinksldjump"/>
            <a:extLst>
              <a:ext uri="{FF2B5EF4-FFF2-40B4-BE49-F238E27FC236}">
                <a16:creationId xmlns:a16="http://schemas.microsoft.com/office/drawing/2014/main" id="{2EB76547-97DD-7C18-E933-9965AE524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7223" y="611692"/>
            <a:ext cx="4651270" cy="90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2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3">
            <a:extLst>
              <a:ext uri="{FF2B5EF4-FFF2-40B4-BE49-F238E27FC236}">
                <a16:creationId xmlns:a16="http://schemas.microsoft.com/office/drawing/2014/main" id="{64F80D57-491F-2793-8687-3331C97B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164592"/>
            <a:ext cx="11539728" cy="493775"/>
          </a:xfrm>
        </p:spPr>
        <p:txBody>
          <a:bodyPr/>
          <a:lstStyle/>
          <a:p>
            <a:r>
              <a:rPr lang="en-US" sz="2800">
                <a:latin typeface="Poppins Light" panose="00000400000000000000" pitchFamily="2" charset="0"/>
                <a:cs typeface="Poppins Light" panose="00000400000000000000" pitchFamily="2" charset="0"/>
              </a:rPr>
              <a:t>Comparing On-Premise Cost to Cloud is much more than just measuring Compute, Storage and Network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377D4-5AFB-71E7-4A3A-A22863655D6E}"/>
              </a:ext>
            </a:extLst>
          </p:cNvPr>
          <p:cNvSpPr txBox="1"/>
          <p:nvPr/>
        </p:nvSpPr>
        <p:spPr>
          <a:xfrm>
            <a:off x="6379464" y="1362978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9648-5F22-B2E4-D257-94DBEF496616}"/>
              </a:ext>
            </a:extLst>
          </p:cNvPr>
          <p:cNvSpPr txBox="1"/>
          <p:nvPr/>
        </p:nvSpPr>
        <p:spPr>
          <a:xfrm>
            <a:off x="655983" y="1365879"/>
            <a:ext cx="3896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Poppins Light" panose="00000400000000000000" pitchFamily="2" charset="0"/>
                <a:cs typeface="Poppins Light" panose="00000400000000000000" pitchFamily="2" charset="0"/>
              </a:rPr>
              <a:t>Hidden Costs to On-Premise and Colocation Hosting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F3043-952F-CD8E-D718-4CFAB0392FF2}"/>
              </a:ext>
            </a:extLst>
          </p:cNvPr>
          <p:cNvSpPr txBox="1"/>
          <p:nvPr/>
        </p:nvSpPr>
        <p:spPr>
          <a:xfrm>
            <a:off x="6379464" y="1365879"/>
            <a:ext cx="3896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Poppins Light" panose="00000400000000000000" pitchFamily="2" charset="0"/>
                <a:cs typeface="Poppins Light" panose="00000400000000000000" pitchFamily="2" charset="0"/>
              </a:rPr>
              <a:t>Cloud Opportunities for growth and savings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16CF28-16DF-911C-7B3F-EA5E810A3E71}"/>
              </a:ext>
            </a:extLst>
          </p:cNvPr>
          <p:cNvSpPr/>
          <p:nvPr/>
        </p:nvSpPr>
        <p:spPr>
          <a:xfrm>
            <a:off x="523814" y="2218625"/>
            <a:ext cx="5191186" cy="286544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Data Center Facilities and Staffing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Infrastructure Management and Staffing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Hypervisor licensing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Electrical Usage and cooling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Capacity Planning and Hardware 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Traditional Telecom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Hardware Maintenance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IT Asset Disposal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Software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Subscription vs perpetual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56D52-9666-8198-FF90-260C44BFF601}"/>
              </a:ext>
            </a:extLst>
          </p:cNvPr>
          <p:cNvSpPr/>
          <p:nvPr/>
        </p:nvSpPr>
        <p:spPr>
          <a:xfrm>
            <a:off x="6089904" y="2219016"/>
            <a:ext cx="5029265" cy="28650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Business value of agility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Reduce carrying costs of CAPEX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Rapid scale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Simplified Capacity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Seasonal Variability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Reduced Time to Service/Market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Reduced Disaster Recovery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Lower cost for Geographic diversity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Only pay for what you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Know where your cloud budget goes </a:t>
            </a:r>
          </a:p>
        </p:txBody>
      </p:sp>
    </p:spTree>
    <p:extLst>
      <p:ext uri="{BB962C8B-B14F-4D97-AF65-F5344CB8AC3E}">
        <p14:creationId xmlns:p14="http://schemas.microsoft.com/office/powerpoint/2010/main" val="1858244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B9B173D-F65E-F485-6DEB-FDF94ACE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189C-A552-FF01-5513-99F06BC5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50" y="308622"/>
            <a:ext cx="10629900" cy="888582"/>
          </a:xfrm>
        </p:spPr>
        <p:txBody>
          <a:bodyPr/>
          <a:lstStyle/>
          <a:p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Well Architected Elements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96060-D8D4-94F9-E557-5890EA40F014}"/>
              </a:ext>
            </a:extLst>
          </p:cNvPr>
          <p:cNvSpPr txBox="1"/>
          <p:nvPr/>
        </p:nvSpPr>
        <p:spPr>
          <a:xfrm>
            <a:off x="14815930" y="7182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22F96-6899-802A-7857-EAF99E01C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48" y="1570383"/>
            <a:ext cx="10169950" cy="371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7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EC91-812B-72F0-DDB1-32FA4B25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815F14-3FDD-D1F3-478D-0C159B0E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20" y="165788"/>
            <a:ext cx="10629900" cy="617176"/>
          </a:xfrm>
          <a:ln>
            <a:noFill/>
          </a:ln>
          <a:effectLst/>
        </p:spPr>
        <p:txBody>
          <a:bodyPr vert="horz" lIns="0" tIns="192024" rIns="0" bIns="0" rtlCol="0" anchor="t" anchorCtr="0">
            <a:noAutofit/>
          </a:bodyPr>
          <a:lstStyle/>
          <a:p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MAP Migration Path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59C3A6-7B66-53F3-E4D6-BD45BE88E0AD}"/>
              </a:ext>
            </a:extLst>
          </p:cNvPr>
          <p:cNvSpPr/>
          <p:nvPr/>
        </p:nvSpPr>
        <p:spPr>
          <a:xfrm>
            <a:off x="8853934" y="1099686"/>
            <a:ext cx="2550695" cy="4658627"/>
          </a:xfrm>
          <a:prstGeom prst="rect">
            <a:avLst/>
          </a:prstGeom>
          <a:solidFill>
            <a:srgbClr val="007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Ingram Micro will work with partner and end customer to identify the optimal migration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02A4BE-520E-3EF2-0DC2-84B319D93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7" y="1252727"/>
            <a:ext cx="8469485" cy="40416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532CAD-E630-8B27-D5B4-13728BC10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518" y="1105069"/>
            <a:ext cx="438211" cy="2953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9B4FA0-D3B4-17A4-BB54-464D5ABE7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185" y="1042414"/>
            <a:ext cx="438211" cy="295316"/>
          </a:xfrm>
          <a:prstGeom prst="rect">
            <a:avLst/>
          </a:prstGeom>
        </p:spPr>
      </p:pic>
      <p:pic>
        <p:nvPicPr>
          <p:cNvPr id="218" name="Picture 217" descr="A logo with a smile&#10;&#10;AI-generated content may be incorrect.">
            <a:extLst>
              <a:ext uri="{FF2B5EF4-FFF2-40B4-BE49-F238E27FC236}">
                <a16:creationId xmlns:a16="http://schemas.microsoft.com/office/drawing/2014/main" id="{D9A10174-8850-0E2E-CA7A-BD8B3A518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634" y="733826"/>
            <a:ext cx="925762" cy="61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1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D7656B48-CF4E-F049-882D-99FF3E26B0DF}"/>
              </a:ext>
            </a:extLst>
          </p:cNvPr>
          <p:cNvSpPr/>
          <p:nvPr/>
        </p:nvSpPr>
        <p:spPr>
          <a:xfrm>
            <a:off x="6510528" y="1126238"/>
            <a:ext cx="1627632" cy="882396"/>
          </a:xfrm>
          <a:prstGeom prst="flowChartProcess">
            <a:avLst/>
          </a:prstGeom>
          <a:solidFill>
            <a:srgbClr val="99C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Was the </a:t>
            </a:r>
            <a:r>
              <a:rPr lang="en-US" sz="1000" b="1" u="sng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Windows version</a:t>
            </a:r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released before October 1 2019?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7B107ABB-1856-E207-2AEF-1ED27A8D7BFE}"/>
              </a:ext>
            </a:extLst>
          </p:cNvPr>
          <p:cNvSpPr/>
          <p:nvPr/>
        </p:nvSpPr>
        <p:spPr>
          <a:xfrm>
            <a:off x="6510528" y="3374138"/>
            <a:ext cx="1627632" cy="882396"/>
          </a:xfrm>
          <a:prstGeom prst="flowChartProcess">
            <a:avLst/>
          </a:prstGeom>
          <a:solidFill>
            <a:srgbClr val="99C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Active </a:t>
            </a:r>
            <a:r>
              <a:rPr lang="en-US" sz="1000" b="1" u="sng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Software assurance </a:t>
            </a:r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on SQL License?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7D10236A-F637-C665-9CC4-528D2BFC2098}"/>
              </a:ext>
            </a:extLst>
          </p:cNvPr>
          <p:cNvSpPr/>
          <p:nvPr/>
        </p:nvSpPr>
        <p:spPr>
          <a:xfrm>
            <a:off x="6519672" y="5282186"/>
            <a:ext cx="1627632" cy="882396"/>
          </a:xfrm>
          <a:prstGeom prst="flowChartProcess">
            <a:avLst/>
          </a:prstGeom>
          <a:solidFill>
            <a:srgbClr val="99C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Was the </a:t>
            </a:r>
            <a:r>
              <a:rPr lang="en-US" sz="1000" b="1" u="sng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SQL</a:t>
            </a:r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version released before October 1 2019?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2A1F2FC5-9C20-85FC-27BC-11E0BD9A20EF}"/>
              </a:ext>
            </a:extLst>
          </p:cNvPr>
          <p:cNvSpPr/>
          <p:nvPr/>
        </p:nvSpPr>
        <p:spPr>
          <a:xfrm>
            <a:off x="9643110" y="2684527"/>
            <a:ext cx="1854708" cy="762762"/>
          </a:xfrm>
          <a:prstGeom prst="flowChartTerminator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You </a:t>
            </a:r>
            <a:r>
              <a:rPr lang="en-US" sz="1000" b="1" u="sng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Can't</a:t>
            </a:r>
            <a:r>
              <a:rPr lang="en-US" sz="1000" b="1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0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use BYOL</a:t>
            </a:r>
            <a:endParaRPr lang="en-US" sz="10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FD05A7B1-6F15-B97F-C54D-BB2DCD77656A}"/>
              </a:ext>
            </a:extLst>
          </p:cNvPr>
          <p:cNvSpPr/>
          <p:nvPr/>
        </p:nvSpPr>
        <p:spPr>
          <a:xfrm>
            <a:off x="9628632" y="4002025"/>
            <a:ext cx="1854708" cy="762762"/>
          </a:xfrm>
          <a:prstGeom prst="flowChartTerminator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Poppins Light" panose="00000400000000000000" pitchFamily="2" charset="0"/>
                <a:cs typeface="Poppins Light" panose="00000400000000000000" pitchFamily="2" charset="0"/>
              </a:rPr>
              <a:t>You </a:t>
            </a:r>
            <a:r>
              <a:rPr lang="en-US" sz="1000" b="1" u="sng">
                <a:latin typeface="Poppins Light" panose="00000400000000000000" pitchFamily="2" charset="0"/>
                <a:cs typeface="Poppins Light" panose="00000400000000000000" pitchFamily="2" charset="0"/>
              </a:rPr>
              <a:t>can</a:t>
            </a:r>
            <a:r>
              <a:rPr lang="en-US" sz="1000">
                <a:latin typeface="Poppins Light" panose="00000400000000000000" pitchFamily="2" charset="0"/>
                <a:cs typeface="Poppins Light" panose="00000400000000000000" pitchFamily="2" charset="0"/>
              </a:rPr>
              <a:t> Bring SQL License to AWS</a:t>
            </a:r>
            <a:r>
              <a:rPr lang="en-US" sz="1000" baseline="0"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000" b="1" u="sng" baseline="0">
                <a:latin typeface="Poppins Light" panose="00000400000000000000" pitchFamily="2" charset="0"/>
                <a:cs typeface="Poppins Light" panose="00000400000000000000" pitchFamily="2" charset="0"/>
              </a:rPr>
              <a:t>Dedicated</a:t>
            </a:r>
            <a:r>
              <a:rPr lang="en-US" sz="1000" baseline="0">
                <a:latin typeface="Poppins Light" panose="00000400000000000000" pitchFamily="2" charset="0"/>
                <a:cs typeface="Poppins Light" panose="00000400000000000000" pitchFamily="2" charset="0"/>
              </a:rPr>
              <a:t> Host</a:t>
            </a:r>
            <a:endParaRPr lang="en-US" sz="10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D0499347-D022-C14F-79F7-933D391C85AB}"/>
              </a:ext>
            </a:extLst>
          </p:cNvPr>
          <p:cNvSpPr/>
          <p:nvPr/>
        </p:nvSpPr>
        <p:spPr>
          <a:xfrm>
            <a:off x="3800856" y="3997072"/>
            <a:ext cx="1627632" cy="882396"/>
          </a:xfrm>
          <a:prstGeom prst="flowChartProcess">
            <a:avLst/>
          </a:prstGeom>
          <a:solidFill>
            <a:srgbClr val="99C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Are all SQL licenses purchased prior </a:t>
            </a:r>
            <a:r>
              <a:rPr lang="en-US" sz="1000" b="1" u="sng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Ocober,1 2019</a:t>
            </a:r>
            <a:r>
              <a:rPr lang="en-US" sz="1000" b="1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 added as true-up under active enterprise enrolment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27D7EFD6-8577-98A5-9FB1-462A2F5317D4}"/>
              </a:ext>
            </a:extLst>
          </p:cNvPr>
          <p:cNvSpPr/>
          <p:nvPr/>
        </p:nvSpPr>
        <p:spPr>
          <a:xfrm>
            <a:off x="838962" y="2362201"/>
            <a:ext cx="1627632" cy="882396"/>
          </a:xfrm>
          <a:prstGeom prst="flowChartProcess">
            <a:avLst/>
          </a:prstGeom>
          <a:solidFill>
            <a:srgbClr val="99C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Active </a:t>
            </a:r>
            <a:r>
              <a:rPr lang="en-US" sz="1000" b="1" u="sng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Software assurance </a:t>
            </a:r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on SQL license?</a:t>
            </a:r>
            <a:endParaRPr lang="en-US" sz="1000" baseline="0">
              <a:solidFill>
                <a:schemeClr val="tx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F4B53CE8-0B8B-AFEA-CF60-E8B39884DAE6}"/>
              </a:ext>
            </a:extLst>
          </p:cNvPr>
          <p:cNvSpPr/>
          <p:nvPr/>
        </p:nvSpPr>
        <p:spPr>
          <a:xfrm>
            <a:off x="3687318" y="5340479"/>
            <a:ext cx="1854708" cy="762762"/>
          </a:xfrm>
          <a:prstGeom prst="flowChartTerminator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You </a:t>
            </a:r>
            <a:r>
              <a:rPr lang="en-US" sz="1000" b="1" u="sng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can't</a:t>
            </a:r>
            <a:r>
              <a:rPr lang="en-US" sz="10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Bring existing SQL</a:t>
            </a:r>
            <a:r>
              <a:rPr lang="en-US" sz="10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license to AWS</a:t>
            </a:r>
            <a:endParaRPr lang="en-US" sz="10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C30B7CBE-8751-919B-515B-4ED67B4E72B9}"/>
              </a:ext>
            </a:extLst>
          </p:cNvPr>
          <p:cNvSpPr/>
          <p:nvPr/>
        </p:nvSpPr>
        <p:spPr>
          <a:xfrm>
            <a:off x="725932" y="5322191"/>
            <a:ext cx="1854708" cy="762762"/>
          </a:xfrm>
          <a:prstGeom prst="flowChartTerminator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Poppins Light" panose="00000400000000000000" pitchFamily="2" charset="0"/>
                <a:cs typeface="Poppins Light" panose="00000400000000000000" pitchFamily="2" charset="0"/>
              </a:rPr>
              <a:t>You </a:t>
            </a:r>
            <a:r>
              <a:rPr lang="en-US" sz="1000" b="1">
                <a:latin typeface="Poppins Light" panose="00000400000000000000" pitchFamily="2" charset="0"/>
                <a:cs typeface="Poppins Light" panose="00000400000000000000" pitchFamily="2" charset="0"/>
              </a:rPr>
              <a:t>can</a:t>
            </a:r>
            <a:r>
              <a:rPr lang="en-US" sz="1000">
                <a:latin typeface="Poppins Light" panose="00000400000000000000" pitchFamily="2" charset="0"/>
                <a:cs typeface="Poppins Light" panose="00000400000000000000" pitchFamily="2" charset="0"/>
              </a:rPr>
              <a:t> bring your SQL license to AWS </a:t>
            </a:r>
            <a:r>
              <a:rPr lang="en-US" sz="1000" b="1" u="sng">
                <a:latin typeface="Poppins Light" panose="00000400000000000000" pitchFamily="2" charset="0"/>
                <a:cs typeface="Poppins Light" panose="00000400000000000000" pitchFamily="2" charset="0"/>
              </a:rPr>
              <a:t>SHARED</a:t>
            </a:r>
            <a:r>
              <a:rPr lang="en-US" sz="1000" baseline="0">
                <a:latin typeface="Poppins Light" panose="00000400000000000000" pitchFamily="2" charset="0"/>
                <a:cs typeface="Poppins Light" panose="00000400000000000000" pitchFamily="2" charset="0"/>
              </a:rPr>
              <a:t> tenancy, </a:t>
            </a:r>
            <a:r>
              <a:rPr lang="en-US" sz="1000" b="1" u="sng" baseline="0">
                <a:latin typeface="Poppins Light" panose="00000400000000000000" pitchFamily="2" charset="0"/>
                <a:cs typeface="Poppins Light" panose="00000400000000000000" pitchFamily="2" charset="0"/>
              </a:rPr>
              <a:t>DEDICATED</a:t>
            </a:r>
            <a:r>
              <a:rPr lang="en-US" sz="1000" baseline="0">
                <a:latin typeface="Poppins Light" panose="00000400000000000000" pitchFamily="2" charset="0"/>
                <a:cs typeface="Poppins Light" panose="00000400000000000000" pitchFamily="2" charset="0"/>
              </a:rPr>
              <a:t> Instance or </a:t>
            </a:r>
            <a:r>
              <a:rPr lang="en-US" sz="1000" b="1" u="sng" baseline="0">
                <a:latin typeface="Poppins Light" panose="00000400000000000000" pitchFamily="2" charset="0"/>
                <a:cs typeface="Poppins Light" panose="00000400000000000000" pitchFamily="2" charset="0"/>
              </a:rPr>
              <a:t>DEDICATED</a:t>
            </a:r>
            <a:r>
              <a:rPr lang="en-US" sz="1000" u="sng" baseline="0"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000" baseline="0">
                <a:latin typeface="Poppins Light" panose="00000400000000000000" pitchFamily="2" charset="0"/>
                <a:cs typeface="Poppins Light" panose="00000400000000000000" pitchFamily="2" charset="0"/>
              </a:rPr>
              <a:t>host.</a:t>
            </a:r>
            <a:endParaRPr lang="en-US" sz="10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9B2D3C4F-2DB9-9BFE-BF15-02C30385EF18}"/>
              </a:ext>
            </a:extLst>
          </p:cNvPr>
          <p:cNvSpPr/>
          <p:nvPr/>
        </p:nvSpPr>
        <p:spPr>
          <a:xfrm>
            <a:off x="3800856" y="1126236"/>
            <a:ext cx="1627632" cy="882396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Do</a:t>
            </a:r>
            <a:r>
              <a:rPr lang="en-US" sz="1000" baseline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you want to bring your license for </a:t>
            </a:r>
            <a:r>
              <a:rPr lang="en-US" sz="1000" b="1" u="sng" baseline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Windows server</a:t>
            </a:r>
            <a:r>
              <a:rPr lang="en-US" sz="1000" baseline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?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BEA5D49-B85A-3EC2-2D56-835643BFB6A0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>
          <a:xfrm>
            <a:off x="5428488" y="1567434"/>
            <a:ext cx="1082040" cy="2"/>
          </a:xfrm>
          <a:prstGeom prst="bentConnector3">
            <a:avLst>
              <a:gd name="adj1" fmla="val 50000"/>
            </a:avLst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5DAF4FC-9FC2-70AD-2FB4-4FD317A2172C}"/>
              </a:ext>
            </a:extLst>
          </p:cNvPr>
          <p:cNvCxnSpPr>
            <a:cxnSpLocks/>
            <a:stCxn id="18" idx="1"/>
            <a:endCxn id="15" idx="0"/>
          </p:cNvCxnSpPr>
          <p:nvPr/>
        </p:nvCxnSpPr>
        <p:spPr>
          <a:xfrm rot="10800000" flipV="1">
            <a:off x="1652778" y="1567433"/>
            <a:ext cx="2148078" cy="79476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7AA4A48-DC20-1874-B044-02B5935CC2C9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8138160" y="1567436"/>
            <a:ext cx="2432304" cy="1117091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278CE30-5002-1A80-A856-14356A9BB4B6}"/>
              </a:ext>
            </a:extLst>
          </p:cNvPr>
          <p:cNvCxnSpPr>
            <a:cxnSpLocks/>
            <a:stCxn id="8" idx="3"/>
            <a:endCxn id="13" idx="0"/>
          </p:cNvCxnSpPr>
          <p:nvPr/>
        </p:nvCxnSpPr>
        <p:spPr>
          <a:xfrm>
            <a:off x="8138160" y="3815336"/>
            <a:ext cx="2417826" cy="186689"/>
          </a:xfrm>
          <a:prstGeom prst="bentConnector2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CD586C1-D76E-529D-955B-D006FF7426C7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 flipV="1">
            <a:off x="8147304" y="4764787"/>
            <a:ext cx="2408682" cy="958597"/>
          </a:xfrm>
          <a:prstGeom prst="bentConnector2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4A0C20FD-B769-F07C-231C-9557246205D2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>
            <a:off x="2466594" y="2803399"/>
            <a:ext cx="1334262" cy="163487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83AED1BD-33DB-DDAF-9232-DB6FAB656204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rot="16200000" flipH="1">
            <a:off x="614235" y="4283140"/>
            <a:ext cx="2077594" cy="508"/>
          </a:xfrm>
          <a:prstGeom prst="bentConnector3">
            <a:avLst>
              <a:gd name="adj1" fmla="val 50000"/>
            </a:avLst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94829A6-4921-85E4-C8EF-8DBEA6569C16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4614672" y="4879468"/>
            <a:ext cx="0" cy="461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C06F5BF-1BCA-6FE9-06B5-4F7FFB52D0C2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 flipH="1" flipV="1">
            <a:off x="5542026" y="5721860"/>
            <a:ext cx="977646" cy="15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9FD336C-6696-2006-B754-3AF76CEADA3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324344" y="2008634"/>
            <a:ext cx="0" cy="43281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7E14F46B-243D-B7D7-AD8D-1AC7C9371494}"/>
              </a:ext>
            </a:extLst>
          </p:cNvPr>
          <p:cNvCxnSpPr>
            <a:cxnSpLocks/>
            <a:stCxn id="8" idx="1"/>
            <a:endCxn id="14" idx="0"/>
          </p:cNvCxnSpPr>
          <p:nvPr/>
        </p:nvCxnSpPr>
        <p:spPr>
          <a:xfrm rot="10800000" flipV="1">
            <a:off x="4614672" y="3815336"/>
            <a:ext cx="1895856" cy="18173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95830845-7EEE-C85C-0E44-5EFD656CE442}"/>
              </a:ext>
            </a:extLst>
          </p:cNvPr>
          <p:cNvCxnSpPr>
            <a:cxnSpLocks/>
            <a:stCxn id="14" idx="3"/>
            <a:endCxn id="9" idx="0"/>
          </p:cNvCxnSpPr>
          <p:nvPr/>
        </p:nvCxnSpPr>
        <p:spPr>
          <a:xfrm>
            <a:off x="5428488" y="4438270"/>
            <a:ext cx="1905000" cy="843916"/>
          </a:xfrm>
          <a:prstGeom prst="bentConnector2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9" name="Flowchart: Process 88">
            <a:extLst>
              <a:ext uri="{FF2B5EF4-FFF2-40B4-BE49-F238E27FC236}">
                <a16:creationId xmlns:a16="http://schemas.microsoft.com/office/drawing/2014/main" id="{685D9BE1-EE4E-CEBA-8B3D-7FDCF481C7FB}"/>
              </a:ext>
            </a:extLst>
          </p:cNvPr>
          <p:cNvSpPr/>
          <p:nvPr/>
        </p:nvSpPr>
        <p:spPr>
          <a:xfrm>
            <a:off x="5725286" y="1456942"/>
            <a:ext cx="272033" cy="219456"/>
          </a:xfrm>
          <a:prstGeom prst="flowChartProcess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Y</a:t>
            </a:r>
          </a:p>
        </p:txBody>
      </p: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422C5094-5429-D29A-E5C8-E7C9244AA8A5}"/>
              </a:ext>
            </a:extLst>
          </p:cNvPr>
          <p:cNvSpPr/>
          <p:nvPr/>
        </p:nvSpPr>
        <p:spPr>
          <a:xfrm>
            <a:off x="2578991" y="1456941"/>
            <a:ext cx="272033" cy="219457"/>
          </a:xfrm>
          <a:prstGeom prst="flowChartProcess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N</a:t>
            </a:r>
          </a:p>
        </p:txBody>
      </p:sp>
      <p:sp>
        <p:nvSpPr>
          <p:cNvPr id="91" name="Flowchart: Process 90">
            <a:extLst>
              <a:ext uri="{FF2B5EF4-FFF2-40B4-BE49-F238E27FC236}">
                <a16:creationId xmlns:a16="http://schemas.microsoft.com/office/drawing/2014/main" id="{02F64C6A-EE7B-B5C6-6B2E-6AB829F8DADF}"/>
              </a:ext>
            </a:extLst>
          </p:cNvPr>
          <p:cNvSpPr/>
          <p:nvPr/>
        </p:nvSpPr>
        <p:spPr>
          <a:xfrm>
            <a:off x="9160002" y="5593844"/>
            <a:ext cx="272033" cy="219456"/>
          </a:xfrm>
          <a:prstGeom prst="flowChartProcess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Y</a:t>
            </a:r>
          </a:p>
        </p:txBody>
      </p:sp>
      <p:sp>
        <p:nvSpPr>
          <p:cNvPr id="92" name="Flowchart: Process 91">
            <a:extLst>
              <a:ext uri="{FF2B5EF4-FFF2-40B4-BE49-F238E27FC236}">
                <a16:creationId xmlns:a16="http://schemas.microsoft.com/office/drawing/2014/main" id="{F1489BEB-42BF-C852-875C-1556B7EF8FC6}"/>
              </a:ext>
            </a:extLst>
          </p:cNvPr>
          <p:cNvSpPr/>
          <p:nvPr/>
        </p:nvSpPr>
        <p:spPr>
          <a:xfrm>
            <a:off x="9124950" y="3694749"/>
            <a:ext cx="272033" cy="219456"/>
          </a:xfrm>
          <a:prstGeom prst="flowChartProcess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Y</a:t>
            </a:r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07F1A02D-6AB0-8B87-515D-F076E9F378C3}"/>
              </a:ext>
            </a:extLst>
          </p:cNvPr>
          <p:cNvSpPr/>
          <p:nvPr/>
        </p:nvSpPr>
        <p:spPr>
          <a:xfrm>
            <a:off x="6106286" y="4308731"/>
            <a:ext cx="272033" cy="219456"/>
          </a:xfrm>
          <a:prstGeom prst="flowChartProcess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Y</a:t>
            </a:r>
          </a:p>
        </p:txBody>
      </p:sp>
      <p:sp>
        <p:nvSpPr>
          <p:cNvPr id="94" name="Flowchart: Process 93">
            <a:extLst>
              <a:ext uri="{FF2B5EF4-FFF2-40B4-BE49-F238E27FC236}">
                <a16:creationId xmlns:a16="http://schemas.microsoft.com/office/drawing/2014/main" id="{18991CC5-A24F-1069-4FC1-4706F50C9B9D}"/>
              </a:ext>
            </a:extLst>
          </p:cNvPr>
          <p:cNvSpPr/>
          <p:nvPr/>
        </p:nvSpPr>
        <p:spPr>
          <a:xfrm>
            <a:off x="1517143" y="4125088"/>
            <a:ext cx="272033" cy="219456"/>
          </a:xfrm>
          <a:prstGeom prst="flowChartProcess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Y</a:t>
            </a:r>
          </a:p>
        </p:txBody>
      </p:sp>
      <p:sp>
        <p:nvSpPr>
          <p:cNvPr id="95" name="Flowchart: Process 94">
            <a:extLst>
              <a:ext uri="{FF2B5EF4-FFF2-40B4-BE49-F238E27FC236}">
                <a16:creationId xmlns:a16="http://schemas.microsoft.com/office/drawing/2014/main" id="{669AEC42-3966-FEFF-3E7E-B9E49A6A1B01}"/>
              </a:ext>
            </a:extLst>
          </p:cNvPr>
          <p:cNvSpPr/>
          <p:nvPr/>
        </p:nvSpPr>
        <p:spPr>
          <a:xfrm>
            <a:off x="3013327" y="3451669"/>
            <a:ext cx="272033" cy="219457"/>
          </a:xfrm>
          <a:prstGeom prst="flowChartProcess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N</a:t>
            </a:r>
          </a:p>
        </p:txBody>
      </p:sp>
      <p:sp>
        <p:nvSpPr>
          <p:cNvPr id="96" name="Flowchart: Process 95">
            <a:extLst>
              <a:ext uri="{FF2B5EF4-FFF2-40B4-BE49-F238E27FC236}">
                <a16:creationId xmlns:a16="http://schemas.microsoft.com/office/drawing/2014/main" id="{08553853-A5A5-109A-CF19-DEDFDACBA457}"/>
              </a:ext>
            </a:extLst>
          </p:cNvPr>
          <p:cNvSpPr/>
          <p:nvPr/>
        </p:nvSpPr>
        <p:spPr>
          <a:xfrm>
            <a:off x="9086468" y="1430772"/>
            <a:ext cx="272033" cy="219457"/>
          </a:xfrm>
          <a:prstGeom prst="flowChartProcess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N</a:t>
            </a:r>
          </a:p>
        </p:txBody>
      </p:sp>
      <p:sp>
        <p:nvSpPr>
          <p:cNvPr id="97" name="Flowchart: Process 96">
            <a:extLst>
              <a:ext uri="{FF2B5EF4-FFF2-40B4-BE49-F238E27FC236}">
                <a16:creationId xmlns:a16="http://schemas.microsoft.com/office/drawing/2014/main" id="{33D0F1B5-D848-864D-1D9E-02C8CEC3FE77}"/>
              </a:ext>
            </a:extLst>
          </p:cNvPr>
          <p:cNvSpPr/>
          <p:nvPr/>
        </p:nvSpPr>
        <p:spPr>
          <a:xfrm>
            <a:off x="5502021" y="3676460"/>
            <a:ext cx="272033" cy="219457"/>
          </a:xfrm>
          <a:prstGeom prst="flowChartProcess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N</a:t>
            </a:r>
          </a:p>
        </p:txBody>
      </p:sp>
      <p:sp>
        <p:nvSpPr>
          <p:cNvPr id="98" name="Flowchart: Process 97">
            <a:extLst>
              <a:ext uri="{FF2B5EF4-FFF2-40B4-BE49-F238E27FC236}">
                <a16:creationId xmlns:a16="http://schemas.microsoft.com/office/drawing/2014/main" id="{C6325DC0-7306-07EF-0399-01B1D15868C8}"/>
              </a:ext>
            </a:extLst>
          </p:cNvPr>
          <p:cNvSpPr/>
          <p:nvPr/>
        </p:nvSpPr>
        <p:spPr>
          <a:xfrm>
            <a:off x="7186043" y="2065787"/>
            <a:ext cx="272033" cy="219456"/>
          </a:xfrm>
          <a:prstGeom prst="flowChartProcess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Y</a:t>
            </a:r>
          </a:p>
        </p:txBody>
      </p:sp>
      <p:sp>
        <p:nvSpPr>
          <p:cNvPr id="99" name="Flowchart: Process 98">
            <a:extLst>
              <a:ext uri="{FF2B5EF4-FFF2-40B4-BE49-F238E27FC236}">
                <a16:creationId xmlns:a16="http://schemas.microsoft.com/office/drawing/2014/main" id="{10CC4436-017D-2CF6-3E5E-F21D59708BC4}"/>
              </a:ext>
            </a:extLst>
          </p:cNvPr>
          <p:cNvSpPr/>
          <p:nvPr/>
        </p:nvSpPr>
        <p:spPr>
          <a:xfrm>
            <a:off x="5921884" y="5599943"/>
            <a:ext cx="272033" cy="219457"/>
          </a:xfrm>
          <a:prstGeom prst="flowChartProcess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N</a:t>
            </a:r>
          </a:p>
        </p:txBody>
      </p:sp>
      <p:sp>
        <p:nvSpPr>
          <p:cNvPr id="100" name="Flowchart: Process 99">
            <a:extLst>
              <a:ext uri="{FF2B5EF4-FFF2-40B4-BE49-F238E27FC236}">
                <a16:creationId xmlns:a16="http://schemas.microsoft.com/office/drawing/2014/main" id="{9EF861E0-61CC-794C-3444-0429E47437D4}"/>
              </a:ext>
            </a:extLst>
          </p:cNvPr>
          <p:cNvSpPr/>
          <p:nvPr/>
        </p:nvSpPr>
        <p:spPr>
          <a:xfrm>
            <a:off x="4485135" y="4963859"/>
            <a:ext cx="272033" cy="219457"/>
          </a:xfrm>
          <a:prstGeom prst="flowChartProcess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N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D426F6A1-3FCE-5240-0348-53B2C1ED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28827"/>
            <a:ext cx="11155680" cy="468171"/>
          </a:xfrm>
        </p:spPr>
        <p:txBody>
          <a:bodyPr>
            <a:noAutofit/>
          </a:bodyPr>
          <a:lstStyle/>
          <a:p>
            <a:r>
              <a:rPr lang="en-US" sz="3000" b="1">
                <a:latin typeface="Poppins Light" panose="00000400000000000000" pitchFamily="2" charset="0"/>
                <a:cs typeface="Poppins Light" panose="00000400000000000000" pitchFamily="2" charset="0"/>
              </a:rPr>
              <a:t>Windows and SQL BYOL eligibility</a:t>
            </a:r>
          </a:p>
        </p:txBody>
      </p:sp>
      <p:sp>
        <p:nvSpPr>
          <p:cNvPr id="105" name="Flowchart: Terminator 104">
            <a:extLst>
              <a:ext uri="{FF2B5EF4-FFF2-40B4-BE49-F238E27FC236}">
                <a16:creationId xmlns:a16="http://schemas.microsoft.com/office/drawing/2014/main" id="{41251C26-EC6D-DA76-CA76-99B4045559A2}"/>
              </a:ext>
            </a:extLst>
          </p:cNvPr>
          <p:cNvSpPr/>
          <p:nvPr/>
        </p:nvSpPr>
        <p:spPr>
          <a:xfrm>
            <a:off x="6394705" y="2435162"/>
            <a:ext cx="1854708" cy="762762"/>
          </a:xfrm>
          <a:prstGeom prst="flowChartTerminator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Poppins Light" panose="00000400000000000000" pitchFamily="2" charset="0"/>
                <a:cs typeface="Poppins Light" panose="00000400000000000000" pitchFamily="2" charset="0"/>
              </a:rPr>
              <a:t>You </a:t>
            </a:r>
            <a:r>
              <a:rPr lang="en-US" sz="1000" b="1">
                <a:latin typeface="Poppins Light" panose="00000400000000000000" pitchFamily="2" charset="0"/>
                <a:cs typeface="Poppins Light" panose="00000400000000000000" pitchFamily="2" charset="0"/>
              </a:rPr>
              <a:t>can</a:t>
            </a:r>
            <a:r>
              <a:rPr lang="en-US" sz="1000">
                <a:latin typeface="Poppins Light" panose="00000400000000000000" pitchFamily="2" charset="0"/>
                <a:cs typeface="Poppins Light" panose="00000400000000000000" pitchFamily="2" charset="0"/>
              </a:rPr>
              <a:t> Bring Windows License to AWS</a:t>
            </a:r>
            <a:r>
              <a:rPr lang="en-US" sz="1000" baseline="0"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000" b="1" u="sng" baseline="0">
                <a:latin typeface="Poppins Light" panose="00000400000000000000" pitchFamily="2" charset="0"/>
                <a:cs typeface="Poppins Light" panose="00000400000000000000" pitchFamily="2" charset="0"/>
              </a:rPr>
              <a:t>Dedicated</a:t>
            </a:r>
            <a:r>
              <a:rPr lang="en-US" sz="1000" baseline="0">
                <a:latin typeface="Poppins Light" panose="00000400000000000000" pitchFamily="2" charset="0"/>
                <a:cs typeface="Poppins Light" panose="00000400000000000000" pitchFamily="2" charset="0"/>
              </a:rPr>
              <a:t> Host</a:t>
            </a:r>
            <a:endParaRPr lang="en-US" sz="10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916A0FB-80D3-611B-7D13-C228867553DE}"/>
              </a:ext>
            </a:extLst>
          </p:cNvPr>
          <p:cNvCxnSpPr>
            <a:cxnSpLocks/>
            <a:stCxn id="105" idx="2"/>
            <a:endCxn id="8" idx="0"/>
          </p:cNvCxnSpPr>
          <p:nvPr/>
        </p:nvCxnSpPr>
        <p:spPr>
          <a:xfrm>
            <a:off x="7322059" y="3197924"/>
            <a:ext cx="2285" cy="17621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550485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7F0A-BAFE-4C11-CA80-FBB7389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64" y="0"/>
            <a:ext cx="10629900" cy="1487862"/>
          </a:xfrm>
        </p:spPr>
        <p:txBody>
          <a:bodyPr/>
          <a:lstStyle/>
          <a:p>
            <a:r>
              <a:rPr lang="en-US" sz="3600">
                <a:latin typeface="Poppins Light" panose="00000400000000000000" pitchFamily="2" charset="0"/>
                <a:cs typeface="Poppins Light" panose="00000400000000000000" pitchFamily="2" charset="0"/>
              </a:rPr>
              <a:t>Should I deploy to RDS or EC2 for SQL Server instances?  </a:t>
            </a:r>
            <a:b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800">
                <a:latin typeface="Poppins Light" panose="00000400000000000000" pitchFamily="2" charset="0"/>
                <a:cs typeface="Poppins Light" panose="00000400000000000000" pitchFamily="2" charset="0"/>
              </a:rPr>
              <a:t>Decision Tree &amp; Shared Responsibility model</a:t>
            </a:r>
            <a:endParaRPr lang="en-US" sz="16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2050" name="Picture 2" descr="How to choose a hosting option (Amazon RDS or Amazon EC2) for your SQL Server database">
            <a:extLst>
              <a:ext uri="{FF2B5EF4-FFF2-40B4-BE49-F238E27FC236}">
                <a16:creationId xmlns:a16="http://schemas.microsoft.com/office/drawing/2014/main" id="{02E8DE40-6691-9FC8-C539-A31045E45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5" y="2369127"/>
            <a:ext cx="5970062" cy="356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hared responsibility in the management of SQL Server features and operations">
            <a:extLst>
              <a:ext uri="{FF2B5EF4-FFF2-40B4-BE49-F238E27FC236}">
                <a16:creationId xmlns:a16="http://schemas.microsoft.com/office/drawing/2014/main" id="{23712461-14D3-575F-7AC3-E5F73A6AA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585" y="2369127"/>
            <a:ext cx="5176295" cy="339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68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Espaço Reservado para Conteúdo 2">
            <a:extLst>
              <a:ext uri="{FF2B5EF4-FFF2-40B4-BE49-F238E27FC236}">
                <a16:creationId xmlns:a16="http://schemas.microsoft.com/office/drawing/2014/main" id="{DE11DB1D-E8E4-0928-E5DD-7DC328B62004}"/>
              </a:ext>
            </a:extLst>
          </p:cNvPr>
          <p:cNvSpPr txBox="1">
            <a:spLocks/>
          </p:cNvSpPr>
          <p:nvPr/>
        </p:nvSpPr>
        <p:spPr>
          <a:xfrm>
            <a:off x="7195391" y="4051434"/>
            <a:ext cx="429392" cy="301066"/>
          </a:xfrm>
          <a:prstGeom prst="rect">
            <a:avLst/>
          </a:prstGeom>
        </p:spPr>
        <p:txBody>
          <a:bodyPr vert="horz" lIns="45720" tIns="22860" rIns="45720" bIns="22860" rtlCol="0">
            <a:noAutofit/>
          </a:bodyPr>
          <a:lstStyle>
            <a:lvl1pPr marL="455613" indent="-455613" algn="l" defTabSz="1827213" rtl="0" eaLnBrk="1" fontAlgn="base" hangingPunct="1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5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70013" indent="-455613" algn="l" defTabSz="1827213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2284413" indent="-455613" algn="l" defTabSz="1827213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3198813" indent="-455613" algn="l" defTabSz="1827213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4113213" indent="-455613" algn="l" defTabSz="1827213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8300">
              <a:solidFill>
                <a:srgbClr val="0077D4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32" name="Espaço Reservado para Conteúdo 2">
            <a:extLst>
              <a:ext uri="{FF2B5EF4-FFF2-40B4-BE49-F238E27FC236}">
                <a16:creationId xmlns:a16="http://schemas.microsoft.com/office/drawing/2014/main" id="{10F0BB7E-62E6-2ADA-006B-0CC91F0EDCC5}"/>
              </a:ext>
            </a:extLst>
          </p:cNvPr>
          <p:cNvSpPr txBox="1">
            <a:spLocks/>
          </p:cNvSpPr>
          <p:nvPr/>
        </p:nvSpPr>
        <p:spPr>
          <a:xfrm rot="10800000">
            <a:off x="9732747" y="5477469"/>
            <a:ext cx="429392" cy="301066"/>
          </a:xfrm>
          <a:prstGeom prst="rect">
            <a:avLst/>
          </a:prstGeom>
        </p:spPr>
        <p:txBody>
          <a:bodyPr vert="horz" lIns="45720" tIns="22860" rIns="45720" bIns="22860" rtlCol="0">
            <a:noAutofit/>
          </a:bodyPr>
          <a:lstStyle>
            <a:lvl1pPr marL="455613" indent="-455613" algn="l" defTabSz="1827213" rtl="0" eaLnBrk="1" fontAlgn="base" hangingPunct="1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5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70013" indent="-455613" algn="l" defTabSz="1827213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2284413" indent="-455613" algn="l" defTabSz="1827213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3198813" indent="-455613" algn="l" defTabSz="1827213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4113213" indent="-455613" algn="l" defTabSz="1827213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8300">
              <a:solidFill>
                <a:srgbClr val="0077D4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2600D309-011E-7EC1-C55B-3B76840D87A9}"/>
              </a:ext>
            </a:extLst>
          </p:cNvPr>
          <p:cNvSpPr txBox="1">
            <a:spLocks/>
          </p:cNvSpPr>
          <p:nvPr/>
        </p:nvSpPr>
        <p:spPr bwMode="auto">
          <a:xfrm>
            <a:off x="630239" y="690516"/>
            <a:ext cx="11256962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ctr" anchorCtr="0" compatLnSpc="1">
            <a:prstTxWarp prst="textNoShape">
              <a:avLst/>
            </a:prstTxWarp>
          </a:bodyPr>
          <a:lstStyle>
            <a:lvl1pPr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18272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000">
                <a:latin typeface="Poppins Light" panose="00000400000000000000" pitchFamily="2" charset="0"/>
                <a:cs typeface="Poppins Light" panose="00000400000000000000" pitchFamily="2" charset="0"/>
              </a:rPr>
              <a:t>Why Ingram Micro as your Migration Expert?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91D1BEF-7F4D-894C-B63B-D17493BC16EC}"/>
              </a:ext>
            </a:extLst>
          </p:cNvPr>
          <p:cNvGrpSpPr/>
          <p:nvPr/>
        </p:nvGrpSpPr>
        <p:grpSpPr>
          <a:xfrm>
            <a:off x="6916067" y="2544651"/>
            <a:ext cx="4371971" cy="2051573"/>
            <a:chOff x="6984607" y="1415640"/>
            <a:chExt cx="4371971" cy="205157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9DC392D-4E40-DB18-0556-4C726969DA53}"/>
                </a:ext>
              </a:extLst>
            </p:cNvPr>
            <p:cNvGrpSpPr/>
            <p:nvPr/>
          </p:nvGrpSpPr>
          <p:grpSpPr>
            <a:xfrm>
              <a:off x="6984607" y="1415640"/>
              <a:ext cx="4371971" cy="2051573"/>
              <a:chOff x="14726353" y="2331760"/>
              <a:chExt cx="8743936" cy="4103145"/>
            </a:xfrm>
          </p:grpSpPr>
          <p:pic>
            <p:nvPicPr>
              <p:cNvPr id="2" name="Picture 6" descr="Amazon Web Services - Wikipedia">
                <a:extLst>
                  <a:ext uri="{FF2B5EF4-FFF2-40B4-BE49-F238E27FC236}">
                    <a16:creationId xmlns:a16="http://schemas.microsoft.com/office/drawing/2014/main" id="{CEE782CC-4A2F-1F21-3B73-C2F5F10532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51694" y="2331760"/>
                <a:ext cx="2080387" cy="12510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0E29BD-B4F3-641B-2828-7A352D1771B5}"/>
                  </a:ext>
                </a:extLst>
              </p:cNvPr>
              <p:cNvSpPr txBox="1"/>
              <p:nvPr/>
            </p:nvSpPr>
            <p:spPr>
              <a:xfrm>
                <a:off x="17804253" y="3653384"/>
                <a:ext cx="2547020" cy="800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>
                    <a:solidFill>
                      <a:schemeClr val="accent3">
                        <a:lumMod val="75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Partners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683CF7-EEB2-E598-905D-874F85BFD231}"/>
                  </a:ext>
                </a:extLst>
              </p:cNvPr>
              <p:cNvSpPr txBox="1"/>
              <p:nvPr/>
            </p:nvSpPr>
            <p:spPr>
              <a:xfrm>
                <a:off x="14726353" y="3667692"/>
                <a:ext cx="3077902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200">
                    <a:solidFill>
                      <a:srgbClr val="FFC000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Enablers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53CDAF-6A01-5761-FF9B-0F11AB8F5D88}"/>
                  </a:ext>
                </a:extLst>
              </p:cNvPr>
              <p:cNvSpPr txBox="1"/>
              <p:nvPr/>
            </p:nvSpPr>
            <p:spPr>
              <a:xfrm>
                <a:off x="15282723" y="5452309"/>
                <a:ext cx="254702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200" b="1">
                    <a:solidFill>
                      <a:schemeClr val="accent6">
                        <a:lumMod val="75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Premier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44A95C-18A8-54D4-9F65-F6F2F7396EB0}"/>
                  </a:ext>
                </a:extLst>
              </p:cNvPr>
              <p:cNvSpPr txBox="1"/>
              <p:nvPr/>
            </p:nvSpPr>
            <p:spPr>
              <a:xfrm>
                <a:off x="17541353" y="5634685"/>
                <a:ext cx="2547020" cy="800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>
                    <a:solidFill>
                      <a:schemeClr val="accent1">
                        <a:lumMod val="50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Certified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161098-B5D9-F9DF-B9EC-3147D151EEAE}"/>
                  </a:ext>
                </a:extLst>
              </p:cNvPr>
              <p:cNvSpPr txBox="1"/>
              <p:nvPr/>
            </p:nvSpPr>
            <p:spPr>
              <a:xfrm>
                <a:off x="18144109" y="3081078"/>
                <a:ext cx="4977413" cy="1292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>
                    <a:solidFill>
                      <a:schemeClr val="bg2">
                        <a:lumMod val="50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Professional Services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08DB13-8EEC-41A4-63D3-1D23C0A9B986}"/>
                  </a:ext>
                </a:extLst>
              </p:cNvPr>
              <p:cNvSpPr txBox="1"/>
              <p:nvPr/>
            </p:nvSpPr>
            <p:spPr>
              <a:xfrm>
                <a:off x="18013411" y="2349884"/>
                <a:ext cx="254702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200" b="1">
                    <a:solidFill>
                      <a:schemeClr val="accent2">
                        <a:lumMod val="50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Experts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5CCB42-BB4F-6771-FA1F-DFDA6DFCA15C}"/>
                  </a:ext>
                </a:extLst>
              </p:cNvPr>
              <p:cNvSpPr txBox="1"/>
              <p:nvPr/>
            </p:nvSpPr>
            <p:spPr>
              <a:xfrm>
                <a:off x="20015895" y="5265353"/>
                <a:ext cx="3454394" cy="1169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>
                    <a:solidFill>
                      <a:srgbClr val="EBC519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Managed Services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A216F8-5CAD-6AC7-75A3-87D3E6F28656}"/>
                  </a:ext>
                </a:extLst>
              </p:cNvPr>
              <p:cNvSpPr txBox="1"/>
              <p:nvPr/>
            </p:nvSpPr>
            <p:spPr>
              <a:xfrm>
                <a:off x="20461311" y="4241410"/>
                <a:ext cx="254702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20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Global</a:t>
                </a:r>
              </a:p>
            </p:txBody>
          </p:sp>
        </p:grpSp>
        <p:pic>
          <p:nvPicPr>
            <p:cNvPr id="19" name="Graphic 4">
              <a:extLst>
                <a:ext uri="{FF2B5EF4-FFF2-40B4-BE49-F238E27FC236}">
                  <a16:creationId xmlns:a16="http://schemas.microsoft.com/office/drawing/2014/main" id="{9475E3AE-C677-6286-6ECD-8C1FB73ED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23609" y="2547234"/>
              <a:ext cx="2199887" cy="397435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156C952-02A9-DBE3-3BB6-FBDD21374445}"/>
              </a:ext>
            </a:extLst>
          </p:cNvPr>
          <p:cNvGrpSpPr/>
          <p:nvPr/>
        </p:nvGrpSpPr>
        <p:grpSpPr>
          <a:xfrm>
            <a:off x="739377" y="1348882"/>
            <a:ext cx="5756307" cy="4837965"/>
            <a:chOff x="739377" y="1348882"/>
            <a:chExt cx="5756307" cy="4837965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A6E88212-B143-6D89-9432-74971981FB4D}"/>
                </a:ext>
              </a:extLst>
            </p:cNvPr>
            <p:cNvGrpSpPr/>
            <p:nvPr/>
          </p:nvGrpSpPr>
          <p:grpSpPr>
            <a:xfrm>
              <a:off x="739377" y="1348882"/>
              <a:ext cx="5756307" cy="4837965"/>
              <a:chOff x="5744254" y="2086006"/>
              <a:chExt cx="12765599" cy="11026239"/>
            </a:xfrm>
          </p:grpSpPr>
          <p:pic>
            <p:nvPicPr>
              <p:cNvPr id="51" name="Picture 50" descr="A picture containing text, font, white, logo&#10;&#10;Description automatically generated">
                <a:extLst>
                  <a:ext uri="{FF2B5EF4-FFF2-40B4-BE49-F238E27FC236}">
                    <a16:creationId xmlns:a16="http://schemas.microsoft.com/office/drawing/2014/main" id="{D2C4AD7D-2A80-7082-BB69-5CB91AD6F9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4254" y="2086006"/>
                <a:ext cx="2080387" cy="2080387"/>
              </a:xfrm>
              <a:prstGeom prst="rect">
                <a:avLst/>
              </a:prstGeom>
            </p:spPr>
          </p:pic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C677713-7C20-2D75-D302-7DB32325CBB0}"/>
                  </a:ext>
                </a:extLst>
              </p:cNvPr>
              <p:cNvGrpSpPr/>
              <p:nvPr/>
            </p:nvGrpSpPr>
            <p:grpSpPr>
              <a:xfrm>
                <a:off x="6597349" y="4620856"/>
                <a:ext cx="9496197" cy="8086600"/>
                <a:chOff x="3188778" y="4389309"/>
                <a:chExt cx="9496197" cy="8086600"/>
              </a:xfrm>
            </p:grpSpPr>
            <p:pic>
              <p:nvPicPr>
                <p:cNvPr id="25" name="Picture 24" descr="A picture containing text, font, white, screenshot&#10;&#10;Description automatically generated">
                  <a:extLst>
                    <a:ext uri="{FF2B5EF4-FFF2-40B4-BE49-F238E27FC236}">
                      <a16:creationId xmlns:a16="http://schemas.microsoft.com/office/drawing/2014/main" id="{9FB01E18-29CF-0EAA-1295-3B28040F76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04398" y="6323064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29" name="Picture 28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96D323CD-2674-05DB-2EA0-6A96FB7D0C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04588" y="10395522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31" name="Picture 30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FC368001-DD3D-1B6B-3EEB-D59BF52431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958053" y="8363345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33" name="Picture 32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0477E01A-AE95-01B7-AA57-96A9B19C4E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69387" y="9761331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35" name="Picture 34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E7C6916F-890E-7296-1165-D7C5527B2A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62572" y="5680768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37" name="Picture 36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04E1D9E0-A130-A6D8-69E2-BF59BA1B62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34186" y="9119036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39" name="Picture 38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5F593E34-5956-B801-66D5-C0F7DA7BDD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71487" y="7077577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41" name="Picture 40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FC5010CB-E855-FB3A-B642-CF5CBEF5AE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08561" y="5038531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43" name="Picture 42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1E3F1142-B61B-006B-C761-612A8AC33B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14242" y="7721050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45" name="Picture 44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70CEAC80-AB85-AA3C-ACA4-BAEFA3B407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98985" y="8490454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47" name="Picture 46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64A9F758-AC91-30A0-6427-14CD869486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37749" y="6442201"/>
                  <a:ext cx="2080387" cy="2080387"/>
                </a:xfrm>
                <a:prstGeom prst="rect">
                  <a:avLst/>
                </a:prstGeom>
              </p:spPr>
            </p:pic>
            <p:pic>
              <p:nvPicPr>
                <p:cNvPr id="49" name="Picture 48" descr="A picture containing text, font, white, logo&#10;&#10;Description automatically generated">
                  <a:extLst>
                    <a:ext uri="{FF2B5EF4-FFF2-40B4-BE49-F238E27FC236}">
                      <a16:creationId xmlns:a16="http://schemas.microsoft.com/office/drawing/2014/main" id="{71602893-EB1C-EA95-5138-26573758A1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88778" y="4389309"/>
                  <a:ext cx="2080387" cy="2080387"/>
                </a:xfrm>
                <a:prstGeom prst="rect">
                  <a:avLst/>
                </a:prstGeom>
              </p:spPr>
            </p:pic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CF7E9C46-982D-3BB7-1D45-46A58CD4A462}"/>
                  </a:ext>
                </a:extLst>
              </p:cNvPr>
              <p:cNvGrpSpPr/>
              <p:nvPr/>
            </p:nvGrpSpPr>
            <p:grpSpPr>
              <a:xfrm>
                <a:off x="8164667" y="2764192"/>
                <a:ext cx="2080388" cy="2087722"/>
                <a:chOff x="14966619" y="3402902"/>
                <a:chExt cx="2080388" cy="2087722"/>
              </a:xfrm>
            </p:grpSpPr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C7D90ADF-9084-1419-EB6B-576AB9BC5431}"/>
                    </a:ext>
                  </a:extLst>
                </p:cNvPr>
                <p:cNvGrpSpPr/>
                <p:nvPr/>
              </p:nvGrpSpPr>
              <p:grpSpPr>
                <a:xfrm>
                  <a:off x="14966619" y="3402902"/>
                  <a:ext cx="2080388" cy="2085696"/>
                  <a:chOff x="14966619" y="3402902"/>
                  <a:chExt cx="2080388" cy="2085696"/>
                </a:xfrm>
              </p:grpSpPr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C6964B86-C287-B6C5-C2B4-D9C79FAE35C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4966619" y="3402902"/>
                    <a:ext cx="2080388" cy="2085696"/>
                  </a:xfrm>
                  <a:custGeom>
                    <a:avLst/>
                    <a:gdLst>
                      <a:gd name="connsiteX0" fmla="*/ 2080388 w 2080388"/>
                      <a:gd name="connsiteY0" fmla="*/ 2085696 h 2085696"/>
                      <a:gd name="connsiteX1" fmla="*/ 680754 w 2080388"/>
                      <a:gd name="connsiteY1" fmla="*/ 2085696 h 2085696"/>
                      <a:gd name="connsiteX2" fmla="*/ 0 w 2080388"/>
                      <a:gd name="connsiteY2" fmla="*/ 1404941 h 2085696"/>
                      <a:gd name="connsiteX3" fmla="*/ 0 w 2080388"/>
                      <a:gd name="connsiteY3" fmla="*/ 1361509 h 2085696"/>
                      <a:gd name="connsiteX4" fmla="*/ 0 w 2080388"/>
                      <a:gd name="connsiteY4" fmla="*/ 724187 h 2085696"/>
                      <a:gd name="connsiteX5" fmla="*/ 0 w 2080388"/>
                      <a:gd name="connsiteY5" fmla="*/ 0 h 2085696"/>
                      <a:gd name="connsiteX6" fmla="*/ 1399632 w 2080388"/>
                      <a:gd name="connsiteY6" fmla="*/ 0 h 2085696"/>
                      <a:gd name="connsiteX7" fmla="*/ 2080388 w 2080388"/>
                      <a:gd name="connsiteY7" fmla="*/ 680755 h 2085696"/>
                      <a:gd name="connsiteX8" fmla="*/ 2080388 w 2080388"/>
                      <a:gd name="connsiteY8" fmla="*/ 724187 h 2085696"/>
                      <a:gd name="connsiteX9" fmla="*/ 2080388 w 2080388"/>
                      <a:gd name="connsiteY9" fmla="*/ 1361509 h 2085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080388" h="2085696">
                        <a:moveTo>
                          <a:pt x="2080388" y="2085696"/>
                        </a:moveTo>
                        <a:lnTo>
                          <a:pt x="680754" y="2085696"/>
                        </a:lnTo>
                        <a:lnTo>
                          <a:pt x="0" y="1404941"/>
                        </a:lnTo>
                        <a:lnTo>
                          <a:pt x="0" y="1361509"/>
                        </a:lnTo>
                        <a:lnTo>
                          <a:pt x="0" y="724187"/>
                        </a:lnTo>
                        <a:lnTo>
                          <a:pt x="0" y="0"/>
                        </a:lnTo>
                        <a:lnTo>
                          <a:pt x="1399632" y="0"/>
                        </a:lnTo>
                        <a:lnTo>
                          <a:pt x="2080388" y="680755"/>
                        </a:lnTo>
                        <a:lnTo>
                          <a:pt x="2080388" y="724187"/>
                        </a:lnTo>
                        <a:lnTo>
                          <a:pt x="2080388" y="1361509"/>
                        </a:lnTo>
                        <a:close/>
                      </a:path>
                    </a:pathLst>
                  </a:custGeom>
                  <a:solidFill>
                    <a:srgbClr val="0077D4"/>
                  </a:solidFill>
                  <a:ln w="28575">
                    <a:solidFill>
                      <a:srgbClr val="0077D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54EDD35E-584B-E5F9-2925-4A833586C259}"/>
                      </a:ext>
                    </a:extLst>
                  </p:cNvPr>
                  <p:cNvSpPr/>
                  <p:nvPr/>
                </p:nvSpPr>
                <p:spPr>
                  <a:xfrm>
                    <a:off x="15144783" y="3603822"/>
                    <a:ext cx="1200117" cy="193477"/>
                  </a:xfrm>
                  <a:custGeom>
                    <a:avLst/>
                    <a:gdLst>
                      <a:gd name="connsiteX0" fmla="*/ 1219632 w 1256394"/>
                      <a:gd name="connsiteY0" fmla="*/ 18021 h 202550"/>
                      <a:gd name="connsiteX1" fmla="*/ 1233328 w 1256394"/>
                      <a:gd name="connsiteY1" fmla="*/ 10091 h 202550"/>
                      <a:gd name="connsiteX2" fmla="*/ 1247024 w 1256394"/>
                      <a:gd name="connsiteY2" fmla="*/ 18021 h 202550"/>
                      <a:gd name="connsiteX3" fmla="*/ 1233328 w 1256394"/>
                      <a:gd name="connsiteY3" fmla="*/ 25950 h 202550"/>
                      <a:gd name="connsiteX4" fmla="*/ 1219632 w 1256394"/>
                      <a:gd name="connsiteY4" fmla="*/ 18021 h 202550"/>
                      <a:gd name="connsiteX5" fmla="*/ 1219632 w 1256394"/>
                      <a:gd name="connsiteY5" fmla="*/ 18021 h 202550"/>
                      <a:gd name="connsiteX6" fmla="*/ 1255673 w 1256394"/>
                      <a:gd name="connsiteY6" fmla="*/ 18021 h 202550"/>
                      <a:gd name="connsiteX7" fmla="*/ 1233328 w 1256394"/>
                      <a:gd name="connsiteY7" fmla="*/ 0 h 202550"/>
                      <a:gd name="connsiteX8" fmla="*/ 1211703 w 1256394"/>
                      <a:gd name="connsiteY8" fmla="*/ 18021 h 202550"/>
                      <a:gd name="connsiteX9" fmla="*/ 1233328 w 1256394"/>
                      <a:gd name="connsiteY9" fmla="*/ 36041 h 202550"/>
                      <a:gd name="connsiteX10" fmla="*/ 1255673 w 1256394"/>
                      <a:gd name="connsiteY10" fmla="*/ 18021 h 202550"/>
                      <a:gd name="connsiteX11" fmla="*/ 1255673 w 1256394"/>
                      <a:gd name="connsiteY11" fmla="*/ 18021 h 202550"/>
                      <a:gd name="connsiteX12" fmla="*/ 1219632 w 1256394"/>
                      <a:gd name="connsiteY12" fmla="*/ 68478 h 202550"/>
                      <a:gd name="connsiteX13" fmla="*/ 1219632 w 1256394"/>
                      <a:gd name="connsiteY13" fmla="*/ 60549 h 202550"/>
                      <a:gd name="connsiteX14" fmla="*/ 1224678 w 1256394"/>
                      <a:gd name="connsiteY14" fmla="*/ 54062 h 202550"/>
                      <a:gd name="connsiteX15" fmla="*/ 1230445 w 1256394"/>
                      <a:gd name="connsiteY15" fmla="*/ 60549 h 202550"/>
                      <a:gd name="connsiteX16" fmla="*/ 1230445 w 1256394"/>
                      <a:gd name="connsiteY16" fmla="*/ 68478 h 202550"/>
                      <a:gd name="connsiteX17" fmla="*/ 1219632 w 1256394"/>
                      <a:gd name="connsiteY17" fmla="*/ 68478 h 202550"/>
                      <a:gd name="connsiteX18" fmla="*/ 1219632 w 1256394"/>
                      <a:gd name="connsiteY18" fmla="*/ 68478 h 202550"/>
                      <a:gd name="connsiteX19" fmla="*/ 1237653 w 1256394"/>
                      <a:gd name="connsiteY19" fmla="*/ 68478 h 202550"/>
                      <a:gd name="connsiteX20" fmla="*/ 1237653 w 1256394"/>
                      <a:gd name="connsiteY20" fmla="*/ 61270 h 202550"/>
                      <a:gd name="connsiteX21" fmla="*/ 1254232 w 1256394"/>
                      <a:gd name="connsiteY21" fmla="*/ 54782 h 202550"/>
                      <a:gd name="connsiteX22" fmla="*/ 1254232 w 1256394"/>
                      <a:gd name="connsiteY22" fmla="*/ 43970 h 202550"/>
                      <a:gd name="connsiteX23" fmla="*/ 1235490 w 1256394"/>
                      <a:gd name="connsiteY23" fmla="*/ 51899 h 202550"/>
                      <a:gd name="connsiteX24" fmla="*/ 1224678 w 1256394"/>
                      <a:gd name="connsiteY24" fmla="*/ 44691 h 202550"/>
                      <a:gd name="connsiteX25" fmla="*/ 1211703 w 1256394"/>
                      <a:gd name="connsiteY25" fmla="*/ 59828 h 202550"/>
                      <a:gd name="connsiteX26" fmla="*/ 1211703 w 1256394"/>
                      <a:gd name="connsiteY26" fmla="*/ 78569 h 202550"/>
                      <a:gd name="connsiteX27" fmla="*/ 1254232 w 1256394"/>
                      <a:gd name="connsiteY27" fmla="*/ 78569 h 202550"/>
                      <a:gd name="connsiteX28" fmla="*/ 1254232 w 1256394"/>
                      <a:gd name="connsiteY28" fmla="*/ 68478 h 202550"/>
                      <a:gd name="connsiteX29" fmla="*/ 1237653 w 1256394"/>
                      <a:gd name="connsiteY29" fmla="*/ 68478 h 202550"/>
                      <a:gd name="connsiteX30" fmla="*/ 1237653 w 1256394"/>
                      <a:gd name="connsiteY30" fmla="*/ 68478 h 202550"/>
                      <a:gd name="connsiteX31" fmla="*/ 1228282 w 1256394"/>
                      <a:gd name="connsiteY31" fmla="*/ 87940 h 202550"/>
                      <a:gd name="connsiteX32" fmla="*/ 1211703 w 1256394"/>
                      <a:gd name="connsiteY32" fmla="*/ 105240 h 202550"/>
                      <a:gd name="connsiteX33" fmla="*/ 1234049 w 1256394"/>
                      <a:gd name="connsiteY33" fmla="*/ 124702 h 202550"/>
                      <a:gd name="connsiteX34" fmla="*/ 1256394 w 1256394"/>
                      <a:gd name="connsiteY34" fmla="*/ 105961 h 202550"/>
                      <a:gd name="connsiteX35" fmla="*/ 1240536 w 1256394"/>
                      <a:gd name="connsiteY35" fmla="*/ 88661 h 202550"/>
                      <a:gd name="connsiteX36" fmla="*/ 1239815 w 1256394"/>
                      <a:gd name="connsiteY36" fmla="*/ 98032 h 202550"/>
                      <a:gd name="connsiteX37" fmla="*/ 1247744 w 1256394"/>
                      <a:gd name="connsiteY37" fmla="*/ 105240 h 202550"/>
                      <a:gd name="connsiteX38" fmla="*/ 1234049 w 1256394"/>
                      <a:gd name="connsiteY38" fmla="*/ 113169 h 202550"/>
                      <a:gd name="connsiteX39" fmla="*/ 1219632 w 1256394"/>
                      <a:gd name="connsiteY39" fmla="*/ 105240 h 202550"/>
                      <a:gd name="connsiteX40" fmla="*/ 1229003 w 1256394"/>
                      <a:gd name="connsiteY40" fmla="*/ 98032 h 202550"/>
                      <a:gd name="connsiteX41" fmla="*/ 1228282 w 1256394"/>
                      <a:gd name="connsiteY41" fmla="*/ 87940 h 202550"/>
                      <a:gd name="connsiteX42" fmla="*/ 1228282 w 1256394"/>
                      <a:gd name="connsiteY42" fmla="*/ 87940 h 202550"/>
                      <a:gd name="connsiteX43" fmla="*/ 1254952 w 1256394"/>
                      <a:gd name="connsiteY43" fmla="*/ 134073 h 202550"/>
                      <a:gd name="connsiteX44" fmla="*/ 1212424 w 1256394"/>
                      <a:gd name="connsiteY44" fmla="*/ 134073 h 202550"/>
                      <a:gd name="connsiteX45" fmla="*/ 1212424 w 1256394"/>
                      <a:gd name="connsiteY45" fmla="*/ 144164 h 202550"/>
                      <a:gd name="connsiteX46" fmla="*/ 1254952 w 1256394"/>
                      <a:gd name="connsiteY46" fmla="*/ 144164 h 202550"/>
                      <a:gd name="connsiteX47" fmla="*/ 1254952 w 1256394"/>
                      <a:gd name="connsiteY47" fmla="*/ 134073 h 202550"/>
                      <a:gd name="connsiteX48" fmla="*/ 1254952 w 1256394"/>
                      <a:gd name="connsiteY48" fmla="*/ 134073 h 202550"/>
                      <a:gd name="connsiteX49" fmla="*/ 1254952 w 1256394"/>
                      <a:gd name="connsiteY49" fmla="*/ 176601 h 202550"/>
                      <a:gd name="connsiteX50" fmla="*/ 1254952 w 1256394"/>
                      <a:gd name="connsiteY50" fmla="*/ 183809 h 202550"/>
                      <a:gd name="connsiteX51" fmla="*/ 1220353 w 1256394"/>
                      <a:gd name="connsiteY51" fmla="*/ 193901 h 202550"/>
                      <a:gd name="connsiteX52" fmla="*/ 1220353 w 1256394"/>
                      <a:gd name="connsiteY52" fmla="*/ 193901 h 202550"/>
                      <a:gd name="connsiteX53" fmla="*/ 1254952 w 1256394"/>
                      <a:gd name="connsiteY53" fmla="*/ 193901 h 202550"/>
                      <a:gd name="connsiteX54" fmla="*/ 1254952 w 1256394"/>
                      <a:gd name="connsiteY54" fmla="*/ 202551 h 202550"/>
                      <a:gd name="connsiteX55" fmla="*/ 1212424 w 1256394"/>
                      <a:gd name="connsiteY55" fmla="*/ 202551 h 202550"/>
                      <a:gd name="connsiteX56" fmla="*/ 1212424 w 1256394"/>
                      <a:gd name="connsiteY56" fmla="*/ 186693 h 202550"/>
                      <a:gd name="connsiteX57" fmla="*/ 1238374 w 1256394"/>
                      <a:gd name="connsiteY57" fmla="*/ 179484 h 202550"/>
                      <a:gd name="connsiteX58" fmla="*/ 1212424 w 1256394"/>
                      <a:gd name="connsiteY58" fmla="*/ 171556 h 202550"/>
                      <a:gd name="connsiteX59" fmla="*/ 1212424 w 1256394"/>
                      <a:gd name="connsiteY59" fmla="*/ 155697 h 202550"/>
                      <a:gd name="connsiteX60" fmla="*/ 1254952 w 1256394"/>
                      <a:gd name="connsiteY60" fmla="*/ 155697 h 202550"/>
                      <a:gd name="connsiteX61" fmla="*/ 1254952 w 1256394"/>
                      <a:gd name="connsiteY61" fmla="*/ 165789 h 202550"/>
                      <a:gd name="connsiteX62" fmla="*/ 1220353 w 1256394"/>
                      <a:gd name="connsiteY62" fmla="*/ 165789 h 202550"/>
                      <a:gd name="connsiteX63" fmla="*/ 1220353 w 1256394"/>
                      <a:gd name="connsiteY63" fmla="*/ 165789 h 202550"/>
                      <a:gd name="connsiteX64" fmla="*/ 1254952 w 1256394"/>
                      <a:gd name="connsiteY64" fmla="*/ 176601 h 202550"/>
                      <a:gd name="connsiteX65" fmla="*/ 1254952 w 1256394"/>
                      <a:gd name="connsiteY65" fmla="*/ 176601 h 202550"/>
                      <a:gd name="connsiteX66" fmla="*/ 374107 w 1256394"/>
                      <a:gd name="connsiteY66" fmla="*/ 202551 h 202550"/>
                      <a:gd name="connsiteX67" fmla="*/ 212643 w 1256394"/>
                      <a:gd name="connsiteY67" fmla="*/ 202551 h 202550"/>
                      <a:gd name="connsiteX68" fmla="*/ 173718 w 1256394"/>
                      <a:gd name="connsiteY68" fmla="*/ 57666 h 202550"/>
                      <a:gd name="connsiteX69" fmla="*/ 172997 w 1256394"/>
                      <a:gd name="connsiteY69" fmla="*/ 57666 h 202550"/>
                      <a:gd name="connsiteX70" fmla="*/ 172997 w 1256394"/>
                      <a:gd name="connsiteY70" fmla="*/ 202551 h 202550"/>
                      <a:gd name="connsiteX71" fmla="*/ 106682 w 1256394"/>
                      <a:gd name="connsiteY71" fmla="*/ 202551 h 202550"/>
                      <a:gd name="connsiteX72" fmla="*/ 106682 w 1256394"/>
                      <a:gd name="connsiteY72" fmla="*/ 2883 h 202550"/>
                      <a:gd name="connsiteX73" fmla="*/ 221293 w 1256394"/>
                      <a:gd name="connsiteY73" fmla="*/ 2883 h 202550"/>
                      <a:gd name="connsiteX74" fmla="*/ 258775 w 1256394"/>
                      <a:gd name="connsiteY74" fmla="*/ 144164 h 202550"/>
                      <a:gd name="connsiteX75" fmla="*/ 259496 w 1256394"/>
                      <a:gd name="connsiteY75" fmla="*/ 144164 h 202550"/>
                      <a:gd name="connsiteX76" fmla="*/ 259496 w 1256394"/>
                      <a:gd name="connsiteY76" fmla="*/ 2883 h 202550"/>
                      <a:gd name="connsiteX77" fmla="*/ 325812 w 1256394"/>
                      <a:gd name="connsiteY77" fmla="*/ 2883 h 202550"/>
                      <a:gd name="connsiteX78" fmla="*/ 325812 w 1256394"/>
                      <a:gd name="connsiteY78" fmla="*/ 33158 h 202550"/>
                      <a:gd name="connsiteX79" fmla="*/ 299862 w 1256394"/>
                      <a:gd name="connsiteY79" fmla="*/ 99473 h 202550"/>
                      <a:gd name="connsiteX80" fmla="*/ 374107 w 1256394"/>
                      <a:gd name="connsiteY80" fmla="*/ 202551 h 202550"/>
                      <a:gd name="connsiteX81" fmla="*/ 374107 w 1256394"/>
                      <a:gd name="connsiteY81" fmla="*/ 202551 h 202550"/>
                      <a:gd name="connsiteX82" fmla="*/ 1160525 w 1256394"/>
                      <a:gd name="connsiteY82" fmla="*/ 2883 h 202550"/>
                      <a:gd name="connsiteX83" fmla="*/ 1160525 w 1256394"/>
                      <a:gd name="connsiteY83" fmla="*/ 202551 h 202550"/>
                      <a:gd name="connsiteX84" fmla="*/ 1091326 w 1256394"/>
                      <a:gd name="connsiteY84" fmla="*/ 202551 h 202550"/>
                      <a:gd name="connsiteX85" fmla="*/ 1091326 w 1256394"/>
                      <a:gd name="connsiteY85" fmla="*/ 46133 h 202550"/>
                      <a:gd name="connsiteX86" fmla="*/ 1090605 w 1256394"/>
                      <a:gd name="connsiteY86" fmla="*/ 46133 h 202550"/>
                      <a:gd name="connsiteX87" fmla="*/ 1050960 w 1256394"/>
                      <a:gd name="connsiteY87" fmla="*/ 202551 h 202550"/>
                      <a:gd name="connsiteX88" fmla="*/ 986807 w 1256394"/>
                      <a:gd name="connsiteY88" fmla="*/ 202551 h 202550"/>
                      <a:gd name="connsiteX89" fmla="*/ 947161 w 1256394"/>
                      <a:gd name="connsiteY89" fmla="*/ 46133 h 202550"/>
                      <a:gd name="connsiteX90" fmla="*/ 946440 w 1256394"/>
                      <a:gd name="connsiteY90" fmla="*/ 46133 h 202550"/>
                      <a:gd name="connsiteX91" fmla="*/ 946440 w 1256394"/>
                      <a:gd name="connsiteY91" fmla="*/ 202551 h 202550"/>
                      <a:gd name="connsiteX92" fmla="*/ 825342 w 1256394"/>
                      <a:gd name="connsiteY92" fmla="*/ 202551 h 202550"/>
                      <a:gd name="connsiteX93" fmla="*/ 813088 w 1256394"/>
                      <a:gd name="connsiteY93" fmla="*/ 159302 h 202550"/>
                      <a:gd name="connsiteX94" fmla="*/ 748214 w 1256394"/>
                      <a:gd name="connsiteY94" fmla="*/ 159302 h 202550"/>
                      <a:gd name="connsiteX95" fmla="*/ 735960 w 1256394"/>
                      <a:gd name="connsiteY95" fmla="*/ 202551 h 202550"/>
                      <a:gd name="connsiteX96" fmla="*/ 619908 w 1256394"/>
                      <a:gd name="connsiteY96" fmla="*/ 202551 h 202550"/>
                      <a:gd name="connsiteX97" fmla="*/ 614862 w 1256394"/>
                      <a:gd name="connsiteY97" fmla="*/ 165789 h 202550"/>
                      <a:gd name="connsiteX98" fmla="*/ 588912 w 1256394"/>
                      <a:gd name="connsiteY98" fmla="*/ 134794 h 202550"/>
                      <a:gd name="connsiteX99" fmla="*/ 568729 w 1256394"/>
                      <a:gd name="connsiteY99" fmla="*/ 134794 h 202550"/>
                      <a:gd name="connsiteX100" fmla="*/ 568729 w 1256394"/>
                      <a:gd name="connsiteY100" fmla="*/ 202551 h 202550"/>
                      <a:gd name="connsiteX101" fmla="*/ 449794 w 1256394"/>
                      <a:gd name="connsiteY101" fmla="*/ 202551 h 202550"/>
                      <a:gd name="connsiteX102" fmla="*/ 532688 w 1256394"/>
                      <a:gd name="connsiteY102" fmla="*/ 168672 h 202550"/>
                      <a:gd name="connsiteX103" fmla="*/ 507459 w 1256394"/>
                      <a:gd name="connsiteY103" fmla="*/ 74245 h 202550"/>
                      <a:gd name="connsiteX104" fmla="*/ 441144 w 1256394"/>
                      <a:gd name="connsiteY104" fmla="*/ 91544 h 202550"/>
                      <a:gd name="connsiteX105" fmla="*/ 455560 w 1256394"/>
                      <a:gd name="connsiteY105" fmla="*/ 144885 h 202550"/>
                      <a:gd name="connsiteX106" fmla="*/ 428169 w 1256394"/>
                      <a:gd name="connsiteY106" fmla="*/ 152814 h 202550"/>
                      <a:gd name="connsiteX107" fmla="*/ 381315 w 1256394"/>
                      <a:gd name="connsiteY107" fmla="*/ 93707 h 202550"/>
                      <a:gd name="connsiteX108" fmla="*/ 465651 w 1256394"/>
                      <a:gd name="connsiteY108" fmla="*/ 33158 h 202550"/>
                      <a:gd name="connsiteX109" fmla="*/ 487997 w 1256394"/>
                      <a:gd name="connsiteY109" fmla="*/ 33879 h 202550"/>
                      <a:gd name="connsiteX110" fmla="*/ 480068 w 1256394"/>
                      <a:gd name="connsiteY110" fmla="*/ 2163 h 202550"/>
                      <a:gd name="connsiteX111" fmla="*/ 618466 w 1256394"/>
                      <a:gd name="connsiteY111" fmla="*/ 2163 h 202550"/>
                      <a:gd name="connsiteX112" fmla="*/ 694873 w 1256394"/>
                      <a:gd name="connsiteY112" fmla="*/ 56224 h 202550"/>
                      <a:gd name="connsiteX113" fmla="*/ 647299 w 1256394"/>
                      <a:gd name="connsiteY113" fmla="*/ 107402 h 202550"/>
                      <a:gd name="connsiteX114" fmla="*/ 647299 w 1256394"/>
                      <a:gd name="connsiteY114" fmla="*/ 108844 h 202550"/>
                      <a:gd name="connsiteX115" fmla="*/ 682619 w 1256394"/>
                      <a:gd name="connsiteY115" fmla="*/ 133352 h 202550"/>
                      <a:gd name="connsiteX116" fmla="*/ 728752 w 1256394"/>
                      <a:gd name="connsiteY116" fmla="*/ 2163 h 202550"/>
                      <a:gd name="connsiteX117" fmla="*/ 834713 w 1256394"/>
                      <a:gd name="connsiteY117" fmla="*/ 2163 h 202550"/>
                      <a:gd name="connsiteX118" fmla="*/ 879404 w 1256394"/>
                      <a:gd name="connsiteY118" fmla="*/ 127585 h 202550"/>
                      <a:gd name="connsiteX119" fmla="*/ 880125 w 1256394"/>
                      <a:gd name="connsiteY119" fmla="*/ 127585 h 202550"/>
                      <a:gd name="connsiteX120" fmla="*/ 880125 w 1256394"/>
                      <a:gd name="connsiteY120" fmla="*/ 2163 h 202550"/>
                      <a:gd name="connsiteX121" fmla="*/ 994015 w 1256394"/>
                      <a:gd name="connsiteY121" fmla="*/ 2163 h 202550"/>
                      <a:gd name="connsiteX122" fmla="*/ 1020685 w 1256394"/>
                      <a:gd name="connsiteY122" fmla="*/ 111727 h 202550"/>
                      <a:gd name="connsiteX123" fmla="*/ 1046635 w 1256394"/>
                      <a:gd name="connsiteY123" fmla="*/ 2163 h 202550"/>
                      <a:gd name="connsiteX124" fmla="*/ 1160525 w 1256394"/>
                      <a:gd name="connsiteY124" fmla="*/ 2163 h 202550"/>
                      <a:gd name="connsiteX125" fmla="*/ 1160525 w 1256394"/>
                      <a:gd name="connsiteY125" fmla="*/ 2883 h 202550"/>
                      <a:gd name="connsiteX126" fmla="*/ 0 w 1256394"/>
                      <a:gd name="connsiteY126" fmla="*/ 2883 h 202550"/>
                      <a:gd name="connsiteX127" fmla="*/ 77128 w 1256394"/>
                      <a:gd name="connsiteY127" fmla="*/ 2883 h 202550"/>
                      <a:gd name="connsiteX128" fmla="*/ 77128 w 1256394"/>
                      <a:gd name="connsiteY128" fmla="*/ 202551 h 202550"/>
                      <a:gd name="connsiteX129" fmla="*/ 0 w 1256394"/>
                      <a:gd name="connsiteY129" fmla="*/ 202551 h 202550"/>
                      <a:gd name="connsiteX130" fmla="*/ 0 w 1256394"/>
                      <a:gd name="connsiteY130" fmla="*/ 2883 h 202550"/>
                      <a:gd name="connsiteX131" fmla="*/ 0 w 1256394"/>
                      <a:gd name="connsiteY131" fmla="*/ 2883 h 202550"/>
                      <a:gd name="connsiteX132" fmla="*/ 779209 w 1256394"/>
                      <a:gd name="connsiteY132" fmla="*/ 45412 h 202550"/>
                      <a:gd name="connsiteX133" fmla="*/ 757585 w 1256394"/>
                      <a:gd name="connsiteY133" fmla="*/ 111006 h 202550"/>
                      <a:gd name="connsiteX134" fmla="*/ 801555 w 1256394"/>
                      <a:gd name="connsiteY134" fmla="*/ 111006 h 202550"/>
                      <a:gd name="connsiteX135" fmla="*/ 779930 w 1256394"/>
                      <a:gd name="connsiteY135" fmla="*/ 45412 h 202550"/>
                      <a:gd name="connsiteX136" fmla="*/ 779209 w 1256394"/>
                      <a:gd name="connsiteY136" fmla="*/ 45412 h 202550"/>
                      <a:gd name="connsiteX137" fmla="*/ 779209 w 1256394"/>
                      <a:gd name="connsiteY137" fmla="*/ 45412 h 202550"/>
                      <a:gd name="connsiteX138" fmla="*/ 568729 w 1256394"/>
                      <a:gd name="connsiteY138" fmla="*/ 90103 h 202550"/>
                      <a:gd name="connsiteX139" fmla="*/ 591795 w 1256394"/>
                      <a:gd name="connsiteY139" fmla="*/ 90103 h 202550"/>
                      <a:gd name="connsiteX140" fmla="*/ 618466 w 1256394"/>
                      <a:gd name="connsiteY140" fmla="*/ 68478 h 202550"/>
                      <a:gd name="connsiteX141" fmla="*/ 591795 w 1256394"/>
                      <a:gd name="connsiteY141" fmla="*/ 47574 h 202550"/>
                      <a:gd name="connsiteX142" fmla="*/ 568729 w 1256394"/>
                      <a:gd name="connsiteY142" fmla="*/ 47574 h 202550"/>
                      <a:gd name="connsiteX143" fmla="*/ 568729 w 1256394"/>
                      <a:gd name="connsiteY143" fmla="*/ 90103 h 202550"/>
                      <a:gd name="connsiteX144" fmla="*/ 568729 w 1256394"/>
                      <a:gd name="connsiteY144" fmla="*/ 90103 h 202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</a:cxnLst>
                    <a:rect l="l" t="t" r="r" b="b"/>
                    <a:pathLst>
                      <a:path w="1256394" h="202550">
                        <a:moveTo>
                          <a:pt x="1219632" y="18021"/>
                        </a:moveTo>
                        <a:cubicBezTo>
                          <a:pt x="1219632" y="12254"/>
                          <a:pt x="1224678" y="10091"/>
                          <a:pt x="1233328" y="10091"/>
                        </a:cubicBezTo>
                        <a:cubicBezTo>
                          <a:pt x="1241978" y="10091"/>
                          <a:pt x="1247024" y="12254"/>
                          <a:pt x="1247024" y="18021"/>
                        </a:cubicBezTo>
                        <a:cubicBezTo>
                          <a:pt x="1247024" y="25229"/>
                          <a:pt x="1238374" y="25950"/>
                          <a:pt x="1233328" y="25950"/>
                        </a:cubicBezTo>
                        <a:cubicBezTo>
                          <a:pt x="1224678" y="25229"/>
                          <a:pt x="1219632" y="23066"/>
                          <a:pt x="1219632" y="18021"/>
                        </a:cubicBezTo>
                        <a:lnTo>
                          <a:pt x="1219632" y="18021"/>
                        </a:lnTo>
                        <a:close/>
                        <a:moveTo>
                          <a:pt x="1255673" y="18021"/>
                        </a:moveTo>
                        <a:cubicBezTo>
                          <a:pt x="1255673" y="7208"/>
                          <a:pt x="1247744" y="0"/>
                          <a:pt x="1233328" y="0"/>
                        </a:cubicBezTo>
                        <a:cubicBezTo>
                          <a:pt x="1223236" y="0"/>
                          <a:pt x="1211703" y="5046"/>
                          <a:pt x="1211703" y="18021"/>
                        </a:cubicBezTo>
                        <a:cubicBezTo>
                          <a:pt x="1211703" y="30995"/>
                          <a:pt x="1222515" y="36041"/>
                          <a:pt x="1233328" y="36041"/>
                        </a:cubicBezTo>
                        <a:cubicBezTo>
                          <a:pt x="1244861" y="36041"/>
                          <a:pt x="1255673" y="30275"/>
                          <a:pt x="1255673" y="18021"/>
                        </a:cubicBezTo>
                        <a:lnTo>
                          <a:pt x="1255673" y="18021"/>
                        </a:lnTo>
                        <a:close/>
                        <a:moveTo>
                          <a:pt x="1219632" y="68478"/>
                        </a:moveTo>
                        <a:lnTo>
                          <a:pt x="1219632" y="60549"/>
                        </a:lnTo>
                        <a:cubicBezTo>
                          <a:pt x="1219632" y="55503"/>
                          <a:pt x="1222515" y="54062"/>
                          <a:pt x="1224678" y="54062"/>
                        </a:cubicBezTo>
                        <a:cubicBezTo>
                          <a:pt x="1227561" y="54062"/>
                          <a:pt x="1230445" y="56224"/>
                          <a:pt x="1230445" y="60549"/>
                        </a:cubicBezTo>
                        <a:lnTo>
                          <a:pt x="1230445" y="68478"/>
                        </a:lnTo>
                        <a:lnTo>
                          <a:pt x="1219632" y="68478"/>
                        </a:lnTo>
                        <a:lnTo>
                          <a:pt x="1219632" y="68478"/>
                        </a:lnTo>
                        <a:close/>
                        <a:moveTo>
                          <a:pt x="1237653" y="68478"/>
                        </a:moveTo>
                        <a:lnTo>
                          <a:pt x="1237653" y="61270"/>
                        </a:lnTo>
                        <a:lnTo>
                          <a:pt x="1254232" y="54782"/>
                        </a:lnTo>
                        <a:lnTo>
                          <a:pt x="1254232" y="43970"/>
                        </a:lnTo>
                        <a:lnTo>
                          <a:pt x="1235490" y="51899"/>
                        </a:lnTo>
                        <a:cubicBezTo>
                          <a:pt x="1234049" y="47574"/>
                          <a:pt x="1229003" y="44691"/>
                          <a:pt x="1224678" y="44691"/>
                        </a:cubicBezTo>
                        <a:cubicBezTo>
                          <a:pt x="1216749" y="44691"/>
                          <a:pt x="1211703" y="49737"/>
                          <a:pt x="1211703" y="59828"/>
                        </a:cubicBezTo>
                        <a:lnTo>
                          <a:pt x="1211703" y="78569"/>
                        </a:lnTo>
                        <a:lnTo>
                          <a:pt x="1254232" y="78569"/>
                        </a:lnTo>
                        <a:lnTo>
                          <a:pt x="1254232" y="68478"/>
                        </a:lnTo>
                        <a:lnTo>
                          <a:pt x="1237653" y="68478"/>
                        </a:lnTo>
                        <a:lnTo>
                          <a:pt x="1237653" y="68478"/>
                        </a:lnTo>
                        <a:close/>
                        <a:moveTo>
                          <a:pt x="1228282" y="87940"/>
                        </a:moveTo>
                        <a:cubicBezTo>
                          <a:pt x="1218191" y="89382"/>
                          <a:pt x="1211703" y="94428"/>
                          <a:pt x="1211703" y="105240"/>
                        </a:cubicBezTo>
                        <a:cubicBezTo>
                          <a:pt x="1211703" y="118215"/>
                          <a:pt x="1221795" y="124702"/>
                          <a:pt x="1234049" y="124702"/>
                        </a:cubicBezTo>
                        <a:cubicBezTo>
                          <a:pt x="1245582" y="124702"/>
                          <a:pt x="1256394" y="118215"/>
                          <a:pt x="1256394" y="105961"/>
                        </a:cubicBezTo>
                        <a:cubicBezTo>
                          <a:pt x="1256394" y="95869"/>
                          <a:pt x="1250628" y="89382"/>
                          <a:pt x="1240536" y="88661"/>
                        </a:cubicBezTo>
                        <a:lnTo>
                          <a:pt x="1239815" y="98032"/>
                        </a:lnTo>
                        <a:cubicBezTo>
                          <a:pt x="1244140" y="98753"/>
                          <a:pt x="1247744" y="100915"/>
                          <a:pt x="1247744" y="105240"/>
                        </a:cubicBezTo>
                        <a:cubicBezTo>
                          <a:pt x="1247744" y="112448"/>
                          <a:pt x="1240536" y="113169"/>
                          <a:pt x="1234049" y="113169"/>
                        </a:cubicBezTo>
                        <a:cubicBezTo>
                          <a:pt x="1229003" y="113169"/>
                          <a:pt x="1219632" y="112448"/>
                          <a:pt x="1219632" y="105240"/>
                        </a:cubicBezTo>
                        <a:cubicBezTo>
                          <a:pt x="1219632" y="99473"/>
                          <a:pt x="1223957" y="98032"/>
                          <a:pt x="1229003" y="98032"/>
                        </a:cubicBezTo>
                        <a:lnTo>
                          <a:pt x="1228282" y="87940"/>
                        </a:lnTo>
                        <a:lnTo>
                          <a:pt x="1228282" y="87940"/>
                        </a:lnTo>
                        <a:close/>
                        <a:moveTo>
                          <a:pt x="1254952" y="134073"/>
                        </a:moveTo>
                        <a:lnTo>
                          <a:pt x="1212424" y="134073"/>
                        </a:lnTo>
                        <a:lnTo>
                          <a:pt x="1212424" y="144164"/>
                        </a:lnTo>
                        <a:lnTo>
                          <a:pt x="1254952" y="144164"/>
                        </a:lnTo>
                        <a:lnTo>
                          <a:pt x="1254952" y="134073"/>
                        </a:lnTo>
                        <a:lnTo>
                          <a:pt x="1254952" y="134073"/>
                        </a:lnTo>
                        <a:close/>
                        <a:moveTo>
                          <a:pt x="1254952" y="176601"/>
                        </a:moveTo>
                        <a:lnTo>
                          <a:pt x="1254952" y="183809"/>
                        </a:lnTo>
                        <a:lnTo>
                          <a:pt x="1220353" y="193901"/>
                        </a:lnTo>
                        <a:lnTo>
                          <a:pt x="1220353" y="193901"/>
                        </a:lnTo>
                        <a:lnTo>
                          <a:pt x="1254952" y="193901"/>
                        </a:lnTo>
                        <a:lnTo>
                          <a:pt x="1254952" y="202551"/>
                        </a:lnTo>
                        <a:lnTo>
                          <a:pt x="1212424" y="202551"/>
                        </a:lnTo>
                        <a:lnTo>
                          <a:pt x="1212424" y="186693"/>
                        </a:lnTo>
                        <a:lnTo>
                          <a:pt x="1238374" y="179484"/>
                        </a:lnTo>
                        <a:lnTo>
                          <a:pt x="1212424" y="171556"/>
                        </a:lnTo>
                        <a:lnTo>
                          <a:pt x="1212424" y="155697"/>
                        </a:lnTo>
                        <a:lnTo>
                          <a:pt x="1254952" y="155697"/>
                        </a:lnTo>
                        <a:lnTo>
                          <a:pt x="1254952" y="165789"/>
                        </a:lnTo>
                        <a:lnTo>
                          <a:pt x="1220353" y="165789"/>
                        </a:lnTo>
                        <a:lnTo>
                          <a:pt x="1220353" y="165789"/>
                        </a:lnTo>
                        <a:lnTo>
                          <a:pt x="1254952" y="176601"/>
                        </a:lnTo>
                        <a:lnTo>
                          <a:pt x="1254952" y="176601"/>
                        </a:lnTo>
                        <a:close/>
                        <a:moveTo>
                          <a:pt x="374107" y="202551"/>
                        </a:moveTo>
                        <a:lnTo>
                          <a:pt x="212643" y="202551"/>
                        </a:lnTo>
                        <a:cubicBezTo>
                          <a:pt x="200389" y="155697"/>
                          <a:pt x="173718" y="57666"/>
                          <a:pt x="173718" y="57666"/>
                        </a:cubicBezTo>
                        <a:cubicBezTo>
                          <a:pt x="173718" y="57666"/>
                          <a:pt x="172997" y="57666"/>
                          <a:pt x="172997" y="57666"/>
                        </a:cubicBezTo>
                        <a:lnTo>
                          <a:pt x="172997" y="202551"/>
                        </a:lnTo>
                        <a:lnTo>
                          <a:pt x="106682" y="202551"/>
                        </a:lnTo>
                        <a:lnTo>
                          <a:pt x="106682" y="2883"/>
                        </a:lnTo>
                        <a:lnTo>
                          <a:pt x="221293" y="2883"/>
                        </a:lnTo>
                        <a:cubicBezTo>
                          <a:pt x="233547" y="49016"/>
                          <a:pt x="258775" y="144164"/>
                          <a:pt x="258775" y="144164"/>
                        </a:cubicBezTo>
                        <a:lnTo>
                          <a:pt x="259496" y="144164"/>
                        </a:lnTo>
                        <a:lnTo>
                          <a:pt x="259496" y="2883"/>
                        </a:lnTo>
                        <a:lnTo>
                          <a:pt x="325812" y="2883"/>
                        </a:lnTo>
                        <a:lnTo>
                          <a:pt x="325812" y="33158"/>
                        </a:lnTo>
                        <a:cubicBezTo>
                          <a:pt x="309954" y="50457"/>
                          <a:pt x="299862" y="72082"/>
                          <a:pt x="299862" y="99473"/>
                        </a:cubicBezTo>
                        <a:cubicBezTo>
                          <a:pt x="299862" y="138398"/>
                          <a:pt x="322208" y="187414"/>
                          <a:pt x="374107" y="202551"/>
                        </a:cubicBezTo>
                        <a:lnTo>
                          <a:pt x="374107" y="202551"/>
                        </a:lnTo>
                        <a:close/>
                        <a:moveTo>
                          <a:pt x="1160525" y="2883"/>
                        </a:moveTo>
                        <a:lnTo>
                          <a:pt x="1160525" y="202551"/>
                        </a:lnTo>
                        <a:lnTo>
                          <a:pt x="1091326" y="202551"/>
                        </a:lnTo>
                        <a:lnTo>
                          <a:pt x="1091326" y="46133"/>
                        </a:lnTo>
                        <a:lnTo>
                          <a:pt x="1090605" y="46133"/>
                        </a:lnTo>
                        <a:lnTo>
                          <a:pt x="1050960" y="202551"/>
                        </a:lnTo>
                        <a:lnTo>
                          <a:pt x="986807" y="202551"/>
                        </a:lnTo>
                        <a:lnTo>
                          <a:pt x="947161" y="46133"/>
                        </a:lnTo>
                        <a:lnTo>
                          <a:pt x="946440" y="46133"/>
                        </a:lnTo>
                        <a:lnTo>
                          <a:pt x="946440" y="202551"/>
                        </a:lnTo>
                        <a:lnTo>
                          <a:pt x="825342" y="202551"/>
                        </a:lnTo>
                        <a:lnTo>
                          <a:pt x="813088" y="159302"/>
                        </a:lnTo>
                        <a:lnTo>
                          <a:pt x="748214" y="159302"/>
                        </a:lnTo>
                        <a:lnTo>
                          <a:pt x="735960" y="202551"/>
                        </a:lnTo>
                        <a:lnTo>
                          <a:pt x="619908" y="202551"/>
                        </a:lnTo>
                        <a:cubicBezTo>
                          <a:pt x="619908" y="202551"/>
                          <a:pt x="616304" y="172997"/>
                          <a:pt x="614862" y="165789"/>
                        </a:cubicBezTo>
                        <a:cubicBezTo>
                          <a:pt x="611258" y="141281"/>
                          <a:pt x="604050" y="134794"/>
                          <a:pt x="588912" y="134794"/>
                        </a:cubicBezTo>
                        <a:cubicBezTo>
                          <a:pt x="580262" y="134794"/>
                          <a:pt x="568729" y="134794"/>
                          <a:pt x="568729" y="134794"/>
                        </a:cubicBezTo>
                        <a:lnTo>
                          <a:pt x="568729" y="202551"/>
                        </a:lnTo>
                        <a:lnTo>
                          <a:pt x="449794" y="202551"/>
                        </a:lnTo>
                        <a:cubicBezTo>
                          <a:pt x="483672" y="194622"/>
                          <a:pt x="514668" y="179484"/>
                          <a:pt x="532688" y="168672"/>
                        </a:cubicBezTo>
                        <a:lnTo>
                          <a:pt x="507459" y="74245"/>
                        </a:lnTo>
                        <a:lnTo>
                          <a:pt x="441144" y="91544"/>
                        </a:lnTo>
                        <a:lnTo>
                          <a:pt x="455560" y="144885"/>
                        </a:lnTo>
                        <a:cubicBezTo>
                          <a:pt x="451235" y="147768"/>
                          <a:pt x="437539" y="152814"/>
                          <a:pt x="428169" y="152814"/>
                        </a:cubicBezTo>
                        <a:cubicBezTo>
                          <a:pt x="396453" y="152814"/>
                          <a:pt x="381315" y="121098"/>
                          <a:pt x="381315" y="93707"/>
                        </a:cubicBezTo>
                        <a:cubicBezTo>
                          <a:pt x="381315" y="49737"/>
                          <a:pt x="426006" y="33158"/>
                          <a:pt x="465651" y="33158"/>
                        </a:cubicBezTo>
                        <a:cubicBezTo>
                          <a:pt x="475022" y="33158"/>
                          <a:pt x="486556" y="33879"/>
                          <a:pt x="487997" y="33879"/>
                        </a:cubicBezTo>
                        <a:lnTo>
                          <a:pt x="480068" y="2163"/>
                        </a:lnTo>
                        <a:cubicBezTo>
                          <a:pt x="538455" y="2163"/>
                          <a:pt x="604770" y="2163"/>
                          <a:pt x="618466" y="2163"/>
                        </a:cubicBezTo>
                        <a:cubicBezTo>
                          <a:pt x="673969" y="2163"/>
                          <a:pt x="694873" y="28112"/>
                          <a:pt x="694873" y="56224"/>
                        </a:cubicBezTo>
                        <a:cubicBezTo>
                          <a:pt x="694873" y="98753"/>
                          <a:pt x="654507" y="106682"/>
                          <a:pt x="647299" y="107402"/>
                        </a:cubicBezTo>
                        <a:cubicBezTo>
                          <a:pt x="647299" y="107402"/>
                          <a:pt x="647299" y="108844"/>
                          <a:pt x="647299" y="108844"/>
                        </a:cubicBezTo>
                        <a:cubicBezTo>
                          <a:pt x="663157" y="111727"/>
                          <a:pt x="675411" y="119656"/>
                          <a:pt x="682619" y="133352"/>
                        </a:cubicBezTo>
                        <a:cubicBezTo>
                          <a:pt x="682619" y="132631"/>
                          <a:pt x="725148" y="12975"/>
                          <a:pt x="728752" y="2163"/>
                        </a:cubicBezTo>
                        <a:lnTo>
                          <a:pt x="834713" y="2163"/>
                        </a:lnTo>
                        <a:lnTo>
                          <a:pt x="879404" y="127585"/>
                        </a:lnTo>
                        <a:lnTo>
                          <a:pt x="880125" y="127585"/>
                        </a:lnTo>
                        <a:lnTo>
                          <a:pt x="880125" y="2163"/>
                        </a:lnTo>
                        <a:lnTo>
                          <a:pt x="994015" y="2163"/>
                        </a:lnTo>
                        <a:cubicBezTo>
                          <a:pt x="994015" y="2163"/>
                          <a:pt x="1020685" y="111727"/>
                          <a:pt x="1020685" y="111727"/>
                        </a:cubicBezTo>
                        <a:cubicBezTo>
                          <a:pt x="1029335" y="74965"/>
                          <a:pt x="1046635" y="2163"/>
                          <a:pt x="1046635" y="2163"/>
                        </a:cubicBezTo>
                        <a:lnTo>
                          <a:pt x="1160525" y="2163"/>
                        </a:lnTo>
                        <a:lnTo>
                          <a:pt x="1160525" y="2883"/>
                        </a:lnTo>
                        <a:close/>
                        <a:moveTo>
                          <a:pt x="0" y="2883"/>
                        </a:moveTo>
                        <a:lnTo>
                          <a:pt x="77128" y="2883"/>
                        </a:lnTo>
                        <a:cubicBezTo>
                          <a:pt x="77128" y="2883"/>
                          <a:pt x="77128" y="135515"/>
                          <a:pt x="77128" y="202551"/>
                        </a:cubicBezTo>
                        <a:cubicBezTo>
                          <a:pt x="76407" y="202551"/>
                          <a:pt x="721" y="202551"/>
                          <a:pt x="0" y="202551"/>
                        </a:cubicBezTo>
                        <a:lnTo>
                          <a:pt x="0" y="2883"/>
                        </a:lnTo>
                        <a:lnTo>
                          <a:pt x="0" y="2883"/>
                        </a:lnTo>
                        <a:close/>
                        <a:moveTo>
                          <a:pt x="779209" y="45412"/>
                        </a:moveTo>
                        <a:lnTo>
                          <a:pt x="757585" y="111006"/>
                        </a:lnTo>
                        <a:lnTo>
                          <a:pt x="801555" y="111006"/>
                        </a:lnTo>
                        <a:lnTo>
                          <a:pt x="779930" y="45412"/>
                        </a:lnTo>
                        <a:lnTo>
                          <a:pt x="779209" y="45412"/>
                        </a:lnTo>
                        <a:lnTo>
                          <a:pt x="779209" y="45412"/>
                        </a:lnTo>
                        <a:close/>
                        <a:moveTo>
                          <a:pt x="568729" y="90103"/>
                        </a:moveTo>
                        <a:cubicBezTo>
                          <a:pt x="568729" y="90103"/>
                          <a:pt x="583867" y="90103"/>
                          <a:pt x="591795" y="90103"/>
                        </a:cubicBezTo>
                        <a:cubicBezTo>
                          <a:pt x="610537" y="90103"/>
                          <a:pt x="618466" y="80732"/>
                          <a:pt x="618466" y="68478"/>
                        </a:cubicBezTo>
                        <a:cubicBezTo>
                          <a:pt x="618466" y="53341"/>
                          <a:pt x="605491" y="47574"/>
                          <a:pt x="591795" y="47574"/>
                        </a:cubicBezTo>
                        <a:cubicBezTo>
                          <a:pt x="583867" y="47574"/>
                          <a:pt x="568729" y="47574"/>
                          <a:pt x="568729" y="47574"/>
                        </a:cubicBezTo>
                        <a:lnTo>
                          <a:pt x="568729" y="90103"/>
                        </a:lnTo>
                        <a:lnTo>
                          <a:pt x="568729" y="90103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316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</p:grp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9725E90-52E5-E3DC-8D09-F9914D0835ED}"/>
                    </a:ext>
                  </a:extLst>
                </p:cNvPr>
                <p:cNvSpPr txBox="1"/>
                <p:nvPr/>
              </p:nvSpPr>
              <p:spPr>
                <a:xfrm>
                  <a:off x="15081044" y="4157859"/>
                  <a:ext cx="1965961" cy="1332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GB" sz="1400" b="1">
                      <a:solidFill>
                        <a:schemeClr val="bg1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GLOBAL</a:t>
                  </a:r>
                  <a:endParaRPr lang="en-GB" sz="1000" b="1">
                    <a:solidFill>
                      <a:schemeClr val="bg1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  <a:p>
                  <a:pPr algn="r"/>
                  <a:r>
                    <a:rPr lang="en-GB" sz="900">
                      <a:solidFill>
                        <a:schemeClr val="bg1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Premier Tier Partner</a:t>
                  </a: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6C92239C-B5BA-E361-6E41-30B18938EA1E}"/>
                  </a:ext>
                </a:extLst>
              </p:cNvPr>
              <p:cNvGrpSpPr/>
              <p:nvPr/>
            </p:nvGrpSpPr>
            <p:grpSpPr>
              <a:xfrm>
                <a:off x="12256723" y="4117307"/>
                <a:ext cx="2125926" cy="2087722"/>
                <a:chOff x="14921081" y="3402902"/>
                <a:chExt cx="2125926" cy="2087722"/>
              </a:xfrm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031C6932-A4FE-45D7-E6A3-7263AEF57A0A}"/>
                    </a:ext>
                  </a:extLst>
                </p:cNvPr>
                <p:cNvGrpSpPr/>
                <p:nvPr/>
              </p:nvGrpSpPr>
              <p:grpSpPr>
                <a:xfrm>
                  <a:off x="14966619" y="3402902"/>
                  <a:ext cx="2080388" cy="2085696"/>
                  <a:chOff x="14966619" y="3402902"/>
                  <a:chExt cx="2080388" cy="2085696"/>
                </a:xfrm>
              </p:grpSpPr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72C1AFE9-F4C6-3969-FE90-3C2061413A7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4966619" y="3402902"/>
                    <a:ext cx="2080388" cy="2085696"/>
                  </a:xfrm>
                  <a:custGeom>
                    <a:avLst/>
                    <a:gdLst>
                      <a:gd name="connsiteX0" fmla="*/ 2080388 w 2080388"/>
                      <a:gd name="connsiteY0" fmla="*/ 2085696 h 2085696"/>
                      <a:gd name="connsiteX1" fmla="*/ 680754 w 2080388"/>
                      <a:gd name="connsiteY1" fmla="*/ 2085696 h 2085696"/>
                      <a:gd name="connsiteX2" fmla="*/ 0 w 2080388"/>
                      <a:gd name="connsiteY2" fmla="*/ 1404941 h 2085696"/>
                      <a:gd name="connsiteX3" fmla="*/ 0 w 2080388"/>
                      <a:gd name="connsiteY3" fmla="*/ 1361509 h 2085696"/>
                      <a:gd name="connsiteX4" fmla="*/ 0 w 2080388"/>
                      <a:gd name="connsiteY4" fmla="*/ 724187 h 2085696"/>
                      <a:gd name="connsiteX5" fmla="*/ 0 w 2080388"/>
                      <a:gd name="connsiteY5" fmla="*/ 0 h 2085696"/>
                      <a:gd name="connsiteX6" fmla="*/ 1399632 w 2080388"/>
                      <a:gd name="connsiteY6" fmla="*/ 0 h 2085696"/>
                      <a:gd name="connsiteX7" fmla="*/ 2080388 w 2080388"/>
                      <a:gd name="connsiteY7" fmla="*/ 680755 h 2085696"/>
                      <a:gd name="connsiteX8" fmla="*/ 2080388 w 2080388"/>
                      <a:gd name="connsiteY8" fmla="*/ 724187 h 2085696"/>
                      <a:gd name="connsiteX9" fmla="*/ 2080388 w 2080388"/>
                      <a:gd name="connsiteY9" fmla="*/ 1361509 h 2085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080388" h="2085696">
                        <a:moveTo>
                          <a:pt x="2080388" y="2085696"/>
                        </a:moveTo>
                        <a:lnTo>
                          <a:pt x="680754" y="2085696"/>
                        </a:lnTo>
                        <a:lnTo>
                          <a:pt x="0" y="1404941"/>
                        </a:lnTo>
                        <a:lnTo>
                          <a:pt x="0" y="1361509"/>
                        </a:lnTo>
                        <a:lnTo>
                          <a:pt x="0" y="724187"/>
                        </a:lnTo>
                        <a:lnTo>
                          <a:pt x="0" y="0"/>
                        </a:lnTo>
                        <a:lnTo>
                          <a:pt x="1399632" y="0"/>
                        </a:lnTo>
                        <a:lnTo>
                          <a:pt x="2080388" y="680755"/>
                        </a:lnTo>
                        <a:lnTo>
                          <a:pt x="2080388" y="724187"/>
                        </a:lnTo>
                        <a:lnTo>
                          <a:pt x="2080388" y="1361509"/>
                        </a:lnTo>
                        <a:close/>
                      </a:path>
                    </a:pathLst>
                  </a:custGeom>
                  <a:solidFill>
                    <a:srgbClr val="0077D4"/>
                  </a:solidFill>
                  <a:ln w="28575">
                    <a:solidFill>
                      <a:srgbClr val="0077D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AB71CA5D-ADF6-D91F-55EF-838744FF1DA4}"/>
                      </a:ext>
                    </a:extLst>
                  </p:cNvPr>
                  <p:cNvSpPr/>
                  <p:nvPr/>
                </p:nvSpPr>
                <p:spPr>
                  <a:xfrm>
                    <a:off x="15144783" y="3603822"/>
                    <a:ext cx="1200117" cy="193477"/>
                  </a:xfrm>
                  <a:custGeom>
                    <a:avLst/>
                    <a:gdLst>
                      <a:gd name="connsiteX0" fmla="*/ 1219632 w 1256394"/>
                      <a:gd name="connsiteY0" fmla="*/ 18021 h 202550"/>
                      <a:gd name="connsiteX1" fmla="*/ 1233328 w 1256394"/>
                      <a:gd name="connsiteY1" fmla="*/ 10091 h 202550"/>
                      <a:gd name="connsiteX2" fmla="*/ 1247024 w 1256394"/>
                      <a:gd name="connsiteY2" fmla="*/ 18021 h 202550"/>
                      <a:gd name="connsiteX3" fmla="*/ 1233328 w 1256394"/>
                      <a:gd name="connsiteY3" fmla="*/ 25950 h 202550"/>
                      <a:gd name="connsiteX4" fmla="*/ 1219632 w 1256394"/>
                      <a:gd name="connsiteY4" fmla="*/ 18021 h 202550"/>
                      <a:gd name="connsiteX5" fmla="*/ 1219632 w 1256394"/>
                      <a:gd name="connsiteY5" fmla="*/ 18021 h 202550"/>
                      <a:gd name="connsiteX6" fmla="*/ 1255673 w 1256394"/>
                      <a:gd name="connsiteY6" fmla="*/ 18021 h 202550"/>
                      <a:gd name="connsiteX7" fmla="*/ 1233328 w 1256394"/>
                      <a:gd name="connsiteY7" fmla="*/ 0 h 202550"/>
                      <a:gd name="connsiteX8" fmla="*/ 1211703 w 1256394"/>
                      <a:gd name="connsiteY8" fmla="*/ 18021 h 202550"/>
                      <a:gd name="connsiteX9" fmla="*/ 1233328 w 1256394"/>
                      <a:gd name="connsiteY9" fmla="*/ 36041 h 202550"/>
                      <a:gd name="connsiteX10" fmla="*/ 1255673 w 1256394"/>
                      <a:gd name="connsiteY10" fmla="*/ 18021 h 202550"/>
                      <a:gd name="connsiteX11" fmla="*/ 1255673 w 1256394"/>
                      <a:gd name="connsiteY11" fmla="*/ 18021 h 202550"/>
                      <a:gd name="connsiteX12" fmla="*/ 1219632 w 1256394"/>
                      <a:gd name="connsiteY12" fmla="*/ 68478 h 202550"/>
                      <a:gd name="connsiteX13" fmla="*/ 1219632 w 1256394"/>
                      <a:gd name="connsiteY13" fmla="*/ 60549 h 202550"/>
                      <a:gd name="connsiteX14" fmla="*/ 1224678 w 1256394"/>
                      <a:gd name="connsiteY14" fmla="*/ 54062 h 202550"/>
                      <a:gd name="connsiteX15" fmla="*/ 1230445 w 1256394"/>
                      <a:gd name="connsiteY15" fmla="*/ 60549 h 202550"/>
                      <a:gd name="connsiteX16" fmla="*/ 1230445 w 1256394"/>
                      <a:gd name="connsiteY16" fmla="*/ 68478 h 202550"/>
                      <a:gd name="connsiteX17" fmla="*/ 1219632 w 1256394"/>
                      <a:gd name="connsiteY17" fmla="*/ 68478 h 202550"/>
                      <a:gd name="connsiteX18" fmla="*/ 1219632 w 1256394"/>
                      <a:gd name="connsiteY18" fmla="*/ 68478 h 202550"/>
                      <a:gd name="connsiteX19" fmla="*/ 1237653 w 1256394"/>
                      <a:gd name="connsiteY19" fmla="*/ 68478 h 202550"/>
                      <a:gd name="connsiteX20" fmla="*/ 1237653 w 1256394"/>
                      <a:gd name="connsiteY20" fmla="*/ 61270 h 202550"/>
                      <a:gd name="connsiteX21" fmla="*/ 1254232 w 1256394"/>
                      <a:gd name="connsiteY21" fmla="*/ 54782 h 202550"/>
                      <a:gd name="connsiteX22" fmla="*/ 1254232 w 1256394"/>
                      <a:gd name="connsiteY22" fmla="*/ 43970 h 202550"/>
                      <a:gd name="connsiteX23" fmla="*/ 1235490 w 1256394"/>
                      <a:gd name="connsiteY23" fmla="*/ 51899 h 202550"/>
                      <a:gd name="connsiteX24" fmla="*/ 1224678 w 1256394"/>
                      <a:gd name="connsiteY24" fmla="*/ 44691 h 202550"/>
                      <a:gd name="connsiteX25" fmla="*/ 1211703 w 1256394"/>
                      <a:gd name="connsiteY25" fmla="*/ 59828 h 202550"/>
                      <a:gd name="connsiteX26" fmla="*/ 1211703 w 1256394"/>
                      <a:gd name="connsiteY26" fmla="*/ 78569 h 202550"/>
                      <a:gd name="connsiteX27" fmla="*/ 1254232 w 1256394"/>
                      <a:gd name="connsiteY27" fmla="*/ 78569 h 202550"/>
                      <a:gd name="connsiteX28" fmla="*/ 1254232 w 1256394"/>
                      <a:gd name="connsiteY28" fmla="*/ 68478 h 202550"/>
                      <a:gd name="connsiteX29" fmla="*/ 1237653 w 1256394"/>
                      <a:gd name="connsiteY29" fmla="*/ 68478 h 202550"/>
                      <a:gd name="connsiteX30" fmla="*/ 1237653 w 1256394"/>
                      <a:gd name="connsiteY30" fmla="*/ 68478 h 202550"/>
                      <a:gd name="connsiteX31" fmla="*/ 1228282 w 1256394"/>
                      <a:gd name="connsiteY31" fmla="*/ 87940 h 202550"/>
                      <a:gd name="connsiteX32" fmla="*/ 1211703 w 1256394"/>
                      <a:gd name="connsiteY32" fmla="*/ 105240 h 202550"/>
                      <a:gd name="connsiteX33" fmla="*/ 1234049 w 1256394"/>
                      <a:gd name="connsiteY33" fmla="*/ 124702 h 202550"/>
                      <a:gd name="connsiteX34" fmla="*/ 1256394 w 1256394"/>
                      <a:gd name="connsiteY34" fmla="*/ 105961 h 202550"/>
                      <a:gd name="connsiteX35" fmla="*/ 1240536 w 1256394"/>
                      <a:gd name="connsiteY35" fmla="*/ 88661 h 202550"/>
                      <a:gd name="connsiteX36" fmla="*/ 1239815 w 1256394"/>
                      <a:gd name="connsiteY36" fmla="*/ 98032 h 202550"/>
                      <a:gd name="connsiteX37" fmla="*/ 1247744 w 1256394"/>
                      <a:gd name="connsiteY37" fmla="*/ 105240 h 202550"/>
                      <a:gd name="connsiteX38" fmla="*/ 1234049 w 1256394"/>
                      <a:gd name="connsiteY38" fmla="*/ 113169 h 202550"/>
                      <a:gd name="connsiteX39" fmla="*/ 1219632 w 1256394"/>
                      <a:gd name="connsiteY39" fmla="*/ 105240 h 202550"/>
                      <a:gd name="connsiteX40" fmla="*/ 1229003 w 1256394"/>
                      <a:gd name="connsiteY40" fmla="*/ 98032 h 202550"/>
                      <a:gd name="connsiteX41" fmla="*/ 1228282 w 1256394"/>
                      <a:gd name="connsiteY41" fmla="*/ 87940 h 202550"/>
                      <a:gd name="connsiteX42" fmla="*/ 1228282 w 1256394"/>
                      <a:gd name="connsiteY42" fmla="*/ 87940 h 202550"/>
                      <a:gd name="connsiteX43" fmla="*/ 1254952 w 1256394"/>
                      <a:gd name="connsiteY43" fmla="*/ 134073 h 202550"/>
                      <a:gd name="connsiteX44" fmla="*/ 1212424 w 1256394"/>
                      <a:gd name="connsiteY44" fmla="*/ 134073 h 202550"/>
                      <a:gd name="connsiteX45" fmla="*/ 1212424 w 1256394"/>
                      <a:gd name="connsiteY45" fmla="*/ 144164 h 202550"/>
                      <a:gd name="connsiteX46" fmla="*/ 1254952 w 1256394"/>
                      <a:gd name="connsiteY46" fmla="*/ 144164 h 202550"/>
                      <a:gd name="connsiteX47" fmla="*/ 1254952 w 1256394"/>
                      <a:gd name="connsiteY47" fmla="*/ 134073 h 202550"/>
                      <a:gd name="connsiteX48" fmla="*/ 1254952 w 1256394"/>
                      <a:gd name="connsiteY48" fmla="*/ 134073 h 202550"/>
                      <a:gd name="connsiteX49" fmla="*/ 1254952 w 1256394"/>
                      <a:gd name="connsiteY49" fmla="*/ 176601 h 202550"/>
                      <a:gd name="connsiteX50" fmla="*/ 1254952 w 1256394"/>
                      <a:gd name="connsiteY50" fmla="*/ 183809 h 202550"/>
                      <a:gd name="connsiteX51" fmla="*/ 1220353 w 1256394"/>
                      <a:gd name="connsiteY51" fmla="*/ 193901 h 202550"/>
                      <a:gd name="connsiteX52" fmla="*/ 1220353 w 1256394"/>
                      <a:gd name="connsiteY52" fmla="*/ 193901 h 202550"/>
                      <a:gd name="connsiteX53" fmla="*/ 1254952 w 1256394"/>
                      <a:gd name="connsiteY53" fmla="*/ 193901 h 202550"/>
                      <a:gd name="connsiteX54" fmla="*/ 1254952 w 1256394"/>
                      <a:gd name="connsiteY54" fmla="*/ 202551 h 202550"/>
                      <a:gd name="connsiteX55" fmla="*/ 1212424 w 1256394"/>
                      <a:gd name="connsiteY55" fmla="*/ 202551 h 202550"/>
                      <a:gd name="connsiteX56" fmla="*/ 1212424 w 1256394"/>
                      <a:gd name="connsiteY56" fmla="*/ 186693 h 202550"/>
                      <a:gd name="connsiteX57" fmla="*/ 1238374 w 1256394"/>
                      <a:gd name="connsiteY57" fmla="*/ 179484 h 202550"/>
                      <a:gd name="connsiteX58" fmla="*/ 1212424 w 1256394"/>
                      <a:gd name="connsiteY58" fmla="*/ 171556 h 202550"/>
                      <a:gd name="connsiteX59" fmla="*/ 1212424 w 1256394"/>
                      <a:gd name="connsiteY59" fmla="*/ 155697 h 202550"/>
                      <a:gd name="connsiteX60" fmla="*/ 1254952 w 1256394"/>
                      <a:gd name="connsiteY60" fmla="*/ 155697 h 202550"/>
                      <a:gd name="connsiteX61" fmla="*/ 1254952 w 1256394"/>
                      <a:gd name="connsiteY61" fmla="*/ 165789 h 202550"/>
                      <a:gd name="connsiteX62" fmla="*/ 1220353 w 1256394"/>
                      <a:gd name="connsiteY62" fmla="*/ 165789 h 202550"/>
                      <a:gd name="connsiteX63" fmla="*/ 1220353 w 1256394"/>
                      <a:gd name="connsiteY63" fmla="*/ 165789 h 202550"/>
                      <a:gd name="connsiteX64" fmla="*/ 1254952 w 1256394"/>
                      <a:gd name="connsiteY64" fmla="*/ 176601 h 202550"/>
                      <a:gd name="connsiteX65" fmla="*/ 1254952 w 1256394"/>
                      <a:gd name="connsiteY65" fmla="*/ 176601 h 202550"/>
                      <a:gd name="connsiteX66" fmla="*/ 374107 w 1256394"/>
                      <a:gd name="connsiteY66" fmla="*/ 202551 h 202550"/>
                      <a:gd name="connsiteX67" fmla="*/ 212643 w 1256394"/>
                      <a:gd name="connsiteY67" fmla="*/ 202551 h 202550"/>
                      <a:gd name="connsiteX68" fmla="*/ 173718 w 1256394"/>
                      <a:gd name="connsiteY68" fmla="*/ 57666 h 202550"/>
                      <a:gd name="connsiteX69" fmla="*/ 172997 w 1256394"/>
                      <a:gd name="connsiteY69" fmla="*/ 57666 h 202550"/>
                      <a:gd name="connsiteX70" fmla="*/ 172997 w 1256394"/>
                      <a:gd name="connsiteY70" fmla="*/ 202551 h 202550"/>
                      <a:gd name="connsiteX71" fmla="*/ 106682 w 1256394"/>
                      <a:gd name="connsiteY71" fmla="*/ 202551 h 202550"/>
                      <a:gd name="connsiteX72" fmla="*/ 106682 w 1256394"/>
                      <a:gd name="connsiteY72" fmla="*/ 2883 h 202550"/>
                      <a:gd name="connsiteX73" fmla="*/ 221293 w 1256394"/>
                      <a:gd name="connsiteY73" fmla="*/ 2883 h 202550"/>
                      <a:gd name="connsiteX74" fmla="*/ 258775 w 1256394"/>
                      <a:gd name="connsiteY74" fmla="*/ 144164 h 202550"/>
                      <a:gd name="connsiteX75" fmla="*/ 259496 w 1256394"/>
                      <a:gd name="connsiteY75" fmla="*/ 144164 h 202550"/>
                      <a:gd name="connsiteX76" fmla="*/ 259496 w 1256394"/>
                      <a:gd name="connsiteY76" fmla="*/ 2883 h 202550"/>
                      <a:gd name="connsiteX77" fmla="*/ 325812 w 1256394"/>
                      <a:gd name="connsiteY77" fmla="*/ 2883 h 202550"/>
                      <a:gd name="connsiteX78" fmla="*/ 325812 w 1256394"/>
                      <a:gd name="connsiteY78" fmla="*/ 33158 h 202550"/>
                      <a:gd name="connsiteX79" fmla="*/ 299862 w 1256394"/>
                      <a:gd name="connsiteY79" fmla="*/ 99473 h 202550"/>
                      <a:gd name="connsiteX80" fmla="*/ 374107 w 1256394"/>
                      <a:gd name="connsiteY80" fmla="*/ 202551 h 202550"/>
                      <a:gd name="connsiteX81" fmla="*/ 374107 w 1256394"/>
                      <a:gd name="connsiteY81" fmla="*/ 202551 h 202550"/>
                      <a:gd name="connsiteX82" fmla="*/ 1160525 w 1256394"/>
                      <a:gd name="connsiteY82" fmla="*/ 2883 h 202550"/>
                      <a:gd name="connsiteX83" fmla="*/ 1160525 w 1256394"/>
                      <a:gd name="connsiteY83" fmla="*/ 202551 h 202550"/>
                      <a:gd name="connsiteX84" fmla="*/ 1091326 w 1256394"/>
                      <a:gd name="connsiteY84" fmla="*/ 202551 h 202550"/>
                      <a:gd name="connsiteX85" fmla="*/ 1091326 w 1256394"/>
                      <a:gd name="connsiteY85" fmla="*/ 46133 h 202550"/>
                      <a:gd name="connsiteX86" fmla="*/ 1090605 w 1256394"/>
                      <a:gd name="connsiteY86" fmla="*/ 46133 h 202550"/>
                      <a:gd name="connsiteX87" fmla="*/ 1050960 w 1256394"/>
                      <a:gd name="connsiteY87" fmla="*/ 202551 h 202550"/>
                      <a:gd name="connsiteX88" fmla="*/ 986807 w 1256394"/>
                      <a:gd name="connsiteY88" fmla="*/ 202551 h 202550"/>
                      <a:gd name="connsiteX89" fmla="*/ 947161 w 1256394"/>
                      <a:gd name="connsiteY89" fmla="*/ 46133 h 202550"/>
                      <a:gd name="connsiteX90" fmla="*/ 946440 w 1256394"/>
                      <a:gd name="connsiteY90" fmla="*/ 46133 h 202550"/>
                      <a:gd name="connsiteX91" fmla="*/ 946440 w 1256394"/>
                      <a:gd name="connsiteY91" fmla="*/ 202551 h 202550"/>
                      <a:gd name="connsiteX92" fmla="*/ 825342 w 1256394"/>
                      <a:gd name="connsiteY92" fmla="*/ 202551 h 202550"/>
                      <a:gd name="connsiteX93" fmla="*/ 813088 w 1256394"/>
                      <a:gd name="connsiteY93" fmla="*/ 159302 h 202550"/>
                      <a:gd name="connsiteX94" fmla="*/ 748214 w 1256394"/>
                      <a:gd name="connsiteY94" fmla="*/ 159302 h 202550"/>
                      <a:gd name="connsiteX95" fmla="*/ 735960 w 1256394"/>
                      <a:gd name="connsiteY95" fmla="*/ 202551 h 202550"/>
                      <a:gd name="connsiteX96" fmla="*/ 619908 w 1256394"/>
                      <a:gd name="connsiteY96" fmla="*/ 202551 h 202550"/>
                      <a:gd name="connsiteX97" fmla="*/ 614862 w 1256394"/>
                      <a:gd name="connsiteY97" fmla="*/ 165789 h 202550"/>
                      <a:gd name="connsiteX98" fmla="*/ 588912 w 1256394"/>
                      <a:gd name="connsiteY98" fmla="*/ 134794 h 202550"/>
                      <a:gd name="connsiteX99" fmla="*/ 568729 w 1256394"/>
                      <a:gd name="connsiteY99" fmla="*/ 134794 h 202550"/>
                      <a:gd name="connsiteX100" fmla="*/ 568729 w 1256394"/>
                      <a:gd name="connsiteY100" fmla="*/ 202551 h 202550"/>
                      <a:gd name="connsiteX101" fmla="*/ 449794 w 1256394"/>
                      <a:gd name="connsiteY101" fmla="*/ 202551 h 202550"/>
                      <a:gd name="connsiteX102" fmla="*/ 532688 w 1256394"/>
                      <a:gd name="connsiteY102" fmla="*/ 168672 h 202550"/>
                      <a:gd name="connsiteX103" fmla="*/ 507459 w 1256394"/>
                      <a:gd name="connsiteY103" fmla="*/ 74245 h 202550"/>
                      <a:gd name="connsiteX104" fmla="*/ 441144 w 1256394"/>
                      <a:gd name="connsiteY104" fmla="*/ 91544 h 202550"/>
                      <a:gd name="connsiteX105" fmla="*/ 455560 w 1256394"/>
                      <a:gd name="connsiteY105" fmla="*/ 144885 h 202550"/>
                      <a:gd name="connsiteX106" fmla="*/ 428169 w 1256394"/>
                      <a:gd name="connsiteY106" fmla="*/ 152814 h 202550"/>
                      <a:gd name="connsiteX107" fmla="*/ 381315 w 1256394"/>
                      <a:gd name="connsiteY107" fmla="*/ 93707 h 202550"/>
                      <a:gd name="connsiteX108" fmla="*/ 465651 w 1256394"/>
                      <a:gd name="connsiteY108" fmla="*/ 33158 h 202550"/>
                      <a:gd name="connsiteX109" fmla="*/ 487997 w 1256394"/>
                      <a:gd name="connsiteY109" fmla="*/ 33879 h 202550"/>
                      <a:gd name="connsiteX110" fmla="*/ 480068 w 1256394"/>
                      <a:gd name="connsiteY110" fmla="*/ 2163 h 202550"/>
                      <a:gd name="connsiteX111" fmla="*/ 618466 w 1256394"/>
                      <a:gd name="connsiteY111" fmla="*/ 2163 h 202550"/>
                      <a:gd name="connsiteX112" fmla="*/ 694873 w 1256394"/>
                      <a:gd name="connsiteY112" fmla="*/ 56224 h 202550"/>
                      <a:gd name="connsiteX113" fmla="*/ 647299 w 1256394"/>
                      <a:gd name="connsiteY113" fmla="*/ 107402 h 202550"/>
                      <a:gd name="connsiteX114" fmla="*/ 647299 w 1256394"/>
                      <a:gd name="connsiteY114" fmla="*/ 108844 h 202550"/>
                      <a:gd name="connsiteX115" fmla="*/ 682619 w 1256394"/>
                      <a:gd name="connsiteY115" fmla="*/ 133352 h 202550"/>
                      <a:gd name="connsiteX116" fmla="*/ 728752 w 1256394"/>
                      <a:gd name="connsiteY116" fmla="*/ 2163 h 202550"/>
                      <a:gd name="connsiteX117" fmla="*/ 834713 w 1256394"/>
                      <a:gd name="connsiteY117" fmla="*/ 2163 h 202550"/>
                      <a:gd name="connsiteX118" fmla="*/ 879404 w 1256394"/>
                      <a:gd name="connsiteY118" fmla="*/ 127585 h 202550"/>
                      <a:gd name="connsiteX119" fmla="*/ 880125 w 1256394"/>
                      <a:gd name="connsiteY119" fmla="*/ 127585 h 202550"/>
                      <a:gd name="connsiteX120" fmla="*/ 880125 w 1256394"/>
                      <a:gd name="connsiteY120" fmla="*/ 2163 h 202550"/>
                      <a:gd name="connsiteX121" fmla="*/ 994015 w 1256394"/>
                      <a:gd name="connsiteY121" fmla="*/ 2163 h 202550"/>
                      <a:gd name="connsiteX122" fmla="*/ 1020685 w 1256394"/>
                      <a:gd name="connsiteY122" fmla="*/ 111727 h 202550"/>
                      <a:gd name="connsiteX123" fmla="*/ 1046635 w 1256394"/>
                      <a:gd name="connsiteY123" fmla="*/ 2163 h 202550"/>
                      <a:gd name="connsiteX124" fmla="*/ 1160525 w 1256394"/>
                      <a:gd name="connsiteY124" fmla="*/ 2163 h 202550"/>
                      <a:gd name="connsiteX125" fmla="*/ 1160525 w 1256394"/>
                      <a:gd name="connsiteY125" fmla="*/ 2883 h 202550"/>
                      <a:gd name="connsiteX126" fmla="*/ 0 w 1256394"/>
                      <a:gd name="connsiteY126" fmla="*/ 2883 h 202550"/>
                      <a:gd name="connsiteX127" fmla="*/ 77128 w 1256394"/>
                      <a:gd name="connsiteY127" fmla="*/ 2883 h 202550"/>
                      <a:gd name="connsiteX128" fmla="*/ 77128 w 1256394"/>
                      <a:gd name="connsiteY128" fmla="*/ 202551 h 202550"/>
                      <a:gd name="connsiteX129" fmla="*/ 0 w 1256394"/>
                      <a:gd name="connsiteY129" fmla="*/ 202551 h 202550"/>
                      <a:gd name="connsiteX130" fmla="*/ 0 w 1256394"/>
                      <a:gd name="connsiteY130" fmla="*/ 2883 h 202550"/>
                      <a:gd name="connsiteX131" fmla="*/ 0 w 1256394"/>
                      <a:gd name="connsiteY131" fmla="*/ 2883 h 202550"/>
                      <a:gd name="connsiteX132" fmla="*/ 779209 w 1256394"/>
                      <a:gd name="connsiteY132" fmla="*/ 45412 h 202550"/>
                      <a:gd name="connsiteX133" fmla="*/ 757585 w 1256394"/>
                      <a:gd name="connsiteY133" fmla="*/ 111006 h 202550"/>
                      <a:gd name="connsiteX134" fmla="*/ 801555 w 1256394"/>
                      <a:gd name="connsiteY134" fmla="*/ 111006 h 202550"/>
                      <a:gd name="connsiteX135" fmla="*/ 779930 w 1256394"/>
                      <a:gd name="connsiteY135" fmla="*/ 45412 h 202550"/>
                      <a:gd name="connsiteX136" fmla="*/ 779209 w 1256394"/>
                      <a:gd name="connsiteY136" fmla="*/ 45412 h 202550"/>
                      <a:gd name="connsiteX137" fmla="*/ 779209 w 1256394"/>
                      <a:gd name="connsiteY137" fmla="*/ 45412 h 202550"/>
                      <a:gd name="connsiteX138" fmla="*/ 568729 w 1256394"/>
                      <a:gd name="connsiteY138" fmla="*/ 90103 h 202550"/>
                      <a:gd name="connsiteX139" fmla="*/ 591795 w 1256394"/>
                      <a:gd name="connsiteY139" fmla="*/ 90103 h 202550"/>
                      <a:gd name="connsiteX140" fmla="*/ 618466 w 1256394"/>
                      <a:gd name="connsiteY140" fmla="*/ 68478 h 202550"/>
                      <a:gd name="connsiteX141" fmla="*/ 591795 w 1256394"/>
                      <a:gd name="connsiteY141" fmla="*/ 47574 h 202550"/>
                      <a:gd name="connsiteX142" fmla="*/ 568729 w 1256394"/>
                      <a:gd name="connsiteY142" fmla="*/ 47574 h 202550"/>
                      <a:gd name="connsiteX143" fmla="*/ 568729 w 1256394"/>
                      <a:gd name="connsiteY143" fmla="*/ 90103 h 202550"/>
                      <a:gd name="connsiteX144" fmla="*/ 568729 w 1256394"/>
                      <a:gd name="connsiteY144" fmla="*/ 90103 h 202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</a:cxnLst>
                    <a:rect l="l" t="t" r="r" b="b"/>
                    <a:pathLst>
                      <a:path w="1256394" h="202550">
                        <a:moveTo>
                          <a:pt x="1219632" y="18021"/>
                        </a:moveTo>
                        <a:cubicBezTo>
                          <a:pt x="1219632" y="12254"/>
                          <a:pt x="1224678" y="10091"/>
                          <a:pt x="1233328" y="10091"/>
                        </a:cubicBezTo>
                        <a:cubicBezTo>
                          <a:pt x="1241978" y="10091"/>
                          <a:pt x="1247024" y="12254"/>
                          <a:pt x="1247024" y="18021"/>
                        </a:cubicBezTo>
                        <a:cubicBezTo>
                          <a:pt x="1247024" y="25229"/>
                          <a:pt x="1238374" y="25950"/>
                          <a:pt x="1233328" y="25950"/>
                        </a:cubicBezTo>
                        <a:cubicBezTo>
                          <a:pt x="1224678" y="25229"/>
                          <a:pt x="1219632" y="23066"/>
                          <a:pt x="1219632" y="18021"/>
                        </a:cubicBezTo>
                        <a:lnTo>
                          <a:pt x="1219632" y="18021"/>
                        </a:lnTo>
                        <a:close/>
                        <a:moveTo>
                          <a:pt x="1255673" y="18021"/>
                        </a:moveTo>
                        <a:cubicBezTo>
                          <a:pt x="1255673" y="7208"/>
                          <a:pt x="1247744" y="0"/>
                          <a:pt x="1233328" y="0"/>
                        </a:cubicBezTo>
                        <a:cubicBezTo>
                          <a:pt x="1223236" y="0"/>
                          <a:pt x="1211703" y="5046"/>
                          <a:pt x="1211703" y="18021"/>
                        </a:cubicBezTo>
                        <a:cubicBezTo>
                          <a:pt x="1211703" y="30995"/>
                          <a:pt x="1222515" y="36041"/>
                          <a:pt x="1233328" y="36041"/>
                        </a:cubicBezTo>
                        <a:cubicBezTo>
                          <a:pt x="1244861" y="36041"/>
                          <a:pt x="1255673" y="30275"/>
                          <a:pt x="1255673" y="18021"/>
                        </a:cubicBezTo>
                        <a:lnTo>
                          <a:pt x="1255673" y="18021"/>
                        </a:lnTo>
                        <a:close/>
                        <a:moveTo>
                          <a:pt x="1219632" y="68478"/>
                        </a:moveTo>
                        <a:lnTo>
                          <a:pt x="1219632" y="60549"/>
                        </a:lnTo>
                        <a:cubicBezTo>
                          <a:pt x="1219632" y="55503"/>
                          <a:pt x="1222515" y="54062"/>
                          <a:pt x="1224678" y="54062"/>
                        </a:cubicBezTo>
                        <a:cubicBezTo>
                          <a:pt x="1227561" y="54062"/>
                          <a:pt x="1230445" y="56224"/>
                          <a:pt x="1230445" y="60549"/>
                        </a:cubicBezTo>
                        <a:lnTo>
                          <a:pt x="1230445" y="68478"/>
                        </a:lnTo>
                        <a:lnTo>
                          <a:pt x="1219632" y="68478"/>
                        </a:lnTo>
                        <a:lnTo>
                          <a:pt x="1219632" y="68478"/>
                        </a:lnTo>
                        <a:close/>
                        <a:moveTo>
                          <a:pt x="1237653" y="68478"/>
                        </a:moveTo>
                        <a:lnTo>
                          <a:pt x="1237653" y="61270"/>
                        </a:lnTo>
                        <a:lnTo>
                          <a:pt x="1254232" y="54782"/>
                        </a:lnTo>
                        <a:lnTo>
                          <a:pt x="1254232" y="43970"/>
                        </a:lnTo>
                        <a:lnTo>
                          <a:pt x="1235490" y="51899"/>
                        </a:lnTo>
                        <a:cubicBezTo>
                          <a:pt x="1234049" y="47574"/>
                          <a:pt x="1229003" y="44691"/>
                          <a:pt x="1224678" y="44691"/>
                        </a:cubicBezTo>
                        <a:cubicBezTo>
                          <a:pt x="1216749" y="44691"/>
                          <a:pt x="1211703" y="49737"/>
                          <a:pt x="1211703" y="59828"/>
                        </a:cubicBezTo>
                        <a:lnTo>
                          <a:pt x="1211703" y="78569"/>
                        </a:lnTo>
                        <a:lnTo>
                          <a:pt x="1254232" y="78569"/>
                        </a:lnTo>
                        <a:lnTo>
                          <a:pt x="1254232" y="68478"/>
                        </a:lnTo>
                        <a:lnTo>
                          <a:pt x="1237653" y="68478"/>
                        </a:lnTo>
                        <a:lnTo>
                          <a:pt x="1237653" y="68478"/>
                        </a:lnTo>
                        <a:close/>
                        <a:moveTo>
                          <a:pt x="1228282" y="87940"/>
                        </a:moveTo>
                        <a:cubicBezTo>
                          <a:pt x="1218191" y="89382"/>
                          <a:pt x="1211703" y="94428"/>
                          <a:pt x="1211703" y="105240"/>
                        </a:cubicBezTo>
                        <a:cubicBezTo>
                          <a:pt x="1211703" y="118215"/>
                          <a:pt x="1221795" y="124702"/>
                          <a:pt x="1234049" y="124702"/>
                        </a:cubicBezTo>
                        <a:cubicBezTo>
                          <a:pt x="1245582" y="124702"/>
                          <a:pt x="1256394" y="118215"/>
                          <a:pt x="1256394" y="105961"/>
                        </a:cubicBezTo>
                        <a:cubicBezTo>
                          <a:pt x="1256394" y="95869"/>
                          <a:pt x="1250628" y="89382"/>
                          <a:pt x="1240536" y="88661"/>
                        </a:cubicBezTo>
                        <a:lnTo>
                          <a:pt x="1239815" y="98032"/>
                        </a:lnTo>
                        <a:cubicBezTo>
                          <a:pt x="1244140" y="98753"/>
                          <a:pt x="1247744" y="100915"/>
                          <a:pt x="1247744" y="105240"/>
                        </a:cubicBezTo>
                        <a:cubicBezTo>
                          <a:pt x="1247744" y="112448"/>
                          <a:pt x="1240536" y="113169"/>
                          <a:pt x="1234049" y="113169"/>
                        </a:cubicBezTo>
                        <a:cubicBezTo>
                          <a:pt x="1229003" y="113169"/>
                          <a:pt x="1219632" y="112448"/>
                          <a:pt x="1219632" y="105240"/>
                        </a:cubicBezTo>
                        <a:cubicBezTo>
                          <a:pt x="1219632" y="99473"/>
                          <a:pt x="1223957" y="98032"/>
                          <a:pt x="1229003" y="98032"/>
                        </a:cubicBezTo>
                        <a:lnTo>
                          <a:pt x="1228282" y="87940"/>
                        </a:lnTo>
                        <a:lnTo>
                          <a:pt x="1228282" y="87940"/>
                        </a:lnTo>
                        <a:close/>
                        <a:moveTo>
                          <a:pt x="1254952" y="134073"/>
                        </a:moveTo>
                        <a:lnTo>
                          <a:pt x="1212424" y="134073"/>
                        </a:lnTo>
                        <a:lnTo>
                          <a:pt x="1212424" y="144164"/>
                        </a:lnTo>
                        <a:lnTo>
                          <a:pt x="1254952" y="144164"/>
                        </a:lnTo>
                        <a:lnTo>
                          <a:pt x="1254952" y="134073"/>
                        </a:lnTo>
                        <a:lnTo>
                          <a:pt x="1254952" y="134073"/>
                        </a:lnTo>
                        <a:close/>
                        <a:moveTo>
                          <a:pt x="1254952" y="176601"/>
                        </a:moveTo>
                        <a:lnTo>
                          <a:pt x="1254952" y="183809"/>
                        </a:lnTo>
                        <a:lnTo>
                          <a:pt x="1220353" y="193901"/>
                        </a:lnTo>
                        <a:lnTo>
                          <a:pt x="1220353" y="193901"/>
                        </a:lnTo>
                        <a:lnTo>
                          <a:pt x="1254952" y="193901"/>
                        </a:lnTo>
                        <a:lnTo>
                          <a:pt x="1254952" y="202551"/>
                        </a:lnTo>
                        <a:lnTo>
                          <a:pt x="1212424" y="202551"/>
                        </a:lnTo>
                        <a:lnTo>
                          <a:pt x="1212424" y="186693"/>
                        </a:lnTo>
                        <a:lnTo>
                          <a:pt x="1238374" y="179484"/>
                        </a:lnTo>
                        <a:lnTo>
                          <a:pt x="1212424" y="171556"/>
                        </a:lnTo>
                        <a:lnTo>
                          <a:pt x="1212424" y="155697"/>
                        </a:lnTo>
                        <a:lnTo>
                          <a:pt x="1254952" y="155697"/>
                        </a:lnTo>
                        <a:lnTo>
                          <a:pt x="1254952" y="165789"/>
                        </a:lnTo>
                        <a:lnTo>
                          <a:pt x="1220353" y="165789"/>
                        </a:lnTo>
                        <a:lnTo>
                          <a:pt x="1220353" y="165789"/>
                        </a:lnTo>
                        <a:lnTo>
                          <a:pt x="1254952" y="176601"/>
                        </a:lnTo>
                        <a:lnTo>
                          <a:pt x="1254952" y="176601"/>
                        </a:lnTo>
                        <a:close/>
                        <a:moveTo>
                          <a:pt x="374107" y="202551"/>
                        </a:moveTo>
                        <a:lnTo>
                          <a:pt x="212643" y="202551"/>
                        </a:lnTo>
                        <a:cubicBezTo>
                          <a:pt x="200389" y="155697"/>
                          <a:pt x="173718" y="57666"/>
                          <a:pt x="173718" y="57666"/>
                        </a:cubicBezTo>
                        <a:cubicBezTo>
                          <a:pt x="173718" y="57666"/>
                          <a:pt x="172997" y="57666"/>
                          <a:pt x="172997" y="57666"/>
                        </a:cubicBezTo>
                        <a:lnTo>
                          <a:pt x="172997" y="202551"/>
                        </a:lnTo>
                        <a:lnTo>
                          <a:pt x="106682" y="202551"/>
                        </a:lnTo>
                        <a:lnTo>
                          <a:pt x="106682" y="2883"/>
                        </a:lnTo>
                        <a:lnTo>
                          <a:pt x="221293" y="2883"/>
                        </a:lnTo>
                        <a:cubicBezTo>
                          <a:pt x="233547" y="49016"/>
                          <a:pt x="258775" y="144164"/>
                          <a:pt x="258775" y="144164"/>
                        </a:cubicBezTo>
                        <a:lnTo>
                          <a:pt x="259496" y="144164"/>
                        </a:lnTo>
                        <a:lnTo>
                          <a:pt x="259496" y="2883"/>
                        </a:lnTo>
                        <a:lnTo>
                          <a:pt x="325812" y="2883"/>
                        </a:lnTo>
                        <a:lnTo>
                          <a:pt x="325812" y="33158"/>
                        </a:lnTo>
                        <a:cubicBezTo>
                          <a:pt x="309954" y="50457"/>
                          <a:pt x="299862" y="72082"/>
                          <a:pt x="299862" y="99473"/>
                        </a:cubicBezTo>
                        <a:cubicBezTo>
                          <a:pt x="299862" y="138398"/>
                          <a:pt x="322208" y="187414"/>
                          <a:pt x="374107" y="202551"/>
                        </a:cubicBezTo>
                        <a:lnTo>
                          <a:pt x="374107" y="202551"/>
                        </a:lnTo>
                        <a:close/>
                        <a:moveTo>
                          <a:pt x="1160525" y="2883"/>
                        </a:moveTo>
                        <a:lnTo>
                          <a:pt x="1160525" y="202551"/>
                        </a:lnTo>
                        <a:lnTo>
                          <a:pt x="1091326" y="202551"/>
                        </a:lnTo>
                        <a:lnTo>
                          <a:pt x="1091326" y="46133"/>
                        </a:lnTo>
                        <a:lnTo>
                          <a:pt x="1090605" y="46133"/>
                        </a:lnTo>
                        <a:lnTo>
                          <a:pt x="1050960" y="202551"/>
                        </a:lnTo>
                        <a:lnTo>
                          <a:pt x="986807" y="202551"/>
                        </a:lnTo>
                        <a:lnTo>
                          <a:pt x="947161" y="46133"/>
                        </a:lnTo>
                        <a:lnTo>
                          <a:pt x="946440" y="46133"/>
                        </a:lnTo>
                        <a:lnTo>
                          <a:pt x="946440" y="202551"/>
                        </a:lnTo>
                        <a:lnTo>
                          <a:pt x="825342" y="202551"/>
                        </a:lnTo>
                        <a:lnTo>
                          <a:pt x="813088" y="159302"/>
                        </a:lnTo>
                        <a:lnTo>
                          <a:pt x="748214" y="159302"/>
                        </a:lnTo>
                        <a:lnTo>
                          <a:pt x="735960" y="202551"/>
                        </a:lnTo>
                        <a:lnTo>
                          <a:pt x="619908" y="202551"/>
                        </a:lnTo>
                        <a:cubicBezTo>
                          <a:pt x="619908" y="202551"/>
                          <a:pt x="616304" y="172997"/>
                          <a:pt x="614862" y="165789"/>
                        </a:cubicBezTo>
                        <a:cubicBezTo>
                          <a:pt x="611258" y="141281"/>
                          <a:pt x="604050" y="134794"/>
                          <a:pt x="588912" y="134794"/>
                        </a:cubicBezTo>
                        <a:cubicBezTo>
                          <a:pt x="580262" y="134794"/>
                          <a:pt x="568729" y="134794"/>
                          <a:pt x="568729" y="134794"/>
                        </a:cubicBezTo>
                        <a:lnTo>
                          <a:pt x="568729" y="202551"/>
                        </a:lnTo>
                        <a:lnTo>
                          <a:pt x="449794" y="202551"/>
                        </a:lnTo>
                        <a:cubicBezTo>
                          <a:pt x="483672" y="194622"/>
                          <a:pt x="514668" y="179484"/>
                          <a:pt x="532688" y="168672"/>
                        </a:cubicBezTo>
                        <a:lnTo>
                          <a:pt x="507459" y="74245"/>
                        </a:lnTo>
                        <a:lnTo>
                          <a:pt x="441144" y="91544"/>
                        </a:lnTo>
                        <a:lnTo>
                          <a:pt x="455560" y="144885"/>
                        </a:lnTo>
                        <a:cubicBezTo>
                          <a:pt x="451235" y="147768"/>
                          <a:pt x="437539" y="152814"/>
                          <a:pt x="428169" y="152814"/>
                        </a:cubicBezTo>
                        <a:cubicBezTo>
                          <a:pt x="396453" y="152814"/>
                          <a:pt x="381315" y="121098"/>
                          <a:pt x="381315" y="93707"/>
                        </a:cubicBezTo>
                        <a:cubicBezTo>
                          <a:pt x="381315" y="49737"/>
                          <a:pt x="426006" y="33158"/>
                          <a:pt x="465651" y="33158"/>
                        </a:cubicBezTo>
                        <a:cubicBezTo>
                          <a:pt x="475022" y="33158"/>
                          <a:pt x="486556" y="33879"/>
                          <a:pt x="487997" y="33879"/>
                        </a:cubicBezTo>
                        <a:lnTo>
                          <a:pt x="480068" y="2163"/>
                        </a:lnTo>
                        <a:cubicBezTo>
                          <a:pt x="538455" y="2163"/>
                          <a:pt x="604770" y="2163"/>
                          <a:pt x="618466" y="2163"/>
                        </a:cubicBezTo>
                        <a:cubicBezTo>
                          <a:pt x="673969" y="2163"/>
                          <a:pt x="694873" y="28112"/>
                          <a:pt x="694873" y="56224"/>
                        </a:cubicBezTo>
                        <a:cubicBezTo>
                          <a:pt x="694873" y="98753"/>
                          <a:pt x="654507" y="106682"/>
                          <a:pt x="647299" y="107402"/>
                        </a:cubicBezTo>
                        <a:cubicBezTo>
                          <a:pt x="647299" y="107402"/>
                          <a:pt x="647299" y="108844"/>
                          <a:pt x="647299" y="108844"/>
                        </a:cubicBezTo>
                        <a:cubicBezTo>
                          <a:pt x="663157" y="111727"/>
                          <a:pt x="675411" y="119656"/>
                          <a:pt x="682619" y="133352"/>
                        </a:cubicBezTo>
                        <a:cubicBezTo>
                          <a:pt x="682619" y="132631"/>
                          <a:pt x="725148" y="12975"/>
                          <a:pt x="728752" y="2163"/>
                        </a:cubicBezTo>
                        <a:lnTo>
                          <a:pt x="834713" y="2163"/>
                        </a:lnTo>
                        <a:lnTo>
                          <a:pt x="879404" y="127585"/>
                        </a:lnTo>
                        <a:lnTo>
                          <a:pt x="880125" y="127585"/>
                        </a:lnTo>
                        <a:lnTo>
                          <a:pt x="880125" y="2163"/>
                        </a:lnTo>
                        <a:lnTo>
                          <a:pt x="994015" y="2163"/>
                        </a:lnTo>
                        <a:cubicBezTo>
                          <a:pt x="994015" y="2163"/>
                          <a:pt x="1020685" y="111727"/>
                          <a:pt x="1020685" y="111727"/>
                        </a:cubicBezTo>
                        <a:cubicBezTo>
                          <a:pt x="1029335" y="74965"/>
                          <a:pt x="1046635" y="2163"/>
                          <a:pt x="1046635" y="2163"/>
                        </a:cubicBezTo>
                        <a:lnTo>
                          <a:pt x="1160525" y="2163"/>
                        </a:lnTo>
                        <a:lnTo>
                          <a:pt x="1160525" y="2883"/>
                        </a:lnTo>
                        <a:close/>
                        <a:moveTo>
                          <a:pt x="0" y="2883"/>
                        </a:moveTo>
                        <a:lnTo>
                          <a:pt x="77128" y="2883"/>
                        </a:lnTo>
                        <a:cubicBezTo>
                          <a:pt x="77128" y="2883"/>
                          <a:pt x="77128" y="135515"/>
                          <a:pt x="77128" y="202551"/>
                        </a:cubicBezTo>
                        <a:cubicBezTo>
                          <a:pt x="76407" y="202551"/>
                          <a:pt x="721" y="202551"/>
                          <a:pt x="0" y="202551"/>
                        </a:cubicBezTo>
                        <a:lnTo>
                          <a:pt x="0" y="2883"/>
                        </a:lnTo>
                        <a:lnTo>
                          <a:pt x="0" y="2883"/>
                        </a:lnTo>
                        <a:close/>
                        <a:moveTo>
                          <a:pt x="779209" y="45412"/>
                        </a:moveTo>
                        <a:lnTo>
                          <a:pt x="757585" y="111006"/>
                        </a:lnTo>
                        <a:lnTo>
                          <a:pt x="801555" y="111006"/>
                        </a:lnTo>
                        <a:lnTo>
                          <a:pt x="779930" y="45412"/>
                        </a:lnTo>
                        <a:lnTo>
                          <a:pt x="779209" y="45412"/>
                        </a:lnTo>
                        <a:lnTo>
                          <a:pt x="779209" y="45412"/>
                        </a:lnTo>
                        <a:close/>
                        <a:moveTo>
                          <a:pt x="568729" y="90103"/>
                        </a:moveTo>
                        <a:cubicBezTo>
                          <a:pt x="568729" y="90103"/>
                          <a:pt x="583867" y="90103"/>
                          <a:pt x="591795" y="90103"/>
                        </a:cubicBezTo>
                        <a:cubicBezTo>
                          <a:pt x="610537" y="90103"/>
                          <a:pt x="618466" y="80732"/>
                          <a:pt x="618466" y="68478"/>
                        </a:cubicBezTo>
                        <a:cubicBezTo>
                          <a:pt x="618466" y="53341"/>
                          <a:pt x="605491" y="47574"/>
                          <a:pt x="591795" y="47574"/>
                        </a:cubicBezTo>
                        <a:cubicBezTo>
                          <a:pt x="583867" y="47574"/>
                          <a:pt x="568729" y="47574"/>
                          <a:pt x="568729" y="47574"/>
                        </a:cubicBezTo>
                        <a:lnTo>
                          <a:pt x="568729" y="90103"/>
                        </a:lnTo>
                        <a:lnTo>
                          <a:pt x="568729" y="90103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316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</p:grp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677F321-3876-1552-8FD7-0C63441F5EC8}"/>
                    </a:ext>
                  </a:extLst>
                </p:cNvPr>
                <p:cNvSpPr txBox="1"/>
                <p:nvPr/>
              </p:nvSpPr>
              <p:spPr>
                <a:xfrm>
                  <a:off x="14921081" y="4157859"/>
                  <a:ext cx="2087365" cy="1332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GB" sz="1400" b="1">
                      <a:solidFill>
                        <a:schemeClr val="bg1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x3</a:t>
                  </a:r>
                  <a:endParaRPr lang="en-GB" sz="1000" b="1">
                    <a:solidFill>
                      <a:schemeClr val="bg1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  <a:p>
                  <a:pPr algn="r"/>
                  <a:r>
                    <a:rPr lang="en-GB" sz="900">
                      <a:solidFill>
                        <a:schemeClr val="bg1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Competency Holder</a:t>
                  </a:r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FE9BDC1C-6EF3-D751-C7C0-0242C1DD30C9}"/>
                  </a:ext>
                </a:extLst>
              </p:cNvPr>
              <p:cNvGrpSpPr/>
              <p:nvPr/>
            </p:nvGrpSpPr>
            <p:grpSpPr>
              <a:xfrm>
                <a:off x="14380663" y="4780267"/>
                <a:ext cx="2080388" cy="2403379"/>
                <a:chOff x="14966619" y="3402902"/>
                <a:chExt cx="2080388" cy="2403379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D49E37F2-DA13-271D-5646-D1706C91D440}"/>
                    </a:ext>
                  </a:extLst>
                </p:cNvPr>
                <p:cNvGrpSpPr/>
                <p:nvPr/>
              </p:nvGrpSpPr>
              <p:grpSpPr>
                <a:xfrm>
                  <a:off x="14966619" y="3402902"/>
                  <a:ext cx="2080388" cy="2085696"/>
                  <a:chOff x="14966619" y="3402902"/>
                  <a:chExt cx="2080388" cy="2085696"/>
                </a:xfrm>
              </p:grpSpPr>
              <p:sp>
                <p:nvSpPr>
                  <p:cNvPr id="86" name="Freeform: Shape 85">
                    <a:extLst>
                      <a:ext uri="{FF2B5EF4-FFF2-40B4-BE49-F238E27FC236}">
                        <a16:creationId xmlns:a16="http://schemas.microsoft.com/office/drawing/2014/main" id="{E3616C9E-CB88-C84B-B1D5-48F329DBB8D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4966619" y="3402902"/>
                    <a:ext cx="2080388" cy="2085696"/>
                  </a:xfrm>
                  <a:custGeom>
                    <a:avLst/>
                    <a:gdLst>
                      <a:gd name="connsiteX0" fmla="*/ 2080388 w 2080388"/>
                      <a:gd name="connsiteY0" fmla="*/ 2085696 h 2085696"/>
                      <a:gd name="connsiteX1" fmla="*/ 680754 w 2080388"/>
                      <a:gd name="connsiteY1" fmla="*/ 2085696 h 2085696"/>
                      <a:gd name="connsiteX2" fmla="*/ 0 w 2080388"/>
                      <a:gd name="connsiteY2" fmla="*/ 1404941 h 2085696"/>
                      <a:gd name="connsiteX3" fmla="*/ 0 w 2080388"/>
                      <a:gd name="connsiteY3" fmla="*/ 1361509 h 2085696"/>
                      <a:gd name="connsiteX4" fmla="*/ 0 w 2080388"/>
                      <a:gd name="connsiteY4" fmla="*/ 724187 h 2085696"/>
                      <a:gd name="connsiteX5" fmla="*/ 0 w 2080388"/>
                      <a:gd name="connsiteY5" fmla="*/ 0 h 2085696"/>
                      <a:gd name="connsiteX6" fmla="*/ 1399632 w 2080388"/>
                      <a:gd name="connsiteY6" fmla="*/ 0 h 2085696"/>
                      <a:gd name="connsiteX7" fmla="*/ 2080388 w 2080388"/>
                      <a:gd name="connsiteY7" fmla="*/ 680755 h 2085696"/>
                      <a:gd name="connsiteX8" fmla="*/ 2080388 w 2080388"/>
                      <a:gd name="connsiteY8" fmla="*/ 724187 h 2085696"/>
                      <a:gd name="connsiteX9" fmla="*/ 2080388 w 2080388"/>
                      <a:gd name="connsiteY9" fmla="*/ 1361509 h 2085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080388" h="2085696">
                        <a:moveTo>
                          <a:pt x="2080388" y="2085696"/>
                        </a:moveTo>
                        <a:lnTo>
                          <a:pt x="680754" y="2085696"/>
                        </a:lnTo>
                        <a:lnTo>
                          <a:pt x="0" y="1404941"/>
                        </a:lnTo>
                        <a:lnTo>
                          <a:pt x="0" y="1361509"/>
                        </a:lnTo>
                        <a:lnTo>
                          <a:pt x="0" y="724187"/>
                        </a:lnTo>
                        <a:lnTo>
                          <a:pt x="0" y="0"/>
                        </a:lnTo>
                        <a:lnTo>
                          <a:pt x="1399632" y="0"/>
                        </a:lnTo>
                        <a:lnTo>
                          <a:pt x="2080388" y="680755"/>
                        </a:lnTo>
                        <a:lnTo>
                          <a:pt x="2080388" y="724187"/>
                        </a:lnTo>
                        <a:lnTo>
                          <a:pt x="2080388" y="1361509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rgbClr val="0077D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  <p:sp>
                <p:nvSpPr>
                  <p:cNvPr id="87" name="Freeform: Shape 86">
                    <a:extLst>
                      <a:ext uri="{FF2B5EF4-FFF2-40B4-BE49-F238E27FC236}">
                        <a16:creationId xmlns:a16="http://schemas.microsoft.com/office/drawing/2014/main" id="{F833D22D-D696-4622-1656-941267A7F956}"/>
                      </a:ext>
                    </a:extLst>
                  </p:cNvPr>
                  <p:cNvSpPr/>
                  <p:nvPr/>
                </p:nvSpPr>
                <p:spPr>
                  <a:xfrm>
                    <a:off x="15144783" y="3603822"/>
                    <a:ext cx="1200117" cy="193477"/>
                  </a:xfrm>
                  <a:custGeom>
                    <a:avLst/>
                    <a:gdLst>
                      <a:gd name="connsiteX0" fmla="*/ 1219632 w 1256394"/>
                      <a:gd name="connsiteY0" fmla="*/ 18021 h 202550"/>
                      <a:gd name="connsiteX1" fmla="*/ 1233328 w 1256394"/>
                      <a:gd name="connsiteY1" fmla="*/ 10091 h 202550"/>
                      <a:gd name="connsiteX2" fmla="*/ 1247024 w 1256394"/>
                      <a:gd name="connsiteY2" fmla="*/ 18021 h 202550"/>
                      <a:gd name="connsiteX3" fmla="*/ 1233328 w 1256394"/>
                      <a:gd name="connsiteY3" fmla="*/ 25950 h 202550"/>
                      <a:gd name="connsiteX4" fmla="*/ 1219632 w 1256394"/>
                      <a:gd name="connsiteY4" fmla="*/ 18021 h 202550"/>
                      <a:gd name="connsiteX5" fmla="*/ 1219632 w 1256394"/>
                      <a:gd name="connsiteY5" fmla="*/ 18021 h 202550"/>
                      <a:gd name="connsiteX6" fmla="*/ 1255673 w 1256394"/>
                      <a:gd name="connsiteY6" fmla="*/ 18021 h 202550"/>
                      <a:gd name="connsiteX7" fmla="*/ 1233328 w 1256394"/>
                      <a:gd name="connsiteY7" fmla="*/ 0 h 202550"/>
                      <a:gd name="connsiteX8" fmla="*/ 1211703 w 1256394"/>
                      <a:gd name="connsiteY8" fmla="*/ 18021 h 202550"/>
                      <a:gd name="connsiteX9" fmla="*/ 1233328 w 1256394"/>
                      <a:gd name="connsiteY9" fmla="*/ 36041 h 202550"/>
                      <a:gd name="connsiteX10" fmla="*/ 1255673 w 1256394"/>
                      <a:gd name="connsiteY10" fmla="*/ 18021 h 202550"/>
                      <a:gd name="connsiteX11" fmla="*/ 1255673 w 1256394"/>
                      <a:gd name="connsiteY11" fmla="*/ 18021 h 202550"/>
                      <a:gd name="connsiteX12" fmla="*/ 1219632 w 1256394"/>
                      <a:gd name="connsiteY12" fmla="*/ 68478 h 202550"/>
                      <a:gd name="connsiteX13" fmla="*/ 1219632 w 1256394"/>
                      <a:gd name="connsiteY13" fmla="*/ 60549 h 202550"/>
                      <a:gd name="connsiteX14" fmla="*/ 1224678 w 1256394"/>
                      <a:gd name="connsiteY14" fmla="*/ 54062 h 202550"/>
                      <a:gd name="connsiteX15" fmla="*/ 1230445 w 1256394"/>
                      <a:gd name="connsiteY15" fmla="*/ 60549 h 202550"/>
                      <a:gd name="connsiteX16" fmla="*/ 1230445 w 1256394"/>
                      <a:gd name="connsiteY16" fmla="*/ 68478 h 202550"/>
                      <a:gd name="connsiteX17" fmla="*/ 1219632 w 1256394"/>
                      <a:gd name="connsiteY17" fmla="*/ 68478 h 202550"/>
                      <a:gd name="connsiteX18" fmla="*/ 1219632 w 1256394"/>
                      <a:gd name="connsiteY18" fmla="*/ 68478 h 202550"/>
                      <a:gd name="connsiteX19" fmla="*/ 1237653 w 1256394"/>
                      <a:gd name="connsiteY19" fmla="*/ 68478 h 202550"/>
                      <a:gd name="connsiteX20" fmla="*/ 1237653 w 1256394"/>
                      <a:gd name="connsiteY20" fmla="*/ 61270 h 202550"/>
                      <a:gd name="connsiteX21" fmla="*/ 1254232 w 1256394"/>
                      <a:gd name="connsiteY21" fmla="*/ 54782 h 202550"/>
                      <a:gd name="connsiteX22" fmla="*/ 1254232 w 1256394"/>
                      <a:gd name="connsiteY22" fmla="*/ 43970 h 202550"/>
                      <a:gd name="connsiteX23" fmla="*/ 1235490 w 1256394"/>
                      <a:gd name="connsiteY23" fmla="*/ 51899 h 202550"/>
                      <a:gd name="connsiteX24" fmla="*/ 1224678 w 1256394"/>
                      <a:gd name="connsiteY24" fmla="*/ 44691 h 202550"/>
                      <a:gd name="connsiteX25" fmla="*/ 1211703 w 1256394"/>
                      <a:gd name="connsiteY25" fmla="*/ 59828 h 202550"/>
                      <a:gd name="connsiteX26" fmla="*/ 1211703 w 1256394"/>
                      <a:gd name="connsiteY26" fmla="*/ 78569 h 202550"/>
                      <a:gd name="connsiteX27" fmla="*/ 1254232 w 1256394"/>
                      <a:gd name="connsiteY27" fmla="*/ 78569 h 202550"/>
                      <a:gd name="connsiteX28" fmla="*/ 1254232 w 1256394"/>
                      <a:gd name="connsiteY28" fmla="*/ 68478 h 202550"/>
                      <a:gd name="connsiteX29" fmla="*/ 1237653 w 1256394"/>
                      <a:gd name="connsiteY29" fmla="*/ 68478 h 202550"/>
                      <a:gd name="connsiteX30" fmla="*/ 1237653 w 1256394"/>
                      <a:gd name="connsiteY30" fmla="*/ 68478 h 202550"/>
                      <a:gd name="connsiteX31" fmla="*/ 1228282 w 1256394"/>
                      <a:gd name="connsiteY31" fmla="*/ 87940 h 202550"/>
                      <a:gd name="connsiteX32" fmla="*/ 1211703 w 1256394"/>
                      <a:gd name="connsiteY32" fmla="*/ 105240 h 202550"/>
                      <a:gd name="connsiteX33" fmla="*/ 1234049 w 1256394"/>
                      <a:gd name="connsiteY33" fmla="*/ 124702 h 202550"/>
                      <a:gd name="connsiteX34" fmla="*/ 1256394 w 1256394"/>
                      <a:gd name="connsiteY34" fmla="*/ 105961 h 202550"/>
                      <a:gd name="connsiteX35" fmla="*/ 1240536 w 1256394"/>
                      <a:gd name="connsiteY35" fmla="*/ 88661 h 202550"/>
                      <a:gd name="connsiteX36" fmla="*/ 1239815 w 1256394"/>
                      <a:gd name="connsiteY36" fmla="*/ 98032 h 202550"/>
                      <a:gd name="connsiteX37" fmla="*/ 1247744 w 1256394"/>
                      <a:gd name="connsiteY37" fmla="*/ 105240 h 202550"/>
                      <a:gd name="connsiteX38" fmla="*/ 1234049 w 1256394"/>
                      <a:gd name="connsiteY38" fmla="*/ 113169 h 202550"/>
                      <a:gd name="connsiteX39" fmla="*/ 1219632 w 1256394"/>
                      <a:gd name="connsiteY39" fmla="*/ 105240 h 202550"/>
                      <a:gd name="connsiteX40" fmla="*/ 1229003 w 1256394"/>
                      <a:gd name="connsiteY40" fmla="*/ 98032 h 202550"/>
                      <a:gd name="connsiteX41" fmla="*/ 1228282 w 1256394"/>
                      <a:gd name="connsiteY41" fmla="*/ 87940 h 202550"/>
                      <a:gd name="connsiteX42" fmla="*/ 1228282 w 1256394"/>
                      <a:gd name="connsiteY42" fmla="*/ 87940 h 202550"/>
                      <a:gd name="connsiteX43" fmla="*/ 1254952 w 1256394"/>
                      <a:gd name="connsiteY43" fmla="*/ 134073 h 202550"/>
                      <a:gd name="connsiteX44" fmla="*/ 1212424 w 1256394"/>
                      <a:gd name="connsiteY44" fmla="*/ 134073 h 202550"/>
                      <a:gd name="connsiteX45" fmla="*/ 1212424 w 1256394"/>
                      <a:gd name="connsiteY45" fmla="*/ 144164 h 202550"/>
                      <a:gd name="connsiteX46" fmla="*/ 1254952 w 1256394"/>
                      <a:gd name="connsiteY46" fmla="*/ 144164 h 202550"/>
                      <a:gd name="connsiteX47" fmla="*/ 1254952 w 1256394"/>
                      <a:gd name="connsiteY47" fmla="*/ 134073 h 202550"/>
                      <a:gd name="connsiteX48" fmla="*/ 1254952 w 1256394"/>
                      <a:gd name="connsiteY48" fmla="*/ 134073 h 202550"/>
                      <a:gd name="connsiteX49" fmla="*/ 1254952 w 1256394"/>
                      <a:gd name="connsiteY49" fmla="*/ 176601 h 202550"/>
                      <a:gd name="connsiteX50" fmla="*/ 1254952 w 1256394"/>
                      <a:gd name="connsiteY50" fmla="*/ 183809 h 202550"/>
                      <a:gd name="connsiteX51" fmla="*/ 1220353 w 1256394"/>
                      <a:gd name="connsiteY51" fmla="*/ 193901 h 202550"/>
                      <a:gd name="connsiteX52" fmla="*/ 1220353 w 1256394"/>
                      <a:gd name="connsiteY52" fmla="*/ 193901 h 202550"/>
                      <a:gd name="connsiteX53" fmla="*/ 1254952 w 1256394"/>
                      <a:gd name="connsiteY53" fmla="*/ 193901 h 202550"/>
                      <a:gd name="connsiteX54" fmla="*/ 1254952 w 1256394"/>
                      <a:gd name="connsiteY54" fmla="*/ 202551 h 202550"/>
                      <a:gd name="connsiteX55" fmla="*/ 1212424 w 1256394"/>
                      <a:gd name="connsiteY55" fmla="*/ 202551 h 202550"/>
                      <a:gd name="connsiteX56" fmla="*/ 1212424 w 1256394"/>
                      <a:gd name="connsiteY56" fmla="*/ 186693 h 202550"/>
                      <a:gd name="connsiteX57" fmla="*/ 1238374 w 1256394"/>
                      <a:gd name="connsiteY57" fmla="*/ 179484 h 202550"/>
                      <a:gd name="connsiteX58" fmla="*/ 1212424 w 1256394"/>
                      <a:gd name="connsiteY58" fmla="*/ 171556 h 202550"/>
                      <a:gd name="connsiteX59" fmla="*/ 1212424 w 1256394"/>
                      <a:gd name="connsiteY59" fmla="*/ 155697 h 202550"/>
                      <a:gd name="connsiteX60" fmla="*/ 1254952 w 1256394"/>
                      <a:gd name="connsiteY60" fmla="*/ 155697 h 202550"/>
                      <a:gd name="connsiteX61" fmla="*/ 1254952 w 1256394"/>
                      <a:gd name="connsiteY61" fmla="*/ 165789 h 202550"/>
                      <a:gd name="connsiteX62" fmla="*/ 1220353 w 1256394"/>
                      <a:gd name="connsiteY62" fmla="*/ 165789 h 202550"/>
                      <a:gd name="connsiteX63" fmla="*/ 1220353 w 1256394"/>
                      <a:gd name="connsiteY63" fmla="*/ 165789 h 202550"/>
                      <a:gd name="connsiteX64" fmla="*/ 1254952 w 1256394"/>
                      <a:gd name="connsiteY64" fmla="*/ 176601 h 202550"/>
                      <a:gd name="connsiteX65" fmla="*/ 1254952 w 1256394"/>
                      <a:gd name="connsiteY65" fmla="*/ 176601 h 202550"/>
                      <a:gd name="connsiteX66" fmla="*/ 374107 w 1256394"/>
                      <a:gd name="connsiteY66" fmla="*/ 202551 h 202550"/>
                      <a:gd name="connsiteX67" fmla="*/ 212643 w 1256394"/>
                      <a:gd name="connsiteY67" fmla="*/ 202551 h 202550"/>
                      <a:gd name="connsiteX68" fmla="*/ 173718 w 1256394"/>
                      <a:gd name="connsiteY68" fmla="*/ 57666 h 202550"/>
                      <a:gd name="connsiteX69" fmla="*/ 172997 w 1256394"/>
                      <a:gd name="connsiteY69" fmla="*/ 57666 h 202550"/>
                      <a:gd name="connsiteX70" fmla="*/ 172997 w 1256394"/>
                      <a:gd name="connsiteY70" fmla="*/ 202551 h 202550"/>
                      <a:gd name="connsiteX71" fmla="*/ 106682 w 1256394"/>
                      <a:gd name="connsiteY71" fmla="*/ 202551 h 202550"/>
                      <a:gd name="connsiteX72" fmla="*/ 106682 w 1256394"/>
                      <a:gd name="connsiteY72" fmla="*/ 2883 h 202550"/>
                      <a:gd name="connsiteX73" fmla="*/ 221293 w 1256394"/>
                      <a:gd name="connsiteY73" fmla="*/ 2883 h 202550"/>
                      <a:gd name="connsiteX74" fmla="*/ 258775 w 1256394"/>
                      <a:gd name="connsiteY74" fmla="*/ 144164 h 202550"/>
                      <a:gd name="connsiteX75" fmla="*/ 259496 w 1256394"/>
                      <a:gd name="connsiteY75" fmla="*/ 144164 h 202550"/>
                      <a:gd name="connsiteX76" fmla="*/ 259496 w 1256394"/>
                      <a:gd name="connsiteY76" fmla="*/ 2883 h 202550"/>
                      <a:gd name="connsiteX77" fmla="*/ 325812 w 1256394"/>
                      <a:gd name="connsiteY77" fmla="*/ 2883 h 202550"/>
                      <a:gd name="connsiteX78" fmla="*/ 325812 w 1256394"/>
                      <a:gd name="connsiteY78" fmla="*/ 33158 h 202550"/>
                      <a:gd name="connsiteX79" fmla="*/ 299862 w 1256394"/>
                      <a:gd name="connsiteY79" fmla="*/ 99473 h 202550"/>
                      <a:gd name="connsiteX80" fmla="*/ 374107 w 1256394"/>
                      <a:gd name="connsiteY80" fmla="*/ 202551 h 202550"/>
                      <a:gd name="connsiteX81" fmla="*/ 374107 w 1256394"/>
                      <a:gd name="connsiteY81" fmla="*/ 202551 h 202550"/>
                      <a:gd name="connsiteX82" fmla="*/ 1160525 w 1256394"/>
                      <a:gd name="connsiteY82" fmla="*/ 2883 h 202550"/>
                      <a:gd name="connsiteX83" fmla="*/ 1160525 w 1256394"/>
                      <a:gd name="connsiteY83" fmla="*/ 202551 h 202550"/>
                      <a:gd name="connsiteX84" fmla="*/ 1091326 w 1256394"/>
                      <a:gd name="connsiteY84" fmla="*/ 202551 h 202550"/>
                      <a:gd name="connsiteX85" fmla="*/ 1091326 w 1256394"/>
                      <a:gd name="connsiteY85" fmla="*/ 46133 h 202550"/>
                      <a:gd name="connsiteX86" fmla="*/ 1090605 w 1256394"/>
                      <a:gd name="connsiteY86" fmla="*/ 46133 h 202550"/>
                      <a:gd name="connsiteX87" fmla="*/ 1050960 w 1256394"/>
                      <a:gd name="connsiteY87" fmla="*/ 202551 h 202550"/>
                      <a:gd name="connsiteX88" fmla="*/ 986807 w 1256394"/>
                      <a:gd name="connsiteY88" fmla="*/ 202551 h 202550"/>
                      <a:gd name="connsiteX89" fmla="*/ 947161 w 1256394"/>
                      <a:gd name="connsiteY89" fmla="*/ 46133 h 202550"/>
                      <a:gd name="connsiteX90" fmla="*/ 946440 w 1256394"/>
                      <a:gd name="connsiteY90" fmla="*/ 46133 h 202550"/>
                      <a:gd name="connsiteX91" fmla="*/ 946440 w 1256394"/>
                      <a:gd name="connsiteY91" fmla="*/ 202551 h 202550"/>
                      <a:gd name="connsiteX92" fmla="*/ 825342 w 1256394"/>
                      <a:gd name="connsiteY92" fmla="*/ 202551 h 202550"/>
                      <a:gd name="connsiteX93" fmla="*/ 813088 w 1256394"/>
                      <a:gd name="connsiteY93" fmla="*/ 159302 h 202550"/>
                      <a:gd name="connsiteX94" fmla="*/ 748214 w 1256394"/>
                      <a:gd name="connsiteY94" fmla="*/ 159302 h 202550"/>
                      <a:gd name="connsiteX95" fmla="*/ 735960 w 1256394"/>
                      <a:gd name="connsiteY95" fmla="*/ 202551 h 202550"/>
                      <a:gd name="connsiteX96" fmla="*/ 619908 w 1256394"/>
                      <a:gd name="connsiteY96" fmla="*/ 202551 h 202550"/>
                      <a:gd name="connsiteX97" fmla="*/ 614862 w 1256394"/>
                      <a:gd name="connsiteY97" fmla="*/ 165789 h 202550"/>
                      <a:gd name="connsiteX98" fmla="*/ 588912 w 1256394"/>
                      <a:gd name="connsiteY98" fmla="*/ 134794 h 202550"/>
                      <a:gd name="connsiteX99" fmla="*/ 568729 w 1256394"/>
                      <a:gd name="connsiteY99" fmla="*/ 134794 h 202550"/>
                      <a:gd name="connsiteX100" fmla="*/ 568729 w 1256394"/>
                      <a:gd name="connsiteY100" fmla="*/ 202551 h 202550"/>
                      <a:gd name="connsiteX101" fmla="*/ 449794 w 1256394"/>
                      <a:gd name="connsiteY101" fmla="*/ 202551 h 202550"/>
                      <a:gd name="connsiteX102" fmla="*/ 532688 w 1256394"/>
                      <a:gd name="connsiteY102" fmla="*/ 168672 h 202550"/>
                      <a:gd name="connsiteX103" fmla="*/ 507459 w 1256394"/>
                      <a:gd name="connsiteY103" fmla="*/ 74245 h 202550"/>
                      <a:gd name="connsiteX104" fmla="*/ 441144 w 1256394"/>
                      <a:gd name="connsiteY104" fmla="*/ 91544 h 202550"/>
                      <a:gd name="connsiteX105" fmla="*/ 455560 w 1256394"/>
                      <a:gd name="connsiteY105" fmla="*/ 144885 h 202550"/>
                      <a:gd name="connsiteX106" fmla="*/ 428169 w 1256394"/>
                      <a:gd name="connsiteY106" fmla="*/ 152814 h 202550"/>
                      <a:gd name="connsiteX107" fmla="*/ 381315 w 1256394"/>
                      <a:gd name="connsiteY107" fmla="*/ 93707 h 202550"/>
                      <a:gd name="connsiteX108" fmla="*/ 465651 w 1256394"/>
                      <a:gd name="connsiteY108" fmla="*/ 33158 h 202550"/>
                      <a:gd name="connsiteX109" fmla="*/ 487997 w 1256394"/>
                      <a:gd name="connsiteY109" fmla="*/ 33879 h 202550"/>
                      <a:gd name="connsiteX110" fmla="*/ 480068 w 1256394"/>
                      <a:gd name="connsiteY110" fmla="*/ 2163 h 202550"/>
                      <a:gd name="connsiteX111" fmla="*/ 618466 w 1256394"/>
                      <a:gd name="connsiteY111" fmla="*/ 2163 h 202550"/>
                      <a:gd name="connsiteX112" fmla="*/ 694873 w 1256394"/>
                      <a:gd name="connsiteY112" fmla="*/ 56224 h 202550"/>
                      <a:gd name="connsiteX113" fmla="*/ 647299 w 1256394"/>
                      <a:gd name="connsiteY113" fmla="*/ 107402 h 202550"/>
                      <a:gd name="connsiteX114" fmla="*/ 647299 w 1256394"/>
                      <a:gd name="connsiteY114" fmla="*/ 108844 h 202550"/>
                      <a:gd name="connsiteX115" fmla="*/ 682619 w 1256394"/>
                      <a:gd name="connsiteY115" fmla="*/ 133352 h 202550"/>
                      <a:gd name="connsiteX116" fmla="*/ 728752 w 1256394"/>
                      <a:gd name="connsiteY116" fmla="*/ 2163 h 202550"/>
                      <a:gd name="connsiteX117" fmla="*/ 834713 w 1256394"/>
                      <a:gd name="connsiteY117" fmla="*/ 2163 h 202550"/>
                      <a:gd name="connsiteX118" fmla="*/ 879404 w 1256394"/>
                      <a:gd name="connsiteY118" fmla="*/ 127585 h 202550"/>
                      <a:gd name="connsiteX119" fmla="*/ 880125 w 1256394"/>
                      <a:gd name="connsiteY119" fmla="*/ 127585 h 202550"/>
                      <a:gd name="connsiteX120" fmla="*/ 880125 w 1256394"/>
                      <a:gd name="connsiteY120" fmla="*/ 2163 h 202550"/>
                      <a:gd name="connsiteX121" fmla="*/ 994015 w 1256394"/>
                      <a:gd name="connsiteY121" fmla="*/ 2163 h 202550"/>
                      <a:gd name="connsiteX122" fmla="*/ 1020685 w 1256394"/>
                      <a:gd name="connsiteY122" fmla="*/ 111727 h 202550"/>
                      <a:gd name="connsiteX123" fmla="*/ 1046635 w 1256394"/>
                      <a:gd name="connsiteY123" fmla="*/ 2163 h 202550"/>
                      <a:gd name="connsiteX124" fmla="*/ 1160525 w 1256394"/>
                      <a:gd name="connsiteY124" fmla="*/ 2163 h 202550"/>
                      <a:gd name="connsiteX125" fmla="*/ 1160525 w 1256394"/>
                      <a:gd name="connsiteY125" fmla="*/ 2883 h 202550"/>
                      <a:gd name="connsiteX126" fmla="*/ 0 w 1256394"/>
                      <a:gd name="connsiteY126" fmla="*/ 2883 h 202550"/>
                      <a:gd name="connsiteX127" fmla="*/ 77128 w 1256394"/>
                      <a:gd name="connsiteY127" fmla="*/ 2883 h 202550"/>
                      <a:gd name="connsiteX128" fmla="*/ 77128 w 1256394"/>
                      <a:gd name="connsiteY128" fmla="*/ 202551 h 202550"/>
                      <a:gd name="connsiteX129" fmla="*/ 0 w 1256394"/>
                      <a:gd name="connsiteY129" fmla="*/ 202551 h 202550"/>
                      <a:gd name="connsiteX130" fmla="*/ 0 w 1256394"/>
                      <a:gd name="connsiteY130" fmla="*/ 2883 h 202550"/>
                      <a:gd name="connsiteX131" fmla="*/ 0 w 1256394"/>
                      <a:gd name="connsiteY131" fmla="*/ 2883 h 202550"/>
                      <a:gd name="connsiteX132" fmla="*/ 779209 w 1256394"/>
                      <a:gd name="connsiteY132" fmla="*/ 45412 h 202550"/>
                      <a:gd name="connsiteX133" fmla="*/ 757585 w 1256394"/>
                      <a:gd name="connsiteY133" fmla="*/ 111006 h 202550"/>
                      <a:gd name="connsiteX134" fmla="*/ 801555 w 1256394"/>
                      <a:gd name="connsiteY134" fmla="*/ 111006 h 202550"/>
                      <a:gd name="connsiteX135" fmla="*/ 779930 w 1256394"/>
                      <a:gd name="connsiteY135" fmla="*/ 45412 h 202550"/>
                      <a:gd name="connsiteX136" fmla="*/ 779209 w 1256394"/>
                      <a:gd name="connsiteY136" fmla="*/ 45412 h 202550"/>
                      <a:gd name="connsiteX137" fmla="*/ 779209 w 1256394"/>
                      <a:gd name="connsiteY137" fmla="*/ 45412 h 202550"/>
                      <a:gd name="connsiteX138" fmla="*/ 568729 w 1256394"/>
                      <a:gd name="connsiteY138" fmla="*/ 90103 h 202550"/>
                      <a:gd name="connsiteX139" fmla="*/ 591795 w 1256394"/>
                      <a:gd name="connsiteY139" fmla="*/ 90103 h 202550"/>
                      <a:gd name="connsiteX140" fmla="*/ 618466 w 1256394"/>
                      <a:gd name="connsiteY140" fmla="*/ 68478 h 202550"/>
                      <a:gd name="connsiteX141" fmla="*/ 591795 w 1256394"/>
                      <a:gd name="connsiteY141" fmla="*/ 47574 h 202550"/>
                      <a:gd name="connsiteX142" fmla="*/ 568729 w 1256394"/>
                      <a:gd name="connsiteY142" fmla="*/ 47574 h 202550"/>
                      <a:gd name="connsiteX143" fmla="*/ 568729 w 1256394"/>
                      <a:gd name="connsiteY143" fmla="*/ 90103 h 202550"/>
                      <a:gd name="connsiteX144" fmla="*/ 568729 w 1256394"/>
                      <a:gd name="connsiteY144" fmla="*/ 90103 h 202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</a:cxnLst>
                    <a:rect l="l" t="t" r="r" b="b"/>
                    <a:pathLst>
                      <a:path w="1256394" h="202550">
                        <a:moveTo>
                          <a:pt x="1219632" y="18021"/>
                        </a:moveTo>
                        <a:cubicBezTo>
                          <a:pt x="1219632" y="12254"/>
                          <a:pt x="1224678" y="10091"/>
                          <a:pt x="1233328" y="10091"/>
                        </a:cubicBezTo>
                        <a:cubicBezTo>
                          <a:pt x="1241978" y="10091"/>
                          <a:pt x="1247024" y="12254"/>
                          <a:pt x="1247024" y="18021"/>
                        </a:cubicBezTo>
                        <a:cubicBezTo>
                          <a:pt x="1247024" y="25229"/>
                          <a:pt x="1238374" y="25950"/>
                          <a:pt x="1233328" y="25950"/>
                        </a:cubicBezTo>
                        <a:cubicBezTo>
                          <a:pt x="1224678" y="25229"/>
                          <a:pt x="1219632" y="23066"/>
                          <a:pt x="1219632" y="18021"/>
                        </a:cubicBezTo>
                        <a:lnTo>
                          <a:pt x="1219632" y="18021"/>
                        </a:lnTo>
                        <a:close/>
                        <a:moveTo>
                          <a:pt x="1255673" y="18021"/>
                        </a:moveTo>
                        <a:cubicBezTo>
                          <a:pt x="1255673" y="7208"/>
                          <a:pt x="1247744" y="0"/>
                          <a:pt x="1233328" y="0"/>
                        </a:cubicBezTo>
                        <a:cubicBezTo>
                          <a:pt x="1223236" y="0"/>
                          <a:pt x="1211703" y="5046"/>
                          <a:pt x="1211703" y="18021"/>
                        </a:cubicBezTo>
                        <a:cubicBezTo>
                          <a:pt x="1211703" y="30995"/>
                          <a:pt x="1222515" y="36041"/>
                          <a:pt x="1233328" y="36041"/>
                        </a:cubicBezTo>
                        <a:cubicBezTo>
                          <a:pt x="1244861" y="36041"/>
                          <a:pt x="1255673" y="30275"/>
                          <a:pt x="1255673" y="18021"/>
                        </a:cubicBezTo>
                        <a:lnTo>
                          <a:pt x="1255673" y="18021"/>
                        </a:lnTo>
                        <a:close/>
                        <a:moveTo>
                          <a:pt x="1219632" y="68478"/>
                        </a:moveTo>
                        <a:lnTo>
                          <a:pt x="1219632" y="60549"/>
                        </a:lnTo>
                        <a:cubicBezTo>
                          <a:pt x="1219632" y="55503"/>
                          <a:pt x="1222515" y="54062"/>
                          <a:pt x="1224678" y="54062"/>
                        </a:cubicBezTo>
                        <a:cubicBezTo>
                          <a:pt x="1227561" y="54062"/>
                          <a:pt x="1230445" y="56224"/>
                          <a:pt x="1230445" y="60549"/>
                        </a:cubicBezTo>
                        <a:lnTo>
                          <a:pt x="1230445" y="68478"/>
                        </a:lnTo>
                        <a:lnTo>
                          <a:pt x="1219632" y="68478"/>
                        </a:lnTo>
                        <a:lnTo>
                          <a:pt x="1219632" y="68478"/>
                        </a:lnTo>
                        <a:close/>
                        <a:moveTo>
                          <a:pt x="1237653" y="68478"/>
                        </a:moveTo>
                        <a:lnTo>
                          <a:pt x="1237653" y="61270"/>
                        </a:lnTo>
                        <a:lnTo>
                          <a:pt x="1254232" y="54782"/>
                        </a:lnTo>
                        <a:lnTo>
                          <a:pt x="1254232" y="43970"/>
                        </a:lnTo>
                        <a:lnTo>
                          <a:pt x="1235490" y="51899"/>
                        </a:lnTo>
                        <a:cubicBezTo>
                          <a:pt x="1234049" y="47574"/>
                          <a:pt x="1229003" y="44691"/>
                          <a:pt x="1224678" y="44691"/>
                        </a:cubicBezTo>
                        <a:cubicBezTo>
                          <a:pt x="1216749" y="44691"/>
                          <a:pt x="1211703" y="49737"/>
                          <a:pt x="1211703" y="59828"/>
                        </a:cubicBezTo>
                        <a:lnTo>
                          <a:pt x="1211703" y="78569"/>
                        </a:lnTo>
                        <a:lnTo>
                          <a:pt x="1254232" y="78569"/>
                        </a:lnTo>
                        <a:lnTo>
                          <a:pt x="1254232" y="68478"/>
                        </a:lnTo>
                        <a:lnTo>
                          <a:pt x="1237653" y="68478"/>
                        </a:lnTo>
                        <a:lnTo>
                          <a:pt x="1237653" y="68478"/>
                        </a:lnTo>
                        <a:close/>
                        <a:moveTo>
                          <a:pt x="1228282" y="87940"/>
                        </a:moveTo>
                        <a:cubicBezTo>
                          <a:pt x="1218191" y="89382"/>
                          <a:pt x="1211703" y="94428"/>
                          <a:pt x="1211703" y="105240"/>
                        </a:cubicBezTo>
                        <a:cubicBezTo>
                          <a:pt x="1211703" y="118215"/>
                          <a:pt x="1221795" y="124702"/>
                          <a:pt x="1234049" y="124702"/>
                        </a:cubicBezTo>
                        <a:cubicBezTo>
                          <a:pt x="1245582" y="124702"/>
                          <a:pt x="1256394" y="118215"/>
                          <a:pt x="1256394" y="105961"/>
                        </a:cubicBezTo>
                        <a:cubicBezTo>
                          <a:pt x="1256394" y="95869"/>
                          <a:pt x="1250628" y="89382"/>
                          <a:pt x="1240536" y="88661"/>
                        </a:cubicBezTo>
                        <a:lnTo>
                          <a:pt x="1239815" y="98032"/>
                        </a:lnTo>
                        <a:cubicBezTo>
                          <a:pt x="1244140" y="98753"/>
                          <a:pt x="1247744" y="100915"/>
                          <a:pt x="1247744" y="105240"/>
                        </a:cubicBezTo>
                        <a:cubicBezTo>
                          <a:pt x="1247744" y="112448"/>
                          <a:pt x="1240536" y="113169"/>
                          <a:pt x="1234049" y="113169"/>
                        </a:cubicBezTo>
                        <a:cubicBezTo>
                          <a:pt x="1229003" y="113169"/>
                          <a:pt x="1219632" y="112448"/>
                          <a:pt x="1219632" y="105240"/>
                        </a:cubicBezTo>
                        <a:cubicBezTo>
                          <a:pt x="1219632" y="99473"/>
                          <a:pt x="1223957" y="98032"/>
                          <a:pt x="1229003" y="98032"/>
                        </a:cubicBezTo>
                        <a:lnTo>
                          <a:pt x="1228282" y="87940"/>
                        </a:lnTo>
                        <a:lnTo>
                          <a:pt x="1228282" y="87940"/>
                        </a:lnTo>
                        <a:close/>
                        <a:moveTo>
                          <a:pt x="1254952" y="134073"/>
                        </a:moveTo>
                        <a:lnTo>
                          <a:pt x="1212424" y="134073"/>
                        </a:lnTo>
                        <a:lnTo>
                          <a:pt x="1212424" y="144164"/>
                        </a:lnTo>
                        <a:lnTo>
                          <a:pt x="1254952" y="144164"/>
                        </a:lnTo>
                        <a:lnTo>
                          <a:pt x="1254952" y="134073"/>
                        </a:lnTo>
                        <a:lnTo>
                          <a:pt x="1254952" y="134073"/>
                        </a:lnTo>
                        <a:close/>
                        <a:moveTo>
                          <a:pt x="1254952" y="176601"/>
                        </a:moveTo>
                        <a:lnTo>
                          <a:pt x="1254952" y="183809"/>
                        </a:lnTo>
                        <a:lnTo>
                          <a:pt x="1220353" y="193901"/>
                        </a:lnTo>
                        <a:lnTo>
                          <a:pt x="1220353" y="193901"/>
                        </a:lnTo>
                        <a:lnTo>
                          <a:pt x="1254952" y="193901"/>
                        </a:lnTo>
                        <a:lnTo>
                          <a:pt x="1254952" y="202551"/>
                        </a:lnTo>
                        <a:lnTo>
                          <a:pt x="1212424" y="202551"/>
                        </a:lnTo>
                        <a:lnTo>
                          <a:pt x="1212424" y="186693"/>
                        </a:lnTo>
                        <a:lnTo>
                          <a:pt x="1238374" y="179484"/>
                        </a:lnTo>
                        <a:lnTo>
                          <a:pt x="1212424" y="171556"/>
                        </a:lnTo>
                        <a:lnTo>
                          <a:pt x="1212424" y="155697"/>
                        </a:lnTo>
                        <a:lnTo>
                          <a:pt x="1254952" y="155697"/>
                        </a:lnTo>
                        <a:lnTo>
                          <a:pt x="1254952" y="165789"/>
                        </a:lnTo>
                        <a:lnTo>
                          <a:pt x="1220353" y="165789"/>
                        </a:lnTo>
                        <a:lnTo>
                          <a:pt x="1220353" y="165789"/>
                        </a:lnTo>
                        <a:lnTo>
                          <a:pt x="1254952" y="176601"/>
                        </a:lnTo>
                        <a:lnTo>
                          <a:pt x="1254952" y="176601"/>
                        </a:lnTo>
                        <a:close/>
                        <a:moveTo>
                          <a:pt x="374107" y="202551"/>
                        </a:moveTo>
                        <a:lnTo>
                          <a:pt x="212643" y="202551"/>
                        </a:lnTo>
                        <a:cubicBezTo>
                          <a:pt x="200389" y="155697"/>
                          <a:pt x="173718" y="57666"/>
                          <a:pt x="173718" y="57666"/>
                        </a:cubicBezTo>
                        <a:cubicBezTo>
                          <a:pt x="173718" y="57666"/>
                          <a:pt x="172997" y="57666"/>
                          <a:pt x="172997" y="57666"/>
                        </a:cubicBezTo>
                        <a:lnTo>
                          <a:pt x="172997" y="202551"/>
                        </a:lnTo>
                        <a:lnTo>
                          <a:pt x="106682" y="202551"/>
                        </a:lnTo>
                        <a:lnTo>
                          <a:pt x="106682" y="2883"/>
                        </a:lnTo>
                        <a:lnTo>
                          <a:pt x="221293" y="2883"/>
                        </a:lnTo>
                        <a:cubicBezTo>
                          <a:pt x="233547" y="49016"/>
                          <a:pt x="258775" y="144164"/>
                          <a:pt x="258775" y="144164"/>
                        </a:cubicBezTo>
                        <a:lnTo>
                          <a:pt x="259496" y="144164"/>
                        </a:lnTo>
                        <a:lnTo>
                          <a:pt x="259496" y="2883"/>
                        </a:lnTo>
                        <a:lnTo>
                          <a:pt x="325812" y="2883"/>
                        </a:lnTo>
                        <a:lnTo>
                          <a:pt x="325812" y="33158"/>
                        </a:lnTo>
                        <a:cubicBezTo>
                          <a:pt x="309954" y="50457"/>
                          <a:pt x="299862" y="72082"/>
                          <a:pt x="299862" y="99473"/>
                        </a:cubicBezTo>
                        <a:cubicBezTo>
                          <a:pt x="299862" y="138398"/>
                          <a:pt x="322208" y="187414"/>
                          <a:pt x="374107" y="202551"/>
                        </a:cubicBezTo>
                        <a:lnTo>
                          <a:pt x="374107" y="202551"/>
                        </a:lnTo>
                        <a:close/>
                        <a:moveTo>
                          <a:pt x="1160525" y="2883"/>
                        </a:moveTo>
                        <a:lnTo>
                          <a:pt x="1160525" y="202551"/>
                        </a:lnTo>
                        <a:lnTo>
                          <a:pt x="1091326" y="202551"/>
                        </a:lnTo>
                        <a:lnTo>
                          <a:pt x="1091326" y="46133"/>
                        </a:lnTo>
                        <a:lnTo>
                          <a:pt x="1090605" y="46133"/>
                        </a:lnTo>
                        <a:lnTo>
                          <a:pt x="1050960" y="202551"/>
                        </a:lnTo>
                        <a:lnTo>
                          <a:pt x="986807" y="202551"/>
                        </a:lnTo>
                        <a:lnTo>
                          <a:pt x="947161" y="46133"/>
                        </a:lnTo>
                        <a:lnTo>
                          <a:pt x="946440" y="46133"/>
                        </a:lnTo>
                        <a:lnTo>
                          <a:pt x="946440" y="202551"/>
                        </a:lnTo>
                        <a:lnTo>
                          <a:pt x="825342" y="202551"/>
                        </a:lnTo>
                        <a:lnTo>
                          <a:pt x="813088" y="159302"/>
                        </a:lnTo>
                        <a:lnTo>
                          <a:pt x="748214" y="159302"/>
                        </a:lnTo>
                        <a:lnTo>
                          <a:pt x="735960" y="202551"/>
                        </a:lnTo>
                        <a:lnTo>
                          <a:pt x="619908" y="202551"/>
                        </a:lnTo>
                        <a:cubicBezTo>
                          <a:pt x="619908" y="202551"/>
                          <a:pt x="616304" y="172997"/>
                          <a:pt x="614862" y="165789"/>
                        </a:cubicBezTo>
                        <a:cubicBezTo>
                          <a:pt x="611258" y="141281"/>
                          <a:pt x="604050" y="134794"/>
                          <a:pt x="588912" y="134794"/>
                        </a:cubicBezTo>
                        <a:cubicBezTo>
                          <a:pt x="580262" y="134794"/>
                          <a:pt x="568729" y="134794"/>
                          <a:pt x="568729" y="134794"/>
                        </a:cubicBezTo>
                        <a:lnTo>
                          <a:pt x="568729" y="202551"/>
                        </a:lnTo>
                        <a:lnTo>
                          <a:pt x="449794" y="202551"/>
                        </a:lnTo>
                        <a:cubicBezTo>
                          <a:pt x="483672" y="194622"/>
                          <a:pt x="514668" y="179484"/>
                          <a:pt x="532688" y="168672"/>
                        </a:cubicBezTo>
                        <a:lnTo>
                          <a:pt x="507459" y="74245"/>
                        </a:lnTo>
                        <a:lnTo>
                          <a:pt x="441144" y="91544"/>
                        </a:lnTo>
                        <a:lnTo>
                          <a:pt x="455560" y="144885"/>
                        </a:lnTo>
                        <a:cubicBezTo>
                          <a:pt x="451235" y="147768"/>
                          <a:pt x="437539" y="152814"/>
                          <a:pt x="428169" y="152814"/>
                        </a:cubicBezTo>
                        <a:cubicBezTo>
                          <a:pt x="396453" y="152814"/>
                          <a:pt x="381315" y="121098"/>
                          <a:pt x="381315" y="93707"/>
                        </a:cubicBezTo>
                        <a:cubicBezTo>
                          <a:pt x="381315" y="49737"/>
                          <a:pt x="426006" y="33158"/>
                          <a:pt x="465651" y="33158"/>
                        </a:cubicBezTo>
                        <a:cubicBezTo>
                          <a:pt x="475022" y="33158"/>
                          <a:pt x="486556" y="33879"/>
                          <a:pt x="487997" y="33879"/>
                        </a:cubicBezTo>
                        <a:lnTo>
                          <a:pt x="480068" y="2163"/>
                        </a:lnTo>
                        <a:cubicBezTo>
                          <a:pt x="538455" y="2163"/>
                          <a:pt x="604770" y="2163"/>
                          <a:pt x="618466" y="2163"/>
                        </a:cubicBezTo>
                        <a:cubicBezTo>
                          <a:pt x="673969" y="2163"/>
                          <a:pt x="694873" y="28112"/>
                          <a:pt x="694873" y="56224"/>
                        </a:cubicBezTo>
                        <a:cubicBezTo>
                          <a:pt x="694873" y="98753"/>
                          <a:pt x="654507" y="106682"/>
                          <a:pt x="647299" y="107402"/>
                        </a:cubicBezTo>
                        <a:cubicBezTo>
                          <a:pt x="647299" y="107402"/>
                          <a:pt x="647299" y="108844"/>
                          <a:pt x="647299" y="108844"/>
                        </a:cubicBezTo>
                        <a:cubicBezTo>
                          <a:pt x="663157" y="111727"/>
                          <a:pt x="675411" y="119656"/>
                          <a:pt x="682619" y="133352"/>
                        </a:cubicBezTo>
                        <a:cubicBezTo>
                          <a:pt x="682619" y="132631"/>
                          <a:pt x="725148" y="12975"/>
                          <a:pt x="728752" y="2163"/>
                        </a:cubicBezTo>
                        <a:lnTo>
                          <a:pt x="834713" y="2163"/>
                        </a:lnTo>
                        <a:lnTo>
                          <a:pt x="879404" y="127585"/>
                        </a:lnTo>
                        <a:lnTo>
                          <a:pt x="880125" y="127585"/>
                        </a:lnTo>
                        <a:lnTo>
                          <a:pt x="880125" y="2163"/>
                        </a:lnTo>
                        <a:lnTo>
                          <a:pt x="994015" y="2163"/>
                        </a:lnTo>
                        <a:cubicBezTo>
                          <a:pt x="994015" y="2163"/>
                          <a:pt x="1020685" y="111727"/>
                          <a:pt x="1020685" y="111727"/>
                        </a:cubicBezTo>
                        <a:cubicBezTo>
                          <a:pt x="1029335" y="74965"/>
                          <a:pt x="1046635" y="2163"/>
                          <a:pt x="1046635" y="2163"/>
                        </a:cubicBezTo>
                        <a:lnTo>
                          <a:pt x="1160525" y="2163"/>
                        </a:lnTo>
                        <a:lnTo>
                          <a:pt x="1160525" y="2883"/>
                        </a:lnTo>
                        <a:close/>
                        <a:moveTo>
                          <a:pt x="0" y="2883"/>
                        </a:moveTo>
                        <a:lnTo>
                          <a:pt x="77128" y="2883"/>
                        </a:lnTo>
                        <a:cubicBezTo>
                          <a:pt x="77128" y="2883"/>
                          <a:pt x="77128" y="135515"/>
                          <a:pt x="77128" y="202551"/>
                        </a:cubicBezTo>
                        <a:cubicBezTo>
                          <a:pt x="76407" y="202551"/>
                          <a:pt x="721" y="202551"/>
                          <a:pt x="0" y="202551"/>
                        </a:cubicBezTo>
                        <a:lnTo>
                          <a:pt x="0" y="2883"/>
                        </a:lnTo>
                        <a:lnTo>
                          <a:pt x="0" y="2883"/>
                        </a:lnTo>
                        <a:close/>
                        <a:moveTo>
                          <a:pt x="779209" y="45412"/>
                        </a:moveTo>
                        <a:lnTo>
                          <a:pt x="757585" y="111006"/>
                        </a:lnTo>
                        <a:lnTo>
                          <a:pt x="801555" y="111006"/>
                        </a:lnTo>
                        <a:lnTo>
                          <a:pt x="779930" y="45412"/>
                        </a:lnTo>
                        <a:lnTo>
                          <a:pt x="779209" y="45412"/>
                        </a:lnTo>
                        <a:lnTo>
                          <a:pt x="779209" y="45412"/>
                        </a:lnTo>
                        <a:close/>
                        <a:moveTo>
                          <a:pt x="568729" y="90103"/>
                        </a:moveTo>
                        <a:cubicBezTo>
                          <a:pt x="568729" y="90103"/>
                          <a:pt x="583867" y="90103"/>
                          <a:pt x="591795" y="90103"/>
                        </a:cubicBezTo>
                        <a:cubicBezTo>
                          <a:pt x="610537" y="90103"/>
                          <a:pt x="618466" y="80732"/>
                          <a:pt x="618466" y="68478"/>
                        </a:cubicBezTo>
                        <a:cubicBezTo>
                          <a:pt x="618466" y="53341"/>
                          <a:pt x="605491" y="47574"/>
                          <a:pt x="591795" y="47574"/>
                        </a:cubicBezTo>
                        <a:cubicBezTo>
                          <a:pt x="583867" y="47574"/>
                          <a:pt x="568729" y="47574"/>
                          <a:pt x="568729" y="47574"/>
                        </a:cubicBezTo>
                        <a:lnTo>
                          <a:pt x="568729" y="90103"/>
                        </a:lnTo>
                        <a:lnTo>
                          <a:pt x="568729" y="90103"/>
                        </a:lnTo>
                        <a:close/>
                      </a:path>
                    </a:pathLst>
                  </a:custGeom>
                  <a:solidFill>
                    <a:srgbClr val="0D7ABF"/>
                  </a:solidFill>
                  <a:ln w="316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</p:grp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6D81E51A-23A4-0B85-4068-5918E47DE64A}"/>
                    </a:ext>
                  </a:extLst>
                </p:cNvPr>
                <p:cNvSpPr txBox="1"/>
                <p:nvPr/>
              </p:nvSpPr>
              <p:spPr>
                <a:xfrm>
                  <a:off x="15306646" y="4157859"/>
                  <a:ext cx="1701801" cy="16484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GB" sz="1400" b="1">
                      <a:solidFill>
                        <a:srgbClr val="0D7ABF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x7</a:t>
                  </a:r>
                  <a:endParaRPr lang="en-GB" sz="1000" b="1">
                    <a:solidFill>
                      <a:srgbClr val="0D7ABF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  <a:p>
                  <a:pPr algn="r"/>
                  <a:r>
                    <a:rPr lang="en-GB" sz="900">
                      <a:solidFill>
                        <a:srgbClr val="0D7ABF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Program Enrolments</a:t>
                  </a: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53F86C77-1D96-887D-FBBC-8B9E1E637005}"/>
                  </a:ext>
                </a:extLst>
              </p:cNvPr>
              <p:cNvGrpSpPr/>
              <p:nvPr/>
            </p:nvGrpSpPr>
            <p:grpSpPr>
              <a:xfrm>
                <a:off x="14770716" y="6861435"/>
                <a:ext cx="2373936" cy="2087722"/>
                <a:chOff x="14691360" y="3402902"/>
                <a:chExt cx="2373936" cy="208772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BEFEAC45-1A12-CE75-5C10-D0EDA5F73869}"/>
                    </a:ext>
                  </a:extLst>
                </p:cNvPr>
                <p:cNvGrpSpPr/>
                <p:nvPr/>
              </p:nvGrpSpPr>
              <p:grpSpPr>
                <a:xfrm>
                  <a:off x="14984907" y="3402902"/>
                  <a:ext cx="2080388" cy="2085696"/>
                  <a:chOff x="14984907" y="3402902"/>
                  <a:chExt cx="2080388" cy="2085696"/>
                </a:xfrm>
              </p:grpSpPr>
              <p:sp>
                <p:nvSpPr>
                  <p:cNvPr id="91" name="Freeform: Shape 90">
                    <a:extLst>
                      <a:ext uri="{FF2B5EF4-FFF2-40B4-BE49-F238E27FC236}">
                        <a16:creationId xmlns:a16="http://schemas.microsoft.com/office/drawing/2014/main" id="{90354187-2477-7646-1629-7E56C704DF4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4984907" y="3402902"/>
                    <a:ext cx="2080388" cy="2085696"/>
                  </a:xfrm>
                  <a:custGeom>
                    <a:avLst/>
                    <a:gdLst>
                      <a:gd name="connsiteX0" fmla="*/ 2080388 w 2080388"/>
                      <a:gd name="connsiteY0" fmla="*/ 2085696 h 2085696"/>
                      <a:gd name="connsiteX1" fmla="*/ 680754 w 2080388"/>
                      <a:gd name="connsiteY1" fmla="*/ 2085696 h 2085696"/>
                      <a:gd name="connsiteX2" fmla="*/ 0 w 2080388"/>
                      <a:gd name="connsiteY2" fmla="*/ 1404941 h 2085696"/>
                      <a:gd name="connsiteX3" fmla="*/ 0 w 2080388"/>
                      <a:gd name="connsiteY3" fmla="*/ 1361509 h 2085696"/>
                      <a:gd name="connsiteX4" fmla="*/ 0 w 2080388"/>
                      <a:gd name="connsiteY4" fmla="*/ 724187 h 2085696"/>
                      <a:gd name="connsiteX5" fmla="*/ 0 w 2080388"/>
                      <a:gd name="connsiteY5" fmla="*/ 0 h 2085696"/>
                      <a:gd name="connsiteX6" fmla="*/ 1399632 w 2080388"/>
                      <a:gd name="connsiteY6" fmla="*/ 0 h 2085696"/>
                      <a:gd name="connsiteX7" fmla="*/ 2080388 w 2080388"/>
                      <a:gd name="connsiteY7" fmla="*/ 680755 h 2085696"/>
                      <a:gd name="connsiteX8" fmla="*/ 2080388 w 2080388"/>
                      <a:gd name="connsiteY8" fmla="*/ 724187 h 2085696"/>
                      <a:gd name="connsiteX9" fmla="*/ 2080388 w 2080388"/>
                      <a:gd name="connsiteY9" fmla="*/ 1361509 h 2085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080388" h="2085696">
                        <a:moveTo>
                          <a:pt x="2080388" y="2085696"/>
                        </a:moveTo>
                        <a:lnTo>
                          <a:pt x="680754" y="2085696"/>
                        </a:lnTo>
                        <a:lnTo>
                          <a:pt x="0" y="1404941"/>
                        </a:lnTo>
                        <a:lnTo>
                          <a:pt x="0" y="1361509"/>
                        </a:lnTo>
                        <a:lnTo>
                          <a:pt x="0" y="724187"/>
                        </a:lnTo>
                        <a:lnTo>
                          <a:pt x="0" y="0"/>
                        </a:lnTo>
                        <a:lnTo>
                          <a:pt x="1399632" y="0"/>
                        </a:lnTo>
                        <a:lnTo>
                          <a:pt x="2080388" y="680755"/>
                        </a:lnTo>
                        <a:lnTo>
                          <a:pt x="2080388" y="724187"/>
                        </a:lnTo>
                        <a:lnTo>
                          <a:pt x="2080388" y="1361509"/>
                        </a:lnTo>
                        <a:close/>
                      </a:path>
                    </a:pathLst>
                  </a:custGeom>
                  <a:solidFill>
                    <a:srgbClr val="0077D4"/>
                  </a:solidFill>
                  <a:ln w="28575">
                    <a:solidFill>
                      <a:srgbClr val="0077D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  <p:sp>
                <p:nvSpPr>
                  <p:cNvPr id="92" name="Freeform: Shape 91">
                    <a:extLst>
                      <a:ext uri="{FF2B5EF4-FFF2-40B4-BE49-F238E27FC236}">
                        <a16:creationId xmlns:a16="http://schemas.microsoft.com/office/drawing/2014/main" id="{E6EF9A9E-E83A-9070-6F44-EB76DB3633D4}"/>
                      </a:ext>
                    </a:extLst>
                  </p:cNvPr>
                  <p:cNvSpPr/>
                  <p:nvPr/>
                </p:nvSpPr>
                <p:spPr>
                  <a:xfrm>
                    <a:off x="15144783" y="3603822"/>
                    <a:ext cx="1200117" cy="193477"/>
                  </a:xfrm>
                  <a:custGeom>
                    <a:avLst/>
                    <a:gdLst>
                      <a:gd name="connsiteX0" fmla="*/ 1219632 w 1256394"/>
                      <a:gd name="connsiteY0" fmla="*/ 18021 h 202550"/>
                      <a:gd name="connsiteX1" fmla="*/ 1233328 w 1256394"/>
                      <a:gd name="connsiteY1" fmla="*/ 10091 h 202550"/>
                      <a:gd name="connsiteX2" fmla="*/ 1247024 w 1256394"/>
                      <a:gd name="connsiteY2" fmla="*/ 18021 h 202550"/>
                      <a:gd name="connsiteX3" fmla="*/ 1233328 w 1256394"/>
                      <a:gd name="connsiteY3" fmla="*/ 25950 h 202550"/>
                      <a:gd name="connsiteX4" fmla="*/ 1219632 w 1256394"/>
                      <a:gd name="connsiteY4" fmla="*/ 18021 h 202550"/>
                      <a:gd name="connsiteX5" fmla="*/ 1219632 w 1256394"/>
                      <a:gd name="connsiteY5" fmla="*/ 18021 h 202550"/>
                      <a:gd name="connsiteX6" fmla="*/ 1255673 w 1256394"/>
                      <a:gd name="connsiteY6" fmla="*/ 18021 h 202550"/>
                      <a:gd name="connsiteX7" fmla="*/ 1233328 w 1256394"/>
                      <a:gd name="connsiteY7" fmla="*/ 0 h 202550"/>
                      <a:gd name="connsiteX8" fmla="*/ 1211703 w 1256394"/>
                      <a:gd name="connsiteY8" fmla="*/ 18021 h 202550"/>
                      <a:gd name="connsiteX9" fmla="*/ 1233328 w 1256394"/>
                      <a:gd name="connsiteY9" fmla="*/ 36041 h 202550"/>
                      <a:gd name="connsiteX10" fmla="*/ 1255673 w 1256394"/>
                      <a:gd name="connsiteY10" fmla="*/ 18021 h 202550"/>
                      <a:gd name="connsiteX11" fmla="*/ 1255673 w 1256394"/>
                      <a:gd name="connsiteY11" fmla="*/ 18021 h 202550"/>
                      <a:gd name="connsiteX12" fmla="*/ 1219632 w 1256394"/>
                      <a:gd name="connsiteY12" fmla="*/ 68478 h 202550"/>
                      <a:gd name="connsiteX13" fmla="*/ 1219632 w 1256394"/>
                      <a:gd name="connsiteY13" fmla="*/ 60549 h 202550"/>
                      <a:gd name="connsiteX14" fmla="*/ 1224678 w 1256394"/>
                      <a:gd name="connsiteY14" fmla="*/ 54062 h 202550"/>
                      <a:gd name="connsiteX15" fmla="*/ 1230445 w 1256394"/>
                      <a:gd name="connsiteY15" fmla="*/ 60549 h 202550"/>
                      <a:gd name="connsiteX16" fmla="*/ 1230445 w 1256394"/>
                      <a:gd name="connsiteY16" fmla="*/ 68478 h 202550"/>
                      <a:gd name="connsiteX17" fmla="*/ 1219632 w 1256394"/>
                      <a:gd name="connsiteY17" fmla="*/ 68478 h 202550"/>
                      <a:gd name="connsiteX18" fmla="*/ 1219632 w 1256394"/>
                      <a:gd name="connsiteY18" fmla="*/ 68478 h 202550"/>
                      <a:gd name="connsiteX19" fmla="*/ 1237653 w 1256394"/>
                      <a:gd name="connsiteY19" fmla="*/ 68478 h 202550"/>
                      <a:gd name="connsiteX20" fmla="*/ 1237653 w 1256394"/>
                      <a:gd name="connsiteY20" fmla="*/ 61270 h 202550"/>
                      <a:gd name="connsiteX21" fmla="*/ 1254232 w 1256394"/>
                      <a:gd name="connsiteY21" fmla="*/ 54782 h 202550"/>
                      <a:gd name="connsiteX22" fmla="*/ 1254232 w 1256394"/>
                      <a:gd name="connsiteY22" fmla="*/ 43970 h 202550"/>
                      <a:gd name="connsiteX23" fmla="*/ 1235490 w 1256394"/>
                      <a:gd name="connsiteY23" fmla="*/ 51899 h 202550"/>
                      <a:gd name="connsiteX24" fmla="*/ 1224678 w 1256394"/>
                      <a:gd name="connsiteY24" fmla="*/ 44691 h 202550"/>
                      <a:gd name="connsiteX25" fmla="*/ 1211703 w 1256394"/>
                      <a:gd name="connsiteY25" fmla="*/ 59828 h 202550"/>
                      <a:gd name="connsiteX26" fmla="*/ 1211703 w 1256394"/>
                      <a:gd name="connsiteY26" fmla="*/ 78569 h 202550"/>
                      <a:gd name="connsiteX27" fmla="*/ 1254232 w 1256394"/>
                      <a:gd name="connsiteY27" fmla="*/ 78569 h 202550"/>
                      <a:gd name="connsiteX28" fmla="*/ 1254232 w 1256394"/>
                      <a:gd name="connsiteY28" fmla="*/ 68478 h 202550"/>
                      <a:gd name="connsiteX29" fmla="*/ 1237653 w 1256394"/>
                      <a:gd name="connsiteY29" fmla="*/ 68478 h 202550"/>
                      <a:gd name="connsiteX30" fmla="*/ 1237653 w 1256394"/>
                      <a:gd name="connsiteY30" fmla="*/ 68478 h 202550"/>
                      <a:gd name="connsiteX31" fmla="*/ 1228282 w 1256394"/>
                      <a:gd name="connsiteY31" fmla="*/ 87940 h 202550"/>
                      <a:gd name="connsiteX32" fmla="*/ 1211703 w 1256394"/>
                      <a:gd name="connsiteY32" fmla="*/ 105240 h 202550"/>
                      <a:gd name="connsiteX33" fmla="*/ 1234049 w 1256394"/>
                      <a:gd name="connsiteY33" fmla="*/ 124702 h 202550"/>
                      <a:gd name="connsiteX34" fmla="*/ 1256394 w 1256394"/>
                      <a:gd name="connsiteY34" fmla="*/ 105961 h 202550"/>
                      <a:gd name="connsiteX35" fmla="*/ 1240536 w 1256394"/>
                      <a:gd name="connsiteY35" fmla="*/ 88661 h 202550"/>
                      <a:gd name="connsiteX36" fmla="*/ 1239815 w 1256394"/>
                      <a:gd name="connsiteY36" fmla="*/ 98032 h 202550"/>
                      <a:gd name="connsiteX37" fmla="*/ 1247744 w 1256394"/>
                      <a:gd name="connsiteY37" fmla="*/ 105240 h 202550"/>
                      <a:gd name="connsiteX38" fmla="*/ 1234049 w 1256394"/>
                      <a:gd name="connsiteY38" fmla="*/ 113169 h 202550"/>
                      <a:gd name="connsiteX39" fmla="*/ 1219632 w 1256394"/>
                      <a:gd name="connsiteY39" fmla="*/ 105240 h 202550"/>
                      <a:gd name="connsiteX40" fmla="*/ 1229003 w 1256394"/>
                      <a:gd name="connsiteY40" fmla="*/ 98032 h 202550"/>
                      <a:gd name="connsiteX41" fmla="*/ 1228282 w 1256394"/>
                      <a:gd name="connsiteY41" fmla="*/ 87940 h 202550"/>
                      <a:gd name="connsiteX42" fmla="*/ 1228282 w 1256394"/>
                      <a:gd name="connsiteY42" fmla="*/ 87940 h 202550"/>
                      <a:gd name="connsiteX43" fmla="*/ 1254952 w 1256394"/>
                      <a:gd name="connsiteY43" fmla="*/ 134073 h 202550"/>
                      <a:gd name="connsiteX44" fmla="*/ 1212424 w 1256394"/>
                      <a:gd name="connsiteY44" fmla="*/ 134073 h 202550"/>
                      <a:gd name="connsiteX45" fmla="*/ 1212424 w 1256394"/>
                      <a:gd name="connsiteY45" fmla="*/ 144164 h 202550"/>
                      <a:gd name="connsiteX46" fmla="*/ 1254952 w 1256394"/>
                      <a:gd name="connsiteY46" fmla="*/ 144164 h 202550"/>
                      <a:gd name="connsiteX47" fmla="*/ 1254952 w 1256394"/>
                      <a:gd name="connsiteY47" fmla="*/ 134073 h 202550"/>
                      <a:gd name="connsiteX48" fmla="*/ 1254952 w 1256394"/>
                      <a:gd name="connsiteY48" fmla="*/ 134073 h 202550"/>
                      <a:gd name="connsiteX49" fmla="*/ 1254952 w 1256394"/>
                      <a:gd name="connsiteY49" fmla="*/ 176601 h 202550"/>
                      <a:gd name="connsiteX50" fmla="*/ 1254952 w 1256394"/>
                      <a:gd name="connsiteY50" fmla="*/ 183809 h 202550"/>
                      <a:gd name="connsiteX51" fmla="*/ 1220353 w 1256394"/>
                      <a:gd name="connsiteY51" fmla="*/ 193901 h 202550"/>
                      <a:gd name="connsiteX52" fmla="*/ 1220353 w 1256394"/>
                      <a:gd name="connsiteY52" fmla="*/ 193901 h 202550"/>
                      <a:gd name="connsiteX53" fmla="*/ 1254952 w 1256394"/>
                      <a:gd name="connsiteY53" fmla="*/ 193901 h 202550"/>
                      <a:gd name="connsiteX54" fmla="*/ 1254952 w 1256394"/>
                      <a:gd name="connsiteY54" fmla="*/ 202551 h 202550"/>
                      <a:gd name="connsiteX55" fmla="*/ 1212424 w 1256394"/>
                      <a:gd name="connsiteY55" fmla="*/ 202551 h 202550"/>
                      <a:gd name="connsiteX56" fmla="*/ 1212424 w 1256394"/>
                      <a:gd name="connsiteY56" fmla="*/ 186693 h 202550"/>
                      <a:gd name="connsiteX57" fmla="*/ 1238374 w 1256394"/>
                      <a:gd name="connsiteY57" fmla="*/ 179484 h 202550"/>
                      <a:gd name="connsiteX58" fmla="*/ 1212424 w 1256394"/>
                      <a:gd name="connsiteY58" fmla="*/ 171556 h 202550"/>
                      <a:gd name="connsiteX59" fmla="*/ 1212424 w 1256394"/>
                      <a:gd name="connsiteY59" fmla="*/ 155697 h 202550"/>
                      <a:gd name="connsiteX60" fmla="*/ 1254952 w 1256394"/>
                      <a:gd name="connsiteY60" fmla="*/ 155697 h 202550"/>
                      <a:gd name="connsiteX61" fmla="*/ 1254952 w 1256394"/>
                      <a:gd name="connsiteY61" fmla="*/ 165789 h 202550"/>
                      <a:gd name="connsiteX62" fmla="*/ 1220353 w 1256394"/>
                      <a:gd name="connsiteY62" fmla="*/ 165789 h 202550"/>
                      <a:gd name="connsiteX63" fmla="*/ 1220353 w 1256394"/>
                      <a:gd name="connsiteY63" fmla="*/ 165789 h 202550"/>
                      <a:gd name="connsiteX64" fmla="*/ 1254952 w 1256394"/>
                      <a:gd name="connsiteY64" fmla="*/ 176601 h 202550"/>
                      <a:gd name="connsiteX65" fmla="*/ 1254952 w 1256394"/>
                      <a:gd name="connsiteY65" fmla="*/ 176601 h 202550"/>
                      <a:gd name="connsiteX66" fmla="*/ 374107 w 1256394"/>
                      <a:gd name="connsiteY66" fmla="*/ 202551 h 202550"/>
                      <a:gd name="connsiteX67" fmla="*/ 212643 w 1256394"/>
                      <a:gd name="connsiteY67" fmla="*/ 202551 h 202550"/>
                      <a:gd name="connsiteX68" fmla="*/ 173718 w 1256394"/>
                      <a:gd name="connsiteY68" fmla="*/ 57666 h 202550"/>
                      <a:gd name="connsiteX69" fmla="*/ 172997 w 1256394"/>
                      <a:gd name="connsiteY69" fmla="*/ 57666 h 202550"/>
                      <a:gd name="connsiteX70" fmla="*/ 172997 w 1256394"/>
                      <a:gd name="connsiteY70" fmla="*/ 202551 h 202550"/>
                      <a:gd name="connsiteX71" fmla="*/ 106682 w 1256394"/>
                      <a:gd name="connsiteY71" fmla="*/ 202551 h 202550"/>
                      <a:gd name="connsiteX72" fmla="*/ 106682 w 1256394"/>
                      <a:gd name="connsiteY72" fmla="*/ 2883 h 202550"/>
                      <a:gd name="connsiteX73" fmla="*/ 221293 w 1256394"/>
                      <a:gd name="connsiteY73" fmla="*/ 2883 h 202550"/>
                      <a:gd name="connsiteX74" fmla="*/ 258775 w 1256394"/>
                      <a:gd name="connsiteY74" fmla="*/ 144164 h 202550"/>
                      <a:gd name="connsiteX75" fmla="*/ 259496 w 1256394"/>
                      <a:gd name="connsiteY75" fmla="*/ 144164 h 202550"/>
                      <a:gd name="connsiteX76" fmla="*/ 259496 w 1256394"/>
                      <a:gd name="connsiteY76" fmla="*/ 2883 h 202550"/>
                      <a:gd name="connsiteX77" fmla="*/ 325812 w 1256394"/>
                      <a:gd name="connsiteY77" fmla="*/ 2883 h 202550"/>
                      <a:gd name="connsiteX78" fmla="*/ 325812 w 1256394"/>
                      <a:gd name="connsiteY78" fmla="*/ 33158 h 202550"/>
                      <a:gd name="connsiteX79" fmla="*/ 299862 w 1256394"/>
                      <a:gd name="connsiteY79" fmla="*/ 99473 h 202550"/>
                      <a:gd name="connsiteX80" fmla="*/ 374107 w 1256394"/>
                      <a:gd name="connsiteY80" fmla="*/ 202551 h 202550"/>
                      <a:gd name="connsiteX81" fmla="*/ 374107 w 1256394"/>
                      <a:gd name="connsiteY81" fmla="*/ 202551 h 202550"/>
                      <a:gd name="connsiteX82" fmla="*/ 1160525 w 1256394"/>
                      <a:gd name="connsiteY82" fmla="*/ 2883 h 202550"/>
                      <a:gd name="connsiteX83" fmla="*/ 1160525 w 1256394"/>
                      <a:gd name="connsiteY83" fmla="*/ 202551 h 202550"/>
                      <a:gd name="connsiteX84" fmla="*/ 1091326 w 1256394"/>
                      <a:gd name="connsiteY84" fmla="*/ 202551 h 202550"/>
                      <a:gd name="connsiteX85" fmla="*/ 1091326 w 1256394"/>
                      <a:gd name="connsiteY85" fmla="*/ 46133 h 202550"/>
                      <a:gd name="connsiteX86" fmla="*/ 1090605 w 1256394"/>
                      <a:gd name="connsiteY86" fmla="*/ 46133 h 202550"/>
                      <a:gd name="connsiteX87" fmla="*/ 1050960 w 1256394"/>
                      <a:gd name="connsiteY87" fmla="*/ 202551 h 202550"/>
                      <a:gd name="connsiteX88" fmla="*/ 986807 w 1256394"/>
                      <a:gd name="connsiteY88" fmla="*/ 202551 h 202550"/>
                      <a:gd name="connsiteX89" fmla="*/ 947161 w 1256394"/>
                      <a:gd name="connsiteY89" fmla="*/ 46133 h 202550"/>
                      <a:gd name="connsiteX90" fmla="*/ 946440 w 1256394"/>
                      <a:gd name="connsiteY90" fmla="*/ 46133 h 202550"/>
                      <a:gd name="connsiteX91" fmla="*/ 946440 w 1256394"/>
                      <a:gd name="connsiteY91" fmla="*/ 202551 h 202550"/>
                      <a:gd name="connsiteX92" fmla="*/ 825342 w 1256394"/>
                      <a:gd name="connsiteY92" fmla="*/ 202551 h 202550"/>
                      <a:gd name="connsiteX93" fmla="*/ 813088 w 1256394"/>
                      <a:gd name="connsiteY93" fmla="*/ 159302 h 202550"/>
                      <a:gd name="connsiteX94" fmla="*/ 748214 w 1256394"/>
                      <a:gd name="connsiteY94" fmla="*/ 159302 h 202550"/>
                      <a:gd name="connsiteX95" fmla="*/ 735960 w 1256394"/>
                      <a:gd name="connsiteY95" fmla="*/ 202551 h 202550"/>
                      <a:gd name="connsiteX96" fmla="*/ 619908 w 1256394"/>
                      <a:gd name="connsiteY96" fmla="*/ 202551 h 202550"/>
                      <a:gd name="connsiteX97" fmla="*/ 614862 w 1256394"/>
                      <a:gd name="connsiteY97" fmla="*/ 165789 h 202550"/>
                      <a:gd name="connsiteX98" fmla="*/ 588912 w 1256394"/>
                      <a:gd name="connsiteY98" fmla="*/ 134794 h 202550"/>
                      <a:gd name="connsiteX99" fmla="*/ 568729 w 1256394"/>
                      <a:gd name="connsiteY99" fmla="*/ 134794 h 202550"/>
                      <a:gd name="connsiteX100" fmla="*/ 568729 w 1256394"/>
                      <a:gd name="connsiteY100" fmla="*/ 202551 h 202550"/>
                      <a:gd name="connsiteX101" fmla="*/ 449794 w 1256394"/>
                      <a:gd name="connsiteY101" fmla="*/ 202551 h 202550"/>
                      <a:gd name="connsiteX102" fmla="*/ 532688 w 1256394"/>
                      <a:gd name="connsiteY102" fmla="*/ 168672 h 202550"/>
                      <a:gd name="connsiteX103" fmla="*/ 507459 w 1256394"/>
                      <a:gd name="connsiteY103" fmla="*/ 74245 h 202550"/>
                      <a:gd name="connsiteX104" fmla="*/ 441144 w 1256394"/>
                      <a:gd name="connsiteY104" fmla="*/ 91544 h 202550"/>
                      <a:gd name="connsiteX105" fmla="*/ 455560 w 1256394"/>
                      <a:gd name="connsiteY105" fmla="*/ 144885 h 202550"/>
                      <a:gd name="connsiteX106" fmla="*/ 428169 w 1256394"/>
                      <a:gd name="connsiteY106" fmla="*/ 152814 h 202550"/>
                      <a:gd name="connsiteX107" fmla="*/ 381315 w 1256394"/>
                      <a:gd name="connsiteY107" fmla="*/ 93707 h 202550"/>
                      <a:gd name="connsiteX108" fmla="*/ 465651 w 1256394"/>
                      <a:gd name="connsiteY108" fmla="*/ 33158 h 202550"/>
                      <a:gd name="connsiteX109" fmla="*/ 487997 w 1256394"/>
                      <a:gd name="connsiteY109" fmla="*/ 33879 h 202550"/>
                      <a:gd name="connsiteX110" fmla="*/ 480068 w 1256394"/>
                      <a:gd name="connsiteY110" fmla="*/ 2163 h 202550"/>
                      <a:gd name="connsiteX111" fmla="*/ 618466 w 1256394"/>
                      <a:gd name="connsiteY111" fmla="*/ 2163 h 202550"/>
                      <a:gd name="connsiteX112" fmla="*/ 694873 w 1256394"/>
                      <a:gd name="connsiteY112" fmla="*/ 56224 h 202550"/>
                      <a:gd name="connsiteX113" fmla="*/ 647299 w 1256394"/>
                      <a:gd name="connsiteY113" fmla="*/ 107402 h 202550"/>
                      <a:gd name="connsiteX114" fmla="*/ 647299 w 1256394"/>
                      <a:gd name="connsiteY114" fmla="*/ 108844 h 202550"/>
                      <a:gd name="connsiteX115" fmla="*/ 682619 w 1256394"/>
                      <a:gd name="connsiteY115" fmla="*/ 133352 h 202550"/>
                      <a:gd name="connsiteX116" fmla="*/ 728752 w 1256394"/>
                      <a:gd name="connsiteY116" fmla="*/ 2163 h 202550"/>
                      <a:gd name="connsiteX117" fmla="*/ 834713 w 1256394"/>
                      <a:gd name="connsiteY117" fmla="*/ 2163 h 202550"/>
                      <a:gd name="connsiteX118" fmla="*/ 879404 w 1256394"/>
                      <a:gd name="connsiteY118" fmla="*/ 127585 h 202550"/>
                      <a:gd name="connsiteX119" fmla="*/ 880125 w 1256394"/>
                      <a:gd name="connsiteY119" fmla="*/ 127585 h 202550"/>
                      <a:gd name="connsiteX120" fmla="*/ 880125 w 1256394"/>
                      <a:gd name="connsiteY120" fmla="*/ 2163 h 202550"/>
                      <a:gd name="connsiteX121" fmla="*/ 994015 w 1256394"/>
                      <a:gd name="connsiteY121" fmla="*/ 2163 h 202550"/>
                      <a:gd name="connsiteX122" fmla="*/ 1020685 w 1256394"/>
                      <a:gd name="connsiteY122" fmla="*/ 111727 h 202550"/>
                      <a:gd name="connsiteX123" fmla="*/ 1046635 w 1256394"/>
                      <a:gd name="connsiteY123" fmla="*/ 2163 h 202550"/>
                      <a:gd name="connsiteX124" fmla="*/ 1160525 w 1256394"/>
                      <a:gd name="connsiteY124" fmla="*/ 2163 h 202550"/>
                      <a:gd name="connsiteX125" fmla="*/ 1160525 w 1256394"/>
                      <a:gd name="connsiteY125" fmla="*/ 2883 h 202550"/>
                      <a:gd name="connsiteX126" fmla="*/ 0 w 1256394"/>
                      <a:gd name="connsiteY126" fmla="*/ 2883 h 202550"/>
                      <a:gd name="connsiteX127" fmla="*/ 77128 w 1256394"/>
                      <a:gd name="connsiteY127" fmla="*/ 2883 h 202550"/>
                      <a:gd name="connsiteX128" fmla="*/ 77128 w 1256394"/>
                      <a:gd name="connsiteY128" fmla="*/ 202551 h 202550"/>
                      <a:gd name="connsiteX129" fmla="*/ 0 w 1256394"/>
                      <a:gd name="connsiteY129" fmla="*/ 202551 h 202550"/>
                      <a:gd name="connsiteX130" fmla="*/ 0 w 1256394"/>
                      <a:gd name="connsiteY130" fmla="*/ 2883 h 202550"/>
                      <a:gd name="connsiteX131" fmla="*/ 0 w 1256394"/>
                      <a:gd name="connsiteY131" fmla="*/ 2883 h 202550"/>
                      <a:gd name="connsiteX132" fmla="*/ 779209 w 1256394"/>
                      <a:gd name="connsiteY132" fmla="*/ 45412 h 202550"/>
                      <a:gd name="connsiteX133" fmla="*/ 757585 w 1256394"/>
                      <a:gd name="connsiteY133" fmla="*/ 111006 h 202550"/>
                      <a:gd name="connsiteX134" fmla="*/ 801555 w 1256394"/>
                      <a:gd name="connsiteY134" fmla="*/ 111006 h 202550"/>
                      <a:gd name="connsiteX135" fmla="*/ 779930 w 1256394"/>
                      <a:gd name="connsiteY135" fmla="*/ 45412 h 202550"/>
                      <a:gd name="connsiteX136" fmla="*/ 779209 w 1256394"/>
                      <a:gd name="connsiteY136" fmla="*/ 45412 h 202550"/>
                      <a:gd name="connsiteX137" fmla="*/ 779209 w 1256394"/>
                      <a:gd name="connsiteY137" fmla="*/ 45412 h 202550"/>
                      <a:gd name="connsiteX138" fmla="*/ 568729 w 1256394"/>
                      <a:gd name="connsiteY138" fmla="*/ 90103 h 202550"/>
                      <a:gd name="connsiteX139" fmla="*/ 591795 w 1256394"/>
                      <a:gd name="connsiteY139" fmla="*/ 90103 h 202550"/>
                      <a:gd name="connsiteX140" fmla="*/ 618466 w 1256394"/>
                      <a:gd name="connsiteY140" fmla="*/ 68478 h 202550"/>
                      <a:gd name="connsiteX141" fmla="*/ 591795 w 1256394"/>
                      <a:gd name="connsiteY141" fmla="*/ 47574 h 202550"/>
                      <a:gd name="connsiteX142" fmla="*/ 568729 w 1256394"/>
                      <a:gd name="connsiteY142" fmla="*/ 47574 h 202550"/>
                      <a:gd name="connsiteX143" fmla="*/ 568729 w 1256394"/>
                      <a:gd name="connsiteY143" fmla="*/ 90103 h 202550"/>
                      <a:gd name="connsiteX144" fmla="*/ 568729 w 1256394"/>
                      <a:gd name="connsiteY144" fmla="*/ 90103 h 202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</a:cxnLst>
                    <a:rect l="l" t="t" r="r" b="b"/>
                    <a:pathLst>
                      <a:path w="1256394" h="202550">
                        <a:moveTo>
                          <a:pt x="1219632" y="18021"/>
                        </a:moveTo>
                        <a:cubicBezTo>
                          <a:pt x="1219632" y="12254"/>
                          <a:pt x="1224678" y="10091"/>
                          <a:pt x="1233328" y="10091"/>
                        </a:cubicBezTo>
                        <a:cubicBezTo>
                          <a:pt x="1241978" y="10091"/>
                          <a:pt x="1247024" y="12254"/>
                          <a:pt x="1247024" y="18021"/>
                        </a:cubicBezTo>
                        <a:cubicBezTo>
                          <a:pt x="1247024" y="25229"/>
                          <a:pt x="1238374" y="25950"/>
                          <a:pt x="1233328" y="25950"/>
                        </a:cubicBezTo>
                        <a:cubicBezTo>
                          <a:pt x="1224678" y="25229"/>
                          <a:pt x="1219632" y="23066"/>
                          <a:pt x="1219632" y="18021"/>
                        </a:cubicBezTo>
                        <a:lnTo>
                          <a:pt x="1219632" y="18021"/>
                        </a:lnTo>
                        <a:close/>
                        <a:moveTo>
                          <a:pt x="1255673" y="18021"/>
                        </a:moveTo>
                        <a:cubicBezTo>
                          <a:pt x="1255673" y="7208"/>
                          <a:pt x="1247744" y="0"/>
                          <a:pt x="1233328" y="0"/>
                        </a:cubicBezTo>
                        <a:cubicBezTo>
                          <a:pt x="1223236" y="0"/>
                          <a:pt x="1211703" y="5046"/>
                          <a:pt x="1211703" y="18021"/>
                        </a:cubicBezTo>
                        <a:cubicBezTo>
                          <a:pt x="1211703" y="30995"/>
                          <a:pt x="1222515" y="36041"/>
                          <a:pt x="1233328" y="36041"/>
                        </a:cubicBezTo>
                        <a:cubicBezTo>
                          <a:pt x="1244861" y="36041"/>
                          <a:pt x="1255673" y="30275"/>
                          <a:pt x="1255673" y="18021"/>
                        </a:cubicBezTo>
                        <a:lnTo>
                          <a:pt x="1255673" y="18021"/>
                        </a:lnTo>
                        <a:close/>
                        <a:moveTo>
                          <a:pt x="1219632" y="68478"/>
                        </a:moveTo>
                        <a:lnTo>
                          <a:pt x="1219632" y="60549"/>
                        </a:lnTo>
                        <a:cubicBezTo>
                          <a:pt x="1219632" y="55503"/>
                          <a:pt x="1222515" y="54062"/>
                          <a:pt x="1224678" y="54062"/>
                        </a:cubicBezTo>
                        <a:cubicBezTo>
                          <a:pt x="1227561" y="54062"/>
                          <a:pt x="1230445" y="56224"/>
                          <a:pt x="1230445" y="60549"/>
                        </a:cubicBezTo>
                        <a:lnTo>
                          <a:pt x="1230445" y="68478"/>
                        </a:lnTo>
                        <a:lnTo>
                          <a:pt x="1219632" y="68478"/>
                        </a:lnTo>
                        <a:lnTo>
                          <a:pt x="1219632" y="68478"/>
                        </a:lnTo>
                        <a:close/>
                        <a:moveTo>
                          <a:pt x="1237653" y="68478"/>
                        </a:moveTo>
                        <a:lnTo>
                          <a:pt x="1237653" y="61270"/>
                        </a:lnTo>
                        <a:lnTo>
                          <a:pt x="1254232" y="54782"/>
                        </a:lnTo>
                        <a:lnTo>
                          <a:pt x="1254232" y="43970"/>
                        </a:lnTo>
                        <a:lnTo>
                          <a:pt x="1235490" y="51899"/>
                        </a:lnTo>
                        <a:cubicBezTo>
                          <a:pt x="1234049" y="47574"/>
                          <a:pt x="1229003" y="44691"/>
                          <a:pt x="1224678" y="44691"/>
                        </a:cubicBezTo>
                        <a:cubicBezTo>
                          <a:pt x="1216749" y="44691"/>
                          <a:pt x="1211703" y="49737"/>
                          <a:pt x="1211703" y="59828"/>
                        </a:cubicBezTo>
                        <a:lnTo>
                          <a:pt x="1211703" y="78569"/>
                        </a:lnTo>
                        <a:lnTo>
                          <a:pt x="1254232" y="78569"/>
                        </a:lnTo>
                        <a:lnTo>
                          <a:pt x="1254232" y="68478"/>
                        </a:lnTo>
                        <a:lnTo>
                          <a:pt x="1237653" y="68478"/>
                        </a:lnTo>
                        <a:lnTo>
                          <a:pt x="1237653" y="68478"/>
                        </a:lnTo>
                        <a:close/>
                        <a:moveTo>
                          <a:pt x="1228282" y="87940"/>
                        </a:moveTo>
                        <a:cubicBezTo>
                          <a:pt x="1218191" y="89382"/>
                          <a:pt x="1211703" y="94428"/>
                          <a:pt x="1211703" y="105240"/>
                        </a:cubicBezTo>
                        <a:cubicBezTo>
                          <a:pt x="1211703" y="118215"/>
                          <a:pt x="1221795" y="124702"/>
                          <a:pt x="1234049" y="124702"/>
                        </a:cubicBezTo>
                        <a:cubicBezTo>
                          <a:pt x="1245582" y="124702"/>
                          <a:pt x="1256394" y="118215"/>
                          <a:pt x="1256394" y="105961"/>
                        </a:cubicBezTo>
                        <a:cubicBezTo>
                          <a:pt x="1256394" y="95869"/>
                          <a:pt x="1250628" y="89382"/>
                          <a:pt x="1240536" y="88661"/>
                        </a:cubicBezTo>
                        <a:lnTo>
                          <a:pt x="1239815" y="98032"/>
                        </a:lnTo>
                        <a:cubicBezTo>
                          <a:pt x="1244140" y="98753"/>
                          <a:pt x="1247744" y="100915"/>
                          <a:pt x="1247744" y="105240"/>
                        </a:cubicBezTo>
                        <a:cubicBezTo>
                          <a:pt x="1247744" y="112448"/>
                          <a:pt x="1240536" y="113169"/>
                          <a:pt x="1234049" y="113169"/>
                        </a:cubicBezTo>
                        <a:cubicBezTo>
                          <a:pt x="1229003" y="113169"/>
                          <a:pt x="1219632" y="112448"/>
                          <a:pt x="1219632" y="105240"/>
                        </a:cubicBezTo>
                        <a:cubicBezTo>
                          <a:pt x="1219632" y="99473"/>
                          <a:pt x="1223957" y="98032"/>
                          <a:pt x="1229003" y="98032"/>
                        </a:cubicBezTo>
                        <a:lnTo>
                          <a:pt x="1228282" y="87940"/>
                        </a:lnTo>
                        <a:lnTo>
                          <a:pt x="1228282" y="87940"/>
                        </a:lnTo>
                        <a:close/>
                        <a:moveTo>
                          <a:pt x="1254952" y="134073"/>
                        </a:moveTo>
                        <a:lnTo>
                          <a:pt x="1212424" y="134073"/>
                        </a:lnTo>
                        <a:lnTo>
                          <a:pt x="1212424" y="144164"/>
                        </a:lnTo>
                        <a:lnTo>
                          <a:pt x="1254952" y="144164"/>
                        </a:lnTo>
                        <a:lnTo>
                          <a:pt x="1254952" y="134073"/>
                        </a:lnTo>
                        <a:lnTo>
                          <a:pt x="1254952" y="134073"/>
                        </a:lnTo>
                        <a:close/>
                        <a:moveTo>
                          <a:pt x="1254952" y="176601"/>
                        </a:moveTo>
                        <a:lnTo>
                          <a:pt x="1254952" y="183809"/>
                        </a:lnTo>
                        <a:lnTo>
                          <a:pt x="1220353" y="193901"/>
                        </a:lnTo>
                        <a:lnTo>
                          <a:pt x="1220353" y="193901"/>
                        </a:lnTo>
                        <a:lnTo>
                          <a:pt x="1254952" y="193901"/>
                        </a:lnTo>
                        <a:lnTo>
                          <a:pt x="1254952" y="202551"/>
                        </a:lnTo>
                        <a:lnTo>
                          <a:pt x="1212424" y="202551"/>
                        </a:lnTo>
                        <a:lnTo>
                          <a:pt x="1212424" y="186693"/>
                        </a:lnTo>
                        <a:lnTo>
                          <a:pt x="1238374" y="179484"/>
                        </a:lnTo>
                        <a:lnTo>
                          <a:pt x="1212424" y="171556"/>
                        </a:lnTo>
                        <a:lnTo>
                          <a:pt x="1212424" y="155697"/>
                        </a:lnTo>
                        <a:lnTo>
                          <a:pt x="1254952" y="155697"/>
                        </a:lnTo>
                        <a:lnTo>
                          <a:pt x="1254952" y="165789"/>
                        </a:lnTo>
                        <a:lnTo>
                          <a:pt x="1220353" y="165789"/>
                        </a:lnTo>
                        <a:lnTo>
                          <a:pt x="1220353" y="165789"/>
                        </a:lnTo>
                        <a:lnTo>
                          <a:pt x="1254952" y="176601"/>
                        </a:lnTo>
                        <a:lnTo>
                          <a:pt x="1254952" y="176601"/>
                        </a:lnTo>
                        <a:close/>
                        <a:moveTo>
                          <a:pt x="374107" y="202551"/>
                        </a:moveTo>
                        <a:lnTo>
                          <a:pt x="212643" y="202551"/>
                        </a:lnTo>
                        <a:cubicBezTo>
                          <a:pt x="200389" y="155697"/>
                          <a:pt x="173718" y="57666"/>
                          <a:pt x="173718" y="57666"/>
                        </a:cubicBezTo>
                        <a:cubicBezTo>
                          <a:pt x="173718" y="57666"/>
                          <a:pt x="172997" y="57666"/>
                          <a:pt x="172997" y="57666"/>
                        </a:cubicBezTo>
                        <a:lnTo>
                          <a:pt x="172997" y="202551"/>
                        </a:lnTo>
                        <a:lnTo>
                          <a:pt x="106682" y="202551"/>
                        </a:lnTo>
                        <a:lnTo>
                          <a:pt x="106682" y="2883"/>
                        </a:lnTo>
                        <a:lnTo>
                          <a:pt x="221293" y="2883"/>
                        </a:lnTo>
                        <a:cubicBezTo>
                          <a:pt x="233547" y="49016"/>
                          <a:pt x="258775" y="144164"/>
                          <a:pt x="258775" y="144164"/>
                        </a:cubicBezTo>
                        <a:lnTo>
                          <a:pt x="259496" y="144164"/>
                        </a:lnTo>
                        <a:lnTo>
                          <a:pt x="259496" y="2883"/>
                        </a:lnTo>
                        <a:lnTo>
                          <a:pt x="325812" y="2883"/>
                        </a:lnTo>
                        <a:lnTo>
                          <a:pt x="325812" y="33158"/>
                        </a:lnTo>
                        <a:cubicBezTo>
                          <a:pt x="309954" y="50457"/>
                          <a:pt x="299862" y="72082"/>
                          <a:pt x="299862" y="99473"/>
                        </a:cubicBezTo>
                        <a:cubicBezTo>
                          <a:pt x="299862" y="138398"/>
                          <a:pt x="322208" y="187414"/>
                          <a:pt x="374107" y="202551"/>
                        </a:cubicBezTo>
                        <a:lnTo>
                          <a:pt x="374107" y="202551"/>
                        </a:lnTo>
                        <a:close/>
                        <a:moveTo>
                          <a:pt x="1160525" y="2883"/>
                        </a:moveTo>
                        <a:lnTo>
                          <a:pt x="1160525" y="202551"/>
                        </a:lnTo>
                        <a:lnTo>
                          <a:pt x="1091326" y="202551"/>
                        </a:lnTo>
                        <a:lnTo>
                          <a:pt x="1091326" y="46133"/>
                        </a:lnTo>
                        <a:lnTo>
                          <a:pt x="1090605" y="46133"/>
                        </a:lnTo>
                        <a:lnTo>
                          <a:pt x="1050960" y="202551"/>
                        </a:lnTo>
                        <a:lnTo>
                          <a:pt x="986807" y="202551"/>
                        </a:lnTo>
                        <a:lnTo>
                          <a:pt x="947161" y="46133"/>
                        </a:lnTo>
                        <a:lnTo>
                          <a:pt x="946440" y="46133"/>
                        </a:lnTo>
                        <a:lnTo>
                          <a:pt x="946440" y="202551"/>
                        </a:lnTo>
                        <a:lnTo>
                          <a:pt x="825342" y="202551"/>
                        </a:lnTo>
                        <a:lnTo>
                          <a:pt x="813088" y="159302"/>
                        </a:lnTo>
                        <a:lnTo>
                          <a:pt x="748214" y="159302"/>
                        </a:lnTo>
                        <a:lnTo>
                          <a:pt x="735960" y="202551"/>
                        </a:lnTo>
                        <a:lnTo>
                          <a:pt x="619908" y="202551"/>
                        </a:lnTo>
                        <a:cubicBezTo>
                          <a:pt x="619908" y="202551"/>
                          <a:pt x="616304" y="172997"/>
                          <a:pt x="614862" y="165789"/>
                        </a:cubicBezTo>
                        <a:cubicBezTo>
                          <a:pt x="611258" y="141281"/>
                          <a:pt x="604050" y="134794"/>
                          <a:pt x="588912" y="134794"/>
                        </a:cubicBezTo>
                        <a:cubicBezTo>
                          <a:pt x="580262" y="134794"/>
                          <a:pt x="568729" y="134794"/>
                          <a:pt x="568729" y="134794"/>
                        </a:cubicBezTo>
                        <a:lnTo>
                          <a:pt x="568729" y="202551"/>
                        </a:lnTo>
                        <a:lnTo>
                          <a:pt x="449794" y="202551"/>
                        </a:lnTo>
                        <a:cubicBezTo>
                          <a:pt x="483672" y="194622"/>
                          <a:pt x="514668" y="179484"/>
                          <a:pt x="532688" y="168672"/>
                        </a:cubicBezTo>
                        <a:lnTo>
                          <a:pt x="507459" y="74245"/>
                        </a:lnTo>
                        <a:lnTo>
                          <a:pt x="441144" y="91544"/>
                        </a:lnTo>
                        <a:lnTo>
                          <a:pt x="455560" y="144885"/>
                        </a:lnTo>
                        <a:cubicBezTo>
                          <a:pt x="451235" y="147768"/>
                          <a:pt x="437539" y="152814"/>
                          <a:pt x="428169" y="152814"/>
                        </a:cubicBezTo>
                        <a:cubicBezTo>
                          <a:pt x="396453" y="152814"/>
                          <a:pt x="381315" y="121098"/>
                          <a:pt x="381315" y="93707"/>
                        </a:cubicBezTo>
                        <a:cubicBezTo>
                          <a:pt x="381315" y="49737"/>
                          <a:pt x="426006" y="33158"/>
                          <a:pt x="465651" y="33158"/>
                        </a:cubicBezTo>
                        <a:cubicBezTo>
                          <a:pt x="475022" y="33158"/>
                          <a:pt x="486556" y="33879"/>
                          <a:pt x="487997" y="33879"/>
                        </a:cubicBezTo>
                        <a:lnTo>
                          <a:pt x="480068" y="2163"/>
                        </a:lnTo>
                        <a:cubicBezTo>
                          <a:pt x="538455" y="2163"/>
                          <a:pt x="604770" y="2163"/>
                          <a:pt x="618466" y="2163"/>
                        </a:cubicBezTo>
                        <a:cubicBezTo>
                          <a:pt x="673969" y="2163"/>
                          <a:pt x="694873" y="28112"/>
                          <a:pt x="694873" y="56224"/>
                        </a:cubicBezTo>
                        <a:cubicBezTo>
                          <a:pt x="694873" y="98753"/>
                          <a:pt x="654507" y="106682"/>
                          <a:pt x="647299" y="107402"/>
                        </a:cubicBezTo>
                        <a:cubicBezTo>
                          <a:pt x="647299" y="107402"/>
                          <a:pt x="647299" y="108844"/>
                          <a:pt x="647299" y="108844"/>
                        </a:cubicBezTo>
                        <a:cubicBezTo>
                          <a:pt x="663157" y="111727"/>
                          <a:pt x="675411" y="119656"/>
                          <a:pt x="682619" y="133352"/>
                        </a:cubicBezTo>
                        <a:cubicBezTo>
                          <a:pt x="682619" y="132631"/>
                          <a:pt x="725148" y="12975"/>
                          <a:pt x="728752" y="2163"/>
                        </a:cubicBezTo>
                        <a:lnTo>
                          <a:pt x="834713" y="2163"/>
                        </a:lnTo>
                        <a:lnTo>
                          <a:pt x="879404" y="127585"/>
                        </a:lnTo>
                        <a:lnTo>
                          <a:pt x="880125" y="127585"/>
                        </a:lnTo>
                        <a:lnTo>
                          <a:pt x="880125" y="2163"/>
                        </a:lnTo>
                        <a:lnTo>
                          <a:pt x="994015" y="2163"/>
                        </a:lnTo>
                        <a:cubicBezTo>
                          <a:pt x="994015" y="2163"/>
                          <a:pt x="1020685" y="111727"/>
                          <a:pt x="1020685" y="111727"/>
                        </a:cubicBezTo>
                        <a:cubicBezTo>
                          <a:pt x="1029335" y="74965"/>
                          <a:pt x="1046635" y="2163"/>
                          <a:pt x="1046635" y="2163"/>
                        </a:cubicBezTo>
                        <a:lnTo>
                          <a:pt x="1160525" y="2163"/>
                        </a:lnTo>
                        <a:lnTo>
                          <a:pt x="1160525" y="2883"/>
                        </a:lnTo>
                        <a:close/>
                        <a:moveTo>
                          <a:pt x="0" y="2883"/>
                        </a:moveTo>
                        <a:lnTo>
                          <a:pt x="77128" y="2883"/>
                        </a:lnTo>
                        <a:cubicBezTo>
                          <a:pt x="77128" y="2883"/>
                          <a:pt x="77128" y="135515"/>
                          <a:pt x="77128" y="202551"/>
                        </a:cubicBezTo>
                        <a:cubicBezTo>
                          <a:pt x="76407" y="202551"/>
                          <a:pt x="721" y="202551"/>
                          <a:pt x="0" y="202551"/>
                        </a:cubicBezTo>
                        <a:lnTo>
                          <a:pt x="0" y="2883"/>
                        </a:lnTo>
                        <a:lnTo>
                          <a:pt x="0" y="2883"/>
                        </a:lnTo>
                        <a:close/>
                        <a:moveTo>
                          <a:pt x="779209" y="45412"/>
                        </a:moveTo>
                        <a:lnTo>
                          <a:pt x="757585" y="111006"/>
                        </a:lnTo>
                        <a:lnTo>
                          <a:pt x="801555" y="111006"/>
                        </a:lnTo>
                        <a:lnTo>
                          <a:pt x="779930" y="45412"/>
                        </a:lnTo>
                        <a:lnTo>
                          <a:pt x="779209" y="45412"/>
                        </a:lnTo>
                        <a:lnTo>
                          <a:pt x="779209" y="45412"/>
                        </a:lnTo>
                        <a:close/>
                        <a:moveTo>
                          <a:pt x="568729" y="90103"/>
                        </a:moveTo>
                        <a:cubicBezTo>
                          <a:pt x="568729" y="90103"/>
                          <a:pt x="583867" y="90103"/>
                          <a:pt x="591795" y="90103"/>
                        </a:cubicBezTo>
                        <a:cubicBezTo>
                          <a:pt x="610537" y="90103"/>
                          <a:pt x="618466" y="80732"/>
                          <a:pt x="618466" y="68478"/>
                        </a:cubicBezTo>
                        <a:cubicBezTo>
                          <a:pt x="618466" y="53341"/>
                          <a:pt x="605491" y="47574"/>
                          <a:pt x="591795" y="47574"/>
                        </a:cubicBezTo>
                        <a:cubicBezTo>
                          <a:pt x="583867" y="47574"/>
                          <a:pt x="568729" y="47574"/>
                          <a:pt x="568729" y="47574"/>
                        </a:cubicBezTo>
                        <a:lnTo>
                          <a:pt x="568729" y="90103"/>
                        </a:lnTo>
                        <a:lnTo>
                          <a:pt x="568729" y="90103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316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</p:grp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D8A5906-2D52-FF0F-BA81-DBFA223F3413}"/>
                    </a:ext>
                  </a:extLst>
                </p:cNvPr>
                <p:cNvSpPr txBox="1"/>
                <p:nvPr/>
              </p:nvSpPr>
              <p:spPr>
                <a:xfrm>
                  <a:off x="14691360" y="4157859"/>
                  <a:ext cx="2373936" cy="1332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GB" sz="1400" b="1">
                      <a:solidFill>
                        <a:schemeClr val="bg1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x240</a:t>
                  </a:r>
                  <a:endParaRPr lang="en-GB" sz="1000" b="1">
                    <a:solidFill>
                      <a:schemeClr val="bg1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  <a:p>
                  <a:pPr algn="r"/>
                  <a:r>
                    <a:rPr lang="en-GB" sz="900">
                      <a:solidFill>
                        <a:schemeClr val="bg1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AWS Technical Individuals</a:t>
                  </a:r>
                </a:p>
              </p:txBody>
            </p: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16B760FE-03C1-60E4-C527-66BB9B6F89F4}"/>
                  </a:ext>
                </a:extLst>
              </p:cNvPr>
              <p:cNvGrpSpPr/>
              <p:nvPr/>
            </p:nvGrpSpPr>
            <p:grpSpPr>
              <a:xfrm>
                <a:off x="15566263" y="8949387"/>
                <a:ext cx="2253859" cy="2087722"/>
                <a:chOff x="14811436" y="3402902"/>
                <a:chExt cx="2253859" cy="2087722"/>
              </a:xfrm>
            </p:grpSpPr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DAD68E0D-2AFB-B883-3859-9A72312A1247}"/>
                    </a:ext>
                  </a:extLst>
                </p:cNvPr>
                <p:cNvSpPr/>
                <p:nvPr/>
              </p:nvSpPr>
              <p:spPr>
                <a:xfrm rot="10800000">
                  <a:off x="14984907" y="3402902"/>
                  <a:ext cx="2080388" cy="2085696"/>
                </a:xfrm>
                <a:custGeom>
                  <a:avLst/>
                  <a:gdLst>
                    <a:gd name="connsiteX0" fmla="*/ 2080388 w 2080388"/>
                    <a:gd name="connsiteY0" fmla="*/ 2085696 h 2085696"/>
                    <a:gd name="connsiteX1" fmla="*/ 680754 w 2080388"/>
                    <a:gd name="connsiteY1" fmla="*/ 2085696 h 2085696"/>
                    <a:gd name="connsiteX2" fmla="*/ 0 w 2080388"/>
                    <a:gd name="connsiteY2" fmla="*/ 1404941 h 2085696"/>
                    <a:gd name="connsiteX3" fmla="*/ 0 w 2080388"/>
                    <a:gd name="connsiteY3" fmla="*/ 1361509 h 2085696"/>
                    <a:gd name="connsiteX4" fmla="*/ 0 w 2080388"/>
                    <a:gd name="connsiteY4" fmla="*/ 724187 h 2085696"/>
                    <a:gd name="connsiteX5" fmla="*/ 0 w 2080388"/>
                    <a:gd name="connsiteY5" fmla="*/ 0 h 2085696"/>
                    <a:gd name="connsiteX6" fmla="*/ 1399632 w 2080388"/>
                    <a:gd name="connsiteY6" fmla="*/ 0 h 2085696"/>
                    <a:gd name="connsiteX7" fmla="*/ 2080388 w 2080388"/>
                    <a:gd name="connsiteY7" fmla="*/ 680755 h 2085696"/>
                    <a:gd name="connsiteX8" fmla="*/ 2080388 w 2080388"/>
                    <a:gd name="connsiteY8" fmla="*/ 724187 h 2085696"/>
                    <a:gd name="connsiteX9" fmla="*/ 2080388 w 2080388"/>
                    <a:gd name="connsiteY9" fmla="*/ 1361509 h 2085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80388" h="2085696">
                      <a:moveTo>
                        <a:pt x="2080388" y="2085696"/>
                      </a:moveTo>
                      <a:lnTo>
                        <a:pt x="680754" y="2085696"/>
                      </a:lnTo>
                      <a:lnTo>
                        <a:pt x="0" y="1404941"/>
                      </a:lnTo>
                      <a:lnTo>
                        <a:pt x="0" y="1361509"/>
                      </a:lnTo>
                      <a:lnTo>
                        <a:pt x="0" y="724187"/>
                      </a:lnTo>
                      <a:lnTo>
                        <a:pt x="0" y="0"/>
                      </a:lnTo>
                      <a:lnTo>
                        <a:pt x="1399632" y="0"/>
                      </a:lnTo>
                      <a:lnTo>
                        <a:pt x="2080388" y="680755"/>
                      </a:lnTo>
                      <a:lnTo>
                        <a:pt x="2080388" y="724187"/>
                      </a:lnTo>
                      <a:lnTo>
                        <a:pt x="2080388" y="136150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rgbClr val="0077D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GB" sz="900"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969AE8D-D9DF-015A-285C-A66997744168}"/>
                    </a:ext>
                  </a:extLst>
                </p:cNvPr>
                <p:cNvSpPr txBox="1"/>
                <p:nvPr/>
              </p:nvSpPr>
              <p:spPr>
                <a:xfrm>
                  <a:off x="14811436" y="4157859"/>
                  <a:ext cx="2223197" cy="1332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GB" sz="1400" b="1">
                      <a:solidFill>
                        <a:srgbClr val="0D7ABF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x488</a:t>
                  </a:r>
                  <a:endParaRPr lang="en-GB" sz="1000" b="1">
                    <a:solidFill>
                      <a:srgbClr val="0D7ABF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  <a:p>
                  <a:pPr algn="r"/>
                  <a:r>
                    <a:rPr lang="en-GB" sz="900">
                      <a:solidFill>
                        <a:srgbClr val="0D7ABF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AWS Business Individuals</a:t>
                  </a: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BAF027F6-9EAF-3E03-B229-0CEDB64342F5}"/>
                  </a:ext>
                </a:extLst>
              </p:cNvPr>
              <p:cNvGrpSpPr/>
              <p:nvPr/>
            </p:nvGrpSpPr>
            <p:grpSpPr>
              <a:xfrm>
                <a:off x="16093547" y="11024523"/>
                <a:ext cx="2416306" cy="2087722"/>
                <a:chOff x="14648989" y="3402902"/>
                <a:chExt cx="2416306" cy="2087722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8D8BD1CD-DB41-4866-8D3B-E38BA4FB5502}"/>
                    </a:ext>
                  </a:extLst>
                </p:cNvPr>
                <p:cNvGrpSpPr/>
                <p:nvPr/>
              </p:nvGrpSpPr>
              <p:grpSpPr>
                <a:xfrm>
                  <a:off x="14984907" y="3402902"/>
                  <a:ext cx="2080388" cy="2085696"/>
                  <a:chOff x="14984907" y="3402902"/>
                  <a:chExt cx="2080388" cy="2085696"/>
                </a:xfrm>
              </p:grpSpPr>
              <p:sp>
                <p:nvSpPr>
                  <p:cNvPr id="101" name="Freeform: Shape 100">
                    <a:extLst>
                      <a:ext uri="{FF2B5EF4-FFF2-40B4-BE49-F238E27FC236}">
                        <a16:creationId xmlns:a16="http://schemas.microsoft.com/office/drawing/2014/main" id="{D0741E98-8CA0-4A6B-48BD-4688E28800A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4984907" y="3402902"/>
                    <a:ext cx="2080388" cy="2085696"/>
                  </a:xfrm>
                  <a:custGeom>
                    <a:avLst/>
                    <a:gdLst>
                      <a:gd name="connsiteX0" fmla="*/ 2080388 w 2080388"/>
                      <a:gd name="connsiteY0" fmla="*/ 2085696 h 2085696"/>
                      <a:gd name="connsiteX1" fmla="*/ 680754 w 2080388"/>
                      <a:gd name="connsiteY1" fmla="*/ 2085696 h 2085696"/>
                      <a:gd name="connsiteX2" fmla="*/ 0 w 2080388"/>
                      <a:gd name="connsiteY2" fmla="*/ 1404941 h 2085696"/>
                      <a:gd name="connsiteX3" fmla="*/ 0 w 2080388"/>
                      <a:gd name="connsiteY3" fmla="*/ 1361509 h 2085696"/>
                      <a:gd name="connsiteX4" fmla="*/ 0 w 2080388"/>
                      <a:gd name="connsiteY4" fmla="*/ 724187 h 2085696"/>
                      <a:gd name="connsiteX5" fmla="*/ 0 w 2080388"/>
                      <a:gd name="connsiteY5" fmla="*/ 0 h 2085696"/>
                      <a:gd name="connsiteX6" fmla="*/ 1399632 w 2080388"/>
                      <a:gd name="connsiteY6" fmla="*/ 0 h 2085696"/>
                      <a:gd name="connsiteX7" fmla="*/ 2080388 w 2080388"/>
                      <a:gd name="connsiteY7" fmla="*/ 680755 h 2085696"/>
                      <a:gd name="connsiteX8" fmla="*/ 2080388 w 2080388"/>
                      <a:gd name="connsiteY8" fmla="*/ 724187 h 2085696"/>
                      <a:gd name="connsiteX9" fmla="*/ 2080388 w 2080388"/>
                      <a:gd name="connsiteY9" fmla="*/ 1361509 h 2085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080388" h="2085696">
                        <a:moveTo>
                          <a:pt x="2080388" y="2085696"/>
                        </a:moveTo>
                        <a:lnTo>
                          <a:pt x="680754" y="2085696"/>
                        </a:lnTo>
                        <a:lnTo>
                          <a:pt x="0" y="1404941"/>
                        </a:lnTo>
                        <a:lnTo>
                          <a:pt x="0" y="1361509"/>
                        </a:lnTo>
                        <a:lnTo>
                          <a:pt x="0" y="724187"/>
                        </a:lnTo>
                        <a:lnTo>
                          <a:pt x="0" y="0"/>
                        </a:lnTo>
                        <a:lnTo>
                          <a:pt x="1399632" y="0"/>
                        </a:lnTo>
                        <a:lnTo>
                          <a:pt x="2080388" y="680755"/>
                        </a:lnTo>
                        <a:lnTo>
                          <a:pt x="2080388" y="724187"/>
                        </a:lnTo>
                        <a:lnTo>
                          <a:pt x="2080388" y="1361509"/>
                        </a:lnTo>
                        <a:close/>
                      </a:path>
                    </a:pathLst>
                  </a:custGeom>
                  <a:solidFill>
                    <a:srgbClr val="0077D4"/>
                  </a:solidFill>
                  <a:ln w="28575">
                    <a:solidFill>
                      <a:srgbClr val="0077D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  <p:sp>
                <p:nvSpPr>
                  <p:cNvPr id="102" name="Freeform: Shape 101">
                    <a:extLst>
                      <a:ext uri="{FF2B5EF4-FFF2-40B4-BE49-F238E27FC236}">
                        <a16:creationId xmlns:a16="http://schemas.microsoft.com/office/drawing/2014/main" id="{C188A23E-E0A7-1DA3-967B-409E47E5739F}"/>
                      </a:ext>
                    </a:extLst>
                  </p:cNvPr>
                  <p:cNvSpPr/>
                  <p:nvPr/>
                </p:nvSpPr>
                <p:spPr>
                  <a:xfrm>
                    <a:off x="15144783" y="3603822"/>
                    <a:ext cx="1200117" cy="193477"/>
                  </a:xfrm>
                  <a:custGeom>
                    <a:avLst/>
                    <a:gdLst>
                      <a:gd name="connsiteX0" fmla="*/ 1219632 w 1256394"/>
                      <a:gd name="connsiteY0" fmla="*/ 18021 h 202550"/>
                      <a:gd name="connsiteX1" fmla="*/ 1233328 w 1256394"/>
                      <a:gd name="connsiteY1" fmla="*/ 10091 h 202550"/>
                      <a:gd name="connsiteX2" fmla="*/ 1247024 w 1256394"/>
                      <a:gd name="connsiteY2" fmla="*/ 18021 h 202550"/>
                      <a:gd name="connsiteX3" fmla="*/ 1233328 w 1256394"/>
                      <a:gd name="connsiteY3" fmla="*/ 25950 h 202550"/>
                      <a:gd name="connsiteX4" fmla="*/ 1219632 w 1256394"/>
                      <a:gd name="connsiteY4" fmla="*/ 18021 h 202550"/>
                      <a:gd name="connsiteX5" fmla="*/ 1219632 w 1256394"/>
                      <a:gd name="connsiteY5" fmla="*/ 18021 h 202550"/>
                      <a:gd name="connsiteX6" fmla="*/ 1255673 w 1256394"/>
                      <a:gd name="connsiteY6" fmla="*/ 18021 h 202550"/>
                      <a:gd name="connsiteX7" fmla="*/ 1233328 w 1256394"/>
                      <a:gd name="connsiteY7" fmla="*/ 0 h 202550"/>
                      <a:gd name="connsiteX8" fmla="*/ 1211703 w 1256394"/>
                      <a:gd name="connsiteY8" fmla="*/ 18021 h 202550"/>
                      <a:gd name="connsiteX9" fmla="*/ 1233328 w 1256394"/>
                      <a:gd name="connsiteY9" fmla="*/ 36041 h 202550"/>
                      <a:gd name="connsiteX10" fmla="*/ 1255673 w 1256394"/>
                      <a:gd name="connsiteY10" fmla="*/ 18021 h 202550"/>
                      <a:gd name="connsiteX11" fmla="*/ 1255673 w 1256394"/>
                      <a:gd name="connsiteY11" fmla="*/ 18021 h 202550"/>
                      <a:gd name="connsiteX12" fmla="*/ 1219632 w 1256394"/>
                      <a:gd name="connsiteY12" fmla="*/ 68478 h 202550"/>
                      <a:gd name="connsiteX13" fmla="*/ 1219632 w 1256394"/>
                      <a:gd name="connsiteY13" fmla="*/ 60549 h 202550"/>
                      <a:gd name="connsiteX14" fmla="*/ 1224678 w 1256394"/>
                      <a:gd name="connsiteY14" fmla="*/ 54062 h 202550"/>
                      <a:gd name="connsiteX15" fmla="*/ 1230445 w 1256394"/>
                      <a:gd name="connsiteY15" fmla="*/ 60549 h 202550"/>
                      <a:gd name="connsiteX16" fmla="*/ 1230445 w 1256394"/>
                      <a:gd name="connsiteY16" fmla="*/ 68478 h 202550"/>
                      <a:gd name="connsiteX17" fmla="*/ 1219632 w 1256394"/>
                      <a:gd name="connsiteY17" fmla="*/ 68478 h 202550"/>
                      <a:gd name="connsiteX18" fmla="*/ 1219632 w 1256394"/>
                      <a:gd name="connsiteY18" fmla="*/ 68478 h 202550"/>
                      <a:gd name="connsiteX19" fmla="*/ 1237653 w 1256394"/>
                      <a:gd name="connsiteY19" fmla="*/ 68478 h 202550"/>
                      <a:gd name="connsiteX20" fmla="*/ 1237653 w 1256394"/>
                      <a:gd name="connsiteY20" fmla="*/ 61270 h 202550"/>
                      <a:gd name="connsiteX21" fmla="*/ 1254232 w 1256394"/>
                      <a:gd name="connsiteY21" fmla="*/ 54782 h 202550"/>
                      <a:gd name="connsiteX22" fmla="*/ 1254232 w 1256394"/>
                      <a:gd name="connsiteY22" fmla="*/ 43970 h 202550"/>
                      <a:gd name="connsiteX23" fmla="*/ 1235490 w 1256394"/>
                      <a:gd name="connsiteY23" fmla="*/ 51899 h 202550"/>
                      <a:gd name="connsiteX24" fmla="*/ 1224678 w 1256394"/>
                      <a:gd name="connsiteY24" fmla="*/ 44691 h 202550"/>
                      <a:gd name="connsiteX25" fmla="*/ 1211703 w 1256394"/>
                      <a:gd name="connsiteY25" fmla="*/ 59828 h 202550"/>
                      <a:gd name="connsiteX26" fmla="*/ 1211703 w 1256394"/>
                      <a:gd name="connsiteY26" fmla="*/ 78569 h 202550"/>
                      <a:gd name="connsiteX27" fmla="*/ 1254232 w 1256394"/>
                      <a:gd name="connsiteY27" fmla="*/ 78569 h 202550"/>
                      <a:gd name="connsiteX28" fmla="*/ 1254232 w 1256394"/>
                      <a:gd name="connsiteY28" fmla="*/ 68478 h 202550"/>
                      <a:gd name="connsiteX29" fmla="*/ 1237653 w 1256394"/>
                      <a:gd name="connsiteY29" fmla="*/ 68478 h 202550"/>
                      <a:gd name="connsiteX30" fmla="*/ 1237653 w 1256394"/>
                      <a:gd name="connsiteY30" fmla="*/ 68478 h 202550"/>
                      <a:gd name="connsiteX31" fmla="*/ 1228282 w 1256394"/>
                      <a:gd name="connsiteY31" fmla="*/ 87940 h 202550"/>
                      <a:gd name="connsiteX32" fmla="*/ 1211703 w 1256394"/>
                      <a:gd name="connsiteY32" fmla="*/ 105240 h 202550"/>
                      <a:gd name="connsiteX33" fmla="*/ 1234049 w 1256394"/>
                      <a:gd name="connsiteY33" fmla="*/ 124702 h 202550"/>
                      <a:gd name="connsiteX34" fmla="*/ 1256394 w 1256394"/>
                      <a:gd name="connsiteY34" fmla="*/ 105961 h 202550"/>
                      <a:gd name="connsiteX35" fmla="*/ 1240536 w 1256394"/>
                      <a:gd name="connsiteY35" fmla="*/ 88661 h 202550"/>
                      <a:gd name="connsiteX36" fmla="*/ 1239815 w 1256394"/>
                      <a:gd name="connsiteY36" fmla="*/ 98032 h 202550"/>
                      <a:gd name="connsiteX37" fmla="*/ 1247744 w 1256394"/>
                      <a:gd name="connsiteY37" fmla="*/ 105240 h 202550"/>
                      <a:gd name="connsiteX38" fmla="*/ 1234049 w 1256394"/>
                      <a:gd name="connsiteY38" fmla="*/ 113169 h 202550"/>
                      <a:gd name="connsiteX39" fmla="*/ 1219632 w 1256394"/>
                      <a:gd name="connsiteY39" fmla="*/ 105240 h 202550"/>
                      <a:gd name="connsiteX40" fmla="*/ 1229003 w 1256394"/>
                      <a:gd name="connsiteY40" fmla="*/ 98032 h 202550"/>
                      <a:gd name="connsiteX41" fmla="*/ 1228282 w 1256394"/>
                      <a:gd name="connsiteY41" fmla="*/ 87940 h 202550"/>
                      <a:gd name="connsiteX42" fmla="*/ 1228282 w 1256394"/>
                      <a:gd name="connsiteY42" fmla="*/ 87940 h 202550"/>
                      <a:gd name="connsiteX43" fmla="*/ 1254952 w 1256394"/>
                      <a:gd name="connsiteY43" fmla="*/ 134073 h 202550"/>
                      <a:gd name="connsiteX44" fmla="*/ 1212424 w 1256394"/>
                      <a:gd name="connsiteY44" fmla="*/ 134073 h 202550"/>
                      <a:gd name="connsiteX45" fmla="*/ 1212424 w 1256394"/>
                      <a:gd name="connsiteY45" fmla="*/ 144164 h 202550"/>
                      <a:gd name="connsiteX46" fmla="*/ 1254952 w 1256394"/>
                      <a:gd name="connsiteY46" fmla="*/ 144164 h 202550"/>
                      <a:gd name="connsiteX47" fmla="*/ 1254952 w 1256394"/>
                      <a:gd name="connsiteY47" fmla="*/ 134073 h 202550"/>
                      <a:gd name="connsiteX48" fmla="*/ 1254952 w 1256394"/>
                      <a:gd name="connsiteY48" fmla="*/ 134073 h 202550"/>
                      <a:gd name="connsiteX49" fmla="*/ 1254952 w 1256394"/>
                      <a:gd name="connsiteY49" fmla="*/ 176601 h 202550"/>
                      <a:gd name="connsiteX50" fmla="*/ 1254952 w 1256394"/>
                      <a:gd name="connsiteY50" fmla="*/ 183809 h 202550"/>
                      <a:gd name="connsiteX51" fmla="*/ 1220353 w 1256394"/>
                      <a:gd name="connsiteY51" fmla="*/ 193901 h 202550"/>
                      <a:gd name="connsiteX52" fmla="*/ 1220353 w 1256394"/>
                      <a:gd name="connsiteY52" fmla="*/ 193901 h 202550"/>
                      <a:gd name="connsiteX53" fmla="*/ 1254952 w 1256394"/>
                      <a:gd name="connsiteY53" fmla="*/ 193901 h 202550"/>
                      <a:gd name="connsiteX54" fmla="*/ 1254952 w 1256394"/>
                      <a:gd name="connsiteY54" fmla="*/ 202551 h 202550"/>
                      <a:gd name="connsiteX55" fmla="*/ 1212424 w 1256394"/>
                      <a:gd name="connsiteY55" fmla="*/ 202551 h 202550"/>
                      <a:gd name="connsiteX56" fmla="*/ 1212424 w 1256394"/>
                      <a:gd name="connsiteY56" fmla="*/ 186693 h 202550"/>
                      <a:gd name="connsiteX57" fmla="*/ 1238374 w 1256394"/>
                      <a:gd name="connsiteY57" fmla="*/ 179484 h 202550"/>
                      <a:gd name="connsiteX58" fmla="*/ 1212424 w 1256394"/>
                      <a:gd name="connsiteY58" fmla="*/ 171556 h 202550"/>
                      <a:gd name="connsiteX59" fmla="*/ 1212424 w 1256394"/>
                      <a:gd name="connsiteY59" fmla="*/ 155697 h 202550"/>
                      <a:gd name="connsiteX60" fmla="*/ 1254952 w 1256394"/>
                      <a:gd name="connsiteY60" fmla="*/ 155697 h 202550"/>
                      <a:gd name="connsiteX61" fmla="*/ 1254952 w 1256394"/>
                      <a:gd name="connsiteY61" fmla="*/ 165789 h 202550"/>
                      <a:gd name="connsiteX62" fmla="*/ 1220353 w 1256394"/>
                      <a:gd name="connsiteY62" fmla="*/ 165789 h 202550"/>
                      <a:gd name="connsiteX63" fmla="*/ 1220353 w 1256394"/>
                      <a:gd name="connsiteY63" fmla="*/ 165789 h 202550"/>
                      <a:gd name="connsiteX64" fmla="*/ 1254952 w 1256394"/>
                      <a:gd name="connsiteY64" fmla="*/ 176601 h 202550"/>
                      <a:gd name="connsiteX65" fmla="*/ 1254952 w 1256394"/>
                      <a:gd name="connsiteY65" fmla="*/ 176601 h 202550"/>
                      <a:gd name="connsiteX66" fmla="*/ 374107 w 1256394"/>
                      <a:gd name="connsiteY66" fmla="*/ 202551 h 202550"/>
                      <a:gd name="connsiteX67" fmla="*/ 212643 w 1256394"/>
                      <a:gd name="connsiteY67" fmla="*/ 202551 h 202550"/>
                      <a:gd name="connsiteX68" fmla="*/ 173718 w 1256394"/>
                      <a:gd name="connsiteY68" fmla="*/ 57666 h 202550"/>
                      <a:gd name="connsiteX69" fmla="*/ 172997 w 1256394"/>
                      <a:gd name="connsiteY69" fmla="*/ 57666 h 202550"/>
                      <a:gd name="connsiteX70" fmla="*/ 172997 w 1256394"/>
                      <a:gd name="connsiteY70" fmla="*/ 202551 h 202550"/>
                      <a:gd name="connsiteX71" fmla="*/ 106682 w 1256394"/>
                      <a:gd name="connsiteY71" fmla="*/ 202551 h 202550"/>
                      <a:gd name="connsiteX72" fmla="*/ 106682 w 1256394"/>
                      <a:gd name="connsiteY72" fmla="*/ 2883 h 202550"/>
                      <a:gd name="connsiteX73" fmla="*/ 221293 w 1256394"/>
                      <a:gd name="connsiteY73" fmla="*/ 2883 h 202550"/>
                      <a:gd name="connsiteX74" fmla="*/ 258775 w 1256394"/>
                      <a:gd name="connsiteY74" fmla="*/ 144164 h 202550"/>
                      <a:gd name="connsiteX75" fmla="*/ 259496 w 1256394"/>
                      <a:gd name="connsiteY75" fmla="*/ 144164 h 202550"/>
                      <a:gd name="connsiteX76" fmla="*/ 259496 w 1256394"/>
                      <a:gd name="connsiteY76" fmla="*/ 2883 h 202550"/>
                      <a:gd name="connsiteX77" fmla="*/ 325812 w 1256394"/>
                      <a:gd name="connsiteY77" fmla="*/ 2883 h 202550"/>
                      <a:gd name="connsiteX78" fmla="*/ 325812 w 1256394"/>
                      <a:gd name="connsiteY78" fmla="*/ 33158 h 202550"/>
                      <a:gd name="connsiteX79" fmla="*/ 299862 w 1256394"/>
                      <a:gd name="connsiteY79" fmla="*/ 99473 h 202550"/>
                      <a:gd name="connsiteX80" fmla="*/ 374107 w 1256394"/>
                      <a:gd name="connsiteY80" fmla="*/ 202551 h 202550"/>
                      <a:gd name="connsiteX81" fmla="*/ 374107 w 1256394"/>
                      <a:gd name="connsiteY81" fmla="*/ 202551 h 202550"/>
                      <a:gd name="connsiteX82" fmla="*/ 1160525 w 1256394"/>
                      <a:gd name="connsiteY82" fmla="*/ 2883 h 202550"/>
                      <a:gd name="connsiteX83" fmla="*/ 1160525 w 1256394"/>
                      <a:gd name="connsiteY83" fmla="*/ 202551 h 202550"/>
                      <a:gd name="connsiteX84" fmla="*/ 1091326 w 1256394"/>
                      <a:gd name="connsiteY84" fmla="*/ 202551 h 202550"/>
                      <a:gd name="connsiteX85" fmla="*/ 1091326 w 1256394"/>
                      <a:gd name="connsiteY85" fmla="*/ 46133 h 202550"/>
                      <a:gd name="connsiteX86" fmla="*/ 1090605 w 1256394"/>
                      <a:gd name="connsiteY86" fmla="*/ 46133 h 202550"/>
                      <a:gd name="connsiteX87" fmla="*/ 1050960 w 1256394"/>
                      <a:gd name="connsiteY87" fmla="*/ 202551 h 202550"/>
                      <a:gd name="connsiteX88" fmla="*/ 986807 w 1256394"/>
                      <a:gd name="connsiteY88" fmla="*/ 202551 h 202550"/>
                      <a:gd name="connsiteX89" fmla="*/ 947161 w 1256394"/>
                      <a:gd name="connsiteY89" fmla="*/ 46133 h 202550"/>
                      <a:gd name="connsiteX90" fmla="*/ 946440 w 1256394"/>
                      <a:gd name="connsiteY90" fmla="*/ 46133 h 202550"/>
                      <a:gd name="connsiteX91" fmla="*/ 946440 w 1256394"/>
                      <a:gd name="connsiteY91" fmla="*/ 202551 h 202550"/>
                      <a:gd name="connsiteX92" fmla="*/ 825342 w 1256394"/>
                      <a:gd name="connsiteY92" fmla="*/ 202551 h 202550"/>
                      <a:gd name="connsiteX93" fmla="*/ 813088 w 1256394"/>
                      <a:gd name="connsiteY93" fmla="*/ 159302 h 202550"/>
                      <a:gd name="connsiteX94" fmla="*/ 748214 w 1256394"/>
                      <a:gd name="connsiteY94" fmla="*/ 159302 h 202550"/>
                      <a:gd name="connsiteX95" fmla="*/ 735960 w 1256394"/>
                      <a:gd name="connsiteY95" fmla="*/ 202551 h 202550"/>
                      <a:gd name="connsiteX96" fmla="*/ 619908 w 1256394"/>
                      <a:gd name="connsiteY96" fmla="*/ 202551 h 202550"/>
                      <a:gd name="connsiteX97" fmla="*/ 614862 w 1256394"/>
                      <a:gd name="connsiteY97" fmla="*/ 165789 h 202550"/>
                      <a:gd name="connsiteX98" fmla="*/ 588912 w 1256394"/>
                      <a:gd name="connsiteY98" fmla="*/ 134794 h 202550"/>
                      <a:gd name="connsiteX99" fmla="*/ 568729 w 1256394"/>
                      <a:gd name="connsiteY99" fmla="*/ 134794 h 202550"/>
                      <a:gd name="connsiteX100" fmla="*/ 568729 w 1256394"/>
                      <a:gd name="connsiteY100" fmla="*/ 202551 h 202550"/>
                      <a:gd name="connsiteX101" fmla="*/ 449794 w 1256394"/>
                      <a:gd name="connsiteY101" fmla="*/ 202551 h 202550"/>
                      <a:gd name="connsiteX102" fmla="*/ 532688 w 1256394"/>
                      <a:gd name="connsiteY102" fmla="*/ 168672 h 202550"/>
                      <a:gd name="connsiteX103" fmla="*/ 507459 w 1256394"/>
                      <a:gd name="connsiteY103" fmla="*/ 74245 h 202550"/>
                      <a:gd name="connsiteX104" fmla="*/ 441144 w 1256394"/>
                      <a:gd name="connsiteY104" fmla="*/ 91544 h 202550"/>
                      <a:gd name="connsiteX105" fmla="*/ 455560 w 1256394"/>
                      <a:gd name="connsiteY105" fmla="*/ 144885 h 202550"/>
                      <a:gd name="connsiteX106" fmla="*/ 428169 w 1256394"/>
                      <a:gd name="connsiteY106" fmla="*/ 152814 h 202550"/>
                      <a:gd name="connsiteX107" fmla="*/ 381315 w 1256394"/>
                      <a:gd name="connsiteY107" fmla="*/ 93707 h 202550"/>
                      <a:gd name="connsiteX108" fmla="*/ 465651 w 1256394"/>
                      <a:gd name="connsiteY108" fmla="*/ 33158 h 202550"/>
                      <a:gd name="connsiteX109" fmla="*/ 487997 w 1256394"/>
                      <a:gd name="connsiteY109" fmla="*/ 33879 h 202550"/>
                      <a:gd name="connsiteX110" fmla="*/ 480068 w 1256394"/>
                      <a:gd name="connsiteY110" fmla="*/ 2163 h 202550"/>
                      <a:gd name="connsiteX111" fmla="*/ 618466 w 1256394"/>
                      <a:gd name="connsiteY111" fmla="*/ 2163 h 202550"/>
                      <a:gd name="connsiteX112" fmla="*/ 694873 w 1256394"/>
                      <a:gd name="connsiteY112" fmla="*/ 56224 h 202550"/>
                      <a:gd name="connsiteX113" fmla="*/ 647299 w 1256394"/>
                      <a:gd name="connsiteY113" fmla="*/ 107402 h 202550"/>
                      <a:gd name="connsiteX114" fmla="*/ 647299 w 1256394"/>
                      <a:gd name="connsiteY114" fmla="*/ 108844 h 202550"/>
                      <a:gd name="connsiteX115" fmla="*/ 682619 w 1256394"/>
                      <a:gd name="connsiteY115" fmla="*/ 133352 h 202550"/>
                      <a:gd name="connsiteX116" fmla="*/ 728752 w 1256394"/>
                      <a:gd name="connsiteY116" fmla="*/ 2163 h 202550"/>
                      <a:gd name="connsiteX117" fmla="*/ 834713 w 1256394"/>
                      <a:gd name="connsiteY117" fmla="*/ 2163 h 202550"/>
                      <a:gd name="connsiteX118" fmla="*/ 879404 w 1256394"/>
                      <a:gd name="connsiteY118" fmla="*/ 127585 h 202550"/>
                      <a:gd name="connsiteX119" fmla="*/ 880125 w 1256394"/>
                      <a:gd name="connsiteY119" fmla="*/ 127585 h 202550"/>
                      <a:gd name="connsiteX120" fmla="*/ 880125 w 1256394"/>
                      <a:gd name="connsiteY120" fmla="*/ 2163 h 202550"/>
                      <a:gd name="connsiteX121" fmla="*/ 994015 w 1256394"/>
                      <a:gd name="connsiteY121" fmla="*/ 2163 h 202550"/>
                      <a:gd name="connsiteX122" fmla="*/ 1020685 w 1256394"/>
                      <a:gd name="connsiteY122" fmla="*/ 111727 h 202550"/>
                      <a:gd name="connsiteX123" fmla="*/ 1046635 w 1256394"/>
                      <a:gd name="connsiteY123" fmla="*/ 2163 h 202550"/>
                      <a:gd name="connsiteX124" fmla="*/ 1160525 w 1256394"/>
                      <a:gd name="connsiteY124" fmla="*/ 2163 h 202550"/>
                      <a:gd name="connsiteX125" fmla="*/ 1160525 w 1256394"/>
                      <a:gd name="connsiteY125" fmla="*/ 2883 h 202550"/>
                      <a:gd name="connsiteX126" fmla="*/ 0 w 1256394"/>
                      <a:gd name="connsiteY126" fmla="*/ 2883 h 202550"/>
                      <a:gd name="connsiteX127" fmla="*/ 77128 w 1256394"/>
                      <a:gd name="connsiteY127" fmla="*/ 2883 h 202550"/>
                      <a:gd name="connsiteX128" fmla="*/ 77128 w 1256394"/>
                      <a:gd name="connsiteY128" fmla="*/ 202551 h 202550"/>
                      <a:gd name="connsiteX129" fmla="*/ 0 w 1256394"/>
                      <a:gd name="connsiteY129" fmla="*/ 202551 h 202550"/>
                      <a:gd name="connsiteX130" fmla="*/ 0 w 1256394"/>
                      <a:gd name="connsiteY130" fmla="*/ 2883 h 202550"/>
                      <a:gd name="connsiteX131" fmla="*/ 0 w 1256394"/>
                      <a:gd name="connsiteY131" fmla="*/ 2883 h 202550"/>
                      <a:gd name="connsiteX132" fmla="*/ 779209 w 1256394"/>
                      <a:gd name="connsiteY132" fmla="*/ 45412 h 202550"/>
                      <a:gd name="connsiteX133" fmla="*/ 757585 w 1256394"/>
                      <a:gd name="connsiteY133" fmla="*/ 111006 h 202550"/>
                      <a:gd name="connsiteX134" fmla="*/ 801555 w 1256394"/>
                      <a:gd name="connsiteY134" fmla="*/ 111006 h 202550"/>
                      <a:gd name="connsiteX135" fmla="*/ 779930 w 1256394"/>
                      <a:gd name="connsiteY135" fmla="*/ 45412 h 202550"/>
                      <a:gd name="connsiteX136" fmla="*/ 779209 w 1256394"/>
                      <a:gd name="connsiteY136" fmla="*/ 45412 h 202550"/>
                      <a:gd name="connsiteX137" fmla="*/ 779209 w 1256394"/>
                      <a:gd name="connsiteY137" fmla="*/ 45412 h 202550"/>
                      <a:gd name="connsiteX138" fmla="*/ 568729 w 1256394"/>
                      <a:gd name="connsiteY138" fmla="*/ 90103 h 202550"/>
                      <a:gd name="connsiteX139" fmla="*/ 591795 w 1256394"/>
                      <a:gd name="connsiteY139" fmla="*/ 90103 h 202550"/>
                      <a:gd name="connsiteX140" fmla="*/ 618466 w 1256394"/>
                      <a:gd name="connsiteY140" fmla="*/ 68478 h 202550"/>
                      <a:gd name="connsiteX141" fmla="*/ 591795 w 1256394"/>
                      <a:gd name="connsiteY141" fmla="*/ 47574 h 202550"/>
                      <a:gd name="connsiteX142" fmla="*/ 568729 w 1256394"/>
                      <a:gd name="connsiteY142" fmla="*/ 47574 h 202550"/>
                      <a:gd name="connsiteX143" fmla="*/ 568729 w 1256394"/>
                      <a:gd name="connsiteY143" fmla="*/ 90103 h 202550"/>
                      <a:gd name="connsiteX144" fmla="*/ 568729 w 1256394"/>
                      <a:gd name="connsiteY144" fmla="*/ 90103 h 202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</a:cxnLst>
                    <a:rect l="l" t="t" r="r" b="b"/>
                    <a:pathLst>
                      <a:path w="1256394" h="202550">
                        <a:moveTo>
                          <a:pt x="1219632" y="18021"/>
                        </a:moveTo>
                        <a:cubicBezTo>
                          <a:pt x="1219632" y="12254"/>
                          <a:pt x="1224678" y="10091"/>
                          <a:pt x="1233328" y="10091"/>
                        </a:cubicBezTo>
                        <a:cubicBezTo>
                          <a:pt x="1241978" y="10091"/>
                          <a:pt x="1247024" y="12254"/>
                          <a:pt x="1247024" y="18021"/>
                        </a:cubicBezTo>
                        <a:cubicBezTo>
                          <a:pt x="1247024" y="25229"/>
                          <a:pt x="1238374" y="25950"/>
                          <a:pt x="1233328" y="25950"/>
                        </a:cubicBezTo>
                        <a:cubicBezTo>
                          <a:pt x="1224678" y="25229"/>
                          <a:pt x="1219632" y="23066"/>
                          <a:pt x="1219632" y="18021"/>
                        </a:cubicBezTo>
                        <a:lnTo>
                          <a:pt x="1219632" y="18021"/>
                        </a:lnTo>
                        <a:close/>
                        <a:moveTo>
                          <a:pt x="1255673" y="18021"/>
                        </a:moveTo>
                        <a:cubicBezTo>
                          <a:pt x="1255673" y="7208"/>
                          <a:pt x="1247744" y="0"/>
                          <a:pt x="1233328" y="0"/>
                        </a:cubicBezTo>
                        <a:cubicBezTo>
                          <a:pt x="1223236" y="0"/>
                          <a:pt x="1211703" y="5046"/>
                          <a:pt x="1211703" y="18021"/>
                        </a:cubicBezTo>
                        <a:cubicBezTo>
                          <a:pt x="1211703" y="30995"/>
                          <a:pt x="1222515" y="36041"/>
                          <a:pt x="1233328" y="36041"/>
                        </a:cubicBezTo>
                        <a:cubicBezTo>
                          <a:pt x="1244861" y="36041"/>
                          <a:pt x="1255673" y="30275"/>
                          <a:pt x="1255673" y="18021"/>
                        </a:cubicBezTo>
                        <a:lnTo>
                          <a:pt x="1255673" y="18021"/>
                        </a:lnTo>
                        <a:close/>
                        <a:moveTo>
                          <a:pt x="1219632" y="68478"/>
                        </a:moveTo>
                        <a:lnTo>
                          <a:pt x="1219632" y="60549"/>
                        </a:lnTo>
                        <a:cubicBezTo>
                          <a:pt x="1219632" y="55503"/>
                          <a:pt x="1222515" y="54062"/>
                          <a:pt x="1224678" y="54062"/>
                        </a:cubicBezTo>
                        <a:cubicBezTo>
                          <a:pt x="1227561" y="54062"/>
                          <a:pt x="1230445" y="56224"/>
                          <a:pt x="1230445" y="60549"/>
                        </a:cubicBezTo>
                        <a:lnTo>
                          <a:pt x="1230445" y="68478"/>
                        </a:lnTo>
                        <a:lnTo>
                          <a:pt x="1219632" y="68478"/>
                        </a:lnTo>
                        <a:lnTo>
                          <a:pt x="1219632" y="68478"/>
                        </a:lnTo>
                        <a:close/>
                        <a:moveTo>
                          <a:pt x="1237653" y="68478"/>
                        </a:moveTo>
                        <a:lnTo>
                          <a:pt x="1237653" y="61270"/>
                        </a:lnTo>
                        <a:lnTo>
                          <a:pt x="1254232" y="54782"/>
                        </a:lnTo>
                        <a:lnTo>
                          <a:pt x="1254232" y="43970"/>
                        </a:lnTo>
                        <a:lnTo>
                          <a:pt x="1235490" y="51899"/>
                        </a:lnTo>
                        <a:cubicBezTo>
                          <a:pt x="1234049" y="47574"/>
                          <a:pt x="1229003" y="44691"/>
                          <a:pt x="1224678" y="44691"/>
                        </a:cubicBezTo>
                        <a:cubicBezTo>
                          <a:pt x="1216749" y="44691"/>
                          <a:pt x="1211703" y="49737"/>
                          <a:pt x="1211703" y="59828"/>
                        </a:cubicBezTo>
                        <a:lnTo>
                          <a:pt x="1211703" y="78569"/>
                        </a:lnTo>
                        <a:lnTo>
                          <a:pt x="1254232" y="78569"/>
                        </a:lnTo>
                        <a:lnTo>
                          <a:pt x="1254232" y="68478"/>
                        </a:lnTo>
                        <a:lnTo>
                          <a:pt x="1237653" y="68478"/>
                        </a:lnTo>
                        <a:lnTo>
                          <a:pt x="1237653" y="68478"/>
                        </a:lnTo>
                        <a:close/>
                        <a:moveTo>
                          <a:pt x="1228282" y="87940"/>
                        </a:moveTo>
                        <a:cubicBezTo>
                          <a:pt x="1218191" y="89382"/>
                          <a:pt x="1211703" y="94428"/>
                          <a:pt x="1211703" y="105240"/>
                        </a:cubicBezTo>
                        <a:cubicBezTo>
                          <a:pt x="1211703" y="118215"/>
                          <a:pt x="1221795" y="124702"/>
                          <a:pt x="1234049" y="124702"/>
                        </a:cubicBezTo>
                        <a:cubicBezTo>
                          <a:pt x="1245582" y="124702"/>
                          <a:pt x="1256394" y="118215"/>
                          <a:pt x="1256394" y="105961"/>
                        </a:cubicBezTo>
                        <a:cubicBezTo>
                          <a:pt x="1256394" y="95869"/>
                          <a:pt x="1250628" y="89382"/>
                          <a:pt x="1240536" y="88661"/>
                        </a:cubicBezTo>
                        <a:lnTo>
                          <a:pt x="1239815" y="98032"/>
                        </a:lnTo>
                        <a:cubicBezTo>
                          <a:pt x="1244140" y="98753"/>
                          <a:pt x="1247744" y="100915"/>
                          <a:pt x="1247744" y="105240"/>
                        </a:cubicBezTo>
                        <a:cubicBezTo>
                          <a:pt x="1247744" y="112448"/>
                          <a:pt x="1240536" y="113169"/>
                          <a:pt x="1234049" y="113169"/>
                        </a:cubicBezTo>
                        <a:cubicBezTo>
                          <a:pt x="1229003" y="113169"/>
                          <a:pt x="1219632" y="112448"/>
                          <a:pt x="1219632" y="105240"/>
                        </a:cubicBezTo>
                        <a:cubicBezTo>
                          <a:pt x="1219632" y="99473"/>
                          <a:pt x="1223957" y="98032"/>
                          <a:pt x="1229003" y="98032"/>
                        </a:cubicBezTo>
                        <a:lnTo>
                          <a:pt x="1228282" y="87940"/>
                        </a:lnTo>
                        <a:lnTo>
                          <a:pt x="1228282" y="87940"/>
                        </a:lnTo>
                        <a:close/>
                        <a:moveTo>
                          <a:pt x="1254952" y="134073"/>
                        </a:moveTo>
                        <a:lnTo>
                          <a:pt x="1212424" y="134073"/>
                        </a:lnTo>
                        <a:lnTo>
                          <a:pt x="1212424" y="144164"/>
                        </a:lnTo>
                        <a:lnTo>
                          <a:pt x="1254952" y="144164"/>
                        </a:lnTo>
                        <a:lnTo>
                          <a:pt x="1254952" y="134073"/>
                        </a:lnTo>
                        <a:lnTo>
                          <a:pt x="1254952" y="134073"/>
                        </a:lnTo>
                        <a:close/>
                        <a:moveTo>
                          <a:pt x="1254952" y="176601"/>
                        </a:moveTo>
                        <a:lnTo>
                          <a:pt x="1254952" y="183809"/>
                        </a:lnTo>
                        <a:lnTo>
                          <a:pt x="1220353" y="193901"/>
                        </a:lnTo>
                        <a:lnTo>
                          <a:pt x="1220353" y="193901"/>
                        </a:lnTo>
                        <a:lnTo>
                          <a:pt x="1254952" y="193901"/>
                        </a:lnTo>
                        <a:lnTo>
                          <a:pt x="1254952" y="202551"/>
                        </a:lnTo>
                        <a:lnTo>
                          <a:pt x="1212424" y="202551"/>
                        </a:lnTo>
                        <a:lnTo>
                          <a:pt x="1212424" y="186693"/>
                        </a:lnTo>
                        <a:lnTo>
                          <a:pt x="1238374" y="179484"/>
                        </a:lnTo>
                        <a:lnTo>
                          <a:pt x="1212424" y="171556"/>
                        </a:lnTo>
                        <a:lnTo>
                          <a:pt x="1212424" y="155697"/>
                        </a:lnTo>
                        <a:lnTo>
                          <a:pt x="1254952" y="155697"/>
                        </a:lnTo>
                        <a:lnTo>
                          <a:pt x="1254952" y="165789"/>
                        </a:lnTo>
                        <a:lnTo>
                          <a:pt x="1220353" y="165789"/>
                        </a:lnTo>
                        <a:lnTo>
                          <a:pt x="1220353" y="165789"/>
                        </a:lnTo>
                        <a:lnTo>
                          <a:pt x="1254952" y="176601"/>
                        </a:lnTo>
                        <a:lnTo>
                          <a:pt x="1254952" y="176601"/>
                        </a:lnTo>
                        <a:close/>
                        <a:moveTo>
                          <a:pt x="374107" y="202551"/>
                        </a:moveTo>
                        <a:lnTo>
                          <a:pt x="212643" y="202551"/>
                        </a:lnTo>
                        <a:cubicBezTo>
                          <a:pt x="200389" y="155697"/>
                          <a:pt x="173718" y="57666"/>
                          <a:pt x="173718" y="57666"/>
                        </a:cubicBezTo>
                        <a:cubicBezTo>
                          <a:pt x="173718" y="57666"/>
                          <a:pt x="172997" y="57666"/>
                          <a:pt x="172997" y="57666"/>
                        </a:cubicBezTo>
                        <a:lnTo>
                          <a:pt x="172997" y="202551"/>
                        </a:lnTo>
                        <a:lnTo>
                          <a:pt x="106682" y="202551"/>
                        </a:lnTo>
                        <a:lnTo>
                          <a:pt x="106682" y="2883"/>
                        </a:lnTo>
                        <a:lnTo>
                          <a:pt x="221293" y="2883"/>
                        </a:lnTo>
                        <a:cubicBezTo>
                          <a:pt x="233547" y="49016"/>
                          <a:pt x="258775" y="144164"/>
                          <a:pt x="258775" y="144164"/>
                        </a:cubicBezTo>
                        <a:lnTo>
                          <a:pt x="259496" y="144164"/>
                        </a:lnTo>
                        <a:lnTo>
                          <a:pt x="259496" y="2883"/>
                        </a:lnTo>
                        <a:lnTo>
                          <a:pt x="325812" y="2883"/>
                        </a:lnTo>
                        <a:lnTo>
                          <a:pt x="325812" y="33158"/>
                        </a:lnTo>
                        <a:cubicBezTo>
                          <a:pt x="309954" y="50457"/>
                          <a:pt x="299862" y="72082"/>
                          <a:pt x="299862" y="99473"/>
                        </a:cubicBezTo>
                        <a:cubicBezTo>
                          <a:pt x="299862" y="138398"/>
                          <a:pt x="322208" y="187414"/>
                          <a:pt x="374107" y="202551"/>
                        </a:cubicBezTo>
                        <a:lnTo>
                          <a:pt x="374107" y="202551"/>
                        </a:lnTo>
                        <a:close/>
                        <a:moveTo>
                          <a:pt x="1160525" y="2883"/>
                        </a:moveTo>
                        <a:lnTo>
                          <a:pt x="1160525" y="202551"/>
                        </a:lnTo>
                        <a:lnTo>
                          <a:pt x="1091326" y="202551"/>
                        </a:lnTo>
                        <a:lnTo>
                          <a:pt x="1091326" y="46133"/>
                        </a:lnTo>
                        <a:lnTo>
                          <a:pt x="1090605" y="46133"/>
                        </a:lnTo>
                        <a:lnTo>
                          <a:pt x="1050960" y="202551"/>
                        </a:lnTo>
                        <a:lnTo>
                          <a:pt x="986807" y="202551"/>
                        </a:lnTo>
                        <a:lnTo>
                          <a:pt x="947161" y="46133"/>
                        </a:lnTo>
                        <a:lnTo>
                          <a:pt x="946440" y="46133"/>
                        </a:lnTo>
                        <a:lnTo>
                          <a:pt x="946440" y="202551"/>
                        </a:lnTo>
                        <a:lnTo>
                          <a:pt x="825342" y="202551"/>
                        </a:lnTo>
                        <a:lnTo>
                          <a:pt x="813088" y="159302"/>
                        </a:lnTo>
                        <a:lnTo>
                          <a:pt x="748214" y="159302"/>
                        </a:lnTo>
                        <a:lnTo>
                          <a:pt x="735960" y="202551"/>
                        </a:lnTo>
                        <a:lnTo>
                          <a:pt x="619908" y="202551"/>
                        </a:lnTo>
                        <a:cubicBezTo>
                          <a:pt x="619908" y="202551"/>
                          <a:pt x="616304" y="172997"/>
                          <a:pt x="614862" y="165789"/>
                        </a:cubicBezTo>
                        <a:cubicBezTo>
                          <a:pt x="611258" y="141281"/>
                          <a:pt x="604050" y="134794"/>
                          <a:pt x="588912" y="134794"/>
                        </a:cubicBezTo>
                        <a:cubicBezTo>
                          <a:pt x="580262" y="134794"/>
                          <a:pt x="568729" y="134794"/>
                          <a:pt x="568729" y="134794"/>
                        </a:cubicBezTo>
                        <a:lnTo>
                          <a:pt x="568729" y="202551"/>
                        </a:lnTo>
                        <a:lnTo>
                          <a:pt x="449794" y="202551"/>
                        </a:lnTo>
                        <a:cubicBezTo>
                          <a:pt x="483672" y="194622"/>
                          <a:pt x="514668" y="179484"/>
                          <a:pt x="532688" y="168672"/>
                        </a:cubicBezTo>
                        <a:lnTo>
                          <a:pt x="507459" y="74245"/>
                        </a:lnTo>
                        <a:lnTo>
                          <a:pt x="441144" y="91544"/>
                        </a:lnTo>
                        <a:lnTo>
                          <a:pt x="455560" y="144885"/>
                        </a:lnTo>
                        <a:cubicBezTo>
                          <a:pt x="451235" y="147768"/>
                          <a:pt x="437539" y="152814"/>
                          <a:pt x="428169" y="152814"/>
                        </a:cubicBezTo>
                        <a:cubicBezTo>
                          <a:pt x="396453" y="152814"/>
                          <a:pt x="381315" y="121098"/>
                          <a:pt x="381315" y="93707"/>
                        </a:cubicBezTo>
                        <a:cubicBezTo>
                          <a:pt x="381315" y="49737"/>
                          <a:pt x="426006" y="33158"/>
                          <a:pt x="465651" y="33158"/>
                        </a:cubicBezTo>
                        <a:cubicBezTo>
                          <a:pt x="475022" y="33158"/>
                          <a:pt x="486556" y="33879"/>
                          <a:pt x="487997" y="33879"/>
                        </a:cubicBezTo>
                        <a:lnTo>
                          <a:pt x="480068" y="2163"/>
                        </a:lnTo>
                        <a:cubicBezTo>
                          <a:pt x="538455" y="2163"/>
                          <a:pt x="604770" y="2163"/>
                          <a:pt x="618466" y="2163"/>
                        </a:cubicBezTo>
                        <a:cubicBezTo>
                          <a:pt x="673969" y="2163"/>
                          <a:pt x="694873" y="28112"/>
                          <a:pt x="694873" y="56224"/>
                        </a:cubicBezTo>
                        <a:cubicBezTo>
                          <a:pt x="694873" y="98753"/>
                          <a:pt x="654507" y="106682"/>
                          <a:pt x="647299" y="107402"/>
                        </a:cubicBezTo>
                        <a:cubicBezTo>
                          <a:pt x="647299" y="107402"/>
                          <a:pt x="647299" y="108844"/>
                          <a:pt x="647299" y="108844"/>
                        </a:cubicBezTo>
                        <a:cubicBezTo>
                          <a:pt x="663157" y="111727"/>
                          <a:pt x="675411" y="119656"/>
                          <a:pt x="682619" y="133352"/>
                        </a:cubicBezTo>
                        <a:cubicBezTo>
                          <a:pt x="682619" y="132631"/>
                          <a:pt x="725148" y="12975"/>
                          <a:pt x="728752" y="2163"/>
                        </a:cubicBezTo>
                        <a:lnTo>
                          <a:pt x="834713" y="2163"/>
                        </a:lnTo>
                        <a:lnTo>
                          <a:pt x="879404" y="127585"/>
                        </a:lnTo>
                        <a:lnTo>
                          <a:pt x="880125" y="127585"/>
                        </a:lnTo>
                        <a:lnTo>
                          <a:pt x="880125" y="2163"/>
                        </a:lnTo>
                        <a:lnTo>
                          <a:pt x="994015" y="2163"/>
                        </a:lnTo>
                        <a:cubicBezTo>
                          <a:pt x="994015" y="2163"/>
                          <a:pt x="1020685" y="111727"/>
                          <a:pt x="1020685" y="111727"/>
                        </a:cubicBezTo>
                        <a:cubicBezTo>
                          <a:pt x="1029335" y="74965"/>
                          <a:pt x="1046635" y="2163"/>
                          <a:pt x="1046635" y="2163"/>
                        </a:cubicBezTo>
                        <a:lnTo>
                          <a:pt x="1160525" y="2163"/>
                        </a:lnTo>
                        <a:lnTo>
                          <a:pt x="1160525" y="2883"/>
                        </a:lnTo>
                        <a:close/>
                        <a:moveTo>
                          <a:pt x="0" y="2883"/>
                        </a:moveTo>
                        <a:lnTo>
                          <a:pt x="77128" y="2883"/>
                        </a:lnTo>
                        <a:cubicBezTo>
                          <a:pt x="77128" y="2883"/>
                          <a:pt x="77128" y="135515"/>
                          <a:pt x="77128" y="202551"/>
                        </a:cubicBezTo>
                        <a:cubicBezTo>
                          <a:pt x="76407" y="202551"/>
                          <a:pt x="721" y="202551"/>
                          <a:pt x="0" y="202551"/>
                        </a:cubicBezTo>
                        <a:lnTo>
                          <a:pt x="0" y="2883"/>
                        </a:lnTo>
                        <a:lnTo>
                          <a:pt x="0" y="2883"/>
                        </a:lnTo>
                        <a:close/>
                        <a:moveTo>
                          <a:pt x="779209" y="45412"/>
                        </a:moveTo>
                        <a:lnTo>
                          <a:pt x="757585" y="111006"/>
                        </a:lnTo>
                        <a:lnTo>
                          <a:pt x="801555" y="111006"/>
                        </a:lnTo>
                        <a:lnTo>
                          <a:pt x="779930" y="45412"/>
                        </a:lnTo>
                        <a:lnTo>
                          <a:pt x="779209" y="45412"/>
                        </a:lnTo>
                        <a:lnTo>
                          <a:pt x="779209" y="45412"/>
                        </a:lnTo>
                        <a:close/>
                        <a:moveTo>
                          <a:pt x="568729" y="90103"/>
                        </a:moveTo>
                        <a:cubicBezTo>
                          <a:pt x="568729" y="90103"/>
                          <a:pt x="583867" y="90103"/>
                          <a:pt x="591795" y="90103"/>
                        </a:cubicBezTo>
                        <a:cubicBezTo>
                          <a:pt x="610537" y="90103"/>
                          <a:pt x="618466" y="80732"/>
                          <a:pt x="618466" y="68478"/>
                        </a:cubicBezTo>
                        <a:cubicBezTo>
                          <a:pt x="618466" y="53341"/>
                          <a:pt x="605491" y="47574"/>
                          <a:pt x="591795" y="47574"/>
                        </a:cubicBezTo>
                        <a:cubicBezTo>
                          <a:pt x="583867" y="47574"/>
                          <a:pt x="568729" y="47574"/>
                          <a:pt x="568729" y="47574"/>
                        </a:cubicBezTo>
                        <a:lnTo>
                          <a:pt x="568729" y="90103"/>
                        </a:lnTo>
                        <a:lnTo>
                          <a:pt x="568729" y="90103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316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900">
                      <a:latin typeface="Poppins Light" panose="00000400000000000000" pitchFamily="2" charset="0"/>
                      <a:cs typeface="Poppins Light" panose="00000400000000000000" pitchFamily="2" charset="0"/>
                    </a:endParaRPr>
                  </a:p>
                </p:txBody>
              </p:sp>
            </p:grp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426FE19-85AF-DAE0-731F-A02AB2BFA299}"/>
                    </a:ext>
                  </a:extLst>
                </p:cNvPr>
                <p:cNvSpPr txBox="1"/>
                <p:nvPr/>
              </p:nvSpPr>
              <p:spPr>
                <a:xfrm>
                  <a:off x="14648989" y="4157859"/>
                  <a:ext cx="2416306" cy="1332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GB" sz="1400" b="1">
                      <a:solidFill>
                        <a:schemeClr val="bg1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400+</a:t>
                  </a:r>
                  <a:endParaRPr lang="en-GB" sz="1000" b="1">
                    <a:solidFill>
                      <a:schemeClr val="bg1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  <a:p>
                  <a:pPr algn="r"/>
                  <a:r>
                    <a:rPr lang="en-GB" sz="900">
                      <a:solidFill>
                        <a:schemeClr val="bg1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AWS Certifications</a:t>
                  </a:r>
                </a:p>
              </p:txBody>
            </p: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AC19ABD2-DBF6-0B33-A398-F641109B8262}"/>
                  </a:ext>
                </a:extLst>
              </p:cNvPr>
              <p:cNvGrpSpPr/>
              <p:nvPr/>
            </p:nvGrpSpPr>
            <p:grpSpPr>
              <a:xfrm>
                <a:off x="10233185" y="3432616"/>
                <a:ext cx="2080388" cy="2087722"/>
                <a:chOff x="14984907" y="3402902"/>
                <a:chExt cx="2080388" cy="2087722"/>
              </a:xfrm>
            </p:grpSpPr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CED8B430-8E6D-205F-A2C7-B016E95FCFC6}"/>
                    </a:ext>
                  </a:extLst>
                </p:cNvPr>
                <p:cNvSpPr/>
                <p:nvPr/>
              </p:nvSpPr>
              <p:spPr>
                <a:xfrm rot="10800000">
                  <a:off x="14984907" y="3402902"/>
                  <a:ext cx="2080388" cy="2085696"/>
                </a:xfrm>
                <a:custGeom>
                  <a:avLst/>
                  <a:gdLst>
                    <a:gd name="connsiteX0" fmla="*/ 2080388 w 2080388"/>
                    <a:gd name="connsiteY0" fmla="*/ 2085696 h 2085696"/>
                    <a:gd name="connsiteX1" fmla="*/ 680754 w 2080388"/>
                    <a:gd name="connsiteY1" fmla="*/ 2085696 h 2085696"/>
                    <a:gd name="connsiteX2" fmla="*/ 0 w 2080388"/>
                    <a:gd name="connsiteY2" fmla="*/ 1404941 h 2085696"/>
                    <a:gd name="connsiteX3" fmla="*/ 0 w 2080388"/>
                    <a:gd name="connsiteY3" fmla="*/ 1361509 h 2085696"/>
                    <a:gd name="connsiteX4" fmla="*/ 0 w 2080388"/>
                    <a:gd name="connsiteY4" fmla="*/ 724187 h 2085696"/>
                    <a:gd name="connsiteX5" fmla="*/ 0 w 2080388"/>
                    <a:gd name="connsiteY5" fmla="*/ 0 h 2085696"/>
                    <a:gd name="connsiteX6" fmla="*/ 1399632 w 2080388"/>
                    <a:gd name="connsiteY6" fmla="*/ 0 h 2085696"/>
                    <a:gd name="connsiteX7" fmla="*/ 2080388 w 2080388"/>
                    <a:gd name="connsiteY7" fmla="*/ 680755 h 2085696"/>
                    <a:gd name="connsiteX8" fmla="*/ 2080388 w 2080388"/>
                    <a:gd name="connsiteY8" fmla="*/ 724187 h 2085696"/>
                    <a:gd name="connsiteX9" fmla="*/ 2080388 w 2080388"/>
                    <a:gd name="connsiteY9" fmla="*/ 1361509 h 2085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80388" h="2085696">
                      <a:moveTo>
                        <a:pt x="2080388" y="2085696"/>
                      </a:moveTo>
                      <a:lnTo>
                        <a:pt x="680754" y="2085696"/>
                      </a:lnTo>
                      <a:lnTo>
                        <a:pt x="0" y="1404941"/>
                      </a:lnTo>
                      <a:lnTo>
                        <a:pt x="0" y="1361509"/>
                      </a:lnTo>
                      <a:lnTo>
                        <a:pt x="0" y="724187"/>
                      </a:lnTo>
                      <a:lnTo>
                        <a:pt x="0" y="0"/>
                      </a:lnTo>
                      <a:lnTo>
                        <a:pt x="1399632" y="0"/>
                      </a:lnTo>
                      <a:lnTo>
                        <a:pt x="2080388" y="680755"/>
                      </a:lnTo>
                      <a:lnTo>
                        <a:pt x="2080388" y="724187"/>
                      </a:lnTo>
                      <a:lnTo>
                        <a:pt x="2080388" y="136150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rgbClr val="0077D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GB" sz="900"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A39C1609-F140-FCA1-2ABA-6F73B983DC6D}"/>
                    </a:ext>
                  </a:extLst>
                </p:cNvPr>
                <p:cNvSpPr txBox="1"/>
                <p:nvPr/>
              </p:nvSpPr>
              <p:spPr>
                <a:xfrm>
                  <a:off x="15235861" y="4157859"/>
                  <a:ext cx="1772586" cy="1332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GB" sz="1400" b="1">
                      <a:solidFill>
                        <a:srgbClr val="0D7ABF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x4</a:t>
                  </a:r>
                  <a:endParaRPr lang="en-GB" sz="1000" b="1">
                    <a:solidFill>
                      <a:srgbClr val="0D7ABF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  <a:p>
                  <a:pPr algn="r"/>
                  <a:r>
                    <a:rPr lang="en-GB" sz="900">
                      <a:solidFill>
                        <a:srgbClr val="0D7ABF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Regional </a:t>
                  </a:r>
                  <a:r>
                    <a:rPr lang="en-GB" sz="900" err="1">
                      <a:solidFill>
                        <a:srgbClr val="0D7ABF"/>
                      </a:solidFill>
                      <a:latin typeface="Poppins Light" panose="00000400000000000000" pitchFamily="2" charset="0"/>
                      <a:cs typeface="Poppins Light" panose="00000400000000000000" pitchFamily="2" charset="0"/>
                    </a:rPr>
                    <a:t>CoE’s</a:t>
                  </a:r>
                  <a:endParaRPr lang="en-GB" sz="900">
                    <a:solidFill>
                      <a:srgbClr val="0D7ABF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</p:txBody>
            </p:sp>
          </p:grpSp>
        </p:grpSp>
        <p:pic>
          <p:nvPicPr>
            <p:cNvPr id="22" name="Graphic 4">
              <a:extLst>
                <a:ext uri="{FF2B5EF4-FFF2-40B4-BE49-F238E27FC236}">
                  <a16:creationId xmlns:a16="http://schemas.microsoft.com/office/drawing/2014/main" id="{420C8AE0-502F-B639-4E35-2320C70CC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18662" y="4433541"/>
              <a:ext cx="561418" cy="101427"/>
            </a:xfrm>
            <a:prstGeom prst="rect">
              <a:avLst/>
            </a:prstGeom>
          </p:spPr>
        </p:pic>
        <p:pic>
          <p:nvPicPr>
            <p:cNvPr id="24" name="Graphic 4">
              <a:extLst>
                <a:ext uri="{FF2B5EF4-FFF2-40B4-BE49-F238E27FC236}">
                  <a16:creationId xmlns:a16="http://schemas.microsoft.com/office/drawing/2014/main" id="{10D48BED-B4A3-0CBF-7782-697482925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11451" y="2604155"/>
              <a:ext cx="561418" cy="101427"/>
            </a:xfrm>
            <a:prstGeom prst="rect">
              <a:avLst/>
            </a:prstGeom>
          </p:spPr>
        </p:pic>
        <p:pic>
          <p:nvPicPr>
            <p:cNvPr id="27" name="Graphic 4">
              <a:extLst>
                <a:ext uri="{FF2B5EF4-FFF2-40B4-BE49-F238E27FC236}">
                  <a16:creationId xmlns:a16="http://schemas.microsoft.com/office/drawing/2014/main" id="{B9061917-4531-F7C6-E4BD-7CBF81A92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35631" y="2015478"/>
              <a:ext cx="561418" cy="101427"/>
            </a:xfrm>
            <a:prstGeom prst="rect">
              <a:avLst/>
            </a:prstGeom>
          </p:spPr>
        </p:pic>
      </p:grpSp>
      <p:pic>
        <p:nvPicPr>
          <p:cNvPr id="3" name="Image 3" descr="image">
            <a:extLst>
              <a:ext uri="{FF2B5EF4-FFF2-40B4-BE49-F238E27FC236}">
                <a16:creationId xmlns:a16="http://schemas.microsoft.com/office/drawing/2014/main" id="{C85C58AA-46A3-5DAA-2121-A9CE310B6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76" y="5616207"/>
            <a:ext cx="2460280" cy="56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280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26DD-99DE-08A8-B131-4644860B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02" y="690776"/>
            <a:ext cx="10629900" cy="1279034"/>
          </a:xfrm>
        </p:spPr>
        <p:txBody>
          <a:bodyPr/>
          <a:lstStyle/>
          <a:p>
            <a:r>
              <a:rPr lang="en-US" sz="3600">
                <a:latin typeface="Poppins Light" panose="00000400000000000000" pitchFamily="2" charset="0"/>
                <a:cs typeface="Poppins Light" panose="00000400000000000000" pitchFamily="2" charset="0"/>
              </a:rPr>
              <a:t>Ingram Micro helps tame the transition to cloud beyond the technology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D7B2CA-09F8-7AAB-23BB-05F4D41F34B8}"/>
              </a:ext>
            </a:extLst>
          </p:cNvPr>
          <p:cNvSpPr/>
          <p:nvPr/>
        </p:nvSpPr>
        <p:spPr>
          <a:xfrm>
            <a:off x="619227" y="2522300"/>
            <a:ext cx="3441031" cy="10226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Cloud Enablement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4EE5C6-2520-DE0A-7D7E-227CCB26A353}"/>
              </a:ext>
            </a:extLst>
          </p:cNvPr>
          <p:cNvSpPr/>
          <p:nvPr/>
        </p:nvSpPr>
        <p:spPr>
          <a:xfrm>
            <a:off x="4217671" y="2522300"/>
            <a:ext cx="3441031" cy="10226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AWS Migration Accelerator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03B372-690E-8CF4-1974-F3C4C47BDFFC}"/>
              </a:ext>
            </a:extLst>
          </p:cNvPr>
          <p:cNvSpPr/>
          <p:nvPr/>
        </p:nvSpPr>
        <p:spPr>
          <a:xfrm>
            <a:off x="7816115" y="2522300"/>
            <a:ext cx="3441031" cy="10226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Cloud FinOps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E19D9-1925-AE58-02B8-724F8563971F}"/>
              </a:ext>
            </a:extLst>
          </p:cNvPr>
          <p:cNvSpPr/>
          <p:nvPr/>
        </p:nvSpPr>
        <p:spPr>
          <a:xfrm>
            <a:off x="619227" y="4543605"/>
            <a:ext cx="3441031" cy="10226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Generative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1769DA-B16C-E395-1F63-BC5E14E70163}"/>
              </a:ext>
            </a:extLst>
          </p:cNvPr>
          <p:cNvSpPr/>
          <p:nvPr/>
        </p:nvSpPr>
        <p:spPr>
          <a:xfrm>
            <a:off x="4217671" y="4543605"/>
            <a:ext cx="3441031" cy="10226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Cloud Center of Excellence and Governance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528512-9251-E2D5-949C-6C1FC99AD689}"/>
              </a:ext>
            </a:extLst>
          </p:cNvPr>
          <p:cNvSpPr/>
          <p:nvPr/>
        </p:nvSpPr>
        <p:spPr>
          <a:xfrm>
            <a:off x="7816115" y="4543605"/>
            <a:ext cx="3441031" cy="10226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Poppins Light" panose="00000400000000000000" pitchFamily="2" charset="0"/>
                <a:cs typeface="Poppins Light" panose="00000400000000000000" pitchFamily="2" charset="0"/>
              </a:rPr>
              <a:t>Cloud Cost Optimization and Reserved Instance Arbitrage</a:t>
            </a:r>
          </a:p>
        </p:txBody>
      </p:sp>
    </p:spTree>
    <p:extLst>
      <p:ext uri="{BB962C8B-B14F-4D97-AF65-F5344CB8AC3E}">
        <p14:creationId xmlns:p14="http://schemas.microsoft.com/office/powerpoint/2010/main" val="247418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&amp;D-Powerpoint Template_16x9">
  <a:themeElements>
    <a:clrScheme name="IM Custom">
      <a:dk1>
        <a:srgbClr val="1E1F24"/>
      </a:dk1>
      <a:lt1>
        <a:srgbClr val="FFFFFF"/>
      </a:lt1>
      <a:dk2>
        <a:srgbClr val="000000"/>
      </a:dk2>
      <a:lt2>
        <a:srgbClr val="EFEFEF"/>
      </a:lt2>
      <a:accent1>
        <a:srgbClr val="136FEF"/>
      </a:accent1>
      <a:accent2>
        <a:srgbClr val="004B8E"/>
      </a:accent2>
      <a:accent3>
        <a:srgbClr val="000000"/>
      </a:accent3>
      <a:accent4>
        <a:srgbClr val="F2F2F2"/>
      </a:accent4>
      <a:accent5>
        <a:srgbClr val="142037"/>
      </a:accent5>
      <a:accent6>
        <a:srgbClr val="136FF0"/>
      </a:accent6>
      <a:hlink>
        <a:srgbClr val="156EEF"/>
      </a:hlink>
      <a:folHlink>
        <a:srgbClr val="9B9EA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AP Access Deliverable.pptx" id="{41F86F42-D13C-43CF-B6DB-E41620765775}" vid="{34956C90-2056-49EB-977B-A17697D54163}"/>
    </a:ext>
  </a:extLst>
</a:theme>
</file>

<file path=ppt/theme/theme2.xml><?xml version="1.0" encoding="utf-8"?>
<a:theme xmlns:a="http://schemas.openxmlformats.org/drawingml/2006/main" name="AWS Confidential Dark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P Access Deliverable.pptx" id="{41F86F42-D13C-43CF-B6DB-E41620765775}" vid="{BBBA6808-7FBD-4D0A-A1B9-0D51658ECA6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M Custom">
    <a:dk1>
      <a:srgbClr val="1E1F24"/>
    </a:dk1>
    <a:lt1>
      <a:srgbClr val="FFFFFF"/>
    </a:lt1>
    <a:dk2>
      <a:srgbClr val="000000"/>
    </a:dk2>
    <a:lt2>
      <a:srgbClr val="EFEFEF"/>
    </a:lt2>
    <a:accent1>
      <a:srgbClr val="136FEF"/>
    </a:accent1>
    <a:accent2>
      <a:srgbClr val="004B8E"/>
    </a:accent2>
    <a:accent3>
      <a:srgbClr val="000000"/>
    </a:accent3>
    <a:accent4>
      <a:srgbClr val="F2F2F2"/>
    </a:accent4>
    <a:accent5>
      <a:srgbClr val="142037"/>
    </a:accent5>
    <a:accent6>
      <a:srgbClr val="136FF0"/>
    </a:accent6>
    <a:hlink>
      <a:srgbClr val="156EEF"/>
    </a:hlink>
    <a:folHlink>
      <a:srgbClr val="9B9EA1"/>
    </a:folHlink>
  </a:clrScheme>
</a:themeOverride>
</file>

<file path=ppt/theme/themeOverride2.xml><?xml version="1.0" encoding="utf-8"?>
<a:themeOverride xmlns:a="http://schemas.openxmlformats.org/drawingml/2006/main">
  <a:clrScheme name="IM Custom">
    <a:dk1>
      <a:srgbClr val="1E1F24"/>
    </a:dk1>
    <a:lt1>
      <a:srgbClr val="FFFFFF"/>
    </a:lt1>
    <a:dk2>
      <a:srgbClr val="000000"/>
    </a:dk2>
    <a:lt2>
      <a:srgbClr val="EFEFEF"/>
    </a:lt2>
    <a:accent1>
      <a:srgbClr val="136FEF"/>
    </a:accent1>
    <a:accent2>
      <a:srgbClr val="004B8E"/>
    </a:accent2>
    <a:accent3>
      <a:srgbClr val="000000"/>
    </a:accent3>
    <a:accent4>
      <a:srgbClr val="F2F2F2"/>
    </a:accent4>
    <a:accent5>
      <a:srgbClr val="142037"/>
    </a:accent5>
    <a:accent6>
      <a:srgbClr val="136FF0"/>
    </a:accent6>
    <a:hlink>
      <a:srgbClr val="156EEF"/>
    </a:hlink>
    <a:folHlink>
      <a:srgbClr val="9B9EA1"/>
    </a:folHlink>
  </a:clrScheme>
</a:themeOverride>
</file>

<file path=ppt/theme/themeOverride3.xml><?xml version="1.0" encoding="utf-8"?>
<a:themeOverride xmlns:a="http://schemas.openxmlformats.org/drawingml/2006/main">
  <a:clrScheme name="IM Custom">
    <a:dk1>
      <a:srgbClr val="1E1F24"/>
    </a:dk1>
    <a:lt1>
      <a:srgbClr val="FFFFFF"/>
    </a:lt1>
    <a:dk2>
      <a:srgbClr val="000000"/>
    </a:dk2>
    <a:lt2>
      <a:srgbClr val="EFEFEF"/>
    </a:lt2>
    <a:accent1>
      <a:srgbClr val="136FEF"/>
    </a:accent1>
    <a:accent2>
      <a:srgbClr val="004B8E"/>
    </a:accent2>
    <a:accent3>
      <a:srgbClr val="000000"/>
    </a:accent3>
    <a:accent4>
      <a:srgbClr val="F2F2F2"/>
    </a:accent4>
    <a:accent5>
      <a:srgbClr val="142037"/>
    </a:accent5>
    <a:accent6>
      <a:srgbClr val="136FF0"/>
    </a:accent6>
    <a:hlink>
      <a:srgbClr val="156EEF"/>
    </a:hlink>
    <a:folHlink>
      <a:srgbClr val="9B9EA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d03a1a-9ef7-4a09-a429-e64837e86fa0">
      <Terms xmlns="http://schemas.microsoft.com/office/infopath/2007/PartnerControls"/>
    </lcf76f155ced4ddcb4097134ff3c332f>
    <TaxCatchAll xmlns="b6e7e2ca-62ca-4eae-b60e-a18f239ec8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183C5BDAAA9E4EB4A79494872C095B" ma:contentTypeVersion="13" ma:contentTypeDescription="Create a new document." ma:contentTypeScope="" ma:versionID="59bfc3f3be1ba5c3ca8fde8b702bbbd9">
  <xsd:schema xmlns:xsd="http://www.w3.org/2001/XMLSchema" xmlns:xs="http://www.w3.org/2001/XMLSchema" xmlns:p="http://schemas.microsoft.com/office/2006/metadata/properties" xmlns:ns2="09d03a1a-9ef7-4a09-a429-e64837e86fa0" xmlns:ns3="b6e7e2ca-62ca-4eae-b60e-a18f239ec808" targetNamespace="http://schemas.microsoft.com/office/2006/metadata/properties" ma:root="true" ma:fieldsID="d9843bca9719c16a29c636707c089b21" ns2:_="" ns3:_="">
    <xsd:import namespace="09d03a1a-9ef7-4a09-a429-e64837e86fa0"/>
    <xsd:import namespace="b6e7e2ca-62ca-4eae-b60e-a18f239ec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03a1a-9ef7-4a09-a429-e64837e86f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db4ddee-5e58-4560-99ef-1c84dade78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e7e2ca-62ca-4eae-b60e-a18f239ec80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fe976b8-1b29-474c-be26-bb5ed88656b3}" ma:internalName="TaxCatchAll" ma:showField="CatchAllData" ma:web="b6e7e2ca-62ca-4eae-b60e-a18f239ec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10278C-A7BB-4659-BD53-28F50F676641}">
  <ds:schemaRefs>
    <ds:schemaRef ds:uri="09d03a1a-9ef7-4a09-a429-e64837e86fa0"/>
    <ds:schemaRef ds:uri="b6e7e2ca-62ca-4eae-b60e-a18f239ec80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8D1F3D-CB96-427E-8580-E21C1472B5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6FE1EA-C6B6-48F0-B742-816D2E7C9DB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</TotalTime>
  <Words>935</Words>
  <Application>Microsoft Office PowerPoint</Application>
  <PresentationFormat>Widescreen</PresentationFormat>
  <Paragraphs>248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Amazon Ember</vt:lpstr>
      <vt:lpstr>Amazon Ember Display</vt:lpstr>
      <vt:lpstr>Amazon Ember Light</vt:lpstr>
      <vt:lpstr>Amazon Ember Regular</vt:lpstr>
      <vt:lpstr>Arial</vt:lpstr>
      <vt:lpstr>Calibri</vt:lpstr>
      <vt:lpstr>Calibri (Body)</vt:lpstr>
      <vt:lpstr>Helvetica Neue</vt:lpstr>
      <vt:lpstr>Helvetica Neue Light</vt:lpstr>
      <vt:lpstr>Poppins Light</vt:lpstr>
      <vt:lpstr>Poppins Light</vt:lpstr>
      <vt:lpstr>Roboto Regular</vt:lpstr>
      <vt:lpstr>Wingdings</vt:lpstr>
      <vt:lpstr>B&amp;D-Powerpoint Template_16x9</vt:lpstr>
      <vt:lpstr>AWS Confidential Dark</vt:lpstr>
      <vt:lpstr>  MAP Assessment</vt:lpstr>
      <vt:lpstr>Agenda </vt:lpstr>
      <vt:lpstr>Executive Summary</vt:lpstr>
      <vt:lpstr>Assessment Scope</vt:lpstr>
      <vt:lpstr>Seven “R” Workload analysis</vt:lpstr>
      <vt:lpstr>AWS seven “Rs”</vt:lpstr>
      <vt:lpstr>MAP Journey based on 7R’s (Migrate)</vt:lpstr>
      <vt:lpstr>7 R Analysis Details Recommendations for migration to the cloud</vt:lpstr>
      <vt:lpstr>AWS Costs &amp; Migration Savings Details</vt:lpstr>
      <vt:lpstr>MRA Readiness -Recommendations</vt:lpstr>
      <vt:lpstr>PowerPoint Presentation</vt:lpstr>
      <vt:lpstr>PowerPoint Presentation</vt:lpstr>
      <vt:lpstr>PowerPoint Presentation</vt:lpstr>
      <vt:lpstr>PowerPoint Presentation</vt:lpstr>
      <vt:lpstr>Stay On Premise Cost Details</vt:lpstr>
      <vt:lpstr>Thank You!</vt:lpstr>
      <vt:lpstr>Appendix</vt:lpstr>
      <vt:lpstr>MAP Assess Elements</vt:lpstr>
      <vt:lpstr>Comparing On-Premise Cost to Cloud is much more than just measuring Compute, Storage and Network</vt:lpstr>
      <vt:lpstr>Well Architected Elements</vt:lpstr>
      <vt:lpstr>MAP Migration Path</vt:lpstr>
      <vt:lpstr>Windows and SQL BYOL eligibility</vt:lpstr>
      <vt:lpstr>Should I deploy to RDS or EC2 for SQL Server instances?   Decision Tree &amp; Shared Responsibility model</vt:lpstr>
      <vt:lpstr>PowerPoint Presentation</vt:lpstr>
      <vt:lpstr>Ingram Micro helps tame the transition to cloud beyond the technology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Samih.Ajrouch@ingrammicro.com</dc:creator>
  <cp:lastModifiedBy>Dosapati, Satish Kumar</cp:lastModifiedBy>
  <cp:revision>16</cp:revision>
  <cp:lastPrinted>2017-03-09T03:48:56Z</cp:lastPrinted>
  <dcterms:created xsi:type="dcterms:W3CDTF">2016-11-10T06:07:03Z</dcterms:created>
  <dcterms:modified xsi:type="dcterms:W3CDTF">2025-12-22T18:24:36Z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0x01010095183C5BDAAA9E4EB4A79494872C095B</vt:lpwstr>
  </property>
  <property fmtid="{D5CDD505-2E9C-101B-9397-08002B2CF9AE}" pid="3" name="MediaServiceImageTags">
    <vt:lpwstr/>
  </property>
</Properties>
</file>