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7.svg" ContentType="image/svg+xml"/>
  <Override PartName="/ppt/media/image26.svg" ContentType="image/svg+xml"/>
  <Override PartName="/ppt/media/image28.svg" ContentType="image/svg+xml"/>
  <Override PartName="/ppt/media/image30.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4" r:id="rId4"/>
  </p:sldMasterIdLst>
  <p:notesMasterIdLst>
    <p:notesMasterId r:id="rId95"/>
  </p:notesMasterIdLst>
  <p:handoutMasterIdLst>
    <p:handoutMasterId r:id="rId96"/>
  </p:handoutMasterIdLst>
  <p:sldIdLst>
    <p:sldId id="379" r:id="rId5"/>
    <p:sldId id="258" r:id="rId6"/>
    <p:sldId id="2146848469" r:id="rId7"/>
    <p:sldId id="2146848407" r:id="rId8"/>
    <p:sldId id="2146848488" r:id="rId9"/>
    <p:sldId id="2146848479" r:id="rId10"/>
    <p:sldId id="2146848501" r:id="rId11"/>
    <p:sldId id="14199" r:id="rId12"/>
    <p:sldId id="14196" r:id="rId13"/>
    <p:sldId id="2146848489" r:id="rId14"/>
    <p:sldId id="14200" r:id="rId15"/>
    <p:sldId id="2146848490" r:id="rId16"/>
    <p:sldId id="3393" r:id="rId17"/>
    <p:sldId id="14224" r:id="rId18"/>
    <p:sldId id="2146848485" r:id="rId19"/>
    <p:sldId id="2146848486" r:id="rId20"/>
    <p:sldId id="2146848415" r:id="rId21"/>
    <p:sldId id="2146848416" r:id="rId22"/>
    <p:sldId id="2146848431" r:id="rId23"/>
    <p:sldId id="2146848478" r:id="rId24"/>
    <p:sldId id="2146848470" r:id="rId25"/>
    <p:sldId id="14252" r:id="rId26"/>
    <p:sldId id="3394" r:id="rId27"/>
    <p:sldId id="2146848427" r:id="rId28"/>
    <p:sldId id="2146848409" r:id="rId29"/>
    <p:sldId id="2146848475" r:id="rId30"/>
    <p:sldId id="14255" r:id="rId31"/>
    <p:sldId id="14228" r:id="rId32"/>
    <p:sldId id="3363" r:id="rId33"/>
    <p:sldId id="2146848421" r:id="rId34"/>
    <p:sldId id="3360" r:id="rId35"/>
    <p:sldId id="3351" r:id="rId36"/>
    <p:sldId id="3395" r:id="rId37"/>
    <p:sldId id="2146848471" r:id="rId38"/>
    <p:sldId id="2146848426" r:id="rId39"/>
    <p:sldId id="2146848535" r:id="rId40"/>
    <p:sldId id="2146848534" r:id="rId41"/>
    <p:sldId id="2146848502" r:id="rId42"/>
    <p:sldId id="2146848553" r:id="rId43"/>
    <p:sldId id="14204" r:id="rId44"/>
    <p:sldId id="2146848497" r:id="rId45"/>
    <p:sldId id="466" r:id="rId46"/>
    <p:sldId id="468" r:id="rId47"/>
    <p:sldId id="469" r:id="rId48"/>
    <p:sldId id="470" r:id="rId49"/>
    <p:sldId id="471" r:id="rId50"/>
    <p:sldId id="472" r:id="rId51"/>
    <p:sldId id="473" r:id="rId52"/>
    <p:sldId id="2146848433" r:id="rId53"/>
    <p:sldId id="2146848472" r:id="rId54"/>
    <p:sldId id="2146848473" r:id="rId55"/>
    <p:sldId id="2146848474" r:id="rId56"/>
    <p:sldId id="2146848498" r:id="rId57"/>
    <p:sldId id="2146848499" r:id="rId58"/>
    <p:sldId id="2146848500" r:id="rId59"/>
    <p:sldId id="477" r:id="rId60"/>
    <p:sldId id="2146848429" r:id="rId61"/>
    <p:sldId id="2146848432" r:id="rId62"/>
    <p:sldId id="2146848493" r:id="rId63"/>
    <p:sldId id="2146848494" r:id="rId64"/>
    <p:sldId id="2146848495" r:id="rId65"/>
    <p:sldId id="2146848436" r:id="rId66"/>
    <p:sldId id="2146848437" r:id="rId67"/>
    <p:sldId id="2146848438" r:id="rId68"/>
    <p:sldId id="2146848439" r:id="rId69"/>
    <p:sldId id="2146848440" r:id="rId70"/>
    <p:sldId id="2146848441" r:id="rId71"/>
    <p:sldId id="2146848442" r:id="rId72"/>
    <p:sldId id="2146848443" r:id="rId73"/>
    <p:sldId id="2146848444" r:id="rId74"/>
    <p:sldId id="2146848445" r:id="rId75"/>
    <p:sldId id="2146848446" r:id="rId76"/>
    <p:sldId id="2146848447" r:id="rId77"/>
    <p:sldId id="2146848448" r:id="rId78"/>
    <p:sldId id="2146848449" r:id="rId79"/>
    <p:sldId id="2146848450" r:id="rId80"/>
    <p:sldId id="2146848451" r:id="rId81"/>
    <p:sldId id="2146848452" r:id="rId82"/>
    <p:sldId id="2146848453" r:id="rId83"/>
    <p:sldId id="2146848454" r:id="rId84"/>
    <p:sldId id="2146848462" r:id="rId85"/>
    <p:sldId id="2146848455" r:id="rId86"/>
    <p:sldId id="2146848456" r:id="rId87"/>
    <p:sldId id="2146848457" r:id="rId88"/>
    <p:sldId id="2146848458" r:id="rId89"/>
    <p:sldId id="2146848459" r:id="rId90"/>
    <p:sldId id="2146848460" r:id="rId91"/>
    <p:sldId id="2146848461" r:id="rId92"/>
    <p:sldId id="2146848463" r:id="rId93"/>
    <p:sldId id="2146848496" r:id="rId94"/>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orient="horz" pos="4632" userDrawn="1">
          <p15:clr>
            <a:srgbClr val="A4A3A4"/>
          </p15:clr>
        </p15:guide>
        <p15:guide id="3" orient="horz" pos="4848"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36" userDrawn="1">
          <p15:clr>
            <a:srgbClr val="A4A3A4"/>
          </p15:clr>
        </p15:guide>
        <p15:guide id="8" orient="horz" pos="200" userDrawn="1">
          <p15:clr>
            <a:srgbClr val="A4A3A4"/>
          </p15:clr>
        </p15:guide>
        <p15:guide id="9" orient="horz" pos="3384" userDrawn="1">
          <p15:clr>
            <a:srgbClr val="A4A3A4"/>
          </p15:clr>
        </p15:guide>
        <p15:guide id="10" orient="horz" pos="4560" userDrawn="1">
          <p15:clr>
            <a:srgbClr val="A4A3A4"/>
          </p15:clr>
        </p15:guide>
        <p15:guide id="11" pos="1536" userDrawn="1">
          <p15:clr>
            <a:srgbClr val="A4A3A4"/>
          </p15:clr>
        </p15:guide>
        <p15:guide id="12" pos="2808" userDrawn="1">
          <p15:clr>
            <a:srgbClr val="A4A3A4"/>
          </p15:clr>
        </p15:guide>
        <p15:guide id="13" pos="3120" userDrawn="1">
          <p15:clr>
            <a:srgbClr val="FDE53C"/>
          </p15:clr>
        </p15:guide>
        <p15:guide id="14" pos="4032" userDrawn="1">
          <p15:clr>
            <a:srgbClr val="A4A3A4"/>
          </p15:clr>
        </p15:guide>
        <p15:guide id="15" pos="7656" userDrawn="1">
          <p15:clr>
            <a:srgbClr val="A4A3A4"/>
          </p15:clr>
        </p15:guide>
        <p15:guide id="16" pos="3984" userDrawn="1">
          <p15:clr>
            <a:srgbClr val="A4A3A4"/>
          </p15:clr>
        </p15:guide>
        <p15:guide id="17" pos="2736" userDrawn="1">
          <p15:clr>
            <a:srgbClr val="A4A3A4"/>
          </p15:clr>
        </p15:guide>
        <p15:guide id="18" pos="1579" userDrawn="1">
          <p15:clr>
            <a:srgbClr val="A4A3A4"/>
          </p15:clr>
        </p15:guide>
        <p15:guide id="19" pos="7704" userDrawn="1">
          <p15:clr>
            <a:srgbClr val="A4A3A4"/>
          </p15:clr>
        </p15:guide>
        <p15:guide id="20" pos="5184" userDrawn="1">
          <p15:clr>
            <a:srgbClr val="A4A3A4"/>
          </p15:clr>
        </p15:guide>
        <p15:guide id="21" userDrawn="1">
          <p15:clr>
            <a:srgbClr val="A4A3A4"/>
          </p15:clr>
        </p15:guide>
        <p15:guide id="22" pos="5256" userDrawn="1">
          <p15:clr>
            <a:srgbClr val="A4A3A4"/>
          </p15:clr>
        </p15:guide>
        <p15:guide id="23" pos="6456"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guide id="28" orient="horz" pos="4152" userDrawn="1">
          <p15:clr>
            <a:srgbClr val="FDE53C"/>
          </p15:clr>
        </p15:guide>
        <p15:guide id="30" orient="horz" pos="648" userDrawn="1">
          <p15:clr>
            <a:srgbClr val="A4A3A4"/>
          </p15:clr>
        </p15:guide>
        <p15:guide id="31" orient="horz" pos="1392" userDrawn="1">
          <p15:clr>
            <a:srgbClr val="A4A3A4"/>
          </p15:clr>
        </p15:guide>
        <p15:guide id="32" orient="horz" pos="1872" userDrawn="1">
          <p15:clr>
            <a:srgbClr val="A4A3A4"/>
          </p15:clr>
        </p15:guide>
        <p15:guide id="33" orient="horz" pos="2352" userDrawn="1">
          <p15:clr>
            <a:srgbClr val="A4A3A4"/>
          </p15:clr>
        </p15:guide>
        <p15:guide id="34" orient="horz" pos="2832" userDrawn="1">
          <p15:clr>
            <a:srgbClr val="A4A3A4"/>
          </p15:clr>
        </p15:guide>
        <p15:guide id="36" pos="470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B00"/>
    <a:srgbClr val="FF9900"/>
    <a:srgbClr val="FFBCB5"/>
    <a:srgbClr val="FEEFE5"/>
    <a:srgbClr val="A166FF"/>
    <a:srgbClr val="527FFF"/>
    <a:srgbClr val="232F3E"/>
    <a:srgbClr val="A6A6A6"/>
    <a:srgbClr val="CBCDCF"/>
    <a:srgbClr val="139A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29" autoAdjust="0"/>
    <p:restoredTop sz="92517" autoAdjust="0"/>
  </p:normalViewPr>
  <p:slideViewPr>
    <p:cSldViewPr snapToGrid="0" showGuides="1">
      <p:cViewPr varScale="1">
        <p:scale>
          <a:sx n="98" d="100"/>
          <a:sy n="98" d="100"/>
        </p:scale>
        <p:origin x="1064" y="200"/>
      </p:cViewPr>
      <p:guideLst>
        <p:guide orient="horz" pos="1080"/>
        <p:guide orient="horz" pos="4632"/>
        <p:guide orient="horz" pos="4848"/>
        <p:guide orient="horz" pos="5114"/>
        <p:guide orient="horz" pos="2160"/>
        <p:guide orient="horz" pos="2205"/>
        <p:guide orient="horz" pos="3336"/>
        <p:guide orient="horz" pos="200"/>
        <p:guide orient="horz" pos="3384"/>
        <p:guide orient="horz" pos="4560"/>
        <p:guide pos="1536"/>
        <p:guide pos="2808"/>
        <p:guide pos="3120"/>
        <p:guide pos="4032"/>
        <p:guide pos="7656"/>
        <p:guide pos="3984"/>
        <p:guide pos="2736"/>
        <p:guide pos="1579"/>
        <p:guide pos="7704"/>
        <p:guide pos="5184"/>
        <p:guide/>
        <p:guide pos="5256"/>
        <p:guide pos="6456"/>
        <p:guide pos="6485"/>
        <p:guide pos="8870"/>
        <p:guide pos="352"/>
        <p:guide pos="5576"/>
        <p:guide orient="horz" pos="4152"/>
        <p:guide orient="horz" pos="648"/>
        <p:guide orient="horz" pos="1392"/>
        <p:guide orient="horz" pos="1872"/>
        <p:guide orient="horz" pos="2352"/>
        <p:guide orient="horz" pos="2832"/>
        <p:guide pos="4708"/>
      </p:guideLst>
    </p:cSldViewPr>
  </p:slideViewPr>
  <p:outlineViewPr>
    <p:cViewPr>
      <p:scale>
        <a:sx n="33" d="100"/>
        <a:sy n="33" d="100"/>
      </p:scale>
      <p:origin x="0" y="-8648"/>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126" d="100"/>
          <a:sy n="126" d="100"/>
        </p:scale>
        <p:origin x="3264" y="20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notesMaster" Target="notesMasters/notesMaster1.xml"/><Relationship Id="rId96" Type="http://schemas.openxmlformats.org/officeDocument/2006/relationships/handoutMaster" Target="handoutMasters/handoutMaster1.xml"/><Relationship Id="rId97" Type="http://schemas.openxmlformats.org/officeDocument/2006/relationships/commentAuthors" Target="commentAuthors.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Average Readiness Scores</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dPt>
            <c:idx val="5"/>
            <c:spPr>
              <a:solidFill>
                <a:srgbClr val="BFBFBF"/>
              </a:solidFill>
              <a:ln w="25400">
                <a:solidFill>
                  <a:srgbClr val="000000"/>
                </a:solidFill>
              </a:ln>
            </c:spPr>
          </c:dPt>
          <c:dPt>
            <c:idx val="6"/>
            <c:spPr>
              <a:solidFill>
                <a:srgbClr val="BFBFBF"/>
              </a:solidFill>
              <a:ln w="25400">
                <a:solidFill>
                  <a:srgbClr val="000000"/>
                </a:solidFill>
              </a:ln>
            </c:spPr>
          </c:dPt>
          <c:dPt>
            <c:idx val="7"/>
            <c:spPr>
              <a:solidFill>
                <a:srgbClr val="BFBFBF"/>
              </a:solidFill>
              <a:ln w="25400">
                <a:solidFill>
                  <a:srgbClr val="000000"/>
                </a:solidFill>
              </a:ln>
            </c:spPr>
          </c:dPt>
          <c:cat>
            <c:strRef>
              <c:f>Sheet1!$A$2:$A$9</c:f>
              <c:strCache>
                <c:ptCount val="8"/>
                <c:pt idx="0">
                  <c:v>Security &amp; Compliance</c:v>
                </c:pt>
                <c:pt idx="1">
                  <c:v>Operating Model</c:v>
                </c:pt>
                <c:pt idx="2">
                  <c:v>Migration Process &amp; Experience</c:v>
                </c:pt>
                <c:pt idx="3">
                  <c:v>Application Portfolio Disco...</c:v>
                </c:pt>
                <c:pt idx="4">
                  <c:v>Landing Zone</c:v>
                </c:pt>
                <c:pt idx="5">
                  <c:v>Skills &amp; COE</c:v>
                </c:pt>
                <c:pt idx="6">
                  <c:v>Customer Migration Project ...</c:v>
                </c:pt>
                <c:pt idx="7">
                  <c:v>Business Case</c:v>
                </c:pt>
              </c:strCache>
            </c:strRef>
          </c:cat>
          <c:val>
            <c:numRef>
              <c:f>Sheet1!$B$2:$B$9</c:f>
              <c:numCache>
                <c:formatCode>General</c:formatCode>
                <c:ptCount val="8"/>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24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Business Case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cat>
            <c:strRef>
              <c:f>Sheet1!$A$2:$A$6</c:f>
              <c:strCache>
                <c:ptCount val="5"/>
                <c:pt idx="0">
                  <c:v>Specific Migratio...</c:v>
                </c:pt>
                <c:pt idx="1">
                  <c:v>Migration Funding...</c:v>
                </c:pt>
                <c:pt idx="2">
                  <c:v>Key Stakeholder S...</c:v>
                </c:pt>
                <c:pt idx="3">
                  <c:v>High Level Busine...</c:v>
                </c:pt>
                <c:pt idx="4">
                  <c:v>AVERAGE</c:v>
                </c:pt>
              </c:strCache>
            </c:strRef>
          </c:cat>
          <c:val>
            <c:numRef>
              <c:f>Sheet1!$B$2:$B$6</c:f>
              <c:numCache>
                <c:formatCode>General</c:formatCode>
                <c:ptCount val="5"/>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Customer Migration Project Plan</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cat>
            <c:strRef>
              <c:f>Sheet1!$A$2:$A$5</c:f>
              <c:strCache>
                <c:ptCount val="4"/>
                <c:pt idx="0">
                  <c:v>Migration Plan</c:v>
                </c:pt>
                <c:pt idx="1">
                  <c:v>Project Managemen...</c:v>
                </c:pt>
                <c:pt idx="2">
                  <c:v>Determine Deliver...</c:v>
                </c:pt>
                <c:pt idx="3">
                  <c:v>AVERAGE</c:v>
                </c:pt>
              </c:strCache>
            </c:strRef>
          </c:cat>
          <c:val>
            <c:numRef>
              <c:f>Sheet1!$B$2:$B$5</c:f>
              <c:numCache>
                <c:formatCode>General</c:formatCode>
                <c:ptCount val="4"/>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Skills &amp; COE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cat>
            <c:strRef>
              <c:f>Sheet1!$A$2:$A$5</c:f>
              <c:strCache>
                <c:ptCount val="4"/>
                <c:pt idx="0">
                  <c:v>Design or Evolve COE</c:v>
                </c:pt>
                <c:pt idx="1">
                  <c:v>Experience baseline</c:v>
                </c:pt>
                <c:pt idx="2">
                  <c:v>Single Threaded L...</c:v>
                </c:pt>
                <c:pt idx="3">
                  <c:v>AVERAGE</c:v>
                </c:pt>
              </c:strCache>
            </c:strRef>
          </c:cat>
          <c:val>
            <c:numRef>
              <c:f>Sheet1!$B$2:$B$5</c:f>
              <c:numCache>
                <c:formatCode>General</c:formatCode>
                <c:ptCount val="4"/>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Landing Zone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cat>
            <c:strRef>
              <c:f>Sheet1!$A$2:$A$3</c:f>
              <c:strCache>
                <c:ptCount val="2"/>
                <c:pt idx="0">
                  <c:v>Account Design &amp; ...</c:v>
                </c:pt>
                <c:pt idx="1">
                  <c:v>AVERAGE</c:v>
                </c:pt>
              </c:strCache>
            </c:strRef>
          </c:cat>
          <c:val>
            <c:numRef>
              <c:f>Sheet1!$B$2:$B$3</c:f>
              <c:numCache>
                <c:formatCode>General</c:formatCode>
                <c:ptCount val="2"/>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Application Portfolio Discovery &amp; Planning</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cat>
            <c:strRef>
              <c:f>Sheet1!$A$2:$A$4</c:f>
              <c:strCache>
                <c:ptCount val="3"/>
                <c:pt idx="0">
                  <c:v>Workload Owner Bu...</c:v>
                </c:pt>
                <c:pt idx="1">
                  <c:v>Application Disco...</c:v>
                </c:pt>
                <c:pt idx="2">
                  <c:v>AVERAGE</c:v>
                </c:pt>
              </c:strCache>
            </c:strRef>
          </c:cat>
          <c:val>
            <c:numRef>
              <c:f>Sheet1!$B$2:$B$4</c:f>
              <c:numCache>
                <c:formatCode>General</c:formatCode>
                <c:ptCount val="3"/>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Migration Process &amp; Experience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cat>
            <c:strRef>
              <c:f>Sheet1!$A$2:$A$3</c:f>
              <c:strCache>
                <c:ptCount val="2"/>
                <c:pt idx="0">
                  <c:v>Migration Experience</c:v>
                </c:pt>
                <c:pt idx="1">
                  <c:v>AVERAGE</c:v>
                </c:pt>
              </c:strCache>
            </c:strRef>
          </c:cat>
          <c:val>
            <c:numRef>
              <c:f>Sheet1!$B$2:$B$3</c:f>
              <c:numCache>
                <c:formatCode>General</c:formatCode>
                <c:ptCount val="2"/>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Operating Model</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dPt>
            <c:idx val="5"/>
            <c:spPr>
              <a:solidFill>
                <a:srgbClr val="BFBFBF"/>
              </a:solidFill>
              <a:ln w="25400">
                <a:solidFill>
                  <a:srgbClr val="000000"/>
                </a:solidFill>
              </a:ln>
            </c:spPr>
          </c:dPt>
          <c:dPt>
            <c:idx val="6"/>
            <c:spPr>
              <a:solidFill>
                <a:srgbClr val="BFBFBF"/>
              </a:solidFill>
              <a:ln w="25400">
                <a:solidFill>
                  <a:srgbClr val="000000"/>
                </a:solidFill>
              </a:ln>
            </c:spPr>
          </c:dPt>
          <c:dPt>
            <c:idx val="7"/>
            <c:spPr>
              <a:solidFill>
                <a:srgbClr val="BFBFBF"/>
              </a:solidFill>
              <a:ln w="25400">
                <a:solidFill>
                  <a:srgbClr val="000000"/>
                </a:solidFill>
              </a:ln>
            </c:spPr>
          </c:dPt>
          <c:dPt>
            <c:idx val="8"/>
            <c:spPr>
              <a:solidFill>
                <a:srgbClr val="BFBFBF"/>
              </a:solidFill>
              <a:ln w="25400">
                <a:solidFill>
                  <a:srgbClr val="000000"/>
                </a:solidFill>
              </a:ln>
            </c:spPr>
          </c:dPt>
          <c:dPt>
            <c:idx val="9"/>
            <c:spPr>
              <a:solidFill>
                <a:srgbClr val="BFBFBF"/>
              </a:solidFill>
              <a:ln w="25400">
                <a:solidFill>
                  <a:srgbClr val="000000"/>
                </a:solidFill>
              </a:ln>
            </c:spPr>
          </c:dPt>
          <c:dPt>
            <c:idx val="10"/>
            <c:spPr>
              <a:solidFill>
                <a:srgbClr val="BFBFBF"/>
              </a:solidFill>
              <a:ln w="25400">
                <a:solidFill>
                  <a:srgbClr val="000000"/>
                </a:solidFill>
              </a:ln>
            </c:spPr>
          </c:dPt>
          <c:dPt>
            <c:idx val="11"/>
            <c:spPr>
              <a:solidFill>
                <a:srgbClr val="BFBFBF"/>
              </a:solidFill>
              <a:ln w="25400">
                <a:solidFill>
                  <a:srgbClr val="000000"/>
                </a:solidFill>
              </a:ln>
            </c:spPr>
          </c:dPt>
          <c:dPt>
            <c:idx val="12"/>
            <c:spPr>
              <a:solidFill>
                <a:srgbClr val="BFBFBF"/>
              </a:solidFill>
              <a:ln w="25400">
                <a:solidFill>
                  <a:srgbClr val="000000"/>
                </a:solidFill>
              </a:ln>
            </c:spPr>
          </c:dPt>
          <c:cat>
            <c:strRef>
              <c:f>Sheet1!$A$2:$A$14</c:f>
              <c:strCache>
                <c:ptCount val="13"/>
                <c:pt idx="0">
                  <c:v>Incident Response</c:v>
                </c:pt>
                <c:pt idx="1">
                  <c:v>CI/CD Pipelines</c:v>
                </c:pt>
                <c:pt idx="2">
                  <c:v>Cloud Ready Opera...</c:v>
                </c:pt>
                <c:pt idx="3">
                  <c:v>Cost Management</c:v>
                </c:pt>
                <c:pt idx="4">
                  <c:v>Service Catalog</c:v>
                </c:pt>
                <c:pt idx="5">
                  <c:v>BCP/DR</c:v>
                </c:pt>
                <c:pt idx="6">
                  <c:v>Config Management...</c:v>
                </c:pt>
                <c:pt idx="7">
                  <c:v>Asset Management</c:v>
                </c:pt>
                <c:pt idx="8">
                  <c:v>Backup</c:v>
                </c:pt>
                <c:pt idx="9">
                  <c:v>AMI/Patching</c:v>
                </c:pt>
                <c:pt idx="10">
                  <c:v>Managed Service P...</c:v>
                </c:pt>
                <c:pt idx="11">
                  <c:v>Current Operation...</c:v>
                </c:pt>
                <c:pt idx="12">
                  <c:v>AVERAGE</c:v>
                </c:pt>
              </c:strCache>
            </c:strRef>
          </c:cat>
          <c:val>
            <c:numRef>
              <c:f>Sheet1!$B$2:$B$14</c:f>
              <c:numCache>
                <c:formatCode>General</c:formatCode>
                <c:ptCount val="13"/>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Security &amp; Compliance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dPt>
            <c:idx val="5"/>
            <c:spPr>
              <a:solidFill>
                <a:srgbClr val="BFBFBF"/>
              </a:solidFill>
              <a:ln w="25400">
                <a:solidFill>
                  <a:srgbClr val="000000"/>
                </a:solidFill>
              </a:ln>
            </c:spPr>
          </c:dPt>
          <c:dPt>
            <c:idx val="6"/>
            <c:spPr>
              <a:solidFill>
                <a:srgbClr val="BFBFBF"/>
              </a:solidFill>
              <a:ln w="25400">
                <a:solidFill>
                  <a:srgbClr val="000000"/>
                </a:solidFill>
              </a:ln>
            </c:spPr>
          </c:dPt>
          <c:dPt>
            <c:idx val="7"/>
            <c:spPr>
              <a:solidFill>
                <a:srgbClr val="BFBFBF"/>
              </a:solidFill>
              <a:ln w="25400">
                <a:solidFill>
                  <a:srgbClr val="000000"/>
                </a:solidFill>
              </a:ln>
            </c:spPr>
          </c:dPt>
          <c:dPt>
            <c:idx val="8"/>
            <c:spPr>
              <a:solidFill>
                <a:srgbClr val="BFBFBF"/>
              </a:solidFill>
              <a:ln w="25400">
                <a:solidFill>
                  <a:srgbClr val="000000"/>
                </a:solidFill>
              </a:ln>
            </c:spPr>
          </c:dPt>
          <c:cat>
            <c:strRef>
              <c:f>Sheet1!$A$2:$A$10</c:f>
              <c:strCache>
                <c:ptCount val="9"/>
                <c:pt idx="0">
                  <c:v>Security Operatio...</c:v>
                </c:pt>
                <c:pt idx="1">
                  <c:v>DevSecOps Principles</c:v>
                </c:pt>
                <c:pt idx="2">
                  <c:v>Lifecycle Securit...</c:v>
                </c:pt>
                <c:pt idx="3">
                  <c:v>Logging &amp; Monitoring</c:v>
                </c:pt>
                <c:pt idx="4">
                  <c:v>Governance, Risk ...</c:v>
                </c:pt>
                <c:pt idx="5">
                  <c:v>3rd Party Risk</c:v>
                </c:pt>
                <c:pt idx="6">
                  <c:v>Security Referenc...</c:v>
                </c:pt>
                <c:pt idx="7">
                  <c:v>Security Strategy</c:v>
                </c:pt>
                <c:pt idx="8">
                  <c:v>AVERAGE</c:v>
                </c:pt>
              </c:strCache>
            </c:strRef>
          </c:cat>
          <c:val>
            <c:numRef>
              <c:f>Sheet1!$B$2:$B$10</c:f>
              <c:numCache>
                <c:formatCode>General</c:formatCode>
                <c:ptCount val="9"/>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radarChart>
        <c:radarStyle val="filled"/>
        <c:varyColors val="0"/>
        <c:ser>
          <c:idx val="0"/>
          <c:order val="0"/>
          <c:tx>
            <c:strRef>
              <c:f>Sheet1!$B$1</c:f>
              <c:strCache>
                <c:ptCount val="1"/>
                <c:pt idx="0">
                  <c:v>Perspectives</c:v>
                </c:pt>
              </c:strCache>
            </c:strRef>
          </c:tx>
          <c:spPr>
            <a:solidFill>
              <a:srgbClr val="FF9B00"/>
            </a:solidFill>
          </c:spPr>
          <c:cat>
            <c:strRef>
              <c:f>Sheet1!$A$2:$A$7</c:f>
              <c:strCache>
                <c:ptCount val="6"/>
                <c:pt idx="0">
                  <c:v>Business</c:v>
                </c:pt>
                <c:pt idx="1">
                  <c:v>Platform</c:v>
                </c:pt>
                <c:pt idx="2">
                  <c:v>People</c:v>
                </c:pt>
                <c:pt idx="3">
                  <c:v>Governance</c:v>
                </c:pt>
                <c:pt idx="4">
                  <c:v>Operations</c:v>
                </c:pt>
                <c:pt idx="5">
                  <c:v>Security</c:v>
                </c:pt>
              </c:strCache>
            </c:strRef>
          </c:cat>
          <c:val>
            <c:numRef>
              <c:f>Sheet1!$B$2:$B$7</c:f>
              <c:numCache>
                <c:formatCode>General</c:formatCode>
                <c:ptCount val="6"/>
              </c:numCache>
            </c:numRef>
          </c:val>
          <c:smooth val="0"/>
        </c:ser>
        <c:ser>
          <c:idx val="1"/>
          <c:order val="1"/>
          <c:tx>
            <c:strRef>
              <c:f>Sheet1!$C$1</c:f>
              <c:strCache>
                <c:ptCount val="1"/>
                <c:pt idx="0">
                  <c:v>Guide</c:v>
                </c:pt>
              </c:strCache>
            </c:strRef>
          </c:tx>
          <c:spPr>
            <a:noFill/>
            <a:ln w="45720">
              <a:solidFill>
                <a:srgbClr val="00FF00"/>
              </a:solidFill>
            </a:ln>
          </c:spPr>
          <c:cat>
            <c:strRef>
              <c:f>Sheet1!$A$2:$A$7</c:f>
              <c:strCache>
                <c:ptCount val="6"/>
                <c:pt idx="0">
                  <c:v>Business</c:v>
                </c:pt>
                <c:pt idx="1">
                  <c:v>Platform</c:v>
                </c:pt>
                <c:pt idx="2">
                  <c:v>People</c:v>
                </c:pt>
                <c:pt idx="3">
                  <c:v>Governance</c:v>
                </c:pt>
                <c:pt idx="4">
                  <c:v>Operations</c:v>
                </c:pt>
                <c:pt idx="5">
                  <c:v>Security</c:v>
                </c:pt>
              </c:strCache>
            </c:strRef>
          </c:cat>
          <c:val>
            <c:numRef>
              <c:f>Sheet1!$C$2:$C$7</c:f>
              <c:numCache>
                <c:formatCode>General</c:formatCode>
                <c:ptCount val="6"/>
                <c:pt idx="0">
                  <c:v>80.0</c:v>
                </c:pt>
                <c:pt idx="1">
                  <c:v>80.0</c:v>
                </c:pt>
                <c:pt idx="2">
                  <c:v>80.0</c:v>
                </c:pt>
                <c:pt idx="3">
                  <c:v>80.0</c:v>
                </c:pt>
                <c:pt idx="4">
                  <c:v>80.0</c:v>
                </c:pt>
                <c:pt idx="5">
                  <c:v>80.0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max val="100.0"/>
        </c:scaling>
        <c:delete val="0"/>
        <c:axPos val="l"/>
        <c:majorGridlines/>
        <c:numFmt formatCode="0&quot;%&quot;" sourceLinked="0"/>
        <c:majorTickMark val="cross"/>
        <c:minorTickMark val="none"/>
        <c:tickLblPos val="nextTo"/>
        <c:txPr>
          <a:bodyPr/>
          <a:lstStyle/>
          <a:p>
            <a:pPr>
              <a:defRPr b="1" sz="1300">
                <a:solidFill>
                  <a:srgbClr val="FFFFFF"/>
                </a:solidFill>
              </a:defRPr>
            </a:pPr>
          </a:p>
        </c:txPr>
        <c:crossAx val="2073612648"/>
        <c:crosses val="autoZero"/>
        <c:crossBetween val="between"/>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radarChart>
        <c:radarStyle val="filled"/>
        <c:varyColors val="0"/>
        <c:ser>
          <c:idx val="0"/>
          <c:order val="0"/>
          <c:tx>
            <c:strRef>
              <c:f>Sheet1!$B$1</c:f>
              <c:strCache>
                <c:ptCount val="1"/>
                <c:pt idx="0">
                  <c:v>Workstreams</c:v>
                </c:pt>
              </c:strCache>
            </c:strRef>
          </c:tx>
          <c:spPr>
            <a:solidFill>
              <a:srgbClr val="FF9B00"/>
            </a:solidFill>
          </c:spPr>
          <c:cat>
            <c:strRef>
              <c:f>Sheet1!$A$2:$A$9</c:f>
              <c:strCache>
                <c:ptCount val="8"/>
                <c:pt idx="0">
                  <c:v>Business Case</c:v>
                </c:pt>
                <c:pt idx="1">
                  <c:v>Customer Migration Project Plan</c:v>
                </c:pt>
                <c:pt idx="2">
                  <c:v>Skills &amp; COE</c:v>
                </c:pt>
                <c:pt idx="3">
                  <c:v>Landing Zone</c:v>
                </c:pt>
                <c:pt idx="4">
                  <c:v>Application Portfolio Discovery &amp; Planning</c:v>
                </c:pt>
                <c:pt idx="5">
                  <c:v>Migration Process &amp; Experience</c:v>
                </c:pt>
                <c:pt idx="6">
                  <c:v>Operating Model</c:v>
                </c:pt>
                <c:pt idx="7">
                  <c:v>Security &amp; Compliance</c:v>
                </c:pt>
              </c:strCache>
            </c:strRef>
          </c:cat>
          <c:val>
            <c:numRef>
              <c:f>Sheet1!$B$2:$B$9</c:f>
              <c:numCache>
                <c:formatCode>General</c:formatCode>
                <c:ptCount val="8"/>
              </c:numCache>
            </c:numRef>
          </c:val>
          <c:smooth val="0"/>
        </c:ser>
        <c:ser>
          <c:idx val="1"/>
          <c:order val="1"/>
          <c:tx>
            <c:strRef>
              <c:f>Sheet1!$C$1</c:f>
              <c:strCache>
                <c:ptCount val="1"/>
                <c:pt idx="0">
                  <c:v>Guide</c:v>
                </c:pt>
              </c:strCache>
            </c:strRef>
          </c:tx>
          <c:spPr>
            <a:noFill/>
            <a:ln w="45720">
              <a:solidFill>
                <a:srgbClr val="00FF00"/>
              </a:solidFill>
            </a:ln>
          </c:spPr>
          <c:cat>
            <c:strRef>
              <c:f>Sheet1!$A$2:$A$9</c:f>
              <c:strCache>
                <c:ptCount val="8"/>
                <c:pt idx="0">
                  <c:v>Business Case</c:v>
                </c:pt>
                <c:pt idx="1">
                  <c:v>Customer Migration Project Plan</c:v>
                </c:pt>
                <c:pt idx="2">
                  <c:v>Skills &amp; COE</c:v>
                </c:pt>
                <c:pt idx="3">
                  <c:v>Landing Zone</c:v>
                </c:pt>
                <c:pt idx="4">
                  <c:v>Application Portfolio Discovery &amp; Planning</c:v>
                </c:pt>
                <c:pt idx="5">
                  <c:v>Migration Process &amp; Experience</c:v>
                </c:pt>
                <c:pt idx="6">
                  <c:v>Operating Model</c:v>
                </c:pt>
                <c:pt idx="7">
                  <c:v>Security &amp; Compliance</c:v>
                </c:pt>
              </c:strCache>
            </c:strRef>
          </c:cat>
          <c:val>
            <c:numRef>
              <c:f>Sheet1!$C$2:$C$9</c:f>
              <c:numCache>
                <c:formatCode>General</c:formatCode>
                <c:ptCount val="8"/>
                <c:pt idx="0">
                  <c:v>80.0</c:v>
                </c:pt>
                <c:pt idx="1">
                  <c:v>80.0</c:v>
                </c:pt>
                <c:pt idx="2">
                  <c:v>80.0</c:v>
                </c:pt>
                <c:pt idx="3">
                  <c:v>80.0</c:v>
                </c:pt>
                <c:pt idx="4">
                  <c:v>80.0</c:v>
                </c:pt>
                <c:pt idx="5">
                  <c:v>80.0</c:v>
                </c:pt>
                <c:pt idx="6">
                  <c:v>80.0</c:v>
                </c:pt>
                <c:pt idx="7">
                  <c:v>80.0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max val="100.0"/>
        </c:scaling>
        <c:delete val="0"/>
        <c:axPos val="l"/>
        <c:majorGridlines/>
        <c:numFmt formatCode="0&quot;%&quot;" sourceLinked="0"/>
        <c:majorTickMark val="cross"/>
        <c:minorTickMark val="none"/>
        <c:tickLblPos val="nextTo"/>
        <c:txPr>
          <a:bodyPr/>
          <a:lstStyle/>
          <a:p>
            <a:pPr>
              <a:defRPr b="1" sz="1300">
                <a:solidFill>
                  <a:srgbClr val="FFFFFF"/>
                </a:solidFill>
              </a:defRPr>
            </a:pPr>
          </a:p>
        </c:txPr>
        <c:crossAx val="2073612648"/>
        <c:crosses val="autoZero"/>
        <c:crossBetween val="between"/>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radarChart>
        <c:radarStyle val="filled"/>
        <c:varyColors val="0"/>
        <c:ser>
          <c:idx val="0"/>
          <c:order val="0"/>
          <c:tx>
            <c:strRef>
              <c:f>Sheet1!$B$1</c:f>
              <c:strCache>
                <c:ptCount val="1"/>
                <c:pt idx="0">
                  <c:v>Perspectives</c:v>
                </c:pt>
              </c:strCache>
            </c:strRef>
          </c:tx>
          <c:spPr>
            <a:solidFill>
              <a:srgbClr val="FF9B00"/>
            </a:solidFill>
          </c:spPr>
          <c:cat>
            <c:strRef>
              <c:f>Sheet1!$A$2:$A$7</c:f>
              <c:strCache>
                <c:ptCount val="6"/>
                <c:pt idx="0">
                  <c:v>Business</c:v>
                </c:pt>
                <c:pt idx="1">
                  <c:v>Platform</c:v>
                </c:pt>
                <c:pt idx="2">
                  <c:v>People</c:v>
                </c:pt>
                <c:pt idx="3">
                  <c:v>Governance</c:v>
                </c:pt>
                <c:pt idx="4">
                  <c:v>Operations</c:v>
                </c:pt>
                <c:pt idx="5">
                  <c:v>Security</c:v>
                </c:pt>
              </c:strCache>
            </c:strRef>
          </c:cat>
          <c:val>
            <c:numRef>
              <c:f>Sheet1!$B$2:$B$7</c:f>
              <c:numCache>
                <c:formatCode>General</c:formatCode>
                <c:ptCount val="6"/>
              </c:numCache>
            </c:numRef>
          </c:val>
          <c:smooth val="0"/>
        </c:ser>
        <c:ser>
          <c:idx val="1"/>
          <c:order val="1"/>
          <c:tx>
            <c:strRef>
              <c:f>Sheet1!$C$1</c:f>
              <c:strCache>
                <c:ptCount val="1"/>
                <c:pt idx="0">
                  <c:v>Guide</c:v>
                </c:pt>
              </c:strCache>
            </c:strRef>
          </c:tx>
          <c:spPr>
            <a:noFill/>
            <a:ln w="45720">
              <a:solidFill>
                <a:srgbClr val="00FF00"/>
              </a:solidFill>
            </a:ln>
          </c:spPr>
          <c:cat>
            <c:strRef>
              <c:f>Sheet1!$A$2:$A$7</c:f>
              <c:strCache>
                <c:ptCount val="6"/>
                <c:pt idx="0">
                  <c:v>Business</c:v>
                </c:pt>
                <c:pt idx="1">
                  <c:v>Platform</c:v>
                </c:pt>
                <c:pt idx="2">
                  <c:v>People</c:v>
                </c:pt>
                <c:pt idx="3">
                  <c:v>Governance</c:v>
                </c:pt>
                <c:pt idx="4">
                  <c:v>Operations</c:v>
                </c:pt>
                <c:pt idx="5">
                  <c:v>Security</c:v>
                </c:pt>
              </c:strCache>
            </c:strRef>
          </c:cat>
          <c:val>
            <c:numRef>
              <c:f>Sheet1!$C$2:$C$7</c:f>
              <c:numCache>
                <c:formatCode>General</c:formatCode>
                <c:ptCount val="6"/>
                <c:pt idx="0">
                  <c:v>80.0</c:v>
                </c:pt>
                <c:pt idx="1">
                  <c:v>80.0</c:v>
                </c:pt>
                <c:pt idx="2">
                  <c:v>80.0</c:v>
                </c:pt>
                <c:pt idx="3">
                  <c:v>80.0</c:v>
                </c:pt>
                <c:pt idx="4">
                  <c:v>80.0</c:v>
                </c:pt>
                <c:pt idx="5">
                  <c:v>80.0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max val="100.0"/>
        </c:scaling>
        <c:delete val="0"/>
        <c:axPos val="l"/>
        <c:majorGridlines/>
        <c:numFmt formatCode="0&quot;%&quot;" sourceLinked="0"/>
        <c:majorTickMark val="cross"/>
        <c:minorTickMark val="none"/>
        <c:tickLblPos val="nextTo"/>
        <c:txPr>
          <a:bodyPr/>
          <a:lstStyle/>
          <a:p>
            <a:pPr>
              <a:defRPr b="1" sz="1300">
                <a:solidFill>
                  <a:srgbClr val="FFFFFF"/>
                </a:solidFill>
              </a:defRPr>
            </a:pPr>
          </a:p>
        </c:txPr>
        <c:crossAx val="2073612648"/>
        <c:crosses val="autoZero"/>
        <c:crossBetween val="between"/>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Business Case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cat>
            <c:strRef>
              <c:f>Sheet1!$A$2:$A$6</c:f>
              <c:strCache>
                <c:ptCount val="5"/>
                <c:pt idx="0">
                  <c:v>Specific Migratio...</c:v>
                </c:pt>
                <c:pt idx="1">
                  <c:v>Migration Funding...</c:v>
                </c:pt>
                <c:pt idx="2">
                  <c:v>Key Stakeholder S...</c:v>
                </c:pt>
                <c:pt idx="3">
                  <c:v>High Level Busine...</c:v>
                </c:pt>
                <c:pt idx="4">
                  <c:v>AVERAGE</c:v>
                </c:pt>
              </c:strCache>
            </c:strRef>
          </c:cat>
          <c:val>
            <c:numRef>
              <c:f>Sheet1!$B$2:$B$6</c:f>
              <c:numCache>
                <c:formatCode>General</c:formatCode>
                <c:ptCount val="5"/>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Customer Migration Project Plan</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cat>
            <c:strRef>
              <c:f>Sheet1!$A$2:$A$5</c:f>
              <c:strCache>
                <c:ptCount val="4"/>
                <c:pt idx="0">
                  <c:v>Migration Plan</c:v>
                </c:pt>
                <c:pt idx="1">
                  <c:v>Project Managemen...</c:v>
                </c:pt>
                <c:pt idx="2">
                  <c:v>Determine Deliver...</c:v>
                </c:pt>
                <c:pt idx="3">
                  <c:v>AVERAGE</c:v>
                </c:pt>
              </c:strCache>
            </c:strRef>
          </c:cat>
          <c:val>
            <c:numRef>
              <c:f>Sheet1!$B$2:$B$5</c:f>
              <c:numCache>
                <c:formatCode>General</c:formatCode>
                <c:ptCount val="4"/>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Skills &amp; COE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cat>
            <c:strRef>
              <c:f>Sheet1!$A$2:$A$5</c:f>
              <c:strCache>
                <c:ptCount val="4"/>
                <c:pt idx="0">
                  <c:v>Design or Evolve COE</c:v>
                </c:pt>
                <c:pt idx="1">
                  <c:v>Experience baseline</c:v>
                </c:pt>
                <c:pt idx="2">
                  <c:v>Single Threaded L...</c:v>
                </c:pt>
                <c:pt idx="3">
                  <c:v>AVERAGE</c:v>
                </c:pt>
              </c:strCache>
            </c:strRef>
          </c:cat>
          <c:val>
            <c:numRef>
              <c:f>Sheet1!$B$2:$B$5</c:f>
              <c:numCache>
                <c:formatCode>General</c:formatCode>
                <c:ptCount val="4"/>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Landing Zone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cat>
            <c:strRef>
              <c:f>Sheet1!$A$2:$A$3</c:f>
              <c:strCache>
                <c:ptCount val="2"/>
                <c:pt idx="0">
                  <c:v>Account Design &amp; ...</c:v>
                </c:pt>
                <c:pt idx="1">
                  <c:v>AVERAGE</c:v>
                </c:pt>
              </c:strCache>
            </c:strRef>
          </c:cat>
          <c:val>
            <c:numRef>
              <c:f>Sheet1!$B$2:$B$3</c:f>
              <c:numCache>
                <c:formatCode>General</c:formatCode>
                <c:ptCount val="2"/>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Application Portfolio Discovery &amp; Planning</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cat>
            <c:strRef>
              <c:f>Sheet1!$A$2:$A$4</c:f>
              <c:strCache>
                <c:ptCount val="3"/>
                <c:pt idx="0">
                  <c:v>Workload Owner Bu...</c:v>
                </c:pt>
                <c:pt idx="1">
                  <c:v>Application Disco...</c:v>
                </c:pt>
                <c:pt idx="2">
                  <c:v>AVERAGE</c:v>
                </c:pt>
              </c:strCache>
            </c:strRef>
          </c:cat>
          <c:val>
            <c:numRef>
              <c:f>Sheet1!$B$2:$B$4</c:f>
              <c:numCache>
                <c:formatCode>General</c:formatCode>
                <c:ptCount val="3"/>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Migration Process &amp; Experience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cat>
            <c:strRef>
              <c:f>Sheet1!$A$2:$A$3</c:f>
              <c:strCache>
                <c:ptCount val="2"/>
                <c:pt idx="0">
                  <c:v>Migration Experience</c:v>
                </c:pt>
                <c:pt idx="1">
                  <c:v>AVERAGE</c:v>
                </c:pt>
              </c:strCache>
            </c:strRef>
          </c:cat>
          <c:val>
            <c:numRef>
              <c:f>Sheet1!$B$2:$B$3</c:f>
              <c:numCache>
                <c:formatCode>General</c:formatCode>
                <c:ptCount val="2"/>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Operating Model</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dPt>
            <c:idx val="5"/>
            <c:spPr>
              <a:solidFill>
                <a:srgbClr val="BFBFBF"/>
              </a:solidFill>
              <a:ln w="25400">
                <a:solidFill>
                  <a:srgbClr val="000000"/>
                </a:solidFill>
              </a:ln>
            </c:spPr>
          </c:dPt>
          <c:dPt>
            <c:idx val="6"/>
            <c:spPr>
              <a:solidFill>
                <a:srgbClr val="BFBFBF"/>
              </a:solidFill>
              <a:ln w="25400">
                <a:solidFill>
                  <a:srgbClr val="000000"/>
                </a:solidFill>
              </a:ln>
            </c:spPr>
          </c:dPt>
          <c:dPt>
            <c:idx val="7"/>
            <c:spPr>
              <a:solidFill>
                <a:srgbClr val="BFBFBF"/>
              </a:solidFill>
              <a:ln w="25400">
                <a:solidFill>
                  <a:srgbClr val="000000"/>
                </a:solidFill>
              </a:ln>
            </c:spPr>
          </c:dPt>
          <c:dPt>
            <c:idx val="8"/>
            <c:spPr>
              <a:solidFill>
                <a:srgbClr val="BFBFBF"/>
              </a:solidFill>
              <a:ln w="25400">
                <a:solidFill>
                  <a:srgbClr val="000000"/>
                </a:solidFill>
              </a:ln>
            </c:spPr>
          </c:dPt>
          <c:dPt>
            <c:idx val="9"/>
            <c:spPr>
              <a:solidFill>
                <a:srgbClr val="BFBFBF"/>
              </a:solidFill>
              <a:ln w="25400">
                <a:solidFill>
                  <a:srgbClr val="000000"/>
                </a:solidFill>
              </a:ln>
            </c:spPr>
          </c:dPt>
          <c:dPt>
            <c:idx val="10"/>
            <c:spPr>
              <a:solidFill>
                <a:srgbClr val="BFBFBF"/>
              </a:solidFill>
              <a:ln w="25400">
                <a:solidFill>
                  <a:srgbClr val="000000"/>
                </a:solidFill>
              </a:ln>
            </c:spPr>
          </c:dPt>
          <c:dPt>
            <c:idx val="11"/>
            <c:spPr>
              <a:solidFill>
                <a:srgbClr val="BFBFBF"/>
              </a:solidFill>
              <a:ln w="25400">
                <a:solidFill>
                  <a:srgbClr val="000000"/>
                </a:solidFill>
              </a:ln>
            </c:spPr>
          </c:dPt>
          <c:dPt>
            <c:idx val="12"/>
            <c:spPr>
              <a:solidFill>
                <a:srgbClr val="BFBFBF"/>
              </a:solidFill>
              <a:ln w="25400">
                <a:solidFill>
                  <a:srgbClr val="000000"/>
                </a:solidFill>
              </a:ln>
            </c:spPr>
          </c:dPt>
          <c:cat>
            <c:strRef>
              <c:f>Sheet1!$A$2:$A$14</c:f>
              <c:strCache>
                <c:ptCount val="13"/>
                <c:pt idx="0">
                  <c:v>Incident Response</c:v>
                </c:pt>
                <c:pt idx="1">
                  <c:v>CI/CD Pipelines</c:v>
                </c:pt>
                <c:pt idx="2">
                  <c:v>Cloud Ready Opera...</c:v>
                </c:pt>
                <c:pt idx="3">
                  <c:v>Cost Management</c:v>
                </c:pt>
                <c:pt idx="4">
                  <c:v>Service Catalog</c:v>
                </c:pt>
                <c:pt idx="5">
                  <c:v>BCP/DR</c:v>
                </c:pt>
                <c:pt idx="6">
                  <c:v>Config Management...</c:v>
                </c:pt>
                <c:pt idx="7">
                  <c:v>Asset Management</c:v>
                </c:pt>
                <c:pt idx="8">
                  <c:v>Backup</c:v>
                </c:pt>
                <c:pt idx="9">
                  <c:v>AMI/Patching</c:v>
                </c:pt>
                <c:pt idx="10">
                  <c:v>Managed Service P...</c:v>
                </c:pt>
                <c:pt idx="11">
                  <c:v>Current Operation...</c:v>
                </c:pt>
                <c:pt idx="12">
                  <c:v>AVERAGE</c:v>
                </c:pt>
              </c:strCache>
            </c:strRef>
          </c:cat>
          <c:val>
            <c:numRef>
              <c:f>Sheet1!$B$2:$B$14</c:f>
              <c:numCache>
                <c:formatCode>General</c:formatCode>
                <c:ptCount val="13"/>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Security &amp; Compliance</c:v>
                </c:pt>
              </c:strCache>
            </c:strRef>
          </c:tx>
          <c:dPt>
            <c:idx val="0"/>
            <c:spPr>
              <a:solidFill>
                <a:srgbClr val="BFBFBF"/>
              </a:solidFill>
              <a:ln w="25400">
                <a:solidFill>
                  <a:srgbClr val="000000"/>
                </a:solidFill>
              </a:ln>
            </c:spPr>
          </c:dPt>
          <c:dPt>
            <c:idx val="1"/>
            <c:spPr>
              <a:solidFill>
                <a:srgbClr val="BFBFBF"/>
              </a:solidFill>
              <a:ln w="25400">
                <a:solidFill>
                  <a:srgbClr val="000000"/>
                </a:solidFill>
              </a:ln>
            </c:spPr>
          </c:dPt>
          <c:dPt>
            <c:idx val="2"/>
            <c:spPr>
              <a:solidFill>
                <a:srgbClr val="BFBFBF"/>
              </a:solidFill>
              <a:ln w="25400">
                <a:solidFill>
                  <a:srgbClr val="000000"/>
                </a:solidFill>
              </a:ln>
            </c:spPr>
          </c:dPt>
          <c:dPt>
            <c:idx val="3"/>
            <c:spPr>
              <a:solidFill>
                <a:srgbClr val="BFBFBF"/>
              </a:solidFill>
              <a:ln w="25400">
                <a:solidFill>
                  <a:srgbClr val="000000"/>
                </a:solidFill>
              </a:ln>
            </c:spPr>
          </c:dPt>
          <c:dPt>
            <c:idx val="4"/>
            <c:spPr>
              <a:solidFill>
                <a:srgbClr val="BFBFBF"/>
              </a:solidFill>
              <a:ln w="25400">
                <a:solidFill>
                  <a:srgbClr val="000000"/>
                </a:solidFill>
              </a:ln>
            </c:spPr>
          </c:dPt>
          <c:dPt>
            <c:idx val="5"/>
            <c:spPr>
              <a:solidFill>
                <a:srgbClr val="BFBFBF"/>
              </a:solidFill>
              <a:ln w="25400">
                <a:solidFill>
                  <a:srgbClr val="000000"/>
                </a:solidFill>
              </a:ln>
            </c:spPr>
          </c:dPt>
          <c:dPt>
            <c:idx val="6"/>
            <c:spPr>
              <a:solidFill>
                <a:srgbClr val="BFBFBF"/>
              </a:solidFill>
              <a:ln w="25400">
                <a:solidFill>
                  <a:srgbClr val="000000"/>
                </a:solidFill>
              </a:ln>
            </c:spPr>
          </c:dPt>
          <c:dPt>
            <c:idx val="7"/>
            <c:spPr>
              <a:solidFill>
                <a:srgbClr val="BFBFBF"/>
              </a:solidFill>
              <a:ln w="25400">
                <a:solidFill>
                  <a:srgbClr val="000000"/>
                </a:solidFill>
              </a:ln>
            </c:spPr>
          </c:dPt>
          <c:dPt>
            <c:idx val="8"/>
            <c:spPr>
              <a:solidFill>
                <a:srgbClr val="BFBFBF"/>
              </a:solidFill>
              <a:ln w="25400">
                <a:solidFill>
                  <a:srgbClr val="000000"/>
                </a:solidFill>
              </a:ln>
            </c:spPr>
          </c:dPt>
          <c:cat>
            <c:strRef>
              <c:f>Sheet1!$A$2:$A$10</c:f>
              <c:strCache>
                <c:ptCount val="9"/>
                <c:pt idx="0">
                  <c:v>Security Operatio...</c:v>
                </c:pt>
                <c:pt idx="1">
                  <c:v>DevSecOps Principles</c:v>
                </c:pt>
                <c:pt idx="2">
                  <c:v>Lifecycle Securit...</c:v>
                </c:pt>
                <c:pt idx="3">
                  <c:v>Logging &amp; Monitoring</c:v>
                </c:pt>
                <c:pt idx="4">
                  <c:v>Governance, Risk ...</c:v>
                </c:pt>
                <c:pt idx="5">
                  <c:v>3rd Party Risk</c:v>
                </c:pt>
                <c:pt idx="6">
                  <c:v>Security Referenc...</c:v>
                </c:pt>
                <c:pt idx="7">
                  <c:v>Security Strategy</c:v>
                </c:pt>
                <c:pt idx="8">
                  <c:v>AVERAGE</c:v>
                </c:pt>
              </c:strCache>
            </c:strRef>
          </c:cat>
          <c:val>
            <c:numRef>
              <c:f>Sheet1!$B$2:$B$10</c:f>
              <c:numCache>
                <c:formatCode>General</c:formatCode>
                <c:ptCount val="9"/>
              </c:numCache>
            </c:numRef>
          </c:val>
        </c:ser>
        <c:dLbls>
          <c:txPr>
            <a:bodyPr/>
            <a:lstStyle/>
            <a:p>
              <a:pPr>
                <a:defRPr>
                  <a:solidFill>
                    <a:srgbClr val="000000"/>
                  </a:solidFill>
                </a:defRPr>
              </a:pPr>
            </a:p>
          </c:txPr>
          <c:dLblPos val="inEnd"/>
          <c:showLegendKey val="0"/>
          <c:showVal val="1"/>
          <c:showCatName val="0"/>
          <c:showSerName val="0"/>
          <c:showPercent val="0"/>
          <c:showBubbleSize val="0"/>
          <c:showLeaderLines val="1"/>
        </c:dLbls>
        <c:gapWidth val="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
          <c:min val="0.0"/>
        </c:scaling>
        <c:delete val="0"/>
        <c:axPos val="b"/>
        <c:majorGridlines/>
        <c:majorTickMark val="out"/>
        <c:minorTickMark val="none"/>
        <c:tickLblPos val="none"/>
        <c:crossAx val="-2068027336"/>
        <c:crosses val="autoZero"/>
        <c:majorUnit val="1.0"/>
      </c:valAx>
    </c:plotArea>
    <c:dispBlanksAs val="gap"/>
  </c:chart>
  <c:txPr>
    <a:bodyPr/>
    <a:lstStyle/>
    <a:p>
      <a:pPr>
        <a:defRPr sz="12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2/1/24</a:t>
            </a:fld>
            <a:endParaRPr lang="en-US" dirty="0"/>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dirty="0"/>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2/1/24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916365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4500" y="358775"/>
            <a:ext cx="5969000" cy="3357563"/>
          </a:xfrm>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p>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Times New Roman" panose="02020603050405020304" pitchFamily="18" charset="0"/>
                <a:cs typeface="Calibri" panose="020F0502020204030204" pitchFamily="34" charset="0"/>
              </a:rPr>
              <a:t>An MRA workshop is a readiness assessment of </a:t>
            </a:r>
            <a:r>
              <a:rPr kumimoji="0" lang="en-US" sz="2000" b="0" i="0" u="sng" strike="noStrike" kern="1200" cap="none" spc="0" normalizeH="0" baseline="0" noProof="0" dirty="0">
                <a:ln>
                  <a:noFill/>
                </a:ln>
                <a:solidFill>
                  <a:srgbClr val="000000"/>
                </a:solidFill>
                <a:effectLst/>
                <a:uLnTx/>
                <a:uFillTx/>
                <a:latin typeface="Calibri" panose="020F0502020204030204"/>
                <a:ea typeface="Times New Roman" panose="02020603050405020304" pitchFamily="18" charset="0"/>
                <a:cs typeface="Calibri" panose="020F0502020204030204" pitchFamily="34" charset="0"/>
              </a:rPr>
              <a:t>many of the common factors that slow or stall companies when they migrate</a:t>
            </a:r>
            <a:r>
              <a:rPr kumimoji="0" lang="en-US" sz="2000" b="0" i="0" u="none" strike="noStrike" kern="1200" cap="none" spc="0" normalizeH="0" baseline="0" noProof="0" dirty="0">
                <a:ln>
                  <a:noFill/>
                </a:ln>
                <a:solidFill>
                  <a:srgbClr val="000000"/>
                </a:solidFill>
                <a:effectLst/>
                <a:uLnTx/>
                <a:uFillTx/>
                <a:latin typeface="Calibri" panose="020F0502020204030204"/>
                <a:ea typeface="Times New Roman" panose="02020603050405020304" pitchFamily="18" charset="0"/>
                <a:cs typeface="Calibri" panose="020F0502020204030204" pitchFamily="34" charset="0"/>
              </a:rPr>
              <a:t> at scale.  It is not an evaluation of your company’s overall ability to migrate and operate in the Cloud or a gating function for individual groups skilled in launching a given cloud initiative.  Many companies that are very knowledgeable about Cloud operations can still be impacted by issues surfaced during the MRA. The purpose of the assessment is to help you identify gaps in your planning and skills, and to address specific known risks encountered previously across Amazon’s extensive experience migrating similar customers at scale. </a:t>
            </a:r>
          </a:p>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Calibri" panose="020F0502020204030204" pitchFamily="34" charset="0"/>
            </a:endParaRPr>
          </a:p>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Calibri" panose="020F0502020204030204" pitchFamily="34" charset="0"/>
              </a:rPr>
              <a:t>You should leave the MRA with a clear plan of actions for accelerating your cloud initiative.</a:t>
            </a:r>
            <a:endParaRPr kumimoji="0" lang="en-US" sz="1800" b="0" i="0" u="none" strike="noStrike" kern="1200" cap="none" spc="0" normalizeH="0" baseline="0" noProof="0" dirty="0">
              <a:ln>
                <a:noFill/>
              </a:ln>
              <a:solidFill>
                <a:srgbClr val="212F3E"/>
              </a:solidFill>
              <a:effectLst/>
              <a:uLnTx/>
              <a:uFillTx/>
              <a:latin typeface="Calibri" panose="020F0502020204030204"/>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a:t>
            </a:fld>
            <a:endParaRPr lang="en-US" dirty="0"/>
          </a:p>
        </p:txBody>
      </p:sp>
    </p:spTree>
    <p:extLst>
      <p:ext uri="{BB962C8B-B14F-4D97-AF65-F5344CB8AC3E}">
        <p14:creationId xmlns:p14="http://schemas.microsoft.com/office/powerpoint/2010/main" val="3782440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4500" y="358775"/>
            <a:ext cx="5969000" cy="33575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dirty="0">
                <a:solidFill>
                  <a:schemeClr val="tx1"/>
                </a:solidFill>
                <a:effectLst/>
                <a:latin typeface="Amazon Ember Regular" charset="0"/>
                <a:ea typeface="+mn-ea"/>
                <a:cs typeface="+mn-cs"/>
              </a:rPr>
              <a:t>[MIGRATION JOURNEY]:</a:t>
            </a:r>
            <a:r>
              <a:rPr lang="en-US" sz="2000" b="1" i="0" kern="1200" baseline="0" dirty="0">
                <a:solidFill>
                  <a:schemeClr val="tx1"/>
                </a:solidFill>
                <a:effectLst/>
                <a:latin typeface="Amazon Ember Regular"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baseline="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r>
              <a:rPr lang="en-US" sz="2000" b="0" i="0" kern="1200" dirty="0">
                <a:solidFill>
                  <a:schemeClr val="tx1"/>
                </a:solidFill>
                <a:effectLst/>
                <a:latin typeface="Amazon Ember Regular" charset="0"/>
                <a:ea typeface="+mn-ea"/>
                <a:cs typeface="+mn-cs"/>
              </a:rPr>
              <a:t>MAP is built on a three-phase journey</a:t>
            </a:r>
            <a:r>
              <a:rPr lang="en-US" sz="2000" b="0" i="0" kern="1200" baseline="0" dirty="0">
                <a:solidFill>
                  <a:schemeClr val="tx1"/>
                </a:solidFill>
                <a:effectLst/>
                <a:latin typeface="Amazon Ember Regular" charset="0"/>
                <a:ea typeface="+mn-ea"/>
                <a:cs typeface="+mn-cs"/>
              </a:rPr>
              <a:t> to systematically help you accomplish the migration journey. MAP starts with the Assess phase that includes a Migration Readiness Assessment (MRA) for your leaders and sponsors along with a Rapid Discovery to support creation of a TCO model to help you build business support for your migration project. The second phase is Mobilize, which includes Mobilize projects identified in the MRA to build your capabilities and get first-hand experience how easy it is to migrate to AWS. Mobilize includes four accelerators pictured here and the level of activity required in these work streams is determined by the readiness levels determined during the MRA. Mobilize activities include the actual migration of a recommended 3-5 applications, which is how your teams</a:t>
            </a:r>
            <a:r>
              <a:rPr lang="en-US" sz="2000" dirty="0"/>
              <a:t> build </a:t>
            </a:r>
            <a:r>
              <a:rPr lang="en-US" sz="2000" b="0" i="0" kern="1200" baseline="0" dirty="0">
                <a:solidFill>
                  <a:schemeClr val="tx1"/>
                </a:solidFill>
                <a:effectLst/>
                <a:latin typeface="Amazon Ember Regular" charset="0"/>
                <a:ea typeface="+mn-ea"/>
                <a:cs typeface="+mn-cs"/>
              </a:rPr>
              <a:t>migration capabilities alongside migration experts from AWS or partners. Mobilize typically runs from 2 to 4 months and involves ProServe and/or a partner that prepares you for large-scale migration and operation which is phase three. During Migration and Modernization, you will continue to migrate waves of applications, and operate and optimize your cloud environment and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dirty="0">
                <a:solidFill>
                  <a:schemeClr val="tx1"/>
                </a:solidFill>
                <a:effectLst/>
                <a:latin typeface="Amazon Ember Regular" charset="0"/>
                <a:ea typeface="+mn-ea"/>
                <a:cs typeface="+mn-cs"/>
              </a:rPr>
              <a:t>DETAILED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We have developed MAP based on previous customer experiences to create an efficient and effective approach to migrations through three phases:</a:t>
            </a:r>
          </a:p>
          <a:p>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The </a:t>
            </a:r>
            <a:r>
              <a:rPr lang="en-US" sz="2000" b="1" i="0" kern="1200" dirty="0">
                <a:solidFill>
                  <a:schemeClr val="tx1"/>
                </a:solidFill>
                <a:effectLst/>
                <a:latin typeface="Amazon Ember Regular" charset="0"/>
                <a:ea typeface="+mn-ea"/>
                <a:cs typeface="+mn-cs"/>
              </a:rPr>
              <a:t>Assess</a:t>
            </a:r>
            <a:r>
              <a:rPr lang="en-US" sz="2000" b="0" i="0" kern="1200" dirty="0">
                <a:solidFill>
                  <a:schemeClr val="tx1"/>
                </a:solidFill>
                <a:effectLst/>
                <a:latin typeface="Amazon Ember Regular" charset="0"/>
                <a:ea typeface="+mn-ea"/>
                <a:cs typeface="+mn-cs"/>
              </a:rPr>
              <a:t> phase is the beginning of your journey, and sets the foundation for a well-planned and delivered migration.</a:t>
            </a:r>
            <a:r>
              <a:rPr lang="en-US" sz="2000" b="0" i="0" kern="1200" baseline="0" dirty="0">
                <a:solidFill>
                  <a:schemeClr val="tx1"/>
                </a:solidFill>
                <a:effectLst/>
                <a:latin typeface="Amazon Ember Regular" charset="0"/>
                <a:ea typeface="+mn-ea"/>
                <a:cs typeface="+mn-cs"/>
              </a:rPr>
              <a:t> A Migration Readiness Assessment (M</a:t>
            </a:r>
            <a:r>
              <a:rPr lang="en-US" sz="2000" b="0" i="0" kern="1200" dirty="0">
                <a:solidFill>
                  <a:schemeClr val="tx1"/>
                </a:solidFill>
                <a:effectLst/>
                <a:latin typeface="Amazon Ember Regular" charset="0"/>
                <a:ea typeface="+mn-ea"/>
                <a:cs typeface="+mn-cs"/>
              </a:rPr>
              <a:t>RA) completed in the Assess phase</a:t>
            </a:r>
            <a:r>
              <a:rPr lang="en-US" sz="2000" b="0" i="0" kern="1200" baseline="0" dirty="0">
                <a:solidFill>
                  <a:schemeClr val="tx1"/>
                </a:solidFill>
                <a:effectLst/>
                <a:latin typeface="Amazon Ember Regular" charset="0"/>
                <a:ea typeface="+mn-ea"/>
                <a:cs typeface="+mn-cs"/>
              </a:rPr>
              <a:t> h</a:t>
            </a:r>
            <a:r>
              <a:rPr lang="en-US" sz="2000" b="0" i="0" kern="1200" dirty="0">
                <a:solidFill>
                  <a:schemeClr val="tx1"/>
                </a:solidFill>
                <a:effectLst/>
                <a:latin typeface="Amazon Ember Regular" charset="0"/>
                <a:ea typeface="+mn-ea"/>
                <a:cs typeface="+mn-cs"/>
              </a:rPr>
              <a:t>elps you determine your organizations capabilities, readiness, and commitment to migrate to the cloud.</a:t>
            </a:r>
            <a:r>
              <a:rPr lang="en-US" sz="2000" b="0" i="0" kern="1200" baseline="0" dirty="0">
                <a:solidFill>
                  <a:schemeClr val="tx1"/>
                </a:solidFill>
                <a:effectLst/>
                <a:latin typeface="Amazon Ember Regular" charset="0"/>
                <a:ea typeface="+mn-ea"/>
                <a:cs typeface="+mn-cs"/>
              </a:rPr>
              <a:t>  During the MRA, we also look to quickly follow the assessment with a Rapid Discovery of your portfolio and create a Refined TCO report for the project. We provide discovery and business case tools free of charge during this phase to get the project launched.</a:t>
            </a:r>
            <a:br>
              <a:rPr lang="en-US" sz="2000" baseline="0" dirty="0"/>
            </a:br>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After the</a:t>
            </a:r>
            <a:r>
              <a:rPr lang="en-US" sz="2000" b="0" i="0" kern="1200" baseline="0" dirty="0">
                <a:solidFill>
                  <a:schemeClr val="tx1"/>
                </a:solidFill>
                <a:effectLst/>
                <a:latin typeface="Amazon Ember Regular" charset="0"/>
                <a:ea typeface="+mn-ea"/>
                <a:cs typeface="+mn-cs"/>
              </a:rPr>
              <a:t> Assess phase, you progress to the </a:t>
            </a:r>
            <a:r>
              <a:rPr lang="en-US" sz="2000" b="1" i="0" kern="1200" dirty="0">
                <a:solidFill>
                  <a:schemeClr val="tx1"/>
                </a:solidFill>
                <a:effectLst/>
                <a:latin typeface="Amazon Ember Regular" charset="0"/>
                <a:ea typeface="+mn-ea"/>
                <a:cs typeface="+mn-cs"/>
              </a:rPr>
              <a:t>Mobilize </a:t>
            </a:r>
            <a:r>
              <a:rPr lang="en-US" sz="2000" b="0" i="0" kern="1200" dirty="0">
                <a:solidFill>
                  <a:schemeClr val="tx1"/>
                </a:solidFill>
                <a:effectLst/>
                <a:latin typeface="Amazon Ember Regular" charset="0"/>
                <a:ea typeface="+mn-ea"/>
                <a:cs typeface="+mn-cs"/>
              </a:rPr>
              <a:t>phase, which builds capabilities to migrate and operate in the cloud.</a:t>
            </a:r>
            <a:r>
              <a:rPr lang="en-US" sz="2000" b="0" i="0" kern="1200" baseline="0" dirty="0">
                <a:solidFill>
                  <a:schemeClr val="tx1"/>
                </a:solidFill>
                <a:effectLst/>
                <a:latin typeface="Amazon Ember Regular" charset="0"/>
                <a:ea typeface="+mn-ea"/>
                <a:cs typeface="+mn-cs"/>
              </a:rPr>
              <a:t> The focus is o</a:t>
            </a:r>
            <a:r>
              <a:rPr lang="en-US" sz="2000" b="0" i="0" kern="1200" dirty="0">
                <a:solidFill>
                  <a:schemeClr val="tx1"/>
                </a:solidFill>
                <a:effectLst/>
                <a:latin typeface="Amazon Ember Regular" charset="0"/>
                <a:ea typeface="+mn-ea"/>
                <a:cs typeface="+mn-cs"/>
              </a:rPr>
              <a:t>n developing a</a:t>
            </a:r>
            <a:r>
              <a:rPr lang="en-US" sz="2000" b="0" i="0" kern="1200" baseline="0" dirty="0">
                <a:solidFill>
                  <a:schemeClr val="tx1"/>
                </a:solidFill>
                <a:effectLst/>
                <a:latin typeface="Amazon Ember Regular" charset="0"/>
                <a:ea typeface="+mn-ea"/>
                <a:cs typeface="+mn-cs"/>
              </a:rPr>
              <a:t> landing zone,</a:t>
            </a:r>
            <a:r>
              <a:rPr lang="en-US" sz="2000" b="0" i="0" kern="1200" dirty="0">
                <a:solidFill>
                  <a:schemeClr val="tx1"/>
                </a:solidFill>
                <a:effectLst/>
                <a:latin typeface="Amazon Ember Regular" charset="0"/>
                <a:ea typeface="+mn-ea"/>
                <a:cs typeface="+mn-cs"/>
              </a:rPr>
              <a:t> operational readiness, cloud skills,</a:t>
            </a:r>
            <a:r>
              <a:rPr lang="en-US" sz="2000" b="0" i="0" kern="1200" baseline="0" dirty="0">
                <a:solidFill>
                  <a:schemeClr val="tx1"/>
                </a:solidFill>
                <a:effectLst/>
                <a:latin typeface="Amazon Ember Regular" charset="0"/>
                <a:ea typeface="+mn-ea"/>
                <a:cs typeface="+mn-cs"/>
              </a:rPr>
              <a:t> a</a:t>
            </a:r>
            <a:r>
              <a:rPr lang="en-US" sz="2000" b="0" i="0" kern="1200" dirty="0">
                <a:solidFill>
                  <a:schemeClr val="tx1"/>
                </a:solidFill>
                <a:effectLst/>
                <a:latin typeface="Amazon Ember Regular" charset="0"/>
                <a:ea typeface="+mn-ea"/>
                <a:cs typeface="+mn-cs"/>
              </a:rPr>
              <a:t> strong migration plan (including initial migrations), and a compelling business case for the migrations. </a:t>
            </a:r>
            <a:r>
              <a:rPr lang="en-US" sz="2000" b="0" i="0" kern="1200" baseline="0" dirty="0">
                <a:solidFill>
                  <a:schemeClr val="tx1"/>
                </a:solidFill>
                <a:effectLst/>
                <a:latin typeface="Amazon Ember Regular" charset="0"/>
                <a:ea typeface="+mn-ea"/>
                <a:cs typeface="+mn-cs"/>
              </a:rPr>
              <a:t> </a:t>
            </a:r>
            <a:r>
              <a:rPr lang="en-US" sz="2000" b="1" dirty="0"/>
              <a:t>[More Mobilize details if needed]</a:t>
            </a:r>
          </a:p>
          <a:p>
            <a:pPr marL="0" lvl="0" indent="0">
              <a:buFont typeface="Arial" panose="020B0604020202020204" pitchFamily="34" charset="0"/>
              <a:buNone/>
            </a:pPr>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The</a:t>
            </a:r>
            <a:r>
              <a:rPr lang="en-US" sz="2000" b="0" i="0" kern="1200" baseline="0" dirty="0">
                <a:solidFill>
                  <a:schemeClr val="tx1"/>
                </a:solidFill>
                <a:effectLst/>
                <a:latin typeface="Amazon Ember Regular" charset="0"/>
                <a:ea typeface="+mn-ea"/>
                <a:cs typeface="+mn-cs"/>
              </a:rPr>
              <a:t> Mobilize phase prepares you for the </a:t>
            </a:r>
            <a:r>
              <a:rPr lang="en-US" sz="2000" b="1" i="0" kern="1200" baseline="0" dirty="0">
                <a:solidFill>
                  <a:schemeClr val="tx1"/>
                </a:solidFill>
                <a:effectLst/>
                <a:latin typeface="Amazon Ember Regular" charset="0"/>
                <a:ea typeface="+mn-ea"/>
                <a:cs typeface="+mn-cs"/>
              </a:rPr>
              <a:t>Migrate </a:t>
            </a:r>
            <a:r>
              <a:rPr lang="en-US" sz="2000" b="1" dirty="0"/>
              <a:t>&amp; Modernize </a:t>
            </a:r>
            <a:r>
              <a:rPr lang="en-US" sz="2000" b="0" i="0" kern="1200" baseline="0" dirty="0">
                <a:solidFill>
                  <a:schemeClr val="tx1"/>
                </a:solidFill>
                <a:effectLst/>
                <a:latin typeface="Amazon Ember Regular" charset="0"/>
                <a:ea typeface="+mn-ea"/>
                <a:cs typeface="+mn-cs"/>
              </a:rPr>
              <a:t>phase</a:t>
            </a:r>
            <a:r>
              <a:rPr lang="en-US" sz="2000" dirty="0"/>
              <a:t>, where you deliver</a:t>
            </a:r>
            <a:r>
              <a:rPr lang="en-US" sz="2000" b="0" i="0" kern="1200" baseline="0" dirty="0">
                <a:solidFill>
                  <a:schemeClr val="tx1"/>
                </a:solidFill>
                <a:effectLst/>
                <a:latin typeface="Amazon Ember Regular" charset="0"/>
                <a:ea typeface="+mn-ea"/>
                <a:cs typeface="+mn-cs"/>
              </a:rPr>
              <a:t> </a:t>
            </a:r>
            <a:r>
              <a:rPr lang="en-US" sz="2000" i="0" kern="1200" baseline="0" dirty="0">
                <a:solidFill>
                  <a:schemeClr val="tx1"/>
                </a:solidFill>
                <a:effectLst/>
                <a:latin typeface="Amazon Ember Regular" charset="0"/>
                <a:ea typeface="+mn-ea"/>
                <a:cs typeface="+mn-cs"/>
              </a:rPr>
              <a:t>large scale migration and cloud operations</a:t>
            </a:r>
            <a:r>
              <a:rPr lang="en-US" sz="2000" b="0" i="0" kern="1200" baseline="0" dirty="0">
                <a:solidFill>
                  <a:schemeClr val="tx1"/>
                </a:solidFill>
                <a:effectLst/>
                <a:latin typeface="Amazon Ember Regular" charset="0"/>
                <a:ea typeface="+mn-ea"/>
                <a:cs typeface="+mn-cs"/>
              </a:rPr>
              <a:t>.</a:t>
            </a:r>
            <a:r>
              <a:rPr lang="en-US" sz="2000" b="0" i="0" kern="1200" dirty="0">
                <a:solidFill>
                  <a:schemeClr val="tx1"/>
                </a:solidFill>
                <a:effectLst/>
                <a:latin typeface="Amazon Ember Regular" charset="0"/>
                <a:ea typeface="+mn-ea"/>
                <a:cs typeface="+mn-cs"/>
              </a:rPr>
              <a:t> After</a:t>
            </a:r>
            <a:r>
              <a:rPr lang="en-US" sz="2000" b="0" i="0" kern="1200" baseline="0" dirty="0">
                <a:solidFill>
                  <a:schemeClr val="tx1"/>
                </a:solidFill>
                <a:effectLst/>
                <a:latin typeface="Amazon Ember Regular" charset="0"/>
                <a:ea typeface="+mn-ea"/>
                <a:cs typeface="+mn-cs"/>
              </a:rPr>
              <a:t> completing the Mobilize phase, m</a:t>
            </a:r>
            <a:r>
              <a:rPr lang="en-US" sz="2000" b="0" i="0" kern="1200" dirty="0">
                <a:solidFill>
                  <a:schemeClr val="tx1"/>
                </a:solidFill>
                <a:effectLst/>
                <a:latin typeface="Amazon Ember Regular" charset="0"/>
                <a:ea typeface="+mn-ea"/>
                <a:cs typeface="+mn-cs"/>
              </a:rPr>
              <a:t>igrations can proceed rapidly and efficiently during the last phase, since it builds on established foundational capabilities. Each</a:t>
            </a:r>
            <a:r>
              <a:rPr lang="en-US" sz="2000" b="0" i="0" kern="1200" baseline="0" dirty="0">
                <a:solidFill>
                  <a:schemeClr val="tx1"/>
                </a:solidFill>
                <a:effectLst/>
                <a:latin typeface="Amazon Ember Regular" charset="0"/>
                <a:ea typeface="+mn-ea"/>
                <a:cs typeface="+mn-cs"/>
              </a:rPr>
              <a:t> s</a:t>
            </a:r>
            <a:r>
              <a:rPr lang="en-US" sz="2000" b="0" i="0" kern="1200" dirty="0">
                <a:solidFill>
                  <a:schemeClr val="tx1"/>
                </a:solidFill>
                <a:effectLst/>
                <a:latin typeface="Amazon Ember Regular" charset="0"/>
                <a:ea typeface="+mn-ea"/>
                <a:cs typeface="+mn-cs"/>
              </a:rPr>
              <a:t>uccessive migration establishes a full-scale cloud operating model.</a:t>
            </a:r>
          </a:p>
          <a:p>
            <a:pPr marL="0" lvl="0" indent="0">
              <a:buFont typeface="Arial" panose="020B0604020202020204" pitchFamily="34" charset="0"/>
              <a:buNone/>
            </a:pPr>
            <a:endParaRPr lang="en-US" sz="2000" b="0" i="0" kern="1200" dirty="0">
              <a:solidFill>
                <a:schemeClr val="tx1"/>
              </a:solidFill>
              <a:effectLst/>
              <a:latin typeface="Amazon Ember Regular" charset="0"/>
              <a:ea typeface="+mn-ea"/>
              <a:cs typeface="+mn-cs"/>
            </a:endParaRPr>
          </a:p>
          <a:p>
            <a:pPr lvl="0"/>
            <a:r>
              <a:rPr lang="en-US" sz="2000" b="1" dirty="0"/>
              <a:t>[More Mobilize details to be described as needed]</a:t>
            </a:r>
          </a:p>
          <a:p>
            <a:pPr marL="171450" lvl="0" indent="-171450" defTabSz="914400">
              <a:buFont typeface="Arial" panose="020B0604020202020204" pitchFamily="34" charset="0"/>
              <a:buChar char="•"/>
              <a:defRPr/>
            </a:pPr>
            <a:endParaRPr lang="en-US" sz="2000" dirty="0"/>
          </a:p>
          <a:p>
            <a:pPr marL="171450" lvl="0" indent="-171450" defTabSz="914400">
              <a:buFont typeface="Arial" panose="020B0604020202020204" pitchFamily="34" charset="0"/>
              <a:buChar char="•"/>
              <a:defRPr/>
            </a:pPr>
            <a:r>
              <a:rPr lang="en-US" sz="2000" dirty="0"/>
              <a:t>The </a:t>
            </a:r>
            <a:r>
              <a:rPr lang="en-US" sz="2000" b="1" dirty="0"/>
              <a:t>Mobilize phase is typically 2 – 4 months </a:t>
            </a:r>
            <a:r>
              <a:rPr lang="en-US" sz="2000" dirty="0"/>
              <a:t>(based on your organization’s readiness levels) and is delivered with a selected partner or AWS ProServe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r>
              <a:rPr lang="en-US" dirty="0"/>
              <a:t>The Mobilize engagement uses Accelerators to deliver the following outputs/outcomes for customers:</a:t>
            </a:r>
          </a:p>
          <a:p>
            <a:pPr marL="171450" indent="-171450">
              <a:buFont typeface="Arial" panose="020B0604020202020204" pitchFamily="34" charset="0"/>
              <a:buChar char="•"/>
            </a:pPr>
            <a:r>
              <a:rPr lang="en-US" dirty="0"/>
              <a:t>Collect inventory and application data to assess the portfolio and develop decision criteria to create initial migration wave plans.</a:t>
            </a:r>
          </a:p>
          <a:p>
            <a:pPr marL="171450" indent="-171450">
              <a:buFont typeface="Arial" panose="020B0604020202020204" pitchFamily="34" charset="0"/>
              <a:buChar char="•"/>
            </a:pPr>
            <a:r>
              <a:rPr lang="en-US" dirty="0"/>
              <a:t>Deploy and validate the landing zone, develop required operating and governance models, and migrate up to 5 applications to the customer production environment.</a:t>
            </a:r>
          </a:p>
          <a:p>
            <a:pPr marL="171450" indent="-171450">
              <a:buFont typeface="Arial" panose="020B0604020202020204" pitchFamily="34" charset="0"/>
              <a:buChar char="•"/>
            </a:pPr>
            <a:r>
              <a:rPr lang="en-US" dirty="0"/>
              <a:t>Gain hands-on experience operating in the cloud to build confidence, skills, and competency for the migration and transformation of the organization.</a:t>
            </a:r>
          </a:p>
          <a:p>
            <a:pPr marL="171450" indent="-171450">
              <a:buFont typeface="Arial" panose="020B0604020202020204" pitchFamily="34" charset="0"/>
              <a:buChar char="•"/>
            </a:pPr>
            <a:r>
              <a:rPr lang="en-US" dirty="0"/>
              <a:t>Define, implement, scale and automate (where applicable), the customer’s security risk and compliance controls on AWS.</a:t>
            </a:r>
          </a:p>
          <a:p>
            <a:pPr marL="171450" indent="-171450">
              <a:buFont typeface="Arial" panose="020B0604020202020204" pitchFamily="34" charset="0"/>
              <a:buChar char="•"/>
            </a:pPr>
            <a:r>
              <a:rPr lang="en-US" dirty="0"/>
              <a:t>Establish the future operating model for cloud and plan, guide and support an efficient progression of the operational model during the migration.</a:t>
            </a:r>
          </a:p>
          <a:p>
            <a:pPr marL="171450" indent="-171450">
              <a:buFont typeface="Arial" panose="020B0604020202020204" pitchFamily="34" charset="0"/>
              <a:buChar char="•"/>
            </a:pPr>
            <a:r>
              <a:rPr lang="en-US" dirty="0"/>
              <a:t>These Accelerators generate early alignment, speed-up requirements gathering, and expedite first migrations to compress the overall engagement timeframe.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u="sng" dirty="0"/>
              <a:t>Mobilize Accelerator </a:t>
            </a:r>
            <a:r>
              <a:rPr lang="en-US" dirty="0"/>
              <a:t>helps customers establish and exercise an agile program to accelerate cloud operational readiness and cloud migrations. This Accelerator supports the set-up of low-cost collaboration and planning mechanisms that implement and automate many activities within the AWS Cloud Adoption Framework. These mechanisms optimize end-user experience for distributed teams and are foundational to deliver readiness and migration initiatives. The Mobilize Accelerator builds the foundation that all other workstreams leverage to structure and prioritize work, collaborate and document knowledge, and report progress.</a:t>
            </a: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The </a:t>
            </a:r>
            <a:r>
              <a:rPr lang="en-US" sz="2000" b="1" i="0" u="sng" kern="1200" dirty="0">
                <a:solidFill>
                  <a:schemeClr val="tx1"/>
                </a:solidFill>
                <a:effectLst/>
                <a:latin typeface="Amazon Ember Regular" charset="0"/>
                <a:ea typeface="+mn-ea"/>
                <a:cs typeface="+mn-cs"/>
              </a:rPr>
              <a:t>Portfolio Accelerator </a:t>
            </a:r>
            <a:r>
              <a:rPr lang="en-US" sz="20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is a </a:t>
            </a:r>
            <a:r>
              <a:rPr lang="en-US" sz="2000" dirty="0">
                <a:latin typeface="Amazon Ember" panose="020B0603020204020204" pitchFamily="34" charset="0"/>
                <a:ea typeface="Amazon Ember" panose="020B0603020204020204" pitchFamily="34" charset="0"/>
                <a:cs typeface="Amazon Ember" panose="020B0603020204020204" pitchFamily="34" charset="0"/>
              </a:rPr>
              <a:t>sprint-based, interactive workstream designed to establish decision criteria for application migration candidates and accelerate the development of a migration wave plan.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mazon Ember" panose="020B0603020204020204" pitchFamily="34" charset="0"/>
                <a:ea typeface="Amazon Ember" panose="020B0603020204020204" pitchFamily="34" charset="0"/>
                <a:cs typeface="Amazon Ember" panose="020B0603020204020204" pitchFamily="34" charset="0"/>
              </a:rPr>
              <a:t>The </a:t>
            </a:r>
            <a:r>
              <a:rPr lang="en-US" sz="2000" b="1" u="sng" dirty="0">
                <a:latin typeface="Amazon Ember" panose="020B0603020204020204" pitchFamily="34" charset="0"/>
                <a:ea typeface="Amazon Ember" panose="020B0603020204020204" pitchFamily="34" charset="0"/>
                <a:cs typeface="Amazon Ember" panose="020B0603020204020204" pitchFamily="34" charset="0"/>
              </a:rPr>
              <a:t>Platform &amp; Migration Accelerator </a:t>
            </a:r>
            <a:r>
              <a:rPr lang="en-US" sz="1600" dirty="0"/>
              <a:t>deploys and validates the landing zone, develops required operating and governance models, and migrates up to 5 applications to customer production environment. The accelerator leverages Platform and Migration Parties to accelerate application migration, provide hands-on experience operating in the cloud, and build confidence across cross-functional teams. Activities within the Platform &amp; Migration Accelerator are broken into Pre-Party, Party, and Post-Party stages and will conclude with post migration acceptance testing and validation of the landing zone. There is a defined, programmatic approach to successfully organize and plan the accelerator which is detailed in this document. </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The </a:t>
            </a:r>
            <a:r>
              <a:rPr lang="en-US" sz="2000" b="1" i="0" u="sng" kern="1200" dirty="0">
                <a:solidFill>
                  <a:schemeClr val="tx1"/>
                </a:solidFill>
                <a:effectLst/>
                <a:latin typeface="Amazon Ember Regular" charset="0"/>
                <a:ea typeface="+mn-ea"/>
                <a:cs typeface="+mn-cs"/>
              </a:rPr>
              <a:t>People Accelerator </a:t>
            </a:r>
            <a:r>
              <a:rPr lang="en-US" sz="2000" b="0" i="0" kern="1200" dirty="0">
                <a:solidFill>
                  <a:schemeClr val="tx1"/>
                </a:solidFill>
                <a:effectLst/>
                <a:latin typeface="Amazon Ember Regular" charset="0"/>
                <a:ea typeface="+mn-ea"/>
                <a:cs typeface="+mn-cs"/>
              </a:rPr>
              <a:t>a</a:t>
            </a:r>
            <a:r>
              <a:rPr lang="en-US" sz="2000" dirty="0">
                <a:latin typeface="Amazon Ember" panose="020B0603020204020204" pitchFamily="34" charset="0"/>
                <a:ea typeface="Amazon Ember" panose="020B0603020204020204" pitchFamily="34" charset="0"/>
                <a:cs typeface="Amazon Ember" panose="020B0603020204020204" pitchFamily="34" charset="0"/>
              </a:rPr>
              <a:t>dvances an enterprise’s ability to create, sustain and govern the change that occurs to enable cloud adoption.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mazon Ember" panose="020B0603020204020204" pitchFamily="34" charset="0"/>
                <a:ea typeface="Amazon Ember" panose="020B0603020204020204" pitchFamily="34" charset="0"/>
                <a:cs typeface="Amazon Ember" panose="020B0603020204020204" pitchFamily="34" charset="0"/>
              </a:rPr>
              <a:t>See the internal Mobilize wiki for more details: https://w.amazon.com/bin/view/AWS/Teams/Proserve/Migration/Mobilize/</a:t>
            </a:r>
            <a:endParaRPr lang="en-US" sz="2000"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4</a:t>
            </a:fld>
            <a:endParaRPr lang="en-US" dirty="0"/>
          </a:p>
        </p:txBody>
      </p:sp>
    </p:spTree>
    <p:extLst>
      <p:ext uri="{BB962C8B-B14F-4D97-AF65-F5344CB8AC3E}">
        <p14:creationId xmlns:p14="http://schemas.microsoft.com/office/powerpoint/2010/main" val="3071342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4500" y="358775"/>
            <a:ext cx="5969000" cy="33575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dirty="0">
                <a:solidFill>
                  <a:schemeClr val="tx1"/>
                </a:solidFill>
                <a:effectLst/>
                <a:latin typeface="Amazon Ember Regular" charset="0"/>
                <a:ea typeface="+mn-ea"/>
                <a:cs typeface="+mn-cs"/>
              </a:rPr>
              <a:t>[MIGRATION JOURNEY]:</a:t>
            </a:r>
            <a:r>
              <a:rPr lang="en-US" sz="2000" b="1" i="0" kern="1200" baseline="0" dirty="0">
                <a:solidFill>
                  <a:schemeClr val="tx1"/>
                </a:solidFill>
                <a:effectLst/>
                <a:latin typeface="Amazon Ember Regular"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baseline="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r>
              <a:rPr lang="en-US" sz="2000" b="0" i="0" kern="1200" dirty="0">
                <a:solidFill>
                  <a:schemeClr val="tx1"/>
                </a:solidFill>
                <a:effectLst/>
                <a:latin typeface="Amazon Ember Regular" charset="0"/>
                <a:ea typeface="+mn-ea"/>
                <a:cs typeface="+mn-cs"/>
              </a:rPr>
              <a:t>MAP is built on a three-phase journey</a:t>
            </a:r>
            <a:r>
              <a:rPr lang="en-US" sz="2000" b="0" i="0" kern="1200" baseline="0" dirty="0">
                <a:solidFill>
                  <a:schemeClr val="tx1"/>
                </a:solidFill>
                <a:effectLst/>
                <a:latin typeface="Amazon Ember Regular" charset="0"/>
                <a:ea typeface="+mn-ea"/>
                <a:cs typeface="+mn-cs"/>
              </a:rPr>
              <a:t> to systematically help you accomplish the migration journey. MAP starts with the Assess phase that includes a Migration Readiness Assessment (MRA) for your leaders and sponsors along with a Rapid Discovery to support creation of a TCO model to help you build business support for your migration project. The second phase is Mobilize, which includes Mobilize projects identified in the MRA to build your capabilities and get first-hand experience how easy it is to migrate to AWS. Mobilize includes four accelerators pictured here and the level of activity required in these work streams is determined by the readiness levels determined during the MRA. Mobilize activities include the actual migration of a recommended 3-5 applications, which is how your teams</a:t>
            </a:r>
            <a:r>
              <a:rPr lang="en-US" sz="2000" dirty="0"/>
              <a:t> build </a:t>
            </a:r>
            <a:r>
              <a:rPr lang="en-US" sz="2000" b="0" i="0" kern="1200" baseline="0" dirty="0">
                <a:solidFill>
                  <a:schemeClr val="tx1"/>
                </a:solidFill>
                <a:effectLst/>
                <a:latin typeface="Amazon Ember Regular" charset="0"/>
                <a:ea typeface="+mn-ea"/>
                <a:cs typeface="+mn-cs"/>
              </a:rPr>
              <a:t>migration capabilities alongside migration experts from AWS or partners. Mobilize typically runs from 2 to 4 months and involves ProServe and/or a partner that prepares you for large-scale migration and operation which is phase three. During Migration and Modernization, you will continue to migrate waves of applications, and operate and optimize your cloud environment and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dirty="0">
                <a:solidFill>
                  <a:schemeClr val="tx1"/>
                </a:solidFill>
                <a:effectLst/>
                <a:latin typeface="Amazon Ember Regular" charset="0"/>
                <a:ea typeface="+mn-ea"/>
                <a:cs typeface="+mn-cs"/>
              </a:rPr>
              <a:t>DETAILED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We have developed MAP based on previous customer experiences to create an efficient and effective approach to migrations through three phases:</a:t>
            </a:r>
          </a:p>
          <a:p>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The </a:t>
            </a:r>
            <a:r>
              <a:rPr lang="en-US" sz="2000" b="1" i="0" kern="1200" dirty="0">
                <a:solidFill>
                  <a:schemeClr val="tx1"/>
                </a:solidFill>
                <a:effectLst/>
                <a:latin typeface="Amazon Ember Regular" charset="0"/>
                <a:ea typeface="+mn-ea"/>
                <a:cs typeface="+mn-cs"/>
              </a:rPr>
              <a:t>Assess</a:t>
            </a:r>
            <a:r>
              <a:rPr lang="en-US" sz="2000" b="0" i="0" kern="1200" dirty="0">
                <a:solidFill>
                  <a:schemeClr val="tx1"/>
                </a:solidFill>
                <a:effectLst/>
                <a:latin typeface="Amazon Ember Regular" charset="0"/>
                <a:ea typeface="+mn-ea"/>
                <a:cs typeface="+mn-cs"/>
              </a:rPr>
              <a:t> phase is the beginning of your journey, and sets the foundation for a well-planned and delivered migration.</a:t>
            </a:r>
            <a:r>
              <a:rPr lang="en-US" sz="2000" b="0" i="0" kern="1200" baseline="0" dirty="0">
                <a:solidFill>
                  <a:schemeClr val="tx1"/>
                </a:solidFill>
                <a:effectLst/>
                <a:latin typeface="Amazon Ember Regular" charset="0"/>
                <a:ea typeface="+mn-ea"/>
                <a:cs typeface="+mn-cs"/>
              </a:rPr>
              <a:t> A Migration Readiness Assessment (M</a:t>
            </a:r>
            <a:r>
              <a:rPr lang="en-US" sz="2000" b="0" i="0" kern="1200" dirty="0">
                <a:solidFill>
                  <a:schemeClr val="tx1"/>
                </a:solidFill>
                <a:effectLst/>
                <a:latin typeface="Amazon Ember Regular" charset="0"/>
                <a:ea typeface="+mn-ea"/>
                <a:cs typeface="+mn-cs"/>
              </a:rPr>
              <a:t>RA) completed in the Assess phase</a:t>
            </a:r>
            <a:r>
              <a:rPr lang="en-US" sz="2000" b="0" i="0" kern="1200" baseline="0" dirty="0">
                <a:solidFill>
                  <a:schemeClr val="tx1"/>
                </a:solidFill>
                <a:effectLst/>
                <a:latin typeface="Amazon Ember Regular" charset="0"/>
                <a:ea typeface="+mn-ea"/>
                <a:cs typeface="+mn-cs"/>
              </a:rPr>
              <a:t> h</a:t>
            </a:r>
            <a:r>
              <a:rPr lang="en-US" sz="2000" b="0" i="0" kern="1200" dirty="0">
                <a:solidFill>
                  <a:schemeClr val="tx1"/>
                </a:solidFill>
                <a:effectLst/>
                <a:latin typeface="Amazon Ember Regular" charset="0"/>
                <a:ea typeface="+mn-ea"/>
                <a:cs typeface="+mn-cs"/>
              </a:rPr>
              <a:t>elps you determine your organizations capabilities, readiness, and commitment to migrate to the cloud.</a:t>
            </a:r>
            <a:r>
              <a:rPr lang="en-US" sz="2000" b="0" i="0" kern="1200" baseline="0" dirty="0">
                <a:solidFill>
                  <a:schemeClr val="tx1"/>
                </a:solidFill>
                <a:effectLst/>
                <a:latin typeface="Amazon Ember Regular" charset="0"/>
                <a:ea typeface="+mn-ea"/>
                <a:cs typeface="+mn-cs"/>
              </a:rPr>
              <a:t>  During the MRA, we also look to quickly follow the assessment with a Rapid Discovery of your portfolio and create a Refined TCO report for the project. We provide discovery and business case tools free of charge during this phase to get the project launched.</a:t>
            </a:r>
            <a:br>
              <a:rPr lang="en-US" sz="2000" baseline="0" dirty="0"/>
            </a:br>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After the</a:t>
            </a:r>
            <a:r>
              <a:rPr lang="en-US" sz="2000" b="0" i="0" kern="1200" baseline="0" dirty="0">
                <a:solidFill>
                  <a:schemeClr val="tx1"/>
                </a:solidFill>
                <a:effectLst/>
                <a:latin typeface="Amazon Ember Regular" charset="0"/>
                <a:ea typeface="+mn-ea"/>
                <a:cs typeface="+mn-cs"/>
              </a:rPr>
              <a:t> Assess phase, you progress to the </a:t>
            </a:r>
            <a:r>
              <a:rPr lang="en-US" sz="2000" b="1" i="0" kern="1200" dirty="0">
                <a:solidFill>
                  <a:schemeClr val="tx1"/>
                </a:solidFill>
                <a:effectLst/>
                <a:latin typeface="Amazon Ember Regular" charset="0"/>
                <a:ea typeface="+mn-ea"/>
                <a:cs typeface="+mn-cs"/>
              </a:rPr>
              <a:t>Mobilize </a:t>
            </a:r>
            <a:r>
              <a:rPr lang="en-US" sz="2000" b="0" i="0" kern="1200" dirty="0">
                <a:solidFill>
                  <a:schemeClr val="tx1"/>
                </a:solidFill>
                <a:effectLst/>
                <a:latin typeface="Amazon Ember Regular" charset="0"/>
                <a:ea typeface="+mn-ea"/>
                <a:cs typeface="+mn-cs"/>
              </a:rPr>
              <a:t>phase, which builds capabilities to migrate and operate in the cloud.</a:t>
            </a:r>
            <a:r>
              <a:rPr lang="en-US" sz="2000" b="0" i="0" kern="1200" baseline="0" dirty="0">
                <a:solidFill>
                  <a:schemeClr val="tx1"/>
                </a:solidFill>
                <a:effectLst/>
                <a:latin typeface="Amazon Ember Regular" charset="0"/>
                <a:ea typeface="+mn-ea"/>
                <a:cs typeface="+mn-cs"/>
              </a:rPr>
              <a:t> The focus is o</a:t>
            </a:r>
            <a:r>
              <a:rPr lang="en-US" sz="2000" b="0" i="0" kern="1200" dirty="0">
                <a:solidFill>
                  <a:schemeClr val="tx1"/>
                </a:solidFill>
                <a:effectLst/>
                <a:latin typeface="Amazon Ember Regular" charset="0"/>
                <a:ea typeface="+mn-ea"/>
                <a:cs typeface="+mn-cs"/>
              </a:rPr>
              <a:t>n developing a</a:t>
            </a:r>
            <a:r>
              <a:rPr lang="en-US" sz="2000" b="0" i="0" kern="1200" baseline="0" dirty="0">
                <a:solidFill>
                  <a:schemeClr val="tx1"/>
                </a:solidFill>
                <a:effectLst/>
                <a:latin typeface="Amazon Ember Regular" charset="0"/>
                <a:ea typeface="+mn-ea"/>
                <a:cs typeface="+mn-cs"/>
              </a:rPr>
              <a:t> landing zone,</a:t>
            </a:r>
            <a:r>
              <a:rPr lang="en-US" sz="2000" b="0" i="0" kern="1200" dirty="0">
                <a:solidFill>
                  <a:schemeClr val="tx1"/>
                </a:solidFill>
                <a:effectLst/>
                <a:latin typeface="Amazon Ember Regular" charset="0"/>
                <a:ea typeface="+mn-ea"/>
                <a:cs typeface="+mn-cs"/>
              </a:rPr>
              <a:t> operational readiness, cloud skills,</a:t>
            </a:r>
            <a:r>
              <a:rPr lang="en-US" sz="2000" b="0" i="0" kern="1200" baseline="0" dirty="0">
                <a:solidFill>
                  <a:schemeClr val="tx1"/>
                </a:solidFill>
                <a:effectLst/>
                <a:latin typeface="Amazon Ember Regular" charset="0"/>
                <a:ea typeface="+mn-ea"/>
                <a:cs typeface="+mn-cs"/>
              </a:rPr>
              <a:t> a</a:t>
            </a:r>
            <a:r>
              <a:rPr lang="en-US" sz="2000" b="0" i="0" kern="1200" dirty="0">
                <a:solidFill>
                  <a:schemeClr val="tx1"/>
                </a:solidFill>
                <a:effectLst/>
                <a:latin typeface="Amazon Ember Regular" charset="0"/>
                <a:ea typeface="+mn-ea"/>
                <a:cs typeface="+mn-cs"/>
              </a:rPr>
              <a:t> strong migration plan (including initial migrations), and a compelling business case for the migrations. </a:t>
            </a:r>
            <a:r>
              <a:rPr lang="en-US" sz="2000" b="0" i="0" kern="1200" baseline="0" dirty="0">
                <a:solidFill>
                  <a:schemeClr val="tx1"/>
                </a:solidFill>
                <a:effectLst/>
                <a:latin typeface="Amazon Ember Regular" charset="0"/>
                <a:ea typeface="+mn-ea"/>
                <a:cs typeface="+mn-cs"/>
              </a:rPr>
              <a:t> </a:t>
            </a:r>
            <a:r>
              <a:rPr lang="en-US" sz="2000" b="1" dirty="0"/>
              <a:t>[More Mobilize details if needed]</a:t>
            </a:r>
          </a:p>
          <a:p>
            <a:pPr marL="0" lvl="0" indent="0">
              <a:buFont typeface="Arial" panose="020B0604020202020204" pitchFamily="34" charset="0"/>
              <a:buNone/>
            </a:pPr>
            <a:endParaRPr lang="en-US" sz="2000" b="0" i="0" kern="1200" dirty="0">
              <a:solidFill>
                <a:schemeClr val="tx1"/>
              </a:solidFill>
              <a:effectLst/>
              <a:latin typeface="Amazon Ember Regular" charset="0"/>
              <a:ea typeface="+mn-ea"/>
              <a:cs typeface="+mn-cs"/>
            </a:endParaRPr>
          </a:p>
          <a:p>
            <a:pPr marL="171450" lvl="0" indent="-171450">
              <a:buFont typeface="Arial" panose="020B0604020202020204" pitchFamily="34" charset="0"/>
              <a:buChar char="•"/>
            </a:pPr>
            <a:r>
              <a:rPr lang="en-US" sz="2000" b="0" i="0" kern="1200" dirty="0">
                <a:solidFill>
                  <a:schemeClr val="tx1"/>
                </a:solidFill>
                <a:effectLst/>
                <a:latin typeface="Amazon Ember Regular" charset="0"/>
                <a:ea typeface="+mn-ea"/>
                <a:cs typeface="+mn-cs"/>
              </a:rPr>
              <a:t>The</a:t>
            </a:r>
            <a:r>
              <a:rPr lang="en-US" sz="2000" b="0" i="0" kern="1200" baseline="0" dirty="0">
                <a:solidFill>
                  <a:schemeClr val="tx1"/>
                </a:solidFill>
                <a:effectLst/>
                <a:latin typeface="Amazon Ember Regular" charset="0"/>
                <a:ea typeface="+mn-ea"/>
                <a:cs typeface="+mn-cs"/>
              </a:rPr>
              <a:t> Mobilize phase prepares you for the </a:t>
            </a:r>
            <a:r>
              <a:rPr lang="en-US" sz="2000" b="1" i="0" kern="1200" baseline="0" dirty="0">
                <a:solidFill>
                  <a:schemeClr val="tx1"/>
                </a:solidFill>
                <a:effectLst/>
                <a:latin typeface="Amazon Ember Regular" charset="0"/>
                <a:ea typeface="+mn-ea"/>
                <a:cs typeface="+mn-cs"/>
              </a:rPr>
              <a:t>Migrate </a:t>
            </a:r>
            <a:r>
              <a:rPr lang="en-US" sz="2000" b="1" dirty="0"/>
              <a:t>&amp; Modernize </a:t>
            </a:r>
            <a:r>
              <a:rPr lang="en-US" sz="2000" b="0" i="0" kern="1200" baseline="0" dirty="0">
                <a:solidFill>
                  <a:schemeClr val="tx1"/>
                </a:solidFill>
                <a:effectLst/>
                <a:latin typeface="Amazon Ember Regular" charset="0"/>
                <a:ea typeface="+mn-ea"/>
                <a:cs typeface="+mn-cs"/>
              </a:rPr>
              <a:t>phase</a:t>
            </a:r>
            <a:r>
              <a:rPr lang="en-US" sz="2000" dirty="0"/>
              <a:t>, where you deliver</a:t>
            </a:r>
            <a:r>
              <a:rPr lang="en-US" sz="2000" b="0" i="0" kern="1200" baseline="0" dirty="0">
                <a:solidFill>
                  <a:schemeClr val="tx1"/>
                </a:solidFill>
                <a:effectLst/>
                <a:latin typeface="Amazon Ember Regular" charset="0"/>
                <a:ea typeface="+mn-ea"/>
                <a:cs typeface="+mn-cs"/>
              </a:rPr>
              <a:t> </a:t>
            </a:r>
            <a:r>
              <a:rPr lang="en-US" sz="2000" i="0" kern="1200" baseline="0" dirty="0">
                <a:solidFill>
                  <a:schemeClr val="tx1"/>
                </a:solidFill>
                <a:effectLst/>
                <a:latin typeface="Amazon Ember Regular" charset="0"/>
                <a:ea typeface="+mn-ea"/>
                <a:cs typeface="+mn-cs"/>
              </a:rPr>
              <a:t>large scale migration and cloud operations</a:t>
            </a:r>
            <a:r>
              <a:rPr lang="en-US" sz="2000" b="0" i="0" kern="1200" baseline="0" dirty="0">
                <a:solidFill>
                  <a:schemeClr val="tx1"/>
                </a:solidFill>
                <a:effectLst/>
                <a:latin typeface="Amazon Ember Regular" charset="0"/>
                <a:ea typeface="+mn-ea"/>
                <a:cs typeface="+mn-cs"/>
              </a:rPr>
              <a:t>.</a:t>
            </a:r>
            <a:r>
              <a:rPr lang="en-US" sz="2000" b="0" i="0" kern="1200" dirty="0">
                <a:solidFill>
                  <a:schemeClr val="tx1"/>
                </a:solidFill>
                <a:effectLst/>
                <a:latin typeface="Amazon Ember Regular" charset="0"/>
                <a:ea typeface="+mn-ea"/>
                <a:cs typeface="+mn-cs"/>
              </a:rPr>
              <a:t> After</a:t>
            </a:r>
            <a:r>
              <a:rPr lang="en-US" sz="2000" b="0" i="0" kern="1200" baseline="0" dirty="0">
                <a:solidFill>
                  <a:schemeClr val="tx1"/>
                </a:solidFill>
                <a:effectLst/>
                <a:latin typeface="Amazon Ember Regular" charset="0"/>
                <a:ea typeface="+mn-ea"/>
                <a:cs typeface="+mn-cs"/>
              </a:rPr>
              <a:t> completing the Mobilize phase, m</a:t>
            </a:r>
            <a:r>
              <a:rPr lang="en-US" sz="2000" b="0" i="0" kern="1200" dirty="0">
                <a:solidFill>
                  <a:schemeClr val="tx1"/>
                </a:solidFill>
                <a:effectLst/>
                <a:latin typeface="Amazon Ember Regular" charset="0"/>
                <a:ea typeface="+mn-ea"/>
                <a:cs typeface="+mn-cs"/>
              </a:rPr>
              <a:t>igrations can proceed rapidly and efficiently during the last phase, since it builds on established foundational capabilities. Each</a:t>
            </a:r>
            <a:r>
              <a:rPr lang="en-US" sz="2000" b="0" i="0" kern="1200" baseline="0" dirty="0">
                <a:solidFill>
                  <a:schemeClr val="tx1"/>
                </a:solidFill>
                <a:effectLst/>
                <a:latin typeface="Amazon Ember Regular" charset="0"/>
                <a:ea typeface="+mn-ea"/>
                <a:cs typeface="+mn-cs"/>
              </a:rPr>
              <a:t> s</a:t>
            </a:r>
            <a:r>
              <a:rPr lang="en-US" sz="2000" b="0" i="0" kern="1200" dirty="0">
                <a:solidFill>
                  <a:schemeClr val="tx1"/>
                </a:solidFill>
                <a:effectLst/>
                <a:latin typeface="Amazon Ember Regular" charset="0"/>
                <a:ea typeface="+mn-ea"/>
                <a:cs typeface="+mn-cs"/>
              </a:rPr>
              <a:t>uccessive migration establishes a full-scale cloud operating model.</a:t>
            </a:r>
          </a:p>
          <a:p>
            <a:pPr marL="0" lvl="0" indent="0">
              <a:buFont typeface="Arial" panose="020B0604020202020204" pitchFamily="34" charset="0"/>
              <a:buNone/>
            </a:pPr>
            <a:endParaRPr lang="en-US" sz="2000" b="0" i="0" kern="1200" dirty="0">
              <a:solidFill>
                <a:schemeClr val="tx1"/>
              </a:solidFill>
              <a:effectLst/>
              <a:latin typeface="Amazon Ember Regular" charset="0"/>
              <a:ea typeface="+mn-ea"/>
              <a:cs typeface="+mn-cs"/>
            </a:endParaRPr>
          </a:p>
          <a:p>
            <a:pPr lvl="0"/>
            <a:r>
              <a:rPr lang="en-US" sz="2000" b="1" dirty="0"/>
              <a:t>[More Mobilize details to be described as needed]</a:t>
            </a:r>
          </a:p>
          <a:p>
            <a:pPr marL="171450" lvl="0" indent="-171450" defTabSz="914400">
              <a:buFont typeface="Arial" panose="020B0604020202020204" pitchFamily="34" charset="0"/>
              <a:buChar char="•"/>
              <a:defRPr/>
            </a:pPr>
            <a:endParaRPr lang="en-US" sz="2000" dirty="0"/>
          </a:p>
          <a:p>
            <a:pPr marL="171450" lvl="0" indent="-171450" defTabSz="914400">
              <a:buFont typeface="Arial" panose="020B0604020202020204" pitchFamily="34" charset="0"/>
              <a:buChar char="•"/>
              <a:defRPr/>
            </a:pPr>
            <a:r>
              <a:rPr lang="en-US" sz="2000" dirty="0"/>
              <a:t>The </a:t>
            </a:r>
            <a:r>
              <a:rPr lang="en-US" sz="2000" b="1" dirty="0"/>
              <a:t>Mobilize phase is typically 2 – 4 months </a:t>
            </a:r>
            <a:r>
              <a:rPr lang="en-US" sz="2000" dirty="0"/>
              <a:t>(based on your organization’s readiness levels) and is delivered with a selected partner or AWS ProServe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r>
              <a:rPr lang="en-US" dirty="0"/>
              <a:t>The Mobilize engagement uses Accelerators to deliver the following outputs/outcomes for customers:</a:t>
            </a:r>
          </a:p>
          <a:p>
            <a:pPr marL="171450" indent="-171450">
              <a:buFont typeface="Arial" panose="020B0604020202020204" pitchFamily="34" charset="0"/>
              <a:buChar char="•"/>
            </a:pPr>
            <a:r>
              <a:rPr lang="en-US" dirty="0"/>
              <a:t>Collect inventory and application data to assess the portfolio and develop decision criteria to create initial migration wave plans.</a:t>
            </a:r>
          </a:p>
          <a:p>
            <a:pPr marL="171450" indent="-171450">
              <a:buFont typeface="Arial" panose="020B0604020202020204" pitchFamily="34" charset="0"/>
              <a:buChar char="•"/>
            </a:pPr>
            <a:r>
              <a:rPr lang="en-US" dirty="0"/>
              <a:t>Deploy and validate the landing zone, develop required operating and governance models, and migrate up to 5 applications to the customer production environment.</a:t>
            </a:r>
          </a:p>
          <a:p>
            <a:pPr marL="171450" indent="-171450">
              <a:buFont typeface="Arial" panose="020B0604020202020204" pitchFamily="34" charset="0"/>
              <a:buChar char="•"/>
            </a:pPr>
            <a:r>
              <a:rPr lang="en-US" dirty="0"/>
              <a:t>Gain hands-on experience operating in the cloud to build confidence, skills, and competency for the migration and transformation of the organization.</a:t>
            </a:r>
          </a:p>
          <a:p>
            <a:pPr marL="171450" indent="-171450">
              <a:buFont typeface="Arial" panose="020B0604020202020204" pitchFamily="34" charset="0"/>
              <a:buChar char="•"/>
            </a:pPr>
            <a:r>
              <a:rPr lang="en-US" dirty="0"/>
              <a:t>Define, implement, scale and automate (where applicable), the customer’s security risk and compliance controls on AWS.</a:t>
            </a:r>
          </a:p>
          <a:p>
            <a:pPr marL="171450" indent="-171450">
              <a:buFont typeface="Arial" panose="020B0604020202020204" pitchFamily="34" charset="0"/>
              <a:buChar char="•"/>
            </a:pPr>
            <a:r>
              <a:rPr lang="en-US" dirty="0"/>
              <a:t>Establish the future operating model for cloud and plan, guide and support an efficient progression of the operational model during the migration.</a:t>
            </a:r>
          </a:p>
          <a:p>
            <a:pPr marL="171450" indent="-171450">
              <a:buFont typeface="Arial" panose="020B0604020202020204" pitchFamily="34" charset="0"/>
              <a:buChar char="•"/>
            </a:pPr>
            <a:r>
              <a:rPr lang="en-US" dirty="0"/>
              <a:t>These Accelerators generate early alignment, speed-up requirements gathering, and expedite first migrations to compress the overall engagement timeframe.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u="sng" dirty="0"/>
              <a:t>Mobilize Accelerator </a:t>
            </a:r>
            <a:r>
              <a:rPr lang="en-US" dirty="0"/>
              <a:t>helps customers establish and exercise an agile program to accelerate cloud operational readiness and cloud migrations. This Accelerator supports the set-up of low-cost collaboration and planning mechanisms that implement and automate many activities within the AWS Cloud Adoption Framework. These mechanisms optimize end-user experience for distributed teams and are foundational to deliver readiness and migration initiatives. The Mobilize Accelerator builds the foundation that all other workstreams leverage to structure and prioritize work, collaborate and document knowledge, and report progress.</a:t>
            </a: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The </a:t>
            </a:r>
            <a:r>
              <a:rPr lang="en-US" sz="2000" b="1" i="0" u="sng" kern="1200" dirty="0">
                <a:solidFill>
                  <a:schemeClr val="tx1"/>
                </a:solidFill>
                <a:effectLst/>
                <a:latin typeface="Amazon Ember Regular" charset="0"/>
                <a:ea typeface="+mn-ea"/>
                <a:cs typeface="+mn-cs"/>
              </a:rPr>
              <a:t>Portfolio Accelerator </a:t>
            </a:r>
            <a:r>
              <a:rPr lang="en-US" sz="20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is a </a:t>
            </a:r>
            <a:r>
              <a:rPr lang="en-US" sz="2000" dirty="0">
                <a:latin typeface="Amazon Ember" panose="020B0603020204020204" pitchFamily="34" charset="0"/>
                <a:ea typeface="Amazon Ember" panose="020B0603020204020204" pitchFamily="34" charset="0"/>
                <a:cs typeface="Amazon Ember" panose="020B0603020204020204" pitchFamily="34" charset="0"/>
              </a:rPr>
              <a:t>sprint-based, interactive workstream designed to establish decision criteria for application migration candidates and accelerate the development of a migration wave plan.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mazon Ember" panose="020B0603020204020204" pitchFamily="34" charset="0"/>
                <a:ea typeface="Amazon Ember" panose="020B0603020204020204" pitchFamily="34" charset="0"/>
                <a:cs typeface="Amazon Ember" panose="020B0603020204020204" pitchFamily="34" charset="0"/>
              </a:rPr>
              <a:t>The </a:t>
            </a:r>
            <a:r>
              <a:rPr lang="en-US" sz="2000" b="1" u="sng" dirty="0">
                <a:latin typeface="Amazon Ember" panose="020B0603020204020204" pitchFamily="34" charset="0"/>
                <a:ea typeface="Amazon Ember" panose="020B0603020204020204" pitchFamily="34" charset="0"/>
                <a:cs typeface="Amazon Ember" panose="020B0603020204020204" pitchFamily="34" charset="0"/>
              </a:rPr>
              <a:t>Platform &amp; Migration Accelerator </a:t>
            </a:r>
            <a:r>
              <a:rPr lang="en-US" sz="1600" dirty="0"/>
              <a:t>deploys and validates the landing zone, develops required operating and governance models, and migrates up to 5 applications to customer production environment. The accelerator leverages Platform and Migration Parties to accelerate application migration, provide hands-on experience operating in the cloud, and build confidence across cross-functional teams. Activities within the Platform &amp; Migration Accelerator are broken into Pre-Party, Party, and Post-Party stages and will conclude with post migration acceptance testing and validation of the landing zone. There is a defined, programmatic approach to successfully organize and plan the accelerator which is detailed in this document. </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Amazon Ember Regular" charset="0"/>
                <a:ea typeface="+mn-ea"/>
                <a:cs typeface="+mn-cs"/>
              </a:rPr>
              <a:t>The </a:t>
            </a:r>
            <a:r>
              <a:rPr lang="en-US" sz="2000" b="1" i="0" u="sng" kern="1200" dirty="0">
                <a:solidFill>
                  <a:schemeClr val="tx1"/>
                </a:solidFill>
                <a:effectLst/>
                <a:latin typeface="Amazon Ember Regular" charset="0"/>
                <a:ea typeface="+mn-ea"/>
                <a:cs typeface="+mn-cs"/>
              </a:rPr>
              <a:t>People Accelerator </a:t>
            </a:r>
            <a:r>
              <a:rPr lang="en-US" sz="2000" b="0" i="0" kern="1200" dirty="0">
                <a:solidFill>
                  <a:schemeClr val="tx1"/>
                </a:solidFill>
                <a:effectLst/>
                <a:latin typeface="Amazon Ember Regular" charset="0"/>
                <a:ea typeface="+mn-ea"/>
                <a:cs typeface="+mn-cs"/>
              </a:rPr>
              <a:t>a</a:t>
            </a:r>
            <a:r>
              <a:rPr lang="en-US" sz="2000" dirty="0">
                <a:latin typeface="Amazon Ember" panose="020B0603020204020204" pitchFamily="34" charset="0"/>
                <a:ea typeface="Amazon Ember" panose="020B0603020204020204" pitchFamily="34" charset="0"/>
                <a:cs typeface="Amazon Ember" panose="020B0603020204020204" pitchFamily="34" charset="0"/>
              </a:rPr>
              <a:t>dvances an enterprise’s ability to create, sustain and govern the change that occurs to enable cloud adoption.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mazon Ember" panose="020B0603020204020204" pitchFamily="34" charset="0"/>
                <a:ea typeface="Amazon Ember" panose="020B0603020204020204" pitchFamily="34" charset="0"/>
                <a:cs typeface="Amazon Ember" panose="020B0603020204020204" pitchFamily="34" charset="0"/>
              </a:rPr>
              <a:t>See the internal Mobilize wiki for more details: https://w.amazon.com/bin/view/AWS/Teams/Proserve/Migration/Mobilize/</a:t>
            </a:r>
            <a:endParaRPr lang="en-US" sz="2000" dirty="0"/>
          </a:p>
          <a:p>
            <a:endParaRPr lang="en-US" dirty="0"/>
          </a:p>
        </p:txBody>
      </p:sp>
      <p:sp>
        <p:nvSpPr>
          <p:cNvPr id="4" name="Slide Number Placeholder 3"/>
          <p:cNvSpPr>
            <a:spLocks noGrp="1"/>
          </p:cNvSpPr>
          <p:nvPr>
            <p:ph type="sldNum" sz="quarter" idx="5"/>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2608123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a:t>
            </a:fld>
            <a:endParaRPr lang="en-US" dirty="0"/>
          </a:p>
        </p:txBody>
      </p:sp>
    </p:spTree>
    <p:extLst>
      <p:ext uri="{BB962C8B-B14F-4D97-AF65-F5344CB8AC3E}">
        <p14:creationId xmlns:p14="http://schemas.microsoft.com/office/powerpoint/2010/main" val="1517322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a:t>
            </a:fld>
            <a:endParaRPr lang="en-US" dirty="0"/>
          </a:p>
        </p:txBody>
      </p:sp>
    </p:spTree>
    <p:extLst>
      <p:ext uri="{BB962C8B-B14F-4D97-AF65-F5344CB8AC3E}">
        <p14:creationId xmlns:p14="http://schemas.microsoft.com/office/powerpoint/2010/main" val="2330600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a:t>
            </a:fld>
            <a:endParaRPr lang="en-US" dirty="0"/>
          </a:p>
        </p:txBody>
      </p:sp>
    </p:spTree>
    <p:extLst>
      <p:ext uri="{BB962C8B-B14F-4D97-AF65-F5344CB8AC3E}">
        <p14:creationId xmlns:p14="http://schemas.microsoft.com/office/powerpoint/2010/main" val="2959796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1" i="0" kern="1200" baseline="0" dirty="0">
                <a:solidFill>
                  <a:schemeClr val="tx1"/>
                </a:solidFill>
                <a:effectLst/>
                <a:latin typeface="Amazon Ember Regular" charset="0"/>
                <a:ea typeface="+mn-ea"/>
                <a:cs typeface="+mn-cs"/>
              </a:rPr>
              <a:t>PRIMARY MESSAGE: </a:t>
            </a:r>
            <a:endParaRPr lang="en-US" dirty="0"/>
          </a:p>
          <a:p>
            <a:r>
              <a:rPr lang="en-US" dirty="0"/>
              <a:t>Areas of focus should be addressed as soon as possible and dictate the structure of the next phase</a:t>
            </a:r>
          </a:p>
        </p:txBody>
      </p:sp>
      <p:sp>
        <p:nvSpPr>
          <p:cNvPr id="4" name="Slide Number Placeholder 3"/>
          <p:cNvSpPr>
            <a:spLocks noGrp="1"/>
          </p:cNvSpPr>
          <p:nvPr>
            <p:ph type="sldNum" sz="quarter" idx="5"/>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212957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1" i="0" kern="1200" baseline="0" dirty="0">
                <a:solidFill>
                  <a:schemeClr val="tx1"/>
                </a:solidFill>
                <a:effectLst/>
                <a:latin typeface="Amazon Ember Regular" charset="0"/>
                <a:ea typeface="+mn-ea"/>
                <a:cs typeface="+mn-cs"/>
              </a:rPr>
              <a:t>PRIMARY MESSAGE: </a:t>
            </a:r>
            <a:endParaRPr lang="en-US" dirty="0"/>
          </a:p>
          <a:p>
            <a:r>
              <a:rPr lang="en-US" dirty="0"/>
              <a:t>Areas of focus should be addressed as soon as possible and dictate the structure of the next phase</a:t>
            </a:r>
          </a:p>
        </p:txBody>
      </p:sp>
      <p:sp>
        <p:nvSpPr>
          <p:cNvPr id="4" name="Slide Number Placeholder 3"/>
          <p:cNvSpPr>
            <a:spLocks noGrp="1"/>
          </p:cNvSpPr>
          <p:nvPr>
            <p:ph type="sldNum" sz="quarter" idx="5"/>
          </p:nvPr>
        </p:nvSpPr>
        <p:spPr/>
        <p:txBody>
          <a:bodyPr/>
          <a:lstStyle/>
          <a:p>
            <a:fld id="{69C3F2ED-74C5-7D4F-8560-0CC253E9A436}" type="slidenum">
              <a:rPr lang="en-US" smtClean="0"/>
              <a:pPr/>
              <a:t>10</a:t>
            </a:fld>
            <a:endParaRPr lang="en-US" dirty="0"/>
          </a:p>
        </p:txBody>
      </p:sp>
    </p:spTree>
    <p:extLst>
      <p:ext uri="{BB962C8B-B14F-4D97-AF65-F5344CB8AC3E}">
        <p14:creationId xmlns:p14="http://schemas.microsoft.com/office/powerpoint/2010/main" val="3115861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11</a:t>
            </a:fld>
            <a:endParaRPr lang="en-US" dirty="0"/>
          </a:p>
        </p:txBody>
      </p:sp>
    </p:spTree>
    <p:extLst>
      <p:ext uri="{BB962C8B-B14F-4D97-AF65-F5344CB8AC3E}">
        <p14:creationId xmlns:p14="http://schemas.microsoft.com/office/powerpoint/2010/main" val="1773927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13</a:t>
            </a:fld>
            <a:endParaRPr lang="en-US" dirty="0"/>
          </a:p>
        </p:txBody>
      </p:sp>
    </p:spTree>
    <p:extLst>
      <p:ext uri="{BB962C8B-B14F-4D97-AF65-F5344CB8AC3E}">
        <p14:creationId xmlns:p14="http://schemas.microsoft.com/office/powerpoint/2010/main" val="4048002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14</a:t>
            </a:fld>
            <a:endParaRPr lang="en-US" dirty="0"/>
          </a:p>
        </p:txBody>
      </p:sp>
    </p:spTree>
    <p:extLst>
      <p:ext uri="{BB962C8B-B14F-4D97-AF65-F5344CB8AC3E}">
        <p14:creationId xmlns:p14="http://schemas.microsoft.com/office/powerpoint/2010/main" val="3453782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15</a:t>
            </a:fld>
            <a:endParaRPr lang="en-US" dirty="0"/>
          </a:p>
        </p:txBody>
      </p:sp>
    </p:spTree>
    <p:extLst>
      <p:ext uri="{BB962C8B-B14F-4D97-AF65-F5344CB8AC3E}">
        <p14:creationId xmlns:p14="http://schemas.microsoft.com/office/powerpoint/2010/main" val="1251265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16</a:t>
            </a:fld>
            <a:endParaRPr lang="en-US" dirty="0"/>
          </a:p>
        </p:txBody>
      </p:sp>
    </p:spTree>
    <p:extLst>
      <p:ext uri="{BB962C8B-B14F-4D97-AF65-F5344CB8AC3E}">
        <p14:creationId xmlns:p14="http://schemas.microsoft.com/office/powerpoint/2010/main" val="2447974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17</a:t>
            </a:fld>
            <a:endParaRPr lang="en-US" dirty="0"/>
          </a:p>
        </p:txBody>
      </p:sp>
    </p:spTree>
    <p:extLst>
      <p:ext uri="{BB962C8B-B14F-4D97-AF65-F5344CB8AC3E}">
        <p14:creationId xmlns:p14="http://schemas.microsoft.com/office/powerpoint/2010/main" val="1105912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dirty="0">
                <a:solidFill>
                  <a:srgbClr val="F89628"/>
                </a:solidFill>
                <a:latin typeface="Amazon Ember" panose="02000000000000000000" pitchFamily="2" charset="0"/>
                <a:ea typeface="Amazon Ember" panose="02000000000000000000" pitchFamily="2" charset="0"/>
              </a:rPr>
              <a:t>[Key Observations]</a:t>
            </a:r>
          </a:p>
          <a:p>
            <a:pPr marL="0" indent="0">
              <a:buNone/>
            </a:pPr>
            <a:endParaRPr lang="en-US" dirty="0"/>
          </a:p>
          <a:p>
            <a:pPr marL="0" indent="0">
              <a:buNone/>
            </a:pPr>
            <a:r>
              <a:rPr lang="en-US" b="1" dirty="0"/>
              <a:t>[Example]</a:t>
            </a:r>
          </a:p>
          <a:p>
            <a:pPr marL="0" indent="0">
              <a:buNone/>
            </a:pPr>
            <a:r>
              <a:rPr lang="en-US" dirty="0"/>
              <a:t>Strengths</a:t>
            </a:r>
          </a:p>
          <a:p>
            <a:pPr marL="228600" indent="-228600">
              <a:buAutoNum type="arabicPeriod"/>
            </a:pPr>
            <a:r>
              <a:rPr lang="en-US" dirty="0"/>
              <a:t>Strong Stakeholder buy-in</a:t>
            </a:r>
          </a:p>
          <a:p>
            <a:pPr marL="228600" indent="-228600">
              <a:buAutoNum type="arabicPeriod"/>
            </a:pPr>
            <a:r>
              <a:rPr lang="en-US" dirty="0"/>
              <a:t>Single threaded leader identified and in role to drive progress</a:t>
            </a:r>
          </a:p>
          <a:p>
            <a:pPr marL="228600" indent="-228600">
              <a:buAutoNum type="arabicPeriod"/>
            </a:pPr>
            <a:r>
              <a:rPr lang="en-US" dirty="0"/>
              <a:t>Migration Experience</a:t>
            </a:r>
          </a:p>
          <a:p>
            <a:pPr marL="228600" indent="-228600">
              <a:buAutoNum type="arabicPeriod"/>
            </a:pPr>
            <a:endParaRPr lang="en-US" dirty="0"/>
          </a:p>
          <a:p>
            <a:pPr marL="228600" indent="-228600">
              <a:buAutoNum type="arabicPeriod"/>
            </a:pPr>
            <a:endParaRPr lang="en-US" dirty="0"/>
          </a:p>
          <a:p>
            <a:pPr marL="0" indent="0">
              <a:buNone/>
            </a:pPr>
            <a:r>
              <a:rPr lang="en-US" dirty="0"/>
              <a:t>Weaknesses: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build out migration plan to drive energy and direction</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high-fidelity app data</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Need to define future roles and begin training </a:t>
            </a:r>
            <a:r>
              <a:rPr lang="en-US" dirty="0"/>
              <a:t> </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SLAs and OLAs aren’t well defined</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backup, patching, DR/BCP processes and standards</a:t>
            </a:r>
          </a:p>
          <a:p>
            <a:pPr marL="457200" indent="-457200">
              <a:spcAft>
                <a:spcPts val="2600"/>
              </a:spcAft>
              <a:buFont typeface="+mj-lt"/>
              <a:buAutoNum type="arabicPeriod"/>
            </a:pPr>
            <a:r>
              <a:rPr lang="en-US" sz="2000" dirty="0">
                <a:latin typeface="Amazon Ember" panose="02000000000000000000" pitchFamily="2" charset="0"/>
                <a:ea typeface="Amazon Ember" panose="02000000000000000000" pitchFamily="2" charset="0"/>
              </a:rPr>
              <a:t>Limited security control mapping and security automation</a:t>
            </a:r>
          </a:p>
          <a:p>
            <a:pPr marL="457200" indent="-457200">
              <a:spcAft>
                <a:spcPts val="2600"/>
              </a:spcAft>
              <a:buFont typeface="+mj-lt"/>
              <a:buAutoNum type="arabicPeriod"/>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18</a:t>
            </a:fld>
            <a:endParaRPr lang="en-US" dirty="0"/>
          </a:p>
        </p:txBody>
      </p:sp>
    </p:spTree>
    <p:extLst>
      <p:ext uri="{BB962C8B-B14F-4D97-AF65-F5344CB8AC3E}">
        <p14:creationId xmlns:p14="http://schemas.microsoft.com/office/powerpoint/2010/main" val="3544109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20</a:t>
            </a:fld>
            <a:endParaRPr lang="en-US" dirty="0"/>
          </a:p>
        </p:txBody>
      </p:sp>
    </p:spTree>
    <p:extLst>
      <p:ext uri="{BB962C8B-B14F-4D97-AF65-F5344CB8AC3E}">
        <p14:creationId xmlns:p14="http://schemas.microsoft.com/office/powerpoint/2010/main" val="1340414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21</a:t>
            </a:fld>
            <a:endParaRPr lang="en-US" dirty="0"/>
          </a:p>
        </p:txBody>
      </p:sp>
    </p:spTree>
    <p:extLst>
      <p:ext uri="{BB962C8B-B14F-4D97-AF65-F5344CB8AC3E}">
        <p14:creationId xmlns:p14="http://schemas.microsoft.com/office/powerpoint/2010/main" val="1863195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AWS is committed to deliver high-level guidance, information on best practices, whitepapers, and other publicly available AWS materials to help drive resolution</a:t>
            </a:r>
            <a:r>
              <a:rPr lang="en-US" sz="2000" b="0" dirty="0"/>
              <a:t>. </a:t>
            </a:r>
            <a:r>
              <a:rPr lang="en-US" sz="1920" b="0" i="0" kern="1200" dirty="0">
                <a:solidFill>
                  <a:srgbClr val="FF0000"/>
                </a:solidFill>
                <a:effectLst/>
                <a:latin typeface="Amazon Ember Regular" charset="0"/>
                <a:ea typeface="+mn-ea"/>
                <a:cs typeface="+mn-cs"/>
              </a:rPr>
              <a:t>Customer needs to move to migration/modernization right after Mobilize to take full advantage of Mobilize investment.</a:t>
            </a:r>
            <a:r>
              <a:rPr lang="en-US" sz="2000" b="0" dirty="0">
                <a:solidFill>
                  <a:srgbClr val="FF0000"/>
                </a:solidFill>
                <a:effectLst/>
              </a:rPr>
              <a:t> </a:t>
            </a:r>
            <a:endParaRPr lang="en-US" sz="2000" b="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p:txBody>
      </p:sp>
      <p:sp>
        <p:nvSpPr>
          <p:cNvPr id="4" name="Slide Number Placeholder 3"/>
          <p:cNvSpPr>
            <a:spLocks noGrp="1"/>
          </p:cNvSpPr>
          <p:nvPr>
            <p:ph type="sldNum" sz="quarter" idx="10"/>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1754443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23</a:t>
            </a:fld>
            <a:endParaRPr lang="en-US" dirty="0"/>
          </a:p>
        </p:txBody>
      </p:sp>
    </p:spTree>
    <p:extLst>
      <p:ext uri="{BB962C8B-B14F-4D97-AF65-F5344CB8AC3E}">
        <p14:creationId xmlns:p14="http://schemas.microsoft.com/office/powerpoint/2010/main" val="2668336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AWS is committed to deliver high-level guidance, information on best practices, whitepapers, and other publicly available AWS materials to help drive resolution</a:t>
            </a:r>
            <a:r>
              <a:rPr lang="en-US" sz="2000" b="0" dirty="0"/>
              <a:t>. </a:t>
            </a:r>
            <a:endParaRPr lang="en-US" sz="2000" b="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p:txBody>
      </p:sp>
      <p:sp>
        <p:nvSpPr>
          <p:cNvPr id="4" name="Slide Number Placeholder 3"/>
          <p:cNvSpPr>
            <a:spLocks noGrp="1"/>
          </p:cNvSpPr>
          <p:nvPr>
            <p:ph type="sldNum" sz="quarter" idx="10"/>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3121409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AWS is committed to deliver high-level guidance, information on best practices, whitepapers, and other publicly available AWS materials to help drive resolution</a:t>
            </a:r>
            <a:r>
              <a:rPr lang="en-US" sz="2000" b="0" dirty="0"/>
              <a:t>. </a:t>
            </a: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p:txBody>
      </p:sp>
      <p:sp>
        <p:nvSpPr>
          <p:cNvPr id="4" name="Slide Number Placeholder 3"/>
          <p:cNvSpPr>
            <a:spLocks noGrp="1"/>
          </p:cNvSpPr>
          <p:nvPr>
            <p:ph type="sldNum" sz="quarter" idx="10"/>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3059987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AWS is committed to deliver high-level guidance, information on best practices, whitepapers, and other publicly available AWS materials to help drive resolution</a:t>
            </a:r>
            <a:r>
              <a:rPr lang="en-US" sz="2000" b="0" dirty="0"/>
              <a:t>. </a:t>
            </a: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p:txBody>
      </p:sp>
      <p:sp>
        <p:nvSpPr>
          <p:cNvPr id="4" name="Slide Number Placeholder 3"/>
          <p:cNvSpPr>
            <a:spLocks noGrp="1"/>
          </p:cNvSpPr>
          <p:nvPr>
            <p:ph type="sldNum" sz="quarter" idx="10"/>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2093528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27</a:t>
            </a:fld>
            <a:endParaRPr lang="en-US" dirty="0"/>
          </a:p>
        </p:txBody>
      </p:sp>
    </p:spTree>
    <p:extLst>
      <p:ext uri="{BB962C8B-B14F-4D97-AF65-F5344CB8AC3E}">
        <p14:creationId xmlns:p14="http://schemas.microsoft.com/office/powerpoint/2010/main" val="700338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fontAlgn="ctr">
              <a:buFont typeface="Arial" panose="020B0604020202020204" pitchFamily="34" charset="0"/>
              <a:buNone/>
            </a:pPr>
            <a:r>
              <a:rPr lang="en-US" sz="2000" b="1" i="0" kern="1200" baseline="0" dirty="0">
                <a:solidFill>
                  <a:schemeClr val="tx1"/>
                </a:solidFill>
                <a:effectLst/>
                <a:latin typeface="Amazon Ember Regular" charset="0"/>
                <a:ea typeface="+mn-ea"/>
                <a:cs typeface="+mn-cs"/>
              </a:rPr>
              <a:t>PRIMARY MESSAGE: </a:t>
            </a:r>
            <a:r>
              <a:rPr lang="en-US" sz="2000" b="0" i="0" kern="1200" dirty="0">
                <a:solidFill>
                  <a:schemeClr val="tx1"/>
                </a:solidFill>
                <a:effectLst/>
                <a:latin typeface="Amazon Ember Regular" charset="0"/>
                <a:ea typeface="+mn-ea"/>
                <a:cs typeface="+mn-cs"/>
              </a:rPr>
              <a:t>The Mobilize Phase helps customers establish and exercise an agile program to accelerate cloud operational readiness and cloud migrations. This engagement supports the set-up of low-cost collaboration and planning mechanisms that implement and automate many activities within the AWS Cloud Adoption Framework. These mechanisms optimize end-user experience for distributed teams and are foundational to deliver readiness and migration initiatives. This</a:t>
            </a:r>
            <a:r>
              <a:rPr lang="en-US" sz="2000" b="0" i="0" kern="1200" baseline="0" dirty="0">
                <a:solidFill>
                  <a:schemeClr val="tx1"/>
                </a:solidFill>
                <a:effectLst/>
                <a:latin typeface="Amazon Ember Regular" charset="0"/>
                <a:ea typeface="+mn-ea"/>
                <a:cs typeface="+mn-cs"/>
              </a:rPr>
              <a:t> engagement </a:t>
            </a:r>
            <a:r>
              <a:rPr lang="en-US" sz="2000" b="0" i="0" kern="1200" dirty="0">
                <a:solidFill>
                  <a:schemeClr val="tx1"/>
                </a:solidFill>
                <a:effectLst/>
                <a:latin typeface="Amazon Ember Regular" charset="0"/>
                <a:ea typeface="+mn-ea"/>
                <a:cs typeface="+mn-cs"/>
              </a:rPr>
              <a:t>builds the foundation that all other workstreams leverage to structure and prioritize work, collaborate and document knowledge, and report progress.</a:t>
            </a:r>
          </a:p>
          <a:p>
            <a:pPr marL="0" lvl="0" indent="0" fontAlgn="ctr">
              <a:buFont typeface="Arial" panose="020B0604020202020204" pitchFamily="34" charset="0"/>
              <a:buNone/>
            </a:pPr>
            <a:endParaRPr lang="en-US" sz="2000" b="0" i="0" kern="1200" dirty="0">
              <a:solidFill>
                <a:schemeClr val="tx1"/>
              </a:solidFill>
              <a:effectLst/>
              <a:latin typeface="Amazon Ember Regular" charset="0"/>
              <a:ea typeface="+mn-ea"/>
              <a:cs typeface="+mn-cs"/>
            </a:endParaRPr>
          </a:p>
          <a:p>
            <a:r>
              <a:rPr lang="en-US" sz="2000" b="0" i="0" kern="1200" dirty="0">
                <a:solidFill>
                  <a:schemeClr val="tx1"/>
                </a:solidFill>
                <a:effectLst/>
                <a:latin typeface="Amazon Ember Regular" charset="0"/>
                <a:ea typeface="+mn-ea"/>
                <a:cs typeface="+mn-cs"/>
              </a:rPr>
              <a:t>The Mobilize Phase has the following objectives:</a:t>
            </a:r>
          </a:p>
          <a:p>
            <a:pPr marL="342900" indent="-342900">
              <a:buFont typeface="Arial" panose="020B0604020202020204" pitchFamily="34" charset="0"/>
              <a:buChar char="•"/>
            </a:pPr>
            <a:r>
              <a:rPr lang="en-US" sz="2000" b="0" i="0" kern="1200" dirty="0">
                <a:solidFill>
                  <a:schemeClr val="tx1"/>
                </a:solidFill>
                <a:effectLst/>
                <a:latin typeface="Amazon Ember Regular" charset="0"/>
                <a:ea typeface="+mn-ea"/>
                <a:cs typeface="+mn-cs"/>
              </a:rPr>
              <a:t>Ensure high visibility with Executive Sponsor.</a:t>
            </a:r>
          </a:p>
          <a:p>
            <a:pPr marL="342900" indent="-342900">
              <a:buFont typeface="Arial" panose="020B0604020202020204" pitchFamily="34" charset="0"/>
              <a:buChar char="•"/>
            </a:pPr>
            <a:r>
              <a:rPr lang="en-US" sz="2000" b="0" i="0" kern="1200" dirty="0">
                <a:solidFill>
                  <a:schemeClr val="tx1"/>
                </a:solidFill>
                <a:effectLst/>
                <a:latin typeface="Amazon Ember Regular" charset="0"/>
                <a:ea typeface="+mn-ea"/>
                <a:cs typeface="+mn-cs"/>
              </a:rPr>
              <a:t>Leverage agile methodologies, project control, business communication plan, and deliver the migration plan.</a:t>
            </a:r>
          </a:p>
          <a:p>
            <a:pPr marL="342900" indent="-342900">
              <a:buFont typeface="Arial" panose="020B0604020202020204" pitchFamily="34" charset="0"/>
              <a:buChar char="•"/>
            </a:pPr>
            <a:r>
              <a:rPr lang="en-US" sz="2000" b="0" i="0" kern="1200" dirty="0">
                <a:solidFill>
                  <a:schemeClr val="tx1"/>
                </a:solidFill>
                <a:effectLst/>
                <a:latin typeface="Amazon Ember Regular" charset="0"/>
                <a:ea typeface="+mn-ea"/>
                <a:cs typeface="+mn-cs"/>
              </a:rPr>
              <a:t>Work with key stakeholders to assemble project teams, assign responsibilities, and develop schedules to ensure timely project completion, while minimizing risk to maximize customer success.</a:t>
            </a:r>
          </a:p>
          <a:p>
            <a:pPr lvl="0"/>
            <a:endParaRPr lang="en-US" sz="1200" b="1" dirty="0"/>
          </a:p>
          <a:p>
            <a:pPr lvl="0"/>
            <a:r>
              <a:rPr lang="en-US" sz="1200" b="1" dirty="0">
                <a:solidFill>
                  <a:srgbClr val="232F3E"/>
                </a:solidFill>
              </a:rPr>
              <a:t>DETAILED </a:t>
            </a:r>
            <a:r>
              <a:rPr lang="en-US" sz="1200" b="1" i="0" kern="1200" baseline="0" dirty="0">
                <a:solidFill>
                  <a:srgbClr val="232F3E"/>
                </a:solidFill>
                <a:effectLst/>
                <a:latin typeface="Amazon Ember Regular" charset="0"/>
                <a:ea typeface="+mn-ea"/>
                <a:cs typeface="+mn-cs"/>
              </a:rPr>
              <a:t>MESSAGE: </a:t>
            </a:r>
            <a:endParaRPr lang="en-US" sz="1200" dirty="0">
              <a:solidFill>
                <a:srgbClr val="232F3E"/>
              </a:solidFill>
            </a:endParaRPr>
          </a:p>
          <a:p>
            <a:pPr marL="171450" lvl="0" indent="-171450" defTabSz="914400">
              <a:buFont typeface="Arial" panose="020B0604020202020204" pitchFamily="34" charset="0"/>
              <a:buChar char="•"/>
              <a:defRPr/>
            </a:pPr>
            <a:r>
              <a:rPr lang="en-US" sz="1200" dirty="0"/>
              <a:t>The </a:t>
            </a:r>
            <a:r>
              <a:rPr lang="en-US" sz="1200" b="1" dirty="0"/>
              <a:t>Mobilize phase is typically 2 – 4 months </a:t>
            </a:r>
            <a:r>
              <a:rPr lang="en-US" sz="1200" dirty="0"/>
              <a:t>(based on your organization’s readiness levels) and is delivered with a selected partner or AWS ProServe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Amazon Ember Regular" charset="0"/>
              <a:ea typeface="+mn-ea"/>
              <a:cs typeface="+mn-cs"/>
            </a:endParaRPr>
          </a:p>
          <a:p>
            <a:r>
              <a:rPr lang="en-US" sz="2000" dirty="0"/>
              <a:t>The Mobilize engagement uses Accelerators to deliver the following outputs/outcomes for customers:</a:t>
            </a:r>
          </a:p>
          <a:p>
            <a:pPr marL="171450" indent="-171450">
              <a:buFont typeface="Arial" panose="020B0604020202020204" pitchFamily="34" charset="0"/>
              <a:buChar char="•"/>
            </a:pPr>
            <a:r>
              <a:rPr lang="en-US" sz="2000" dirty="0"/>
              <a:t>Collect inventory and application data to assess the portfolio and develop decision criteria to create initial migration wave plans.</a:t>
            </a:r>
          </a:p>
          <a:p>
            <a:pPr marL="171450" indent="-171450">
              <a:buFont typeface="Arial" panose="020B0604020202020204" pitchFamily="34" charset="0"/>
              <a:buChar char="•"/>
            </a:pPr>
            <a:r>
              <a:rPr lang="en-US" sz="2000" dirty="0"/>
              <a:t>Deploy and validate the landing zone, develop required operating and governance models, and migrate up to 5 applications to the customer production environment.</a:t>
            </a:r>
          </a:p>
          <a:p>
            <a:pPr marL="171450" indent="-171450">
              <a:buFont typeface="Arial" panose="020B0604020202020204" pitchFamily="34" charset="0"/>
              <a:buChar char="•"/>
            </a:pPr>
            <a:r>
              <a:rPr lang="en-US" sz="2000" dirty="0"/>
              <a:t>Gain hands-on experience operating in the cloud to build confidence, skills, and competency for the migration and transformation of the organization.</a:t>
            </a:r>
          </a:p>
          <a:p>
            <a:pPr marL="171450" indent="-171450">
              <a:buFont typeface="Arial" panose="020B0604020202020204" pitchFamily="34" charset="0"/>
              <a:buChar char="•"/>
            </a:pPr>
            <a:r>
              <a:rPr lang="en-US" sz="2000" dirty="0"/>
              <a:t>Define, implement, scale and automate (where applicable), the customer’s security risk and compliance controls on AWS.</a:t>
            </a:r>
          </a:p>
          <a:p>
            <a:pPr marL="171450" indent="-171450">
              <a:buFont typeface="Arial" panose="020B0604020202020204" pitchFamily="34" charset="0"/>
              <a:buChar char="•"/>
            </a:pPr>
            <a:r>
              <a:rPr lang="en-US" sz="2000" dirty="0"/>
              <a:t>Establish the future operating model for cloud and plan, guide and support an efficient progression of the operational model during the migration.</a:t>
            </a:r>
          </a:p>
          <a:p>
            <a:pPr marL="171450" indent="-171450">
              <a:buFont typeface="Arial" panose="020B0604020202020204" pitchFamily="34" charset="0"/>
              <a:buChar char="•"/>
            </a:pPr>
            <a:r>
              <a:rPr lang="en-US" sz="2000" dirty="0"/>
              <a:t>These Accelerators generate early alignment, speed-up requirements gathering, and expedite first migrations to compress the overall engagement timeframe.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a:t>
            </a:r>
            <a:r>
              <a:rPr lang="en-US" sz="2000" b="1" u="sng" dirty="0"/>
              <a:t>Mobilize Accelerator </a:t>
            </a:r>
            <a:r>
              <a:rPr lang="en-US" sz="2000" dirty="0"/>
              <a:t>helps customers establish and exercise an agile program to accelerate cloud operational readiness and cloud migrations. This Accelerator supports the set-up of low-cost collaboration and planning mechanisms that implement and automate many activities within the AWS Cloud Adoption Framework. These mechanisms optimize end-user experience for distributed teams and are foundational to execute readiness and migration initiatives. The Mobilize Accelerator builds the foundation that all other workstreams leverage to structure and prioritize work, collaborate and document knowledge, and report progress.</a:t>
            </a:r>
            <a:endParaRPr lang="en-US" sz="12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mazon Ember Regular" charset="0"/>
                <a:ea typeface="+mn-ea"/>
                <a:cs typeface="+mn-cs"/>
              </a:rPr>
              <a:t>The </a:t>
            </a:r>
            <a:r>
              <a:rPr lang="en-US" sz="1200" b="1" i="0" u="sng" kern="1200" dirty="0">
                <a:solidFill>
                  <a:schemeClr val="tx1"/>
                </a:solidFill>
                <a:effectLst/>
                <a:latin typeface="Amazon Ember Regular" charset="0"/>
                <a:ea typeface="+mn-ea"/>
                <a:cs typeface="+mn-cs"/>
              </a:rPr>
              <a:t>Portfolio Accelerator </a:t>
            </a:r>
            <a:r>
              <a:rPr lang="en-US" sz="12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is a </a:t>
            </a:r>
            <a:r>
              <a:rPr lang="en-US" sz="1200" dirty="0">
                <a:latin typeface="Amazon Ember" panose="020B0603020204020204" pitchFamily="34" charset="0"/>
                <a:ea typeface="Amazon Ember" panose="020B0603020204020204" pitchFamily="34" charset="0"/>
                <a:cs typeface="Amazon Ember" panose="020B0603020204020204" pitchFamily="34" charset="0"/>
              </a:rPr>
              <a:t>sprint-based, interactive workstream designed to establish decision criteria for application migration candidates and accelerate the development of a migration wave plan.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mazon Ember" panose="020B0603020204020204" pitchFamily="34" charset="0"/>
                <a:ea typeface="Amazon Ember" panose="020B0603020204020204" pitchFamily="34" charset="0"/>
                <a:cs typeface="Amazon Ember" panose="020B0603020204020204" pitchFamily="34" charset="0"/>
              </a:rPr>
              <a:t>The </a:t>
            </a:r>
            <a:r>
              <a:rPr lang="en-US" sz="1200" b="1" u="sng" dirty="0">
                <a:latin typeface="Amazon Ember" panose="020B0603020204020204" pitchFamily="34" charset="0"/>
                <a:ea typeface="Amazon Ember" panose="020B0603020204020204" pitchFamily="34" charset="0"/>
                <a:cs typeface="Amazon Ember" panose="020B0603020204020204" pitchFamily="34" charset="0"/>
              </a:rPr>
              <a:t>Platform &amp; Migration Accelerator </a:t>
            </a:r>
            <a:r>
              <a:rPr lang="en-US" sz="1050" dirty="0"/>
              <a:t>deploys and validates the landing zone, develops required operating and governance models, and migrates up to 5 applications to customer production environment. The accelerator leverages Platform and Migration Parties to accelerate application migration, provide hands-on experience operating in the cloud, and build confidence across cross-functional teams. Activities within the Platform &amp; Migration Accelerator are broken into Pre-Party, Party, and Post-Party stages and will conclude with post migration acceptance testing and validation of the landing zone. There is a defined, programmatic approach to successfully organize and plan the accelerator which is detailed in this document. </a:t>
            </a:r>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Amazon Ember Regular"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mazon Ember Regular" charset="0"/>
                <a:ea typeface="+mn-ea"/>
                <a:cs typeface="+mn-cs"/>
              </a:rPr>
              <a:t>The </a:t>
            </a:r>
            <a:r>
              <a:rPr lang="en-US" sz="1200" b="1" i="0" u="sng" kern="1200" dirty="0">
                <a:solidFill>
                  <a:schemeClr val="tx1"/>
                </a:solidFill>
                <a:effectLst/>
                <a:latin typeface="Amazon Ember Regular" charset="0"/>
                <a:ea typeface="+mn-ea"/>
                <a:cs typeface="+mn-cs"/>
              </a:rPr>
              <a:t>People Accelerator </a:t>
            </a:r>
            <a:r>
              <a:rPr lang="en-US" sz="1200" b="0" i="0" kern="1200" dirty="0">
                <a:solidFill>
                  <a:schemeClr val="tx1"/>
                </a:solidFill>
                <a:effectLst/>
                <a:latin typeface="Amazon Ember Regular" charset="0"/>
                <a:ea typeface="+mn-ea"/>
                <a:cs typeface="+mn-cs"/>
              </a:rPr>
              <a:t>a</a:t>
            </a:r>
            <a:r>
              <a:rPr lang="en-US" sz="1200" dirty="0">
                <a:latin typeface="Amazon Ember" panose="020B0603020204020204" pitchFamily="34" charset="0"/>
                <a:ea typeface="Amazon Ember" panose="020B0603020204020204" pitchFamily="34" charset="0"/>
                <a:cs typeface="Amazon Ember" panose="020B0603020204020204" pitchFamily="34" charset="0"/>
              </a:rPr>
              <a:t>dvances an enterprise’s ability to create, sustain and govern the change that occurs to enable cloud adoption. </a:t>
            </a:r>
            <a:endParaRPr lang="en-US" sz="2000" dirty="0"/>
          </a:p>
          <a:p>
            <a:endParaRPr lang="en-US" dirty="0"/>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28</a:t>
            </a:fld>
            <a:endParaRPr lang="en-US" dirty="0"/>
          </a:p>
        </p:txBody>
      </p:sp>
    </p:spTree>
    <p:extLst>
      <p:ext uri="{BB962C8B-B14F-4D97-AF65-F5344CB8AC3E}">
        <p14:creationId xmlns:p14="http://schemas.microsoft.com/office/powerpoint/2010/main" val="1190338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endParaRPr lang="en-US" sz="2000" dirty="0">
              <a:solidFill>
                <a:srgbClr val="333333"/>
              </a:solidFill>
            </a:endParaRPr>
          </a:p>
          <a:p>
            <a:pPr marL="0" marR="0" lvl="0" indent="0" algn="l" defTabSz="731520" rtl="0" eaLnBrk="1" fontAlgn="auto" latinLnBrk="0" hangingPunct="1">
              <a:lnSpc>
                <a:spcPct val="100000"/>
              </a:lnSpc>
              <a:spcBef>
                <a:spcPts val="0"/>
              </a:spcBef>
              <a:spcAft>
                <a:spcPts val="0"/>
              </a:spcAft>
              <a:buClrTx/>
              <a:buSzTx/>
              <a:buFontTx/>
              <a:buNone/>
              <a:tabLst/>
              <a:defRPr/>
            </a:pPr>
            <a:r>
              <a:rPr lang="en-US" sz="2000" dirty="0">
                <a:solidFill>
                  <a:srgbClr val="333333"/>
                </a:solidFill>
              </a:rPr>
              <a:t>Mobilize provides customers flexibility and we work with customers to tailor the engagement based on the customer's desired business outcomes. The timeline below serves as a template or starting point that should be modified and tailored based on customer requirements.</a:t>
            </a: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a:p>
            <a:pPr marL="0" marR="0" lvl="0" indent="0" algn="l" defTabSz="731520" rtl="0" eaLnBrk="1" fontAlgn="auto" latinLnBrk="0" hangingPunct="1">
              <a:lnSpc>
                <a:spcPct val="100000"/>
              </a:lnSpc>
              <a:spcBef>
                <a:spcPts val="0"/>
              </a:spcBef>
              <a:spcAft>
                <a:spcPts val="0"/>
              </a:spcAft>
              <a:buClrTx/>
              <a:buSzTx/>
              <a:buFontTx/>
              <a:buNone/>
              <a:tabLst/>
              <a:defRPr/>
            </a:pPr>
            <a:endParaRPr lang="en-US" sz="2000" dirty="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22656437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2000" b="1" i="0" kern="1200" baseline="0" dirty="0">
                <a:solidFill>
                  <a:schemeClr val="tx1"/>
                </a:solidFill>
                <a:effectLst/>
                <a:latin typeface="Amazon Ember Regular" charset="0"/>
                <a:ea typeface="+mn-ea"/>
                <a:cs typeface="+mn-cs"/>
              </a:rPr>
              <a:t>PRIMARY MESSAGE: </a:t>
            </a:r>
            <a:endParaRPr lang="en-US" sz="2000" dirty="0">
              <a:solidFill>
                <a:srgbClr val="333333"/>
              </a:solidFill>
            </a:endParaRPr>
          </a:p>
          <a:p>
            <a:pPr marL="0" marR="0" lvl="0" indent="0" algn="l" defTabSz="731520" rtl="0" eaLnBrk="1" fontAlgn="auto" latinLnBrk="0" hangingPunct="1">
              <a:lnSpc>
                <a:spcPct val="100000"/>
              </a:lnSpc>
              <a:spcBef>
                <a:spcPts val="0"/>
              </a:spcBef>
              <a:spcAft>
                <a:spcPts val="0"/>
              </a:spcAft>
              <a:buClrTx/>
              <a:buSzTx/>
              <a:buFontTx/>
              <a:buNone/>
              <a:tabLst/>
              <a:defRPr/>
            </a:pPr>
            <a:r>
              <a:rPr lang="en-US" sz="2000" dirty="0">
                <a:solidFill>
                  <a:srgbClr val="333333"/>
                </a:solidFill>
              </a:rPr>
              <a:t>We work with customers to tailor the engagement based on the customer's desired business outcomes. The timeline below serves as a template or starting point that should be modified and tailored based on customer requirements.</a:t>
            </a:r>
            <a:endParaRPr lang="en-US" sz="2000" b="1" dirty="0">
              <a:solidFill>
                <a:srgbClr val="FF0000"/>
              </a:solidFill>
            </a:endParaRPr>
          </a:p>
          <a:p>
            <a:endParaRPr lang="en-US" sz="2000" dirty="0"/>
          </a:p>
          <a:p>
            <a:endParaRPr lang="en-US" sz="2000" dirty="0"/>
          </a:p>
          <a:p>
            <a:pPr marL="342900" lvl="0" indent="-342900" fontAlgn="ctr">
              <a:buFont typeface="Arial" panose="020B0604020202020204" pitchFamily="34" charset="0"/>
              <a:buChar char="•"/>
            </a:pPr>
            <a:endParaRPr lang="en-US" sz="2000" dirty="0"/>
          </a:p>
          <a:p>
            <a:pPr marL="0" marR="0" lvl="0" indent="0" algn="l" defTabSz="731520" rtl="0" eaLnBrk="1" fontAlgn="auto" latinLnBrk="0" hangingPunct="1">
              <a:lnSpc>
                <a:spcPct val="100000"/>
              </a:lnSpc>
              <a:spcBef>
                <a:spcPts val="0"/>
              </a:spcBef>
              <a:spcAft>
                <a:spcPts val="0"/>
              </a:spcAft>
              <a:buClrTx/>
              <a:buSzTx/>
              <a:buFontTx/>
              <a:buNone/>
              <a:tabLst/>
              <a:defRPr/>
            </a:pPr>
            <a:endParaRPr lang="en-US" sz="2000" dirty="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30</a:t>
            </a:fld>
            <a:endParaRPr lang="en-US" dirty="0"/>
          </a:p>
        </p:txBody>
      </p:sp>
    </p:spTree>
    <p:extLst>
      <p:ext uri="{BB962C8B-B14F-4D97-AF65-F5344CB8AC3E}">
        <p14:creationId xmlns:p14="http://schemas.microsoft.com/office/powerpoint/2010/main" val="393882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31</a:t>
            </a:fld>
            <a:endParaRPr lang="en-US" dirty="0"/>
          </a:p>
        </p:txBody>
      </p:sp>
    </p:spTree>
    <p:extLst>
      <p:ext uri="{BB962C8B-B14F-4D97-AF65-F5344CB8AC3E}">
        <p14:creationId xmlns:p14="http://schemas.microsoft.com/office/powerpoint/2010/main" val="3982249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32</a:t>
            </a:fld>
            <a:endParaRPr lang="en-US" dirty="0"/>
          </a:p>
        </p:txBody>
      </p:sp>
    </p:spTree>
    <p:extLst>
      <p:ext uri="{BB962C8B-B14F-4D97-AF65-F5344CB8AC3E}">
        <p14:creationId xmlns:p14="http://schemas.microsoft.com/office/powerpoint/2010/main" val="20026297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dirty="0"/>
              <a:t>What we are going to walk through today</a:t>
            </a:r>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33</a:t>
            </a:fld>
            <a:endParaRPr lang="en-US" dirty="0"/>
          </a:p>
        </p:txBody>
      </p:sp>
    </p:spTree>
    <p:extLst>
      <p:ext uri="{BB962C8B-B14F-4D97-AF65-F5344CB8AC3E}">
        <p14:creationId xmlns:p14="http://schemas.microsoft.com/office/powerpoint/2010/main" val="2030662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800" b="1" i="0" kern="1200" baseline="0" dirty="0">
                <a:solidFill>
                  <a:schemeClr val="tx1"/>
                </a:solidFill>
                <a:effectLst/>
                <a:latin typeface="Amazon Ember Regular" charset="0"/>
                <a:ea typeface="+mn-ea"/>
                <a:cs typeface="+mn-cs"/>
              </a:rPr>
              <a:t>PRIMARY MESSAGE: </a:t>
            </a:r>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34</a:t>
            </a:fld>
            <a:endParaRPr lang="en-US" dirty="0"/>
          </a:p>
        </p:txBody>
      </p:sp>
    </p:spTree>
    <p:extLst>
      <p:ext uri="{BB962C8B-B14F-4D97-AF65-F5344CB8AC3E}">
        <p14:creationId xmlns:p14="http://schemas.microsoft.com/office/powerpoint/2010/main" val="11097708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36</a:t>
            </a:fld>
            <a:endParaRPr lang="en-US" dirty="0"/>
          </a:p>
        </p:txBody>
      </p:sp>
    </p:spTree>
    <p:extLst>
      <p:ext uri="{BB962C8B-B14F-4D97-AF65-F5344CB8AC3E}">
        <p14:creationId xmlns:p14="http://schemas.microsoft.com/office/powerpoint/2010/main" val="518359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37</a:t>
            </a:fld>
            <a:endParaRPr lang="en-US" dirty="0"/>
          </a:p>
        </p:txBody>
      </p:sp>
    </p:spTree>
    <p:extLst>
      <p:ext uri="{BB962C8B-B14F-4D97-AF65-F5344CB8AC3E}">
        <p14:creationId xmlns:p14="http://schemas.microsoft.com/office/powerpoint/2010/main" val="3327794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38</a:t>
            </a:fld>
            <a:endParaRPr lang="en-US" dirty="0"/>
          </a:p>
        </p:txBody>
      </p:sp>
    </p:spTree>
    <p:extLst>
      <p:ext uri="{BB962C8B-B14F-4D97-AF65-F5344CB8AC3E}">
        <p14:creationId xmlns:p14="http://schemas.microsoft.com/office/powerpoint/2010/main" val="17625396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40</a:t>
            </a:fld>
            <a:endParaRPr lang="en-US" dirty="0"/>
          </a:p>
        </p:txBody>
      </p:sp>
    </p:spTree>
    <p:extLst>
      <p:ext uri="{BB962C8B-B14F-4D97-AF65-F5344CB8AC3E}">
        <p14:creationId xmlns:p14="http://schemas.microsoft.com/office/powerpoint/2010/main" val="1098755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49</a:t>
            </a:fld>
            <a:endParaRPr lang="en-US" dirty="0"/>
          </a:p>
        </p:txBody>
      </p:sp>
    </p:spTree>
    <p:extLst>
      <p:ext uri="{BB962C8B-B14F-4D97-AF65-F5344CB8AC3E}">
        <p14:creationId xmlns:p14="http://schemas.microsoft.com/office/powerpoint/2010/main" val="30621825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50</a:t>
            </a:fld>
            <a:endParaRPr lang="en-US" dirty="0"/>
          </a:p>
        </p:txBody>
      </p:sp>
    </p:spTree>
    <p:extLst>
      <p:ext uri="{BB962C8B-B14F-4D97-AF65-F5344CB8AC3E}">
        <p14:creationId xmlns:p14="http://schemas.microsoft.com/office/powerpoint/2010/main" val="18797953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51</a:t>
            </a:fld>
            <a:endParaRPr lang="en-US" dirty="0"/>
          </a:p>
        </p:txBody>
      </p:sp>
    </p:spTree>
    <p:extLst>
      <p:ext uri="{BB962C8B-B14F-4D97-AF65-F5344CB8AC3E}">
        <p14:creationId xmlns:p14="http://schemas.microsoft.com/office/powerpoint/2010/main" val="8946383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52</a:t>
            </a:fld>
            <a:endParaRPr lang="en-US" dirty="0"/>
          </a:p>
        </p:txBody>
      </p:sp>
    </p:spTree>
    <p:extLst>
      <p:ext uri="{BB962C8B-B14F-4D97-AF65-F5344CB8AC3E}">
        <p14:creationId xmlns:p14="http://schemas.microsoft.com/office/powerpoint/2010/main" val="39933625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53</a:t>
            </a:fld>
            <a:endParaRPr lang="en-US" dirty="0"/>
          </a:p>
        </p:txBody>
      </p:sp>
    </p:spTree>
    <p:extLst>
      <p:ext uri="{BB962C8B-B14F-4D97-AF65-F5344CB8AC3E}">
        <p14:creationId xmlns:p14="http://schemas.microsoft.com/office/powerpoint/2010/main" val="20575226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54</a:t>
            </a:fld>
            <a:endParaRPr lang="en-US" dirty="0"/>
          </a:p>
        </p:txBody>
      </p:sp>
    </p:spTree>
    <p:extLst>
      <p:ext uri="{BB962C8B-B14F-4D97-AF65-F5344CB8AC3E}">
        <p14:creationId xmlns:p14="http://schemas.microsoft.com/office/powerpoint/2010/main" val="25128986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55</a:t>
            </a:fld>
            <a:endParaRPr lang="en-US" dirty="0"/>
          </a:p>
        </p:txBody>
      </p:sp>
    </p:spTree>
    <p:extLst>
      <p:ext uri="{BB962C8B-B14F-4D97-AF65-F5344CB8AC3E}">
        <p14:creationId xmlns:p14="http://schemas.microsoft.com/office/powerpoint/2010/main" val="21483287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56</a:t>
            </a:fld>
            <a:endParaRPr lang="en-US" dirty="0"/>
          </a:p>
        </p:txBody>
      </p:sp>
    </p:spTree>
    <p:extLst>
      <p:ext uri="{BB962C8B-B14F-4D97-AF65-F5344CB8AC3E}">
        <p14:creationId xmlns:p14="http://schemas.microsoft.com/office/powerpoint/2010/main" val="26811091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57</a:t>
            </a:fld>
            <a:endParaRPr lang="en-US" dirty="0"/>
          </a:p>
        </p:txBody>
      </p:sp>
    </p:spTree>
    <p:extLst>
      <p:ext uri="{BB962C8B-B14F-4D97-AF65-F5344CB8AC3E}">
        <p14:creationId xmlns:p14="http://schemas.microsoft.com/office/powerpoint/2010/main" val="26050669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58</a:t>
            </a:fld>
            <a:endParaRPr lang="en-US" dirty="0"/>
          </a:p>
        </p:txBody>
      </p:sp>
    </p:spTree>
    <p:extLst>
      <p:ext uri="{BB962C8B-B14F-4D97-AF65-F5344CB8AC3E}">
        <p14:creationId xmlns:p14="http://schemas.microsoft.com/office/powerpoint/2010/main" val="7459354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59</a:t>
            </a:fld>
            <a:endParaRPr lang="en-US" dirty="0"/>
          </a:p>
        </p:txBody>
      </p:sp>
    </p:spTree>
    <p:extLst>
      <p:ext uri="{BB962C8B-B14F-4D97-AF65-F5344CB8AC3E}">
        <p14:creationId xmlns:p14="http://schemas.microsoft.com/office/powerpoint/2010/main" val="20125724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60</a:t>
            </a:fld>
            <a:endParaRPr lang="en-US" dirty="0"/>
          </a:p>
        </p:txBody>
      </p:sp>
    </p:spTree>
    <p:extLst>
      <p:ext uri="{BB962C8B-B14F-4D97-AF65-F5344CB8AC3E}">
        <p14:creationId xmlns:p14="http://schemas.microsoft.com/office/powerpoint/2010/main" val="41133884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61</a:t>
            </a:fld>
            <a:endParaRPr lang="en-US" dirty="0"/>
          </a:p>
        </p:txBody>
      </p:sp>
    </p:spTree>
    <p:extLst>
      <p:ext uri="{BB962C8B-B14F-4D97-AF65-F5344CB8AC3E}">
        <p14:creationId xmlns:p14="http://schemas.microsoft.com/office/powerpoint/2010/main" val="12920658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62</a:t>
            </a:fld>
            <a:endParaRPr lang="en-US" dirty="0"/>
          </a:p>
        </p:txBody>
      </p:sp>
    </p:spTree>
    <p:extLst>
      <p:ext uri="{BB962C8B-B14F-4D97-AF65-F5344CB8AC3E}">
        <p14:creationId xmlns:p14="http://schemas.microsoft.com/office/powerpoint/2010/main" val="2896627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63</a:t>
            </a:fld>
            <a:endParaRPr lang="en-US" dirty="0"/>
          </a:p>
        </p:txBody>
      </p:sp>
    </p:spTree>
    <p:extLst>
      <p:ext uri="{BB962C8B-B14F-4D97-AF65-F5344CB8AC3E}">
        <p14:creationId xmlns:p14="http://schemas.microsoft.com/office/powerpoint/2010/main" val="31571084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64</a:t>
            </a:fld>
            <a:endParaRPr lang="en-US" dirty="0"/>
          </a:p>
        </p:txBody>
      </p:sp>
    </p:spTree>
    <p:extLst>
      <p:ext uri="{BB962C8B-B14F-4D97-AF65-F5344CB8AC3E}">
        <p14:creationId xmlns:p14="http://schemas.microsoft.com/office/powerpoint/2010/main" val="17175153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65</a:t>
            </a:fld>
            <a:endParaRPr lang="en-US" dirty="0"/>
          </a:p>
        </p:txBody>
      </p:sp>
    </p:spTree>
    <p:extLst>
      <p:ext uri="{BB962C8B-B14F-4D97-AF65-F5344CB8AC3E}">
        <p14:creationId xmlns:p14="http://schemas.microsoft.com/office/powerpoint/2010/main" val="28896097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66</a:t>
            </a:fld>
            <a:endParaRPr lang="en-US" dirty="0"/>
          </a:p>
        </p:txBody>
      </p:sp>
    </p:spTree>
    <p:extLst>
      <p:ext uri="{BB962C8B-B14F-4D97-AF65-F5344CB8AC3E}">
        <p14:creationId xmlns:p14="http://schemas.microsoft.com/office/powerpoint/2010/main" val="33000922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67</a:t>
            </a:fld>
            <a:endParaRPr lang="en-US" dirty="0"/>
          </a:p>
        </p:txBody>
      </p:sp>
    </p:spTree>
    <p:extLst>
      <p:ext uri="{BB962C8B-B14F-4D97-AF65-F5344CB8AC3E}">
        <p14:creationId xmlns:p14="http://schemas.microsoft.com/office/powerpoint/2010/main" val="22333671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68</a:t>
            </a:fld>
            <a:endParaRPr lang="en-US" dirty="0"/>
          </a:p>
        </p:txBody>
      </p:sp>
    </p:spTree>
    <p:extLst>
      <p:ext uri="{BB962C8B-B14F-4D97-AF65-F5344CB8AC3E}">
        <p14:creationId xmlns:p14="http://schemas.microsoft.com/office/powerpoint/2010/main" val="10348396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69</a:t>
            </a:fld>
            <a:endParaRPr lang="en-US" dirty="0"/>
          </a:p>
        </p:txBody>
      </p:sp>
    </p:spTree>
    <p:extLst>
      <p:ext uri="{BB962C8B-B14F-4D97-AF65-F5344CB8AC3E}">
        <p14:creationId xmlns:p14="http://schemas.microsoft.com/office/powerpoint/2010/main" val="20211531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70</a:t>
            </a:fld>
            <a:endParaRPr lang="en-US" dirty="0"/>
          </a:p>
        </p:txBody>
      </p:sp>
    </p:spTree>
    <p:extLst>
      <p:ext uri="{BB962C8B-B14F-4D97-AF65-F5344CB8AC3E}">
        <p14:creationId xmlns:p14="http://schemas.microsoft.com/office/powerpoint/2010/main" val="31385685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71</a:t>
            </a:fld>
            <a:endParaRPr lang="en-US" dirty="0"/>
          </a:p>
        </p:txBody>
      </p:sp>
    </p:spTree>
    <p:extLst>
      <p:ext uri="{BB962C8B-B14F-4D97-AF65-F5344CB8AC3E}">
        <p14:creationId xmlns:p14="http://schemas.microsoft.com/office/powerpoint/2010/main" val="36204114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72</a:t>
            </a:fld>
            <a:endParaRPr lang="en-US" dirty="0"/>
          </a:p>
        </p:txBody>
      </p:sp>
    </p:spTree>
    <p:extLst>
      <p:ext uri="{BB962C8B-B14F-4D97-AF65-F5344CB8AC3E}">
        <p14:creationId xmlns:p14="http://schemas.microsoft.com/office/powerpoint/2010/main" val="41630261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73</a:t>
            </a:fld>
            <a:endParaRPr lang="en-US" dirty="0"/>
          </a:p>
        </p:txBody>
      </p:sp>
    </p:spTree>
    <p:extLst>
      <p:ext uri="{BB962C8B-B14F-4D97-AF65-F5344CB8AC3E}">
        <p14:creationId xmlns:p14="http://schemas.microsoft.com/office/powerpoint/2010/main" val="8839700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74</a:t>
            </a:fld>
            <a:endParaRPr lang="en-US" dirty="0"/>
          </a:p>
        </p:txBody>
      </p:sp>
    </p:spTree>
    <p:extLst>
      <p:ext uri="{BB962C8B-B14F-4D97-AF65-F5344CB8AC3E}">
        <p14:creationId xmlns:p14="http://schemas.microsoft.com/office/powerpoint/2010/main" val="18916233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75</a:t>
            </a:fld>
            <a:endParaRPr lang="en-US" dirty="0"/>
          </a:p>
        </p:txBody>
      </p:sp>
    </p:spTree>
    <p:extLst>
      <p:ext uri="{BB962C8B-B14F-4D97-AF65-F5344CB8AC3E}">
        <p14:creationId xmlns:p14="http://schemas.microsoft.com/office/powerpoint/2010/main" val="30925599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76</a:t>
            </a:fld>
            <a:endParaRPr lang="en-US" dirty="0"/>
          </a:p>
        </p:txBody>
      </p:sp>
    </p:spTree>
    <p:extLst>
      <p:ext uri="{BB962C8B-B14F-4D97-AF65-F5344CB8AC3E}">
        <p14:creationId xmlns:p14="http://schemas.microsoft.com/office/powerpoint/2010/main" val="17792781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77</a:t>
            </a:fld>
            <a:endParaRPr lang="en-US" dirty="0"/>
          </a:p>
        </p:txBody>
      </p:sp>
    </p:spTree>
    <p:extLst>
      <p:ext uri="{BB962C8B-B14F-4D97-AF65-F5344CB8AC3E}">
        <p14:creationId xmlns:p14="http://schemas.microsoft.com/office/powerpoint/2010/main" val="5498843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78</a:t>
            </a:fld>
            <a:endParaRPr lang="en-US" dirty="0"/>
          </a:p>
        </p:txBody>
      </p:sp>
    </p:spTree>
    <p:extLst>
      <p:ext uri="{BB962C8B-B14F-4D97-AF65-F5344CB8AC3E}">
        <p14:creationId xmlns:p14="http://schemas.microsoft.com/office/powerpoint/2010/main" val="22960327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79</a:t>
            </a:fld>
            <a:endParaRPr lang="en-US" dirty="0"/>
          </a:p>
        </p:txBody>
      </p:sp>
    </p:spTree>
    <p:extLst>
      <p:ext uri="{BB962C8B-B14F-4D97-AF65-F5344CB8AC3E}">
        <p14:creationId xmlns:p14="http://schemas.microsoft.com/office/powerpoint/2010/main" val="38059246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80</a:t>
            </a:fld>
            <a:endParaRPr lang="en-US" dirty="0"/>
          </a:p>
        </p:txBody>
      </p:sp>
    </p:spTree>
    <p:extLst>
      <p:ext uri="{BB962C8B-B14F-4D97-AF65-F5344CB8AC3E}">
        <p14:creationId xmlns:p14="http://schemas.microsoft.com/office/powerpoint/2010/main" val="16065123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81</a:t>
            </a:fld>
            <a:endParaRPr lang="en-US" dirty="0"/>
          </a:p>
        </p:txBody>
      </p:sp>
    </p:spTree>
    <p:extLst>
      <p:ext uri="{BB962C8B-B14F-4D97-AF65-F5344CB8AC3E}">
        <p14:creationId xmlns:p14="http://schemas.microsoft.com/office/powerpoint/2010/main" val="193888663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82</a:t>
            </a:fld>
            <a:endParaRPr lang="en-US" dirty="0"/>
          </a:p>
        </p:txBody>
      </p:sp>
    </p:spTree>
    <p:extLst>
      <p:ext uri="{BB962C8B-B14F-4D97-AF65-F5344CB8AC3E}">
        <p14:creationId xmlns:p14="http://schemas.microsoft.com/office/powerpoint/2010/main" val="8582019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83</a:t>
            </a:fld>
            <a:endParaRPr lang="en-US" dirty="0"/>
          </a:p>
        </p:txBody>
      </p:sp>
    </p:spTree>
    <p:extLst>
      <p:ext uri="{BB962C8B-B14F-4D97-AF65-F5344CB8AC3E}">
        <p14:creationId xmlns:p14="http://schemas.microsoft.com/office/powerpoint/2010/main" val="21817920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84</a:t>
            </a:fld>
            <a:endParaRPr lang="en-US" dirty="0"/>
          </a:p>
        </p:txBody>
      </p:sp>
    </p:spTree>
    <p:extLst>
      <p:ext uri="{BB962C8B-B14F-4D97-AF65-F5344CB8AC3E}">
        <p14:creationId xmlns:p14="http://schemas.microsoft.com/office/powerpoint/2010/main" val="209239554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85</a:t>
            </a:fld>
            <a:endParaRPr lang="en-US" dirty="0"/>
          </a:p>
        </p:txBody>
      </p:sp>
    </p:spTree>
    <p:extLst>
      <p:ext uri="{BB962C8B-B14F-4D97-AF65-F5344CB8AC3E}">
        <p14:creationId xmlns:p14="http://schemas.microsoft.com/office/powerpoint/2010/main" val="18101092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86</a:t>
            </a:fld>
            <a:endParaRPr lang="en-US" dirty="0"/>
          </a:p>
        </p:txBody>
      </p:sp>
    </p:spTree>
    <p:extLst>
      <p:ext uri="{BB962C8B-B14F-4D97-AF65-F5344CB8AC3E}">
        <p14:creationId xmlns:p14="http://schemas.microsoft.com/office/powerpoint/2010/main" val="37323122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87</a:t>
            </a:fld>
            <a:endParaRPr lang="en-US" dirty="0"/>
          </a:p>
        </p:txBody>
      </p:sp>
    </p:spTree>
    <p:extLst>
      <p:ext uri="{BB962C8B-B14F-4D97-AF65-F5344CB8AC3E}">
        <p14:creationId xmlns:p14="http://schemas.microsoft.com/office/powerpoint/2010/main" val="11991330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88</a:t>
            </a:fld>
            <a:endParaRPr lang="en-US" dirty="0"/>
          </a:p>
        </p:txBody>
      </p:sp>
    </p:spTree>
    <p:extLst>
      <p:ext uri="{BB962C8B-B14F-4D97-AF65-F5344CB8AC3E}">
        <p14:creationId xmlns:p14="http://schemas.microsoft.com/office/powerpoint/2010/main" val="17898655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89</a:t>
            </a:fld>
            <a:endParaRPr lang="en-US" dirty="0"/>
          </a:p>
        </p:txBody>
      </p:sp>
    </p:spTree>
    <p:extLst>
      <p:ext uri="{BB962C8B-B14F-4D97-AF65-F5344CB8AC3E}">
        <p14:creationId xmlns:p14="http://schemas.microsoft.com/office/powerpoint/2010/main" val="2908096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E260DE7-04AD-4C12-9D26-5A8DB9DF78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400" cy="8229600"/>
          </a:xfrm>
          <a:prstGeom prst="rect">
            <a:avLst/>
          </a:prstGeom>
        </p:spPr>
      </p:pic>
      <p:pic>
        <p:nvPicPr>
          <p:cNvPr id="16" name="Picture 15">
            <a:extLst>
              <a:ext uri="{FF2B5EF4-FFF2-40B4-BE49-F238E27FC236}">
                <a16:creationId xmlns:a16="http://schemas.microsoft.com/office/drawing/2014/main" id="{A474F9FA-D015-474A-AB83-4D7AE427C6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0723" y="661708"/>
            <a:ext cx="1203808" cy="720227"/>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731518" y="2431414"/>
            <a:ext cx="7753199" cy="890115"/>
          </a:xfrm>
        </p:spPr>
        <p:txBody>
          <a:bodyPr wrap="square" anchor="t" anchorCtr="0"/>
          <a:lstStyle>
            <a:lvl1pPr algn="l">
              <a:defRPr sz="5760"/>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731517" y="3303271"/>
            <a:ext cx="7753198" cy="642637"/>
          </a:xfrm>
        </p:spPr>
        <p:txBody>
          <a:bodyPr wrap="square"/>
          <a:lstStyle>
            <a:lvl1pPr marL="0" indent="0" algn="l">
              <a:spcAft>
                <a:spcPts val="0"/>
              </a:spcAft>
              <a:buFont typeface="Arial" panose="020B0604020202020204" pitchFamily="34" charset="0"/>
              <a:buNone/>
              <a:defRPr sz="3840" b="0" i="0" cap="none" spc="0" baseline="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731518" y="5219655"/>
            <a:ext cx="4556762" cy="424732"/>
          </a:xfrm>
        </p:spPr>
        <p:txBody>
          <a:bodyPr wrap="square"/>
          <a:lstStyle>
            <a:lvl1pPr marL="0" indent="0">
              <a:spcAft>
                <a:spcPts val="0"/>
              </a:spcAft>
              <a:buNone/>
              <a:defRPr sz="2400" b="0" i="0" cap="none" spc="0" baseline="0"/>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731518" y="2065642"/>
            <a:ext cx="7772402" cy="291747"/>
          </a:xfrm>
        </p:spPr>
        <p:txBody>
          <a:bodyPr wrap="square"/>
          <a:lstStyle>
            <a:lvl1pPr marL="0" indent="0">
              <a:spcAft>
                <a:spcPts val="0"/>
              </a:spcAft>
              <a:buNone/>
              <a:defRPr sz="1440" b="1" i="0" cap="all" spc="360" baseline="0"/>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731518" y="5715001"/>
            <a:ext cx="4556762" cy="642637"/>
          </a:xfrm>
        </p:spPr>
        <p:txBody>
          <a:bodyPr wrap="square"/>
          <a:lstStyle>
            <a:lvl1pPr marL="0" indent="0">
              <a:spcAft>
                <a:spcPts val="360"/>
              </a:spcAft>
              <a:buNone/>
              <a:defRPr sz="1920"/>
            </a:lvl1pPr>
          </a:lstStyle>
          <a:p>
            <a:pPr lvl="0"/>
            <a:r>
              <a:rPr lang="en-US" dirty="0"/>
              <a:t>Speaker job title</a:t>
            </a:r>
            <a:br>
              <a:rPr lang="en-US" dirty="0"/>
            </a:br>
            <a:r>
              <a:rPr lang="en-US" dirty="0"/>
              <a:t>Speaker company</a:t>
            </a:r>
          </a:p>
        </p:txBody>
      </p:sp>
      <p:sp>
        <p:nvSpPr>
          <p:cNvPr id="13" name="TextBox 12">
            <a:extLst>
              <a:ext uri="{FF2B5EF4-FFF2-40B4-BE49-F238E27FC236}">
                <a16:creationId xmlns:a16="http://schemas.microsoft.com/office/drawing/2014/main" id="{6BB72998-CF78-E641-92D5-30F654C2CA87}"/>
              </a:ext>
            </a:extLst>
          </p:cNvPr>
          <p:cNvSpPr txBox="1"/>
          <p:nvPr userDrawn="1"/>
        </p:nvSpPr>
        <p:spPr>
          <a:xfrm>
            <a:off x="737004" y="7667776"/>
            <a:ext cx="2324675" cy="203133"/>
          </a:xfrm>
          <a:prstGeom prst="rect">
            <a:avLst/>
          </a:prstGeom>
          <a:noFill/>
        </p:spPr>
        <p:txBody>
          <a:bodyPr wrap="none" rtlCol="0">
            <a:spAutoFit/>
          </a:bodyPr>
          <a:lstStyle/>
          <a:p>
            <a:pPr algn="ctr"/>
            <a:r>
              <a:rPr lang="en-US" sz="720" dirty="0">
                <a:solidFill>
                  <a:schemeClr val="tx2"/>
                </a:solidFill>
              </a:rPr>
              <a:t>© 2026, Amazon Web Services, Inc. or its affiliates.</a:t>
            </a:r>
          </a:p>
        </p:txBody>
      </p:sp>
    </p:spTree>
    <p:extLst>
      <p:ext uri="{BB962C8B-B14F-4D97-AF65-F5344CB8AC3E}">
        <p14:creationId xmlns:p14="http://schemas.microsoft.com/office/powerpoint/2010/main" val="3794005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Option 2">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AA13C1F-8C67-404B-B806-4F34A751FD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400" cy="82296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731518" y="2431414"/>
            <a:ext cx="7753199" cy="890115"/>
          </a:xfrm>
        </p:spPr>
        <p:txBody>
          <a:bodyPr wrap="square" anchor="t" anchorCtr="0"/>
          <a:lstStyle>
            <a:lvl1pPr algn="l">
              <a:defRPr sz="5760"/>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731517" y="3303271"/>
            <a:ext cx="7753198" cy="642637"/>
          </a:xfrm>
        </p:spPr>
        <p:txBody>
          <a:bodyPr wrap="square"/>
          <a:lstStyle>
            <a:lvl1pPr marL="0" indent="0" algn="l">
              <a:spcAft>
                <a:spcPts val="0"/>
              </a:spcAft>
              <a:buFont typeface="Arial" panose="020B0604020202020204" pitchFamily="34" charset="0"/>
              <a:buNone/>
              <a:defRPr sz="3840" b="0" i="0" cap="none" spc="0" baseline="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731518" y="5219655"/>
            <a:ext cx="4556762" cy="424732"/>
          </a:xfrm>
        </p:spPr>
        <p:txBody>
          <a:bodyPr wrap="square"/>
          <a:lstStyle>
            <a:lvl1pPr marL="0" indent="0">
              <a:spcAft>
                <a:spcPts val="0"/>
              </a:spcAft>
              <a:buNone/>
              <a:defRPr sz="2400" b="0" i="0" cap="none" spc="0" baseline="0"/>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731518" y="2065642"/>
            <a:ext cx="7772402" cy="291747"/>
          </a:xfrm>
        </p:spPr>
        <p:txBody>
          <a:bodyPr wrap="square"/>
          <a:lstStyle>
            <a:lvl1pPr marL="0" indent="0">
              <a:spcAft>
                <a:spcPts val="0"/>
              </a:spcAft>
              <a:buNone/>
              <a:defRPr sz="1440" b="1" i="0" cap="all" spc="360" baseline="0"/>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731518" y="5715001"/>
            <a:ext cx="4556762" cy="642637"/>
          </a:xfrm>
        </p:spPr>
        <p:txBody>
          <a:bodyPr wrap="square"/>
          <a:lstStyle>
            <a:lvl1pPr marL="0" indent="0">
              <a:spcAft>
                <a:spcPts val="360"/>
              </a:spcAft>
              <a:buNone/>
              <a:defRPr sz="1920"/>
            </a:lvl1pPr>
          </a:lstStyle>
          <a:p>
            <a:pPr lvl="0"/>
            <a:r>
              <a:rPr lang="en-US" dirty="0"/>
              <a:t>Speaker job title</a:t>
            </a:r>
            <a:br>
              <a:rPr lang="en-US" dirty="0"/>
            </a:br>
            <a:r>
              <a:rPr lang="en-US" dirty="0"/>
              <a:t>Speaker company</a:t>
            </a:r>
          </a:p>
        </p:txBody>
      </p:sp>
      <p:pic>
        <p:nvPicPr>
          <p:cNvPr id="13" name="Picture 12">
            <a:extLst>
              <a:ext uri="{FF2B5EF4-FFF2-40B4-BE49-F238E27FC236}">
                <a16:creationId xmlns:a16="http://schemas.microsoft.com/office/drawing/2014/main" id="{0A0E4D76-1B78-41A6-A9DC-5B3B502BB2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0723" y="661708"/>
            <a:ext cx="1203808" cy="720227"/>
          </a:xfrm>
          <a:prstGeom prst="rect">
            <a:avLst/>
          </a:prstGeom>
        </p:spPr>
      </p:pic>
      <p:sp>
        <p:nvSpPr>
          <p:cNvPr id="15" name="TextBox 14">
            <a:extLst>
              <a:ext uri="{FF2B5EF4-FFF2-40B4-BE49-F238E27FC236}">
                <a16:creationId xmlns:a16="http://schemas.microsoft.com/office/drawing/2014/main" id="{989266F3-C1EE-CA46-BF0D-AE29EC149890}"/>
              </a:ext>
            </a:extLst>
          </p:cNvPr>
          <p:cNvSpPr txBox="1"/>
          <p:nvPr userDrawn="1"/>
        </p:nvSpPr>
        <p:spPr>
          <a:xfrm>
            <a:off x="737004" y="7667776"/>
            <a:ext cx="2324675" cy="203133"/>
          </a:xfrm>
          <a:prstGeom prst="rect">
            <a:avLst/>
          </a:prstGeom>
          <a:noFill/>
        </p:spPr>
        <p:txBody>
          <a:bodyPr wrap="none" rtlCol="0">
            <a:spAutoFit/>
          </a:bodyPr>
          <a:lstStyle/>
          <a:p>
            <a:pPr algn="ctr"/>
            <a:r>
              <a:rPr lang="en-US" sz="720" dirty="0">
                <a:solidFill>
                  <a:schemeClr val="tx2"/>
                </a:solidFill>
              </a:rPr>
              <a:t>© 2026, Amazon Web Services, Inc. or its affiliates.</a:t>
            </a:r>
          </a:p>
        </p:txBody>
      </p:sp>
    </p:spTree>
    <p:extLst>
      <p:ext uri="{BB962C8B-B14F-4D97-AF65-F5344CB8AC3E}">
        <p14:creationId xmlns:p14="http://schemas.microsoft.com/office/powerpoint/2010/main" val="34343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E1357BCE-DF1C-9941-A12E-A31A5F71AD93}" type="datetime1">
              <a:rPr lang="en-US" smtClean="0"/>
              <a:t>2/1/24</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337413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p>
            <a:fld id="{FE35BE89-FE1B-4E4D-90F0-7B3CCBA597B3}" type="datetime1">
              <a:rPr lang="en-US" smtClean="0"/>
              <a:t>2/1/24</a:t>
            </a:fld>
            <a:endParaRPr lang="en-US" dirty="0"/>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29266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731520" y="2057400"/>
            <a:ext cx="13167360" cy="3015890"/>
          </a:xfrm>
        </p:spPr>
        <p:txBody>
          <a:bodyPr/>
          <a:lstStyle>
            <a:lvl1pPr marL="0" indent="0">
              <a:spcAft>
                <a:spcPts val="2160"/>
              </a:spcAft>
              <a:buNone/>
              <a:defRPr/>
            </a:lvl1pPr>
            <a:lvl2pPr marL="342900" indent="0">
              <a:spcAft>
                <a:spcPts val="2160"/>
              </a:spcAft>
              <a:buNone/>
              <a:defRPr/>
            </a:lvl2pPr>
            <a:lvl3pPr marL="754380" indent="0">
              <a:spcAft>
                <a:spcPts val="2160"/>
              </a:spcAft>
              <a:buNone/>
              <a:defRPr/>
            </a:lvl3pPr>
            <a:lvl4pPr marL="1097280" indent="0">
              <a:spcAft>
                <a:spcPts val="2160"/>
              </a:spcAft>
              <a:buNone/>
              <a:defRPr/>
            </a:lvl4pPr>
            <a:lvl5pPr marL="1371600" indent="0">
              <a:spcAft>
                <a:spcPts val="216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p>
            <a:fld id="{200866B5-5A5C-8240-98AA-260A2F078626}" type="datetime1">
              <a:rPr lang="en-US" smtClean="0"/>
              <a:t>2/1/24</a:t>
            </a:fld>
            <a:endParaRPr lang="en-US" dirty="0"/>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94571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11A3FE-4D6A-4FEE-B1CD-1FE73B8F23C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400" cy="82296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731520" y="3261643"/>
            <a:ext cx="9387840" cy="1706314"/>
          </a:xfrm>
        </p:spPr>
        <p:txBody>
          <a:bodyPr anchor="ctr" anchorCtr="0"/>
          <a:lstStyle>
            <a:lvl1pPr>
              <a:defRPr sz="5760"/>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D84BCD3A-D9BE-A141-AAA4-F8F1B1A5517A}" type="datetime1">
              <a:rPr lang="en-US" smtClean="0"/>
              <a:t>2/1/24</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p>
            <a:fld id="{EB4B8DE2-A4E8-46E4-8BBF-D75455EFF32C}" type="slidenum">
              <a:rPr lang="en-US" smtClean="0"/>
              <a:pPr/>
              <a:t>‹#›</a:t>
            </a:fld>
            <a:endParaRPr lang="en-US" dirty="0"/>
          </a:p>
        </p:txBody>
      </p:sp>
      <p:pic>
        <p:nvPicPr>
          <p:cNvPr id="9" name="Picture 8">
            <a:extLst>
              <a:ext uri="{FF2B5EF4-FFF2-40B4-BE49-F238E27FC236}">
                <a16:creationId xmlns:a16="http://schemas.microsoft.com/office/drawing/2014/main" id="{9C5E28A0-3B8E-4865-89EE-429105F735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3233" y="7602107"/>
            <a:ext cx="418592" cy="250440"/>
          </a:xfrm>
          <a:prstGeom prst="rect">
            <a:avLst/>
          </a:prstGeom>
        </p:spPr>
      </p:pic>
      <p:sp>
        <p:nvSpPr>
          <p:cNvPr id="11" name="TextBox 10">
            <a:extLst>
              <a:ext uri="{FF2B5EF4-FFF2-40B4-BE49-F238E27FC236}">
                <a16:creationId xmlns:a16="http://schemas.microsoft.com/office/drawing/2014/main" id="{2211377F-BA28-3845-97F3-53D98620ADA8}"/>
              </a:ext>
            </a:extLst>
          </p:cNvPr>
          <p:cNvSpPr txBox="1"/>
          <p:nvPr userDrawn="1"/>
        </p:nvSpPr>
        <p:spPr>
          <a:xfrm>
            <a:off x="6152864" y="7667776"/>
            <a:ext cx="2324675" cy="203133"/>
          </a:xfrm>
          <a:prstGeom prst="rect">
            <a:avLst/>
          </a:prstGeom>
          <a:noFill/>
        </p:spPr>
        <p:txBody>
          <a:bodyPr wrap="none" rtlCol="0">
            <a:spAutoFit/>
          </a:bodyPr>
          <a:lstStyle/>
          <a:p>
            <a:pPr algn="ctr"/>
            <a:r>
              <a:rPr lang="en-US" sz="720" dirty="0"/>
              <a:t>© 2026, Amazon Web Services, Inc. or its affiliates.</a:t>
            </a:r>
          </a:p>
        </p:txBody>
      </p:sp>
    </p:spTree>
    <p:extLst>
      <p:ext uri="{BB962C8B-B14F-4D97-AF65-F5344CB8AC3E}">
        <p14:creationId xmlns:p14="http://schemas.microsoft.com/office/powerpoint/2010/main" val="2332748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Option 4">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0280A60-AE9B-4B6A-975D-35CFC5451D0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400" cy="8229600"/>
          </a:xfrm>
          <a:prstGeom prst="rect">
            <a:avLst/>
          </a:prstGeom>
        </p:spPr>
      </p:pic>
      <p:sp>
        <p:nvSpPr>
          <p:cNvPr id="16" name="TextBox 15">
            <a:extLst>
              <a:ext uri="{FF2B5EF4-FFF2-40B4-BE49-F238E27FC236}">
                <a16:creationId xmlns:a16="http://schemas.microsoft.com/office/drawing/2014/main" id="{82BEBFA3-8C5E-448A-B03D-8DAAEBB407B0}"/>
              </a:ext>
            </a:extLst>
          </p:cNvPr>
          <p:cNvSpPr txBox="1"/>
          <p:nvPr userDrawn="1"/>
        </p:nvSpPr>
        <p:spPr>
          <a:xfrm>
            <a:off x="731519" y="2953453"/>
            <a:ext cx="8241030" cy="1107996"/>
          </a:xfrm>
          <a:prstGeom prst="rect">
            <a:avLst/>
          </a:prstGeom>
          <a:noFill/>
        </p:spPr>
        <p:txBody>
          <a:bodyPr wrap="square" lIns="0" rtlCol="0">
            <a:noAutofit/>
          </a:bodyPr>
          <a:lstStyle/>
          <a:p>
            <a:r>
              <a:rPr lang="en-US" sz="5760" dirty="0">
                <a:solidFill>
                  <a:schemeClr val="tx1"/>
                </a:solidFill>
                <a:latin typeface="+mj-lt"/>
              </a:rPr>
              <a:t>Thank you!</a:t>
            </a:r>
          </a:p>
        </p:txBody>
      </p:sp>
      <p:pic>
        <p:nvPicPr>
          <p:cNvPr id="18" name="Picture 17">
            <a:extLst>
              <a:ext uri="{FF2B5EF4-FFF2-40B4-BE49-F238E27FC236}">
                <a16:creationId xmlns:a16="http://schemas.microsoft.com/office/drawing/2014/main" id="{742C9EB4-F1AF-4D5B-B797-12A017CD00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0723" y="844588"/>
            <a:ext cx="1203808" cy="720227"/>
          </a:xfrm>
          <a:prstGeom prst="rect">
            <a:avLst/>
          </a:prstGeom>
        </p:spPr>
      </p:pic>
      <p:sp>
        <p:nvSpPr>
          <p:cNvPr id="20" name="Text Placeholder 7">
            <a:extLst>
              <a:ext uri="{FF2B5EF4-FFF2-40B4-BE49-F238E27FC236}">
                <a16:creationId xmlns:a16="http://schemas.microsoft.com/office/drawing/2014/main" id="{9070AF26-7CD2-427C-AA91-5007610CFA2B}"/>
              </a:ext>
            </a:extLst>
          </p:cNvPr>
          <p:cNvSpPr>
            <a:spLocks noGrp="1"/>
          </p:cNvSpPr>
          <p:nvPr>
            <p:ph type="body" sz="quarter" idx="10" hasCustomPrompt="1"/>
          </p:nvPr>
        </p:nvSpPr>
        <p:spPr>
          <a:xfrm>
            <a:off x="742949" y="4364438"/>
            <a:ext cx="2377441" cy="424732"/>
          </a:xfrm>
        </p:spPr>
        <p:txBody>
          <a:bodyPr anchor="b" anchorCtr="0"/>
          <a:lstStyle>
            <a:lvl1pPr marL="0" indent="0">
              <a:buNone/>
              <a:defRPr sz="2400"/>
            </a:lvl1pPr>
          </a:lstStyle>
          <a:p>
            <a:pPr lvl="0"/>
            <a:r>
              <a:rPr lang="en-US" dirty="0"/>
              <a:t>Speaker name</a:t>
            </a:r>
          </a:p>
        </p:txBody>
      </p:sp>
      <p:sp>
        <p:nvSpPr>
          <p:cNvPr id="21" name="Text Placeholder 9">
            <a:extLst>
              <a:ext uri="{FF2B5EF4-FFF2-40B4-BE49-F238E27FC236}">
                <a16:creationId xmlns:a16="http://schemas.microsoft.com/office/drawing/2014/main" id="{2C7F58AC-B161-4FBE-9FD6-B35E51E34568}"/>
              </a:ext>
            </a:extLst>
          </p:cNvPr>
          <p:cNvSpPr>
            <a:spLocks noGrp="1"/>
          </p:cNvSpPr>
          <p:nvPr>
            <p:ph type="body" sz="quarter" idx="11" hasCustomPrompt="1"/>
          </p:nvPr>
        </p:nvSpPr>
        <p:spPr>
          <a:xfrm>
            <a:off x="742949" y="4789170"/>
            <a:ext cx="2377441" cy="624145"/>
          </a:xfrm>
        </p:spPr>
        <p:txBody>
          <a:bodyPr/>
          <a:lstStyle>
            <a:lvl1pPr marL="0" indent="0">
              <a:spcAft>
                <a:spcPts val="720"/>
              </a:spcAft>
              <a:buNone/>
              <a:defRPr sz="1920"/>
            </a:lvl1pPr>
          </a:lstStyle>
          <a:p>
            <a:pPr lvl="0"/>
            <a:r>
              <a:rPr lang="en-US" dirty="0"/>
              <a:t>Speaker contact info (email or socials)</a:t>
            </a:r>
          </a:p>
        </p:txBody>
      </p:sp>
      <p:sp>
        <p:nvSpPr>
          <p:cNvPr id="22" name="Text Placeholder 7">
            <a:extLst>
              <a:ext uri="{FF2B5EF4-FFF2-40B4-BE49-F238E27FC236}">
                <a16:creationId xmlns:a16="http://schemas.microsoft.com/office/drawing/2014/main" id="{F1CD2A80-C504-434F-936F-3B2B1AFCEFD2}"/>
              </a:ext>
            </a:extLst>
          </p:cNvPr>
          <p:cNvSpPr>
            <a:spLocks noGrp="1"/>
          </p:cNvSpPr>
          <p:nvPr>
            <p:ph type="body" sz="quarter" idx="12" hasCustomPrompt="1"/>
          </p:nvPr>
        </p:nvSpPr>
        <p:spPr>
          <a:xfrm>
            <a:off x="3303270" y="4364438"/>
            <a:ext cx="2377441" cy="424732"/>
          </a:xfrm>
        </p:spPr>
        <p:txBody>
          <a:bodyPr anchor="b" anchorCtr="0"/>
          <a:lstStyle>
            <a:lvl1pPr marL="0" indent="0">
              <a:buNone/>
              <a:defRPr sz="2400"/>
            </a:lvl1pPr>
          </a:lstStyle>
          <a:p>
            <a:pPr lvl="0"/>
            <a:r>
              <a:rPr lang="en-US" dirty="0"/>
              <a:t>Speaker name</a:t>
            </a:r>
          </a:p>
        </p:txBody>
      </p:sp>
      <p:sp>
        <p:nvSpPr>
          <p:cNvPr id="23" name="Text Placeholder 9">
            <a:extLst>
              <a:ext uri="{FF2B5EF4-FFF2-40B4-BE49-F238E27FC236}">
                <a16:creationId xmlns:a16="http://schemas.microsoft.com/office/drawing/2014/main" id="{47C96C28-DBE7-41AE-B2A4-8E50C128D8D9}"/>
              </a:ext>
            </a:extLst>
          </p:cNvPr>
          <p:cNvSpPr>
            <a:spLocks noGrp="1"/>
          </p:cNvSpPr>
          <p:nvPr>
            <p:ph type="body" sz="quarter" idx="13" hasCustomPrompt="1"/>
          </p:nvPr>
        </p:nvSpPr>
        <p:spPr>
          <a:xfrm>
            <a:off x="3303270" y="4789170"/>
            <a:ext cx="2377441" cy="624145"/>
          </a:xfrm>
        </p:spPr>
        <p:txBody>
          <a:bodyPr/>
          <a:lstStyle>
            <a:lvl1pPr marL="0" indent="0">
              <a:spcAft>
                <a:spcPts val="720"/>
              </a:spcAft>
              <a:buNone/>
              <a:defRPr sz="1920"/>
            </a:lvl1pPr>
          </a:lstStyle>
          <a:p>
            <a:pPr lvl="0"/>
            <a:r>
              <a:rPr lang="en-US" dirty="0"/>
              <a:t>Speaker contact info (email or socials)</a:t>
            </a:r>
          </a:p>
        </p:txBody>
      </p:sp>
      <p:sp>
        <p:nvSpPr>
          <p:cNvPr id="24" name="Text Placeholder 7">
            <a:extLst>
              <a:ext uri="{FF2B5EF4-FFF2-40B4-BE49-F238E27FC236}">
                <a16:creationId xmlns:a16="http://schemas.microsoft.com/office/drawing/2014/main" id="{AE9D8EDA-E4CA-4B74-9177-7D67910B1738}"/>
              </a:ext>
            </a:extLst>
          </p:cNvPr>
          <p:cNvSpPr>
            <a:spLocks noGrp="1"/>
          </p:cNvSpPr>
          <p:nvPr>
            <p:ph type="body" sz="quarter" idx="14" hasCustomPrompt="1"/>
          </p:nvPr>
        </p:nvSpPr>
        <p:spPr>
          <a:xfrm>
            <a:off x="5863590" y="4364438"/>
            <a:ext cx="2377441" cy="424732"/>
          </a:xfrm>
        </p:spPr>
        <p:txBody>
          <a:bodyPr anchor="b" anchorCtr="0"/>
          <a:lstStyle>
            <a:lvl1pPr marL="0" indent="0">
              <a:buNone/>
              <a:defRPr sz="2400"/>
            </a:lvl1pPr>
          </a:lstStyle>
          <a:p>
            <a:pPr lvl="0"/>
            <a:r>
              <a:rPr lang="en-US" dirty="0"/>
              <a:t>Speaker name</a:t>
            </a:r>
          </a:p>
        </p:txBody>
      </p:sp>
      <p:sp>
        <p:nvSpPr>
          <p:cNvPr id="25" name="Text Placeholder 9">
            <a:extLst>
              <a:ext uri="{FF2B5EF4-FFF2-40B4-BE49-F238E27FC236}">
                <a16:creationId xmlns:a16="http://schemas.microsoft.com/office/drawing/2014/main" id="{B45939A9-6CA0-455E-9033-788F15899CEB}"/>
              </a:ext>
            </a:extLst>
          </p:cNvPr>
          <p:cNvSpPr>
            <a:spLocks noGrp="1"/>
          </p:cNvSpPr>
          <p:nvPr>
            <p:ph type="body" sz="quarter" idx="15" hasCustomPrompt="1"/>
          </p:nvPr>
        </p:nvSpPr>
        <p:spPr>
          <a:xfrm>
            <a:off x="5863590" y="4789170"/>
            <a:ext cx="2377441" cy="624145"/>
          </a:xfrm>
        </p:spPr>
        <p:txBody>
          <a:bodyPr/>
          <a:lstStyle>
            <a:lvl1pPr marL="0" indent="0">
              <a:spcAft>
                <a:spcPts val="720"/>
              </a:spcAft>
              <a:buNone/>
              <a:defRPr sz="1920"/>
            </a:lvl1pPr>
          </a:lstStyle>
          <a:p>
            <a:pPr lvl="0"/>
            <a:r>
              <a:rPr lang="en-US" dirty="0"/>
              <a:t>Speaker contact info (email or socials)</a:t>
            </a:r>
          </a:p>
        </p:txBody>
      </p:sp>
      <p:sp>
        <p:nvSpPr>
          <p:cNvPr id="12" name="TextBox 11">
            <a:extLst>
              <a:ext uri="{FF2B5EF4-FFF2-40B4-BE49-F238E27FC236}">
                <a16:creationId xmlns:a16="http://schemas.microsoft.com/office/drawing/2014/main" id="{AA78BB98-DB57-6243-8C6E-FEF0FC8E56F8}"/>
              </a:ext>
            </a:extLst>
          </p:cNvPr>
          <p:cNvSpPr txBox="1"/>
          <p:nvPr userDrawn="1"/>
        </p:nvSpPr>
        <p:spPr>
          <a:xfrm>
            <a:off x="737004" y="7667776"/>
            <a:ext cx="2324675" cy="203133"/>
          </a:xfrm>
          <a:prstGeom prst="rect">
            <a:avLst/>
          </a:prstGeom>
          <a:noFill/>
        </p:spPr>
        <p:txBody>
          <a:bodyPr wrap="none" rtlCol="0">
            <a:spAutoFit/>
          </a:bodyPr>
          <a:lstStyle/>
          <a:p>
            <a:pPr algn="ctr"/>
            <a:r>
              <a:rPr lang="en-US" sz="720" dirty="0">
                <a:solidFill>
                  <a:schemeClr val="tx2"/>
                </a:solidFill>
              </a:rPr>
              <a:t>© 2026, Amazon Web Services, Inc. or its affiliates.</a:t>
            </a:r>
          </a:p>
        </p:txBody>
      </p:sp>
    </p:spTree>
    <p:extLst>
      <p:ext uri="{BB962C8B-B14F-4D97-AF65-F5344CB8AC3E}">
        <p14:creationId xmlns:p14="http://schemas.microsoft.com/office/powerpoint/2010/main" val="100519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4183380" y="3014845"/>
            <a:ext cx="8823960" cy="2169568"/>
          </a:xfrm>
          <a:prstGeom prst="rect">
            <a:avLst/>
          </a:prstGeom>
          <a:noFill/>
        </p:spPr>
        <p:txBody>
          <a:bodyPr wrap="square" rtlCol="0">
            <a:spAutoFit/>
          </a:bodyPr>
          <a:lstStyle/>
          <a:p>
            <a:pPr algn="l">
              <a:lnSpc>
                <a:spcPct val="80000"/>
              </a:lnSpc>
            </a:pPr>
            <a:r>
              <a:rPr lang="en-US" sz="7200" dirty="0">
                <a:latin typeface="+mj-lt"/>
              </a:rPr>
              <a:t>Do not use layouts after this slide.</a:t>
            </a:r>
            <a:br>
              <a:rPr lang="en-US" sz="7200" dirty="0">
                <a:latin typeface="+mj-lt"/>
              </a:rPr>
            </a:br>
            <a:r>
              <a:rPr lang="en-US" sz="2400" dirty="0">
                <a:latin typeface="+mj-lt"/>
              </a:rPr>
              <a:t>They are not part of the official template.</a:t>
            </a:r>
            <a:endParaRPr lang="en-US" sz="72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700" y="2537459"/>
            <a:ext cx="3154680" cy="3154680"/>
          </a:xfrm>
          <a:prstGeom prst="rect">
            <a:avLst/>
          </a:prstGeom>
        </p:spPr>
      </p:pic>
      <p:sp>
        <p:nvSpPr>
          <p:cNvPr id="8" name="Rectangle 7">
            <a:extLst>
              <a:ext uri="{FF2B5EF4-FFF2-40B4-BE49-F238E27FC236}">
                <a16:creationId xmlns:a16="http://schemas.microsoft.com/office/drawing/2014/main" id="{A56A91D7-A142-41A9-9775-90FA8A0EC8F4}"/>
              </a:ext>
            </a:extLst>
          </p:cNvPr>
          <p:cNvSpPr/>
          <p:nvPr userDrawn="1"/>
        </p:nvSpPr>
        <p:spPr>
          <a:xfrm>
            <a:off x="457199" y="7604760"/>
            <a:ext cx="5932170" cy="6248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dirty="0"/>
          </a:p>
        </p:txBody>
      </p:sp>
      <p:sp>
        <p:nvSpPr>
          <p:cNvPr id="5" name="Rectangle 4">
            <a:extLst>
              <a:ext uri="{FF2B5EF4-FFF2-40B4-BE49-F238E27FC236}">
                <a16:creationId xmlns:a16="http://schemas.microsoft.com/office/drawing/2014/main" id="{F4A252AA-410C-4410-AE45-9D483892FCD8}"/>
              </a:ext>
            </a:extLst>
          </p:cNvPr>
          <p:cNvSpPr/>
          <p:nvPr userDrawn="1"/>
        </p:nvSpPr>
        <p:spPr>
          <a:xfrm>
            <a:off x="457199" y="196466"/>
            <a:ext cx="5932170" cy="6248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dirty="0"/>
          </a:p>
        </p:txBody>
      </p:sp>
    </p:spTree>
    <p:extLst>
      <p:ext uri="{BB962C8B-B14F-4D97-AF65-F5344CB8AC3E}">
        <p14:creationId xmlns:p14="http://schemas.microsoft.com/office/powerpoint/2010/main" val="148495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2519660" cy="642637"/>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2608330"/>
          </a:xfrm>
          <a:prstGeom prst="rect">
            <a:avLst/>
          </a:prstGeom>
        </p:spPr>
        <p:txBody>
          <a:bodyPr/>
          <a:lstStyle>
            <a:lvl5pPr>
              <a:defRPr sz="1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2905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1" y="183898"/>
            <a:ext cx="12583160" cy="873186"/>
          </a:xfrm>
        </p:spPr>
        <p:txBody>
          <a:bodyPr>
            <a:normAutofit/>
          </a:bodyPr>
          <a:lstStyle>
            <a:lvl1pPr>
              <a:defRPr sz="38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1"/>
            <a:ext cx="6400800" cy="576157"/>
          </a:xfrm>
          <a:prstGeom prst="rect">
            <a:avLst/>
          </a:prstGeom>
        </p:spPr>
        <p:txBody>
          <a:bodyPr/>
          <a:lstStyle/>
          <a:p>
            <a:r>
              <a:rPr lang="en-US" dirty="0"/>
              <a:t>Click icon to add picture</a:t>
            </a:r>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2"/>
            <a:ext cx="6400800" cy="4642553"/>
          </a:xfrm>
          <a:prstGeom prst="rect">
            <a:avLst/>
          </a:prstGeom>
        </p:spPr>
        <p:txBody>
          <a:bodyPr/>
          <a:lstStyle>
            <a:lvl1pPr marL="0" marR="0" indent="0" algn="l" defTabSz="731491"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491"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491"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491"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491"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491"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491"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40126150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2" y="-4548147"/>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6" name="TextBox 5"/>
          <p:cNvSpPr txBox="1"/>
          <p:nvPr userDrawn="1"/>
        </p:nvSpPr>
        <p:spPr>
          <a:xfrm>
            <a:off x="11897960" y="9767943"/>
            <a:ext cx="184731" cy="801438"/>
          </a:xfrm>
          <a:prstGeom prst="rect">
            <a:avLst/>
          </a:prstGeom>
          <a:noFill/>
        </p:spPr>
        <p:txBody>
          <a:bodyPr wrap="none" rtlCol="0">
            <a:spAutoFit/>
          </a:bodyPr>
          <a:lstStyle/>
          <a:p>
            <a:endParaRPr lang="en-US" sz="4608" dirty="0"/>
          </a:p>
        </p:txBody>
      </p:sp>
      <p:pic>
        <p:nvPicPr>
          <p:cNvPr id="8" name="Picture 7">
            <a:extLst>
              <a:ext uri="{FF2B5EF4-FFF2-40B4-BE49-F238E27FC236}">
                <a16:creationId xmlns:a16="http://schemas.microsoft.com/office/drawing/2014/main" id="{ED771130-A3F1-D24E-A5F9-FD45DA62A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50241" y="7531058"/>
            <a:ext cx="709381" cy="424102"/>
          </a:xfrm>
          <a:prstGeom prst="rect">
            <a:avLst/>
          </a:prstGeom>
        </p:spPr>
      </p:pic>
      <p:sp>
        <p:nvSpPr>
          <p:cNvPr id="7" name="TextBox 6">
            <a:extLst>
              <a:ext uri="{FF2B5EF4-FFF2-40B4-BE49-F238E27FC236}">
                <a16:creationId xmlns:a16="http://schemas.microsoft.com/office/drawing/2014/main" id="{ACF59969-BB76-0545-A5CB-3D34504EB147}"/>
              </a:ext>
            </a:extLst>
          </p:cNvPr>
          <p:cNvSpPr txBox="1"/>
          <p:nvPr userDrawn="1"/>
        </p:nvSpPr>
        <p:spPr>
          <a:xfrm>
            <a:off x="538864" y="7695477"/>
            <a:ext cx="7115490" cy="172355"/>
          </a:xfrm>
          <a:prstGeom prst="rect">
            <a:avLst/>
          </a:prstGeom>
          <a:noFill/>
        </p:spPr>
        <p:txBody>
          <a:bodyPr wrap="square" lIns="0" tIns="0" rIns="0" bIns="0" rtlCol="0">
            <a:spAutoFit/>
          </a:bodyPr>
          <a:lstStyle/>
          <a:p>
            <a:pPr marL="0" marR="0" indent="0" algn="l" defTabSz="731491"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2026, Amazon Web Services, Inc. or its affiliates. All rights reserved.</a:t>
            </a:r>
          </a:p>
        </p:txBody>
      </p:sp>
    </p:spTree>
    <p:extLst>
      <p:ext uri="{BB962C8B-B14F-4D97-AF65-F5344CB8AC3E}">
        <p14:creationId xmlns:p14="http://schemas.microsoft.com/office/powerpoint/2010/main" val="314227051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p>
            <a:r>
              <a:rPr lang="en-US"/>
              <a:t>Click to edit Master title style</a:t>
            </a:r>
            <a:endParaRPr lang="en-US" dirty="0"/>
          </a:p>
        </p:txBody>
      </p:sp>
      <p:sp>
        <p:nvSpPr>
          <p:cNvPr id="3" name="TextBox 2">
            <a:extLst>
              <a:ext uri="{FF2B5EF4-FFF2-40B4-BE49-F238E27FC236}">
                <a16:creationId xmlns:a16="http://schemas.microsoft.com/office/drawing/2014/main" id="{A8CBDCF0-0860-5B44-BAD8-F7882326395A}"/>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2026, </a:t>
            </a: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Amazon Web Services, Inc. or its affiliates. All rights reserved.</a:t>
            </a:r>
          </a:p>
        </p:txBody>
      </p:sp>
      <p:pic>
        <p:nvPicPr>
          <p:cNvPr id="4" name="Picture 3">
            <a:extLst>
              <a:ext uri="{FF2B5EF4-FFF2-40B4-BE49-F238E27FC236}">
                <a16:creationId xmlns:a16="http://schemas.microsoft.com/office/drawing/2014/main" id="{D4141151-DCC5-054A-96C2-2C89DE6B33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254724044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2557760" cy="873186"/>
          </a:xfrm>
        </p:spPr>
        <p:txBody>
          <a:bodyPr>
            <a:normAutofit/>
          </a:bodyPr>
          <a:lstStyle>
            <a:lvl1pPr>
              <a:defRPr sz="38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2621280"/>
          </a:xfrm>
          <a:prstGeom prst="rect">
            <a:avLst/>
          </a:prstGeom>
        </p:spPr>
        <p:txBody>
          <a:bodyPr/>
          <a:lstStyle>
            <a:lvl5pPr>
              <a:defRPr sz="1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2621280"/>
          </a:xfrm>
          <a:prstGeom prst="rect">
            <a:avLst/>
          </a:prstGeom>
        </p:spPr>
        <p:txBody>
          <a:bodyPr/>
          <a:lstStyle>
            <a:lvl5pPr>
              <a:defRPr sz="1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a:extLst>
              <a:ext uri="{FF2B5EF4-FFF2-40B4-BE49-F238E27FC236}">
                <a16:creationId xmlns:a16="http://schemas.microsoft.com/office/drawing/2014/main" id="{1A1025BD-66EE-CB47-95FB-71C600437B3F}"/>
              </a:ext>
            </a:extLst>
          </p:cNvPr>
          <p:cNvSpPr>
            <a:spLocks noGrp="1"/>
          </p:cNvSpPr>
          <p:nvPr>
            <p:ph type="body" sz="quarter" idx="12"/>
          </p:nvPr>
        </p:nvSpPr>
        <p:spPr>
          <a:xfrm>
            <a:off x="7658100" y="4469803"/>
            <a:ext cx="6400800" cy="2621280"/>
          </a:xfrm>
          <a:prstGeom prst="rect">
            <a:avLst/>
          </a:prstGeom>
        </p:spPr>
        <p:txBody>
          <a:bodyPr/>
          <a:lstStyle>
            <a:lvl5pPr>
              <a:defRPr sz="1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3E770ECF-1C09-6F4C-BA98-A9B2C775B48B}"/>
              </a:ext>
            </a:extLst>
          </p:cNvPr>
          <p:cNvSpPr>
            <a:spLocks noGrp="1"/>
          </p:cNvSpPr>
          <p:nvPr>
            <p:ph type="body" sz="quarter" idx="13"/>
          </p:nvPr>
        </p:nvSpPr>
        <p:spPr>
          <a:xfrm>
            <a:off x="571500" y="4469803"/>
            <a:ext cx="6400800" cy="2621280"/>
          </a:xfrm>
          <a:prstGeom prst="rect">
            <a:avLst/>
          </a:prstGeom>
        </p:spPr>
        <p:txBody>
          <a:bodyPr/>
          <a:lstStyle>
            <a:lvl5pPr>
              <a:defRPr sz="1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4774934"/>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323850" y="347413"/>
            <a:ext cx="13982827" cy="1079598"/>
          </a:xfrm>
        </p:spPr>
        <p:txBody>
          <a:bodyPr lIns="182880" tIns="146304" rIns="182880" bIns="146304"/>
          <a:lstStyle/>
          <a:p>
            <a:r>
              <a:rPr lang="en-US"/>
              <a:t>Click to edit Master title style</a:t>
            </a:r>
            <a:endParaRPr lang="en-US" dirty="0"/>
          </a:p>
        </p:txBody>
      </p:sp>
    </p:spTree>
    <p:extLst>
      <p:ext uri="{BB962C8B-B14F-4D97-AF65-F5344CB8AC3E}">
        <p14:creationId xmlns:p14="http://schemas.microsoft.com/office/powerpoint/2010/main" val="65887755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Full_Image_Center">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26505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731520" y="1097282"/>
            <a:ext cx="13167360" cy="642637"/>
          </a:xfrm>
          <a:prstGeom prst="rect">
            <a:avLst/>
          </a:prstGeom>
        </p:spPr>
        <p:txBody>
          <a:bodyPr vert="horz" wrap="square" lIns="0" tIns="45720" rIns="0" bIns="4572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731520" y="2062780"/>
            <a:ext cx="13167360" cy="2644416"/>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1005840" y="8343901"/>
            <a:ext cx="3291840" cy="438150"/>
          </a:xfrm>
          <a:prstGeom prst="rect">
            <a:avLst/>
          </a:prstGeom>
        </p:spPr>
        <p:txBody>
          <a:bodyPr vert="horz" lIns="91440" tIns="45720" rIns="91440" bIns="45720" rtlCol="0" anchor="ctr"/>
          <a:lstStyle>
            <a:lvl1pPr algn="l">
              <a:defRPr sz="1080">
                <a:solidFill>
                  <a:schemeClr val="tx1">
                    <a:tint val="75000"/>
                  </a:schemeClr>
                </a:solidFill>
              </a:defRPr>
            </a:lvl1pPr>
          </a:lstStyle>
          <a:p>
            <a:fld id="{915C29CE-3041-7140-9BA9-DCB3249F163A}" type="datetime1">
              <a:rPr lang="en-US" smtClean="0"/>
              <a:t>2/1/24</a:t>
            </a:fld>
            <a:endParaRPr lang="en-US" dirty="0"/>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846320" y="8343901"/>
            <a:ext cx="4937760" cy="438150"/>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10715040" y="7547401"/>
            <a:ext cx="3291840"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EB4B8DE2-A4E8-46E4-8BBF-D75455EFF32C}" type="slidenum">
              <a:rPr lang="en-US" smtClean="0"/>
              <a:pPr/>
              <a:t>‹#›</a:t>
            </a:fld>
            <a:endParaRPr lang="en-US" dirty="0"/>
          </a:p>
        </p:txBody>
      </p:sp>
      <p:pic>
        <p:nvPicPr>
          <p:cNvPr id="8" name="Picture 7">
            <a:extLst>
              <a:ext uri="{FF2B5EF4-FFF2-40B4-BE49-F238E27FC236}">
                <a16:creationId xmlns:a16="http://schemas.microsoft.com/office/drawing/2014/main" id="{DCD4F7D2-009A-40A3-9C6D-5D576E0365C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13233" y="7602107"/>
            <a:ext cx="418592" cy="250440"/>
          </a:xfrm>
          <a:prstGeom prst="rect">
            <a:avLst/>
          </a:prstGeom>
        </p:spPr>
      </p:pic>
      <p:sp>
        <p:nvSpPr>
          <p:cNvPr id="11" name="TextBox 10">
            <a:extLst>
              <a:ext uri="{FF2B5EF4-FFF2-40B4-BE49-F238E27FC236}">
                <a16:creationId xmlns:a16="http://schemas.microsoft.com/office/drawing/2014/main" id="{EEBF6604-AFFA-2144-84A8-B114434DA9D8}"/>
              </a:ext>
            </a:extLst>
          </p:cNvPr>
          <p:cNvSpPr txBox="1"/>
          <p:nvPr userDrawn="1"/>
        </p:nvSpPr>
        <p:spPr>
          <a:xfrm>
            <a:off x="6152864" y="7667776"/>
            <a:ext cx="2324675" cy="203133"/>
          </a:xfrm>
          <a:prstGeom prst="rect">
            <a:avLst/>
          </a:prstGeom>
          <a:noFill/>
        </p:spPr>
        <p:txBody>
          <a:bodyPr wrap="none" rtlCol="0">
            <a:spAutoFit/>
          </a:bodyPr>
          <a:lstStyle/>
          <a:p>
            <a:pPr algn="ctr"/>
            <a:r>
              <a:rPr lang="en-US" sz="720" dirty="0"/>
              <a:t>© 2026, Amazon Web Services, Inc. or its affiliates.</a:t>
            </a:r>
          </a:p>
        </p:txBody>
      </p:sp>
    </p:spTree>
    <p:extLst>
      <p:ext uri="{BB962C8B-B14F-4D97-AF65-F5344CB8AC3E}">
        <p14:creationId xmlns:p14="http://schemas.microsoft.com/office/powerpoint/2010/main" val="2324025315"/>
      </p:ext>
    </p:extLst>
  </p:cSld>
  <p:clrMap bg1="dk1" tx1="lt1" bg2="dk2" tx2="lt2" accent1="accent1" accent2="accent2" accent3="accent3" accent4="accent4" accent5="accent5" accent6="accent6" hlink="hlink" folHlink="folHlink"/>
  <p:sldLayoutIdLst>
    <p:sldLayoutId id="2147483825" r:id="rId1"/>
    <p:sldLayoutId id="2147483827" r:id="rId2"/>
    <p:sldLayoutId id="2147483834" r:id="rId3"/>
    <p:sldLayoutId id="2147483837" r:id="rId4"/>
    <p:sldLayoutId id="2147483838" r:id="rId5"/>
    <p:sldLayoutId id="2147483856" r:id="rId6"/>
    <p:sldLayoutId id="2147483870" r:id="rId7"/>
    <p:sldLayoutId id="2147483880" r:id="rId8"/>
    <p:sldLayoutId id="2147483881" r:id="rId9"/>
    <p:sldLayoutId id="2147483883" r:id="rId10"/>
    <p:sldLayoutId id="2147483884" r:id="rId11"/>
    <p:sldLayoutId id="2147483885" r:id="rId12"/>
    <p:sldLayoutId id="2147483886" r:id="rId13"/>
    <p:sldLayoutId id="2147483887" r:id="rId14"/>
    <p:sldLayoutId id="2147483888"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97280" rtl="0" eaLnBrk="1" latinLnBrk="0" hangingPunct="1">
        <a:lnSpc>
          <a:spcPct val="90000"/>
        </a:lnSpc>
        <a:spcBef>
          <a:spcPct val="0"/>
        </a:spcBef>
        <a:buNone/>
        <a:defRPr sz="3840" b="1" i="0" kern="1200" baseline="0">
          <a:solidFill>
            <a:schemeClr val="tx1"/>
          </a:solidFill>
          <a:latin typeface="Amazon Ember Display" panose="020F0603020204020204" pitchFamily="34" charset="0"/>
          <a:ea typeface="+mj-ea"/>
          <a:cs typeface="+mj-cs"/>
        </a:defRPr>
      </a:lvl1pPr>
    </p:titleStyle>
    <p:bodyStyle>
      <a:lvl1pPr marL="274320" indent="-274320" algn="l" defTabSz="1097280" rtl="0" eaLnBrk="1" latinLnBrk="0" hangingPunct="1">
        <a:lnSpc>
          <a:spcPct val="90000"/>
        </a:lnSpc>
        <a:spcBef>
          <a:spcPts val="0"/>
        </a:spcBef>
        <a:spcAft>
          <a:spcPts val="1440"/>
        </a:spcAft>
        <a:buSzPct val="90000"/>
        <a:buFont typeface="Arial" panose="020B0604020202020204" pitchFamily="34" charset="0"/>
        <a:buChar char="•"/>
        <a:defRPr sz="3360" kern="1200" baseline="0">
          <a:solidFill>
            <a:schemeClr val="tx1"/>
          </a:solidFill>
          <a:latin typeface="Amazon Ember Display" panose="020F0603020204020204" pitchFamily="34" charset="0"/>
          <a:ea typeface="+mn-ea"/>
          <a:cs typeface="+mn-cs"/>
        </a:defRPr>
      </a:lvl1pPr>
      <a:lvl2pPr marL="617220" indent="-274320" algn="l" defTabSz="1097280" rtl="0" eaLnBrk="1" latinLnBrk="0" hangingPunct="1">
        <a:lnSpc>
          <a:spcPct val="90000"/>
        </a:lnSpc>
        <a:spcBef>
          <a:spcPts val="0"/>
        </a:spcBef>
        <a:spcAft>
          <a:spcPts val="1440"/>
        </a:spcAft>
        <a:buSzPct val="90000"/>
        <a:buFont typeface="Wingdings" panose="05000000000000000000" pitchFamily="2" charset="2"/>
        <a:buChar char="§"/>
        <a:defRPr sz="2880" kern="1200" baseline="0">
          <a:solidFill>
            <a:schemeClr val="tx1"/>
          </a:solidFill>
          <a:latin typeface="Amazon Ember Display" panose="020F0603020204020204" pitchFamily="34" charset="0"/>
          <a:ea typeface="+mn-ea"/>
          <a:cs typeface="+mn-cs"/>
        </a:defRPr>
      </a:lvl2pPr>
      <a:lvl3pPr marL="1028700" indent="-274320" algn="l" defTabSz="1097280" rtl="0" eaLnBrk="1" latinLnBrk="0" hangingPunct="1">
        <a:lnSpc>
          <a:spcPct val="90000"/>
        </a:lnSpc>
        <a:spcBef>
          <a:spcPts val="0"/>
        </a:spcBef>
        <a:spcAft>
          <a:spcPts val="1440"/>
        </a:spcAft>
        <a:buFont typeface="Amazon Ember" panose="020B0603020204020204" pitchFamily="34" charset="0"/>
        <a:buChar char="–"/>
        <a:defRPr sz="2400" kern="1200" baseline="0">
          <a:solidFill>
            <a:schemeClr val="tx1"/>
          </a:solidFill>
          <a:latin typeface="Amazon Ember Display" panose="020F0603020204020204" pitchFamily="34" charset="0"/>
          <a:ea typeface="+mn-ea"/>
          <a:cs typeface="+mn-cs"/>
        </a:defRPr>
      </a:lvl3pPr>
      <a:lvl4pPr marL="123634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4pPr>
      <a:lvl5pPr marL="144208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4.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chart" Target="../charts/char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chart" Target="../charts/char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chart" Target="../charts/char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chart" Target="../charts/chart13.xml"/><Relationship Id="rId6" Type="http://schemas.openxmlformats.org/officeDocument/2006/relationships/chart" Target="../charts/chart14.xml"/><Relationship Id="rId7" Type="http://schemas.openxmlformats.org/officeDocument/2006/relationships/chart" Target="../charts/chart15.xml"/><Relationship Id="rId8" Type="http://schemas.openxmlformats.org/officeDocument/2006/relationships/chart" Target="../charts/chart16.xml"/><Relationship Id="rId9" Type="http://schemas.openxmlformats.org/officeDocument/2006/relationships/chart" Target="../charts/chart17.xml"/><Relationship Id="rId10" Type="http://schemas.openxmlformats.org/officeDocument/2006/relationships/chart" Target="../charts/char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chart" Target="../charts/chart19.xml"/><Relationship Id="rId6" Type="http://schemas.openxmlformats.org/officeDocument/2006/relationships/chart" Target="../charts/char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6.png"/><Relationship Id="rId3" Type="http://schemas.openxmlformats.org/officeDocument/2006/relationships/image" Target="../media/image1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0.emf"/><Relationship Id="rId4" Type="http://schemas.openxmlformats.org/officeDocument/2006/relationships/image" Target="../media/image21.emf"/><Relationship Id="rId5" Type="http://schemas.openxmlformats.org/officeDocument/2006/relationships/image" Target="../media/image22.emf"/><Relationship Id="rId6" Type="http://schemas.openxmlformats.org/officeDocument/2006/relationships/image" Target="../media/image23.emf"/><Relationship Id="rId7" Type="http://schemas.openxmlformats.org/officeDocument/2006/relationships/image" Target="../media/image2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8.svg"/><Relationship Id="rId5" Type="http://schemas.openxmlformats.org/officeDocument/2006/relationships/image" Target="../media/image29.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svg"/><Relationship Id="rId5" Type="http://schemas.openxmlformats.org/officeDocument/2006/relationships/image" Target="../media/image29.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svg"/><Relationship Id="rId5" Type="http://schemas.openxmlformats.org/officeDocument/2006/relationships/image" Target="../media/image2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9.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hyperlink" Target="https://aws.amazon.com/prescriptive-guidance/large-migrations/?large-migration-strategies.sort-by=item.additionalFields.sortText&amp;large-migration-strategies.sort-order=desc" TargetMode="External"/><Relationship Id="rId4"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cost&amp;apg-all-cards.q_operator=AND" TargetMode="External"/><Relationship Id="rId5" Type="http://schemas.openxmlformats.org/officeDocument/2006/relationships/hyperlink" Target="https://aws.amazon.com/migration-evaluator/" TargetMode="External"/><Relationship Id="rId6"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organization&amp;apg-all-cards.q_operator=AND" TargetMode="External"/><Relationship Id="rId7" Type="http://schemas.openxmlformats.org/officeDocument/2006/relationships/hyperlink" Target="https://aws.amazon.com/training/classroom/aws-cloud-essentials-for-business-leaders/" TargetMode="External"/><Relationship Id="rId8"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eople&amp;apg-all-cards.q_operator=AND" TargetMode="External"/><Relationship Id="rId9" Type="http://schemas.openxmlformats.org/officeDocument/2006/relationships/hyperlink" Target="https://docs.aws.amazon.com/whitepapers/latest/public-sector-cloud-transformation/building-a-cloud-center-of-excellence-ccoe-to-transform-the-entire-enterprise.html" TargetMode="External"/><Relationship Id="rId10"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obilization&amp;apg-all-cards.q_operator=AND" TargetMode="External"/><Relationship Id="rId11" Type="http://schemas.openxmlformats.org/officeDocument/2006/relationships/hyperlink" Target="https://aws.amazon.com/training/teams/learning-needs-analysis/" TargetMode="External"/><Relationship Id="rId12"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landing%2Bzone&amp;apg-all-cards.q_operator=AND" TargetMode="External"/><Relationship Id="rId13" Type="http://schemas.openxmlformats.org/officeDocument/2006/relationships/hyperlink" Target="https://aws.amazon.com/solutions/implementations/customizations-for-aws-control-tower/" TargetMode="External"/><Relationship Id="rId14"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account%2Bsecurity&amp;apg-all-cards.q_operator=AND" TargetMode="External"/><Relationship Id="rId15" Type="http://schemas.openxmlformats.org/officeDocument/2006/relationships/hyperlink" Target="https://aws.amazon.com/security/" TargetMode="External"/><Relationship Id="rId16"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operating%2Bmodel&amp;apg-all-cards.q_operator=AND" TargetMode="External"/><Relationship Id="rId17" Type="http://schemas.openxmlformats.org/officeDocument/2006/relationships/hyperlink" Target="https://aws.amazon.com/managed-services/" TargetMode="External"/><Relationship Id="rId18"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ortfolio%2Bdiscovery&amp;apg-all-cards.q_operator=AND" TargetMode="External"/><Relationship Id="rId19" Type="http://schemas.openxmlformats.org/officeDocument/2006/relationships/hyperlink" Target="https://aws.amazon.com/application-discovery/" TargetMode="External"/><Relationship Id="rId20"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artner&amp;apg-all-cards.q_operator=AND&amp;awsm.page-apg-all-cards=2" TargetMode="External"/><Relationship Id="rId21" Type="http://schemas.openxmlformats.org/officeDocument/2006/relationships/hyperlink" Target="https://aws.amazon.com/partners/featured/migration/" TargetMode="External"/><Relationship Id="rId22"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igrate&amp;apg-all-cards.q_operator=AND&amp;awsm.page-apg-all-cards=1" TargetMode="External"/><Relationship Id="rId23"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odernize&amp;apg-all-cards.q_operator=AND&amp;awsm.page-apg-all-cards=1" TargetMode="External"/><Relationship Id="rId24" Type="http://schemas.openxmlformats.org/officeDocument/2006/relationships/hyperlink" Target="https://aws.amazon.com/enterprise/modernization/" TargetMode="External"/><Relationship Id="rId25" Type="http://schemas.openxmlformats.org/officeDocument/2006/relationships/hyperlink" Target="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roject%2Bgovernance&amp;apg-all-cards.q_operator=AND&amp;awsm.page-apg-all-cards=1" TargetMode="External"/><Relationship Id="rId26" Type="http://schemas.openxmlformats.org/officeDocument/2006/relationships/hyperlink" Target="https://docs.aws.amazon.com/prescriptive-guidance/latest/large-migration-governance-playbook/task-project-management.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30.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chemeClr val="tx1"/>
                </a:solidFill>
              </a:rPr>
              <a:t>Guidance for using this deck</a:t>
            </a:r>
          </a:p>
        </p:txBody>
      </p:sp>
      <p:sp>
        <p:nvSpPr>
          <p:cNvPr id="7" name="Content Placeholder 6"/>
          <p:cNvSpPr>
            <a:spLocks noGrp="1"/>
          </p:cNvSpPr>
          <p:nvPr>
            <p:ph type="body" sz="quarter" idx="10"/>
          </p:nvPr>
        </p:nvSpPr>
        <p:spPr>
          <a:xfrm>
            <a:off x="548640" y="955040"/>
            <a:ext cx="13510260" cy="6502400"/>
          </a:xfrm>
        </p:spPr>
        <p:txBody>
          <a:bodyPr/>
          <a:lstStyle/>
          <a:p>
            <a:pPr marL="274314" lvl="0" indent="-274314">
              <a:buFont typeface="Arial" panose="020B0604020202020204" pitchFamily="34" charset="0"/>
              <a:buChar char="•"/>
            </a:pPr>
            <a:r>
              <a:rPr lang="en-US" sz="1600" b="1" u="sng" dirty="0"/>
              <a:t>Target audience</a:t>
            </a:r>
            <a:r>
              <a:rPr lang="en-US" sz="1600" b="1" dirty="0"/>
              <a:t>: </a:t>
            </a:r>
            <a:r>
              <a:rPr lang="en-US" sz="1600" dirty="0"/>
              <a:t>CEO, CTO/Chief Architect, CIO, Managing Director, Business Unit Owners , Security Leader, Network Leader, App Dev Leader, Infrastructure Leader, Operations Leader </a:t>
            </a:r>
          </a:p>
          <a:p>
            <a:pPr marL="274314" indent="-274314">
              <a:buFont typeface="Arial" panose="020B0604020202020204" pitchFamily="34" charset="0"/>
              <a:buChar char="•"/>
            </a:pPr>
            <a:r>
              <a:rPr lang="en-US" sz="1600" b="1" u="sng" dirty="0"/>
              <a:t>Intended purpose</a:t>
            </a:r>
            <a:r>
              <a:rPr lang="en-US" sz="1600" b="1" dirty="0"/>
              <a:t>: R</a:t>
            </a:r>
            <a:r>
              <a:rPr lang="en-US" sz="1600" dirty="0"/>
              <a:t>eview</a:t>
            </a:r>
            <a:r>
              <a:rPr lang="en-US" sz="1600" b="1" dirty="0"/>
              <a:t> </a:t>
            </a:r>
            <a:r>
              <a:rPr lang="en-US" sz="1600" dirty="0"/>
              <a:t>MRA results, roadmap and proposal, agree on immediate next steps and appropriate accelerators. (Optional) Review</a:t>
            </a:r>
            <a:r>
              <a:rPr lang="en-US" sz="1600" b="1" dirty="0"/>
              <a:t> </a:t>
            </a:r>
            <a:r>
              <a:rPr lang="en-US" sz="1600" dirty="0"/>
              <a:t>TCO output (if available) taking into account customer confidentiality requirements.</a:t>
            </a:r>
          </a:p>
          <a:p>
            <a:pPr marL="274314" indent="-274314">
              <a:buFont typeface="Arial" panose="020B0604020202020204" pitchFamily="34" charset="0"/>
              <a:buChar char="•"/>
            </a:pPr>
            <a:r>
              <a:rPr lang="en-US" sz="1600" b="1" u="sng" dirty="0"/>
              <a:t>Desired outcome</a:t>
            </a:r>
            <a:r>
              <a:rPr lang="en-US" sz="1600" b="1" dirty="0"/>
              <a:t>: </a:t>
            </a:r>
          </a:p>
          <a:p>
            <a:pPr marL="1463034" lvl="1" indent="-274314">
              <a:buFont typeface="Arial" panose="020B0604020202020204" pitchFamily="34" charset="0"/>
              <a:buChar char="•"/>
            </a:pPr>
            <a:r>
              <a:rPr lang="en-US" sz="1600" dirty="0"/>
              <a:t>Cloud Adoption Framework (CAF) oriented roadmap of actions based on best practices and customer needs to build complete cloud foundations and active operational excellence in the cloud.</a:t>
            </a:r>
          </a:p>
          <a:p>
            <a:pPr marL="1463034" lvl="1" indent="-274314">
              <a:buFont typeface="Arial" panose="020B0604020202020204" pitchFamily="34" charset="0"/>
              <a:buChar char="•"/>
            </a:pPr>
            <a:r>
              <a:rPr lang="en-US" sz="1600" dirty="0"/>
              <a:t>Defined or ratified scope of cloud migration strategy and next steps in the cloud migration journey including activities related to the closure of the Assess phase.</a:t>
            </a:r>
          </a:p>
          <a:p>
            <a:pPr marL="1463034" lvl="1" indent="-274314">
              <a:buFont typeface="Arial" panose="020B0604020202020204" pitchFamily="34" charset="0"/>
              <a:buChar char="•"/>
            </a:pPr>
            <a:r>
              <a:rPr lang="en-US" sz="1600" dirty="0"/>
              <a:t>AWS ProServe scope of work, plan, and proposal to accelerate the next stage of the migration journey (Mobilize)</a:t>
            </a:r>
          </a:p>
          <a:p>
            <a:pPr marL="274314" indent="-274314">
              <a:buFont typeface="Arial" panose="020B0604020202020204" pitchFamily="34" charset="0"/>
              <a:buChar char="•"/>
            </a:pPr>
            <a:r>
              <a:rPr lang="en-US" sz="1600" b="1" u="sng" dirty="0"/>
              <a:t>Timing</a:t>
            </a:r>
            <a:r>
              <a:rPr lang="en-US" sz="1600" b="1" dirty="0"/>
              <a:t>: </a:t>
            </a:r>
            <a:r>
              <a:rPr lang="en-US" sz="1600" dirty="0"/>
              <a:t>60-90 minutes</a:t>
            </a:r>
          </a:p>
          <a:p>
            <a:pPr marL="274314" indent="-274314">
              <a:spcAft>
                <a:spcPts val="320"/>
              </a:spcAft>
              <a:buFont typeface="Arial" panose="020B0604020202020204" pitchFamily="34" charset="0"/>
              <a:buChar char="•"/>
            </a:pPr>
            <a:r>
              <a:rPr lang="en-US" sz="1600" b="1" u="sng" dirty="0"/>
              <a:t>Key messages</a:t>
            </a:r>
            <a:r>
              <a:rPr lang="en-US" sz="1600" b="1" dirty="0"/>
              <a:t>: </a:t>
            </a:r>
          </a:p>
          <a:p>
            <a:pPr marL="1463034" lvl="1" indent="-274314">
              <a:spcAft>
                <a:spcPts val="320"/>
              </a:spcAft>
              <a:buFont typeface="Arial" panose="020B0604020202020204" pitchFamily="34" charset="0"/>
              <a:buChar char="•"/>
            </a:pPr>
            <a:r>
              <a:rPr lang="en-US" sz="1600" dirty="0"/>
              <a:t>This session is not only focused on the results of Migration Readiness Assessment but also on identifying and agreeing on the next steps to keep the momentum and accelerate to the next stage of cloud migration or modernization journey.</a:t>
            </a:r>
            <a:endParaRPr lang="en-US" sz="1600" b="1" dirty="0"/>
          </a:p>
          <a:p>
            <a:pPr marL="274314" indent="-274314">
              <a:spcAft>
                <a:spcPts val="320"/>
              </a:spcAft>
              <a:buFont typeface="Arial" panose="020B0604020202020204" pitchFamily="34" charset="0"/>
              <a:buChar char="•"/>
            </a:pPr>
            <a:r>
              <a:rPr lang="en-US" sz="1600" b="1" u="sng" dirty="0"/>
              <a:t>Notes:</a:t>
            </a:r>
            <a:r>
              <a:rPr lang="en-US" sz="1600" b="1" dirty="0"/>
              <a:t> </a:t>
            </a:r>
          </a:p>
          <a:p>
            <a:pPr marL="1463034" lvl="1" indent="-274314">
              <a:spcAft>
                <a:spcPts val="320"/>
              </a:spcAft>
              <a:buFont typeface="Arial" panose="020B0604020202020204" pitchFamily="34" charset="0"/>
              <a:buChar char="•"/>
            </a:pPr>
            <a:r>
              <a:rPr lang="en-US" sz="1600" dirty="0"/>
              <a:t>This slide deck encompasses 2 presentations: </a:t>
            </a:r>
          </a:p>
          <a:p>
            <a:pPr marL="2103114" lvl="2" indent="-274314">
              <a:spcAft>
                <a:spcPts val="320"/>
              </a:spcAft>
              <a:buFont typeface="Arial" panose="020B0604020202020204" pitchFamily="34" charset="0"/>
              <a:buChar char="•"/>
            </a:pPr>
            <a:r>
              <a:rPr lang="en-US" sz="1300" dirty="0"/>
              <a:t>1) Migration Readiness Assessment (MRA) Workshop Summary – to be used at the end of the MRA event to do the same day playback with high level overview of the results; </a:t>
            </a:r>
          </a:p>
          <a:p>
            <a:pPr marL="2103114" lvl="2" indent="-274314">
              <a:spcAft>
                <a:spcPts val="320"/>
              </a:spcAft>
              <a:buFont typeface="Arial" panose="020B0604020202020204" pitchFamily="34" charset="0"/>
              <a:buChar char="•"/>
            </a:pPr>
            <a:r>
              <a:rPr lang="en-US" sz="1300" dirty="0"/>
              <a:t>2) Migration Readiness Assessment (MRA) Detailed Results Review – to be used preferably at the end of the MRA event as well (possibly post-workshop - for complex engagements) to conduct a complete review of the MRA results, roadmap, and proposal. </a:t>
            </a:r>
          </a:p>
          <a:p>
            <a:pPr marL="1463034" lvl="1" indent="-274314">
              <a:spcAft>
                <a:spcPts val="320"/>
              </a:spcAft>
              <a:buFont typeface="Arial" panose="020B0604020202020204" pitchFamily="34" charset="0"/>
              <a:buChar char="•"/>
            </a:pPr>
            <a:r>
              <a:rPr lang="en-US" sz="2000" b="1" dirty="0"/>
              <a:t>Please pay close attention to slides with </a:t>
            </a:r>
            <a:r>
              <a:rPr lang="en-US" sz="2000" b="1" dirty="0">
                <a:solidFill>
                  <a:srgbClr val="FF0000"/>
                </a:solidFill>
              </a:rPr>
              <a:t>RED</a:t>
            </a:r>
            <a:r>
              <a:rPr lang="en-US" sz="2000" b="1" dirty="0"/>
              <a:t> banners and tailor the presentation based on results of the MRA.</a:t>
            </a:r>
            <a:br>
              <a:rPr lang="en-US" sz="2000" dirty="0"/>
            </a:br>
            <a:endParaRPr lang="en-US" sz="2000" dirty="0"/>
          </a:p>
          <a:p>
            <a:endParaRPr lang="en-US" sz="1600" dirty="0"/>
          </a:p>
          <a:p>
            <a:pPr marL="454661" lvl="1" indent="0">
              <a:spcBef>
                <a:spcPts val="0"/>
              </a:spcBef>
              <a:spcAft>
                <a:spcPts val="320"/>
              </a:spcAft>
              <a:buNone/>
            </a:pPr>
            <a:br>
              <a:rPr lang="en-US" sz="1600" dirty="0">
                <a:solidFill>
                  <a:schemeClr val="tx1"/>
                </a:solidFill>
              </a:rPr>
            </a:br>
            <a:endParaRPr lang="en-US" sz="1600" dirty="0">
              <a:solidFill>
                <a:schemeClr val="tx1"/>
              </a:solidFill>
            </a:endParaRPr>
          </a:p>
          <a:p>
            <a:endParaRPr lang="en-US" sz="1600" dirty="0">
              <a:solidFill>
                <a:schemeClr val="tx1"/>
              </a:solidFill>
            </a:endParaRPr>
          </a:p>
        </p:txBody>
      </p:sp>
      <p:grpSp>
        <p:nvGrpSpPr>
          <p:cNvPr id="2" name="Group 1">
            <a:extLst>
              <a:ext uri="{FF2B5EF4-FFF2-40B4-BE49-F238E27FC236}">
                <a16:creationId xmlns:a16="http://schemas.microsoft.com/office/drawing/2014/main" id="{E5A5D99F-7369-BA43-9F0F-93C9BD7BE8FE}"/>
              </a:ext>
            </a:extLst>
          </p:cNvPr>
          <p:cNvGrpSpPr/>
          <p:nvPr/>
        </p:nvGrpSpPr>
        <p:grpSpPr>
          <a:xfrm>
            <a:off x="0" y="0"/>
            <a:ext cx="14630400" cy="8229600"/>
            <a:chOff x="0" y="0"/>
            <a:chExt cx="14630400" cy="8229600"/>
          </a:xfrm>
        </p:grpSpPr>
        <p:sp>
          <p:nvSpPr>
            <p:cNvPr id="4" name="Rectangle 3">
              <a:extLst>
                <a:ext uri="{FF2B5EF4-FFF2-40B4-BE49-F238E27FC236}">
                  <a16:creationId xmlns:a16="http://schemas.microsoft.com/office/drawing/2014/main" id="{1B33C398-58C9-3C41-87D3-9D0D1BF765C7}"/>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5" name="TextBox 4">
              <a:extLst>
                <a:ext uri="{FF2B5EF4-FFF2-40B4-BE49-F238E27FC236}">
                  <a16:creationId xmlns:a16="http://schemas.microsoft.com/office/drawing/2014/main" id="{3B6D3D09-4D7B-0A4F-8A83-359FE3F54A5F}"/>
                </a:ext>
              </a:extLst>
            </p:cNvPr>
            <p:cNvSpPr txBox="1"/>
            <p:nvPr/>
          </p:nvSpPr>
          <p:spPr>
            <a:xfrm>
              <a:off x="8938300" y="95524"/>
              <a:ext cx="5431295" cy="801438"/>
            </a:xfrm>
            <a:prstGeom prst="rect">
              <a:avLst/>
            </a:prstGeom>
            <a:noFill/>
          </p:spPr>
          <p:txBody>
            <a:bodyPr wrap="none" rtlCol="0">
              <a:spAutoFit/>
            </a:bodyPr>
            <a:lstStyle/>
            <a:p>
              <a:r>
                <a:rPr lang="en-US" sz="4608" dirty="0">
                  <a:solidFill>
                    <a:srgbClr val="FF0000"/>
                  </a:solidFill>
                </a:rPr>
                <a:t>Delete before using</a:t>
              </a:r>
            </a:p>
          </p:txBody>
        </p:sp>
      </p:grpSp>
    </p:spTree>
    <p:extLst>
      <p:ext uri="{BB962C8B-B14F-4D97-AF65-F5344CB8AC3E}">
        <p14:creationId xmlns:p14="http://schemas.microsoft.com/office/powerpoint/2010/main" val="291034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2471-5CBB-4E21-A1A7-4AA51A94B20D}"/>
              </a:ext>
            </a:extLst>
          </p:cNvPr>
          <p:cNvSpPr>
            <a:spLocks noGrp="1"/>
          </p:cNvSpPr>
          <p:nvPr>
            <p:ph type="ctrTitle"/>
          </p:nvPr>
        </p:nvSpPr>
        <p:spPr>
          <a:xfrm>
            <a:off x="731518" y="3015614"/>
            <a:ext cx="13784582" cy="1638013"/>
          </a:xfrm>
        </p:spPr>
        <p:txBody>
          <a:bodyPr/>
          <a:lstStyle/>
          <a:p>
            <a:r>
              <a:rPr lang="en-US" sz="5400" dirty="0"/>
              <a:t>Migration Readiness Assessment (MRA)</a:t>
            </a:r>
            <a:br>
              <a:rPr lang="en-US" sz="5400" dirty="0"/>
            </a:br>
            <a:endParaRPr lang="en-US" sz="5400" dirty="0"/>
          </a:p>
        </p:txBody>
      </p:sp>
      <p:sp>
        <p:nvSpPr>
          <p:cNvPr id="3" name="Subtitle 2">
            <a:extLst>
              <a:ext uri="{FF2B5EF4-FFF2-40B4-BE49-F238E27FC236}">
                <a16:creationId xmlns:a16="http://schemas.microsoft.com/office/drawing/2014/main" id="{69E6304F-51E0-4B51-B276-15FC9745E6C5}"/>
              </a:ext>
            </a:extLst>
          </p:cNvPr>
          <p:cNvSpPr>
            <a:spLocks noGrp="1"/>
          </p:cNvSpPr>
          <p:nvPr>
            <p:ph type="subTitle" idx="1"/>
          </p:nvPr>
        </p:nvSpPr>
        <p:spPr>
          <a:xfrm>
            <a:off x="731516" y="3887471"/>
            <a:ext cx="12057383" cy="757130"/>
          </a:xfrm>
        </p:spPr>
        <p:txBody>
          <a:bodyPr/>
          <a:lstStyle/>
          <a:p>
            <a:r>
              <a:rPr lang="en-US" sz="4800" dirty="0"/>
              <a:t>Workshop Summary</a:t>
            </a:r>
            <a:endParaRPr lang="en-US" dirty="0"/>
          </a:p>
        </p:txBody>
      </p:sp>
      <p:sp>
        <p:nvSpPr>
          <p:cNvPr id="7" name="TextBox 6">
            <a:extLst>
              <a:ext uri="{FF2B5EF4-FFF2-40B4-BE49-F238E27FC236}">
                <a16:creationId xmlns:a16="http://schemas.microsoft.com/office/drawing/2014/main" id="{BDC05D0F-7523-A94E-8245-6CC700EEBA81}"/>
              </a:ext>
            </a:extLst>
          </p:cNvPr>
          <p:cNvSpPr txBox="1"/>
          <p:nvPr/>
        </p:nvSpPr>
        <p:spPr>
          <a:xfrm>
            <a:off x="624839" y="2114003"/>
            <a:ext cx="11053648" cy="830997"/>
          </a:xfrm>
          <a:prstGeom prst="rect">
            <a:avLst/>
          </a:prstGeom>
          <a:noFill/>
        </p:spPr>
        <p:txBody>
          <a:bodyPr wrap="square" rtlCol="0">
            <a:spAutoFit/>
          </a:bodyPr>
          <a:lstStyle/>
          <a:p>
            <a:r>
              <a:rPr lang="en-US" sz="4800" dirty="0">
                <a:latin typeface="Amazon Ember Medium" panose="020B0603020204020204" pitchFamily="34" charset="0"/>
                <a:ea typeface="Amazon Ember Medium" panose="020B0603020204020204" pitchFamily="34" charset="0"/>
                <a:cs typeface="Amazon Ember Medium" panose="020B0603020204020204" pitchFamily="34" charset="0"/>
              </a:rPr>
              <a:t>[Customer Name]</a:t>
            </a:r>
          </a:p>
        </p:txBody>
      </p:sp>
      <p:sp>
        <p:nvSpPr>
          <p:cNvPr id="12" name="TextBox 11">
            <a:extLst>
              <a:ext uri="{FF2B5EF4-FFF2-40B4-BE49-F238E27FC236}">
                <a16:creationId xmlns:a16="http://schemas.microsoft.com/office/drawing/2014/main" id="{BF9E514E-54CA-1C42-B3C9-538A1217521D}"/>
              </a:ext>
            </a:extLst>
          </p:cNvPr>
          <p:cNvSpPr txBox="1"/>
          <p:nvPr/>
        </p:nvSpPr>
        <p:spPr>
          <a:xfrm>
            <a:off x="731516" y="6130131"/>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[Date]</a:t>
            </a:r>
            <a:endParaRPr lang="en-US" sz="1667" dirty="0"/>
          </a:p>
        </p:txBody>
      </p:sp>
      <p:sp>
        <p:nvSpPr>
          <p:cNvPr id="13" name="TextBox 12">
            <a:extLst>
              <a:ext uri="{FF2B5EF4-FFF2-40B4-BE49-F238E27FC236}">
                <a16:creationId xmlns:a16="http://schemas.microsoft.com/office/drawing/2014/main" id="{A91C3C1B-64A0-C341-A85E-E4E90F254192}"/>
              </a:ext>
            </a:extLst>
          </p:cNvPr>
          <p:cNvSpPr txBox="1"/>
          <p:nvPr/>
        </p:nvSpPr>
        <p:spPr>
          <a:xfrm>
            <a:off x="731516" y="6560339"/>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[Presenter]</a:t>
            </a:r>
            <a:endParaRPr lang="en-US" sz="1667" dirty="0"/>
          </a:p>
        </p:txBody>
      </p:sp>
      <p:sp>
        <p:nvSpPr>
          <p:cNvPr id="4" name="TextBox 3">
            <a:extLst>
              <a:ext uri="{FF2B5EF4-FFF2-40B4-BE49-F238E27FC236}">
                <a16:creationId xmlns:a16="http://schemas.microsoft.com/office/drawing/2014/main" id="{C7D8D971-5D0A-5D13-9EA8-9359D14A0FFA}"/>
              </a:ext>
            </a:extLst>
          </p:cNvPr>
          <p:cNvSpPr txBox="1"/>
          <p:nvPr/>
        </p:nvSpPr>
        <p:spPr>
          <a:xfrm>
            <a:off x="2130552" y="591895"/>
            <a:ext cx="2494551"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[IMAGE-Company Logo]</a:t>
            </a:r>
            <a:endParaRPr lang="en-US" sz="1667" dirty="0"/>
          </a:p>
        </p:txBody>
      </p:sp>
      <p:sp>
        <p:nvSpPr>
          <p:cNvPr id="5" name="TextBox 4">
            <a:extLst>
              <a:ext uri="{FF2B5EF4-FFF2-40B4-BE49-F238E27FC236}">
                <a16:creationId xmlns:a16="http://schemas.microsoft.com/office/drawing/2014/main" id="{737A9DDE-EFB9-258C-2E36-4671DD9E438E}"/>
              </a:ext>
            </a:extLst>
          </p:cNvPr>
          <p:cNvSpPr txBox="1"/>
          <p:nvPr/>
        </p:nvSpPr>
        <p:spPr>
          <a:xfrm>
            <a:off x="2130552" y="1636776"/>
            <a:ext cx="2003664" cy="348878"/>
          </a:xfrm>
          <a:prstGeom prst="rect">
            <a:avLst/>
          </a:prstGeom>
          <a:noFill/>
        </p:spPr>
        <p:txBody>
          <a:bodyPr wrap="square" rtlCol="0">
            <a:spAutoFit/>
          </a:bodyPr>
          <a:lstStyle/>
          <a:p>
            <a:pPr algn="ctr"/>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Facilitated By</a:t>
            </a:r>
            <a:endParaRPr lang="en-US" sz="1667" dirty="0"/>
          </a:p>
        </p:txBody>
      </p:sp>
      <p:sp>
        <p:nvSpPr>
          <p:cNvPr id="6" name="TextBox 5">
            <a:extLst>
              <a:ext uri="{FF2B5EF4-FFF2-40B4-BE49-F238E27FC236}">
                <a16:creationId xmlns:a16="http://schemas.microsoft.com/office/drawing/2014/main" id="{5EBBC7E0-9AF3-7B8B-905F-E612AFF0AE20}"/>
              </a:ext>
            </a:extLst>
          </p:cNvPr>
          <p:cNvSpPr txBox="1"/>
          <p:nvPr/>
        </p:nvSpPr>
        <p:spPr>
          <a:xfrm>
            <a:off x="731516" y="5525484"/>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[Company Name]</a:t>
            </a:r>
            <a:endParaRPr lang="en-US" sz="1667" dirty="0"/>
          </a:p>
        </p:txBody>
      </p:sp>
    </p:spTree>
    <p:extLst>
      <p:ext uri="{BB962C8B-B14F-4D97-AF65-F5344CB8AC3E}">
        <p14:creationId xmlns:p14="http://schemas.microsoft.com/office/powerpoint/2010/main" val="1714902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6422" y="259895"/>
            <a:ext cx="9807648" cy="677108"/>
          </a:xfrm>
          <a:prstGeom prst="rect">
            <a:avLst/>
          </a:prstGeom>
          <a:noFill/>
        </p:spPr>
        <p:txBody>
          <a:bodyPr wrap="square" rtlCol="0">
            <a:spAutoFit/>
          </a:bodyPr>
          <a:lstStyle/>
          <a:p>
            <a:pPr defTabSz="1097236">
              <a:defRPr/>
            </a:pPr>
            <a:r>
              <a:rPr lang="en-US" sz="3800" b="1" dirty="0">
                <a:latin typeface="Amazon Ember" panose="020B0603020204020204"/>
              </a:rPr>
              <a:t>How to leverage your MRA results</a:t>
            </a:r>
          </a:p>
        </p:txBody>
      </p:sp>
      <p:sp>
        <p:nvSpPr>
          <p:cNvPr id="3" name="TextBox 2"/>
          <p:cNvSpPr txBox="1"/>
          <p:nvPr/>
        </p:nvSpPr>
        <p:spPr>
          <a:xfrm>
            <a:off x="7598590" y="929708"/>
            <a:ext cx="6544240" cy="5526385"/>
          </a:xfrm>
          <a:prstGeom prst="rect">
            <a:avLst/>
          </a:prstGeom>
          <a:noFill/>
        </p:spPr>
        <p:txBody>
          <a:bodyPr wrap="square" rtlCol="0">
            <a:spAutoFit/>
          </a:bodyPr>
          <a:lstStyle/>
          <a:p>
            <a:pPr defTabSz="1097236">
              <a:defRPr/>
            </a:pPr>
            <a:endParaRPr lang="en-US" sz="3456" dirty="0">
              <a:latin typeface="Calibri" panose="020F0502020204030204"/>
              <a:ea typeface="Times New Roman" panose="02020603050405020304" pitchFamily="18" charset="0"/>
              <a:cs typeface="Calibri" panose="020F0502020204030204" pitchFamily="34" charset="0"/>
            </a:endParaRPr>
          </a:p>
          <a:p>
            <a:pPr defTabSz="1097236">
              <a:defRPr/>
            </a:pPr>
            <a:endParaRPr lang="en-US" sz="3456" dirty="0">
              <a:latin typeface="Calibri" panose="020F0502020204030204"/>
              <a:ea typeface="Times New Roman" panose="02020603050405020304" pitchFamily="18" charset="0"/>
              <a:cs typeface="Calibri" panose="020F0502020204030204" pitchFamily="34" charset="0"/>
            </a:endParaRPr>
          </a:p>
          <a:p>
            <a:pPr defTabSz="1097236">
              <a:defRPr/>
            </a:pPr>
            <a:r>
              <a:rPr lang="en-US" sz="2400" b="1" dirty="0">
                <a:solidFill>
                  <a:srgbClr val="FF9900"/>
                </a:solidFill>
                <a:ea typeface="Amazon Ember Medium" panose="020B0603020204030204" pitchFamily="34" charset="0"/>
                <a:cs typeface="Amazon Ember Medium" panose="020B0603020204030204" pitchFamily="34" charset="0"/>
              </a:rPr>
              <a:t>What an MRA can be used for:</a:t>
            </a:r>
          </a:p>
          <a:p>
            <a:pPr defTabSz="1097236">
              <a:defRPr/>
            </a:pPr>
            <a:endParaRPr lang="en-US" sz="2000" b="1" dirty="0">
              <a:solidFill>
                <a:srgbClr val="FF9900"/>
              </a:solidFill>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Use the MRA readout as a project kickoff day</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Leverage the actions listed to generate a reliable roadmap of immediate actions with owners identified to build momentum and capability for a successful initiative</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Use the momentum from the MRA to create a CCOE team and assign action items to the members</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Use the assessment rating to build a customized learning and certification plan</a:t>
            </a:r>
          </a:p>
        </p:txBody>
      </p:sp>
      <p:sp>
        <p:nvSpPr>
          <p:cNvPr id="4" name="TextBox 3">
            <a:extLst>
              <a:ext uri="{FF2B5EF4-FFF2-40B4-BE49-F238E27FC236}">
                <a16:creationId xmlns:a16="http://schemas.microsoft.com/office/drawing/2014/main" id="{8A0F5744-5845-E04B-9F29-42C34EF7A009}"/>
              </a:ext>
            </a:extLst>
          </p:cNvPr>
          <p:cNvSpPr txBox="1"/>
          <p:nvPr/>
        </p:nvSpPr>
        <p:spPr>
          <a:xfrm>
            <a:off x="697775" y="1480078"/>
            <a:ext cx="6505111" cy="5218608"/>
          </a:xfrm>
          <a:prstGeom prst="rect">
            <a:avLst/>
          </a:prstGeom>
          <a:noFill/>
        </p:spPr>
        <p:txBody>
          <a:bodyPr wrap="square" rtlCol="0">
            <a:spAutoFit/>
          </a:bodyPr>
          <a:lstStyle/>
          <a:p>
            <a:pPr defTabSz="1097236">
              <a:defRPr/>
            </a:pPr>
            <a:endParaRPr lang="en-US" sz="3456" dirty="0">
              <a:ea typeface="Amazon Ember Medium" panose="020B0603020204030204" pitchFamily="34" charset="0"/>
              <a:cs typeface="Calibri" panose="020F0502020204030204" pitchFamily="34" charset="0"/>
            </a:endParaRPr>
          </a:p>
          <a:p>
            <a:pPr defTabSz="1097236">
              <a:defRPr/>
            </a:pPr>
            <a:r>
              <a:rPr lang="en-US" sz="2400" b="1" dirty="0">
                <a:solidFill>
                  <a:srgbClr val="BF0816"/>
                </a:solidFill>
                <a:ea typeface="Amazon Ember Medium" panose="020B0603020204030204" pitchFamily="34" charset="0"/>
                <a:cs typeface="Amazon Ember Medium" panose="020B0603020204030204" pitchFamily="34" charset="0"/>
              </a:rPr>
              <a:t>What an MRA is not:</a:t>
            </a:r>
          </a:p>
          <a:p>
            <a:pPr defTabSz="1097236">
              <a:defRPr/>
            </a:pPr>
            <a:endParaRPr lang="en-US" sz="2000" b="1" dirty="0">
              <a:solidFill>
                <a:srgbClr val="BF0816"/>
              </a:solidFill>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A portfolio assessment of applications targeted for the Cloud</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A measure of your progress or to be interpreted as timeline for your first migration wave</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An evaluation by AWS regarding your staff’s capabilities</a:t>
            </a:r>
          </a:p>
          <a:p>
            <a:pPr marL="342887" indent="-342887" defTabSz="1097236">
              <a:buFont typeface="Arial" panose="020B0604020202020204" pitchFamily="34" charset="0"/>
              <a:buChar char="•"/>
              <a:defRPr/>
            </a:pPr>
            <a:endParaRPr lang="en-US" sz="2000" dirty="0">
              <a:latin typeface="Amazon Ember Medium" panose="020B0603020204030204" pitchFamily="34" charset="0"/>
              <a:ea typeface="Amazon Ember Medium" panose="020B0603020204030204" pitchFamily="34" charset="0"/>
              <a:cs typeface="Amazon Ember Medium" panose="020B0603020204030204" pitchFamily="34" charset="0"/>
            </a:endParaRPr>
          </a:p>
          <a:p>
            <a:pPr marL="342887" indent="-342887" defTabSz="1097236">
              <a:buFont typeface="Arial" panose="020B0604020202020204" pitchFamily="34" charset="0"/>
              <a:buChar char="•"/>
              <a:defRPr/>
            </a:pPr>
            <a:r>
              <a:rPr lang="en-US" sz="2000" dirty="0">
                <a:latin typeface="Amazon Ember Medium" panose="020B0603020204030204" pitchFamily="34" charset="0"/>
                <a:ea typeface="Amazon Ember Medium" panose="020B0603020204030204" pitchFamily="34" charset="0"/>
                <a:cs typeface="Amazon Ember Medium" panose="020B0603020204030204" pitchFamily="34" charset="0"/>
              </a:rPr>
              <a:t>An indication of the complexity or difficulty of your migration</a:t>
            </a:r>
          </a:p>
          <a:p>
            <a:pPr defTabSz="1097236">
              <a:defRPr/>
            </a:pPr>
            <a:endParaRPr lang="en-US" sz="3456" dirty="0">
              <a:latin typeface="Calibri" panose="020F0502020204030204"/>
              <a:ea typeface="Times New Roman" panose="02020603050405020304" pitchFamily="18" charset="0"/>
              <a:cs typeface="Calibri" panose="020F0502020204030204" pitchFamily="34" charset="0"/>
            </a:endParaRPr>
          </a:p>
        </p:txBody>
      </p:sp>
      <p:cxnSp>
        <p:nvCxnSpPr>
          <p:cNvPr id="5" name="Straight Connector 4">
            <a:extLst>
              <a:ext uri="{FF2B5EF4-FFF2-40B4-BE49-F238E27FC236}">
                <a16:creationId xmlns:a16="http://schemas.microsoft.com/office/drawing/2014/main" id="{2AA5A184-0388-9848-A437-C1EF9376E619}"/>
              </a:ext>
            </a:extLst>
          </p:cNvPr>
          <p:cNvCxnSpPr>
            <a:cxnSpLocks/>
          </p:cNvCxnSpPr>
          <p:nvPr/>
        </p:nvCxnSpPr>
        <p:spPr>
          <a:xfrm>
            <a:off x="7675183" y="2455201"/>
            <a:ext cx="5965607"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BEB8DE6-59A3-E843-B5AE-102CBAE0D886}"/>
              </a:ext>
            </a:extLst>
          </p:cNvPr>
          <p:cNvCxnSpPr>
            <a:cxnSpLocks/>
          </p:cNvCxnSpPr>
          <p:nvPr/>
        </p:nvCxnSpPr>
        <p:spPr>
          <a:xfrm>
            <a:off x="798152" y="2437556"/>
            <a:ext cx="5965607" cy="0"/>
          </a:xfrm>
          <a:prstGeom prst="line">
            <a:avLst/>
          </a:prstGeom>
          <a:ln>
            <a:solidFill>
              <a:srgbClr val="BF081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600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hevron 6">
            <a:extLst>
              <a:ext uri="{FF2B5EF4-FFF2-40B4-BE49-F238E27FC236}">
                <a16:creationId xmlns:a16="http://schemas.microsoft.com/office/drawing/2014/main" id="{86759D38-630D-42BE-8C20-775090BDB2E3}"/>
              </a:ext>
            </a:extLst>
          </p:cNvPr>
          <p:cNvSpPr/>
          <p:nvPr/>
        </p:nvSpPr>
        <p:spPr>
          <a:xfrm>
            <a:off x="10269825" y="1078750"/>
            <a:ext cx="3949460" cy="584956"/>
          </a:xfrm>
          <a:prstGeom prst="chevron">
            <a:avLst/>
          </a:prstGeom>
          <a:solidFill>
            <a:srgbClr val="FDC500"/>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none" rtlCol="0" anchor="ctr"/>
          <a:lstStyle/>
          <a:p>
            <a:pPr algn="ctr" defTabSz="1173409">
              <a:lnSpc>
                <a:spcPct val="90000"/>
              </a:lnSpc>
              <a:spcAft>
                <a:spcPct val="35000"/>
              </a:spcAft>
              <a:defRPr/>
            </a:pPr>
            <a:r>
              <a:rPr lang="en-US" sz="2000" b="1" dirty="0">
                <a:solidFill>
                  <a:srgbClr val="FFFFFF"/>
                </a:solidFill>
                <a:latin typeface="Amazon Ember"/>
                <a:ea typeface="Amazon Ember" charset="0"/>
                <a:cs typeface="Amazon Ember" charset="0"/>
              </a:rPr>
              <a:t>Migrate &amp; Modernize</a:t>
            </a:r>
          </a:p>
        </p:txBody>
      </p:sp>
      <p:sp>
        <p:nvSpPr>
          <p:cNvPr id="7" name="Pentagon 4">
            <a:extLst>
              <a:ext uri="{FF2B5EF4-FFF2-40B4-BE49-F238E27FC236}">
                <a16:creationId xmlns:a16="http://schemas.microsoft.com/office/drawing/2014/main" id="{BF12EB5C-2AD3-4A52-B82F-E0AD7FE49C15}"/>
              </a:ext>
            </a:extLst>
          </p:cNvPr>
          <p:cNvSpPr/>
          <p:nvPr/>
        </p:nvSpPr>
        <p:spPr>
          <a:xfrm>
            <a:off x="340740" y="1087544"/>
            <a:ext cx="3949459" cy="562890"/>
          </a:xfrm>
          <a:prstGeom prst="homePlate">
            <a:avLst/>
          </a:prstGeom>
          <a:solidFill>
            <a:schemeClr val="accent1"/>
          </a:solidFill>
          <a:ln>
            <a:solidFill>
              <a:schemeClr val="accent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none" rtlCol="0" anchor="ctr"/>
          <a:lstStyle/>
          <a:p>
            <a:pPr algn="ctr" defTabSz="1173409">
              <a:lnSpc>
                <a:spcPct val="90000"/>
              </a:lnSpc>
              <a:spcAft>
                <a:spcPct val="35000"/>
              </a:spcAft>
              <a:defRPr/>
            </a:pPr>
            <a:r>
              <a:rPr lang="en-US" sz="2000" b="1" dirty="0">
                <a:solidFill>
                  <a:srgbClr val="FFFFFF"/>
                </a:solidFill>
                <a:latin typeface="Amazon Ember"/>
                <a:ea typeface="Amazon Ember" charset="0"/>
                <a:cs typeface="Amazon Ember" charset="0"/>
              </a:rPr>
              <a:t>Assess</a:t>
            </a:r>
          </a:p>
        </p:txBody>
      </p:sp>
      <p:sp>
        <p:nvSpPr>
          <p:cNvPr id="8" name="Chevron 5">
            <a:extLst>
              <a:ext uri="{FF2B5EF4-FFF2-40B4-BE49-F238E27FC236}">
                <a16:creationId xmlns:a16="http://schemas.microsoft.com/office/drawing/2014/main" id="{95F2C23C-1821-4633-971F-7934CA77581E}"/>
              </a:ext>
            </a:extLst>
          </p:cNvPr>
          <p:cNvSpPr/>
          <p:nvPr/>
        </p:nvSpPr>
        <p:spPr>
          <a:xfrm>
            <a:off x="4371704" y="1086530"/>
            <a:ext cx="5906512" cy="562890"/>
          </a:xfrm>
          <a:prstGeom prst="chevron">
            <a:avLst/>
          </a:prstGeom>
          <a:solidFill>
            <a:srgbClr val="AD4AF8"/>
          </a:solidFill>
          <a:ln>
            <a:solidFill>
              <a:srgbClr val="AD4AF8"/>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none" rtlCol="0" anchor="ctr"/>
          <a:lstStyle/>
          <a:p>
            <a:pPr algn="ctr" defTabSz="1173409">
              <a:lnSpc>
                <a:spcPct val="90000"/>
              </a:lnSpc>
              <a:spcAft>
                <a:spcPct val="35000"/>
              </a:spcAft>
              <a:defRPr/>
            </a:pPr>
            <a:r>
              <a:rPr lang="en-US" sz="2000" b="1" dirty="0">
                <a:solidFill>
                  <a:srgbClr val="FFFFFF"/>
                </a:solidFill>
                <a:latin typeface="Amazon Ember"/>
                <a:ea typeface="Amazon Ember" charset="0"/>
                <a:cs typeface="Amazon Ember" charset="0"/>
              </a:rPr>
              <a:t>Mobilize</a:t>
            </a:r>
          </a:p>
        </p:txBody>
      </p:sp>
      <p:grpSp>
        <p:nvGrpSpPr>
          <p:cNvPr id="9" name="Group 8">
            <a:extLst>
              <a:ext uri="{FF2B5EF4-FFF2-40B4-BE49-F238E27FC236}">
                <a16:creationId xmlns:a16="http://schemas.microsoft.com/office/drawing/2014/main" id="{EB4EBD22-0B33-4BC4-AAE3-C01B78A08F66}"/>
              </a:ext>
            </a:extLst>
          </p:cNvPr>
          <p:cNvGrpSpPr/>
          <p:nvPr/>
        </p:nvGrpSpPr>
        <p:grpSpPr>
          <a:xfrm rot="16200000">
            <a:off x="7092796" y="2597053"/>
            <a:ext cx="423260" cy="6644161"/>
            <a:chOff x="4469627" y="5613868"/>
            <a:chExt cx="423260" cy="1654721"/>
          </a:xfrm>
        </p:grpSpPr>
        <p:cxnSp>
          <p:nvCxnSpPr>
            <p:cNvPr id="10" name="Straight Arrow Connector 9">
              <a:extLst>
                <a:ext uri="{FF2B5EF4-FFF2-40B4-BE49-F238E27FC236}">
                  <a16:creationId xmlns:a16="http://schemas.microsoft.com/office/drawing/2014/main" id="{47959AF6-AE3A-4030-B6E6-6F1334D95404}"/>
                </a:ext>
              </a:extLst>
            </p:cNvPr>
            <p:cNvCxnSpPr/>
            <p:nvPr/>
          </p:nvCxnSpPr>
          <p:spPr>
            <a:xfrm flipH="1">
              <a:off x="4469627" y="6424557"/>
              <a:ext cx="423260" cy="0"/>
            </a:xfrm>
            <a:prstGeom prst="straightConnector1">
              <a:avLst/>
            </a:prstGeom>
            <a:ln w="19050">
              <a:solidFill>
                <a:srgbClr val="AD4AF8"/>
              </a:solidFill>
              <a:headEnd type="none"/>
              <a:tailEnd type="arrow"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AF1DC6-3522-48D2-BB17-6DC43AF388B3}"/>
                </a:ext>
              </a:extLst>
            </p:cNvPr>
            <p:cNvCxnSpPr/>
            <p:nvPr/>
          </p:nvCxnSpPr>
          <p:spPr>
            <a:xfrm>
              <a:off x="4892887" y="5613868"/>
              <a:ext cx="0" cy="1654721"/>
            </a:xfrm>
            <a:prstGeom prst="line">
              <a:avLst/>
            </a:prstGeom>
            <a:ln w="19050">
              <a:solidFill>
                <a:srgbClr val="AD4AF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7C39CC32-AFD3-412B-A678-E3536D93A5BB}"/>
              </a:ext>
            </a:extLst>
          </p:cNvPr>
          <p:cNvSpPr txBox="1"/>
          <p:nvPr/>
        </p:nvSpPr>
        <p:spPr>
          <a:xfrm>
            <a:off x="5361611" y="6248580"/>
            <a:ext cx="4376518" cy="369332"/>
          </a:xfrm>
          <a:prstGeom prst="rect">
            <a:avLst/>
          </a:prstGeom>
          <a:noFill/>
        </p:spPr>
        <p:txBody>
          <a:bodyPr wrap="none" rtlCol="0">
            <a:spAutoFit/>
          </a:bodyPr>
          <a:lstStyle/>
          <a:p>
            <a:pPr algn="ctr" defTabSz="731474">
              <a:lnSpc>
                <a:spcPct val="90000"/>
              </a:lnSpc>
              <a:spcAft>
                <a:spcPts val="1800"/>
              </a:spcAft>
              <a:defRPr/>
            </a:pPr>
            <a:r>
              <a:rPr lang="en-US" sz="2000" dirty="0">
                <a:solidFill>
                  <a:srgbClr val="AD4AF8"/>
                </a:solidFill>
                <a:latin typeface="Amazon Ember"/>
              </a:rPr>
              <a:t>Build readiness through experiences</a:t>
            </a:r>
          </a:p>
        </p:txBody>
      </p:sp>
      <p:grpSp>
        <p:nvGrpSpPr>
          <p:cNvPr id="13" name="Group 12">
            <a:extLst>
              <a:ext uri="{FF2B5EF4-FFF2-40B4-BE49-F238E27FC236}">
                <a16:creationId xmlns:a16="http://schemas.microsoft.com/office/drawing/2014/main" id="{EC9D09AA-B7A7-4ED0-8C43-3AB1EEEEB06F}"/>
              </a:ext>
            </a:extLst>
          </p:cNvPr>
          <p:cNvGrpSpPr/>
          <p:nvPr/>
        </p:nvGrpSpPr>
        <p:grpSpPr>
          <a:xfrm rot="16200000">
            <a:off x="12063171" y="4073681"/>
            <a:ext cx="423260" cy="3690906"/>
            <a:chOff x="4469627" y="5613868"/>
            <a:chExt cx="423260" cy="1654721"/>
          </a:xfrm>
        </p:grpSpPr>
        <p:cxnSp>
          <p:nvCxnSpPr>
            <p:cNvPr id="14" name="Straight Connector 13">
              <a:extLst>
                <a:ext uri="{FF2B5EF4-FFF2-40B4-BE49-F238E27FC236}">
                  <a16:creationId xmlns:a16="http://schemas.microsoft.com/office/drawing/2014/main" id="{D651B5BB-B8E1-49B5-BB22-1B65F9F0DB5A}"/>
                </a:ext>
              </a:extLst>
            </p:cNvPr>
            <p:cNvCxnSpPr/>
            <p:nvPr/>
          </p:nvCxnSpPr>
          <p:spPr>
            <a:xfrm>
              <a:off x="4892887" y="5613868"/>
              <a:ext cx="0" cy="1654721"/>
            </a:xfrm>
            <a:prstGeom prst="line">
              <a:avLst/>
            </a:prstGeom>
            <a:ln w="19050">
              <a:solidFill>
                <a:srgbClr val="FDC5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B2A3BEB-FA65-4B7A-992E-9605720599BF}"/>
                </a:ext>
              </a:extLst>
            </p:cNvPr>
            <p:cNvCxnSpPr/>
            <p:nvPr/>
          </p:nvCxnSpPr>
          <p:spPr>
            <a:xfrm flipH="1">
              <a:off x="4469627" y="6441229"/>
              <a:ext cx="423260" cy="0"/>
            </a:xfrm>
            <a:prstGeom prst="straightConnector1">
              <a:avLst/>
            </a:prstGeom>
            <a:ln w="19050">
              <a:solidFill>
                <a:srgbClr val="FFC000"/>
              </a:solidFill>
              <a:headEnd type="none"/>
              <a:tailEnd type="arrow" w="lg" len="med"/>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47258480-7639-4DD2-820C-B5D941F3EB4A}"/>
              </a:ext>
            </a:extLst>
          </p:cNvPr>
          <p:cNvSpPr txBox="1"/>
          <p:nvPr/>
        </p:nvSpPr>
        <p:spPr>
          <a:xfrm>
            <a:off x="10049694" y="6248580"/>
            <a:ext cx="4164922" cy="369332"/>
          </a:xfrm>
          <a:prstGeom prst="rect">
            <a:avLst/>
          </a:prstGeom>
          <a:noFill/>
        </p:spPr>
        <p:txBody>
          <a:bodyPr wrap="none" rtlCol="0">
            <a:spAutoFit/>
          </a:bodyPr>
          <a:lstStyle/>
          <a:p>
            <a:pPr algn="ctr" defTabSz="731474">
              <a:lnSpc>
                <a:spcPct val="90000"/>
              </a:lnSpc>
              <a:spcAft>
                <a:spcPts val="1800"/>
              </a:spcAft>
              <a:defRPr/>
            </a:pPr>
            <a:r>
              <a:rPr lang="en-US" sz="2000" dirty="0">
                <a:solidFill>
                  <a:srgbClr val="FDC500"/>
                </a:solidFill>
                <a:latin typeface="Amazon Ember"/>
              </a:rPr>
              <a:t>Accelerate transformation at scale</a:t>
            </a:r>
          </a:p>
        </p:txBody>
      </p:sp>
      <p:sp>
        <p:nvSpPr>
          <p:cNvPr id="17" name="TextBox 16">
            <a:extLst>
              <a:ext uri="{FF2B5EF4-FFF2-40B4-BE49-F238E27FC236}">
                <a16:creationId xmlns:a16="http://schemas.microsoft.com/office/drawing/2014/main" id="{420606C1-88BA-43DB-AB9D-B4E609DCFC59}"/>
              </a:ext>
            </a:extLst>
          </p:cNvPr>
          <p:cNvSpPr txBox="1"/>
          <p:nvPr/>
        </p:nvSpPr>
        <p:spPr>
          <a:xfrm>
            <a:off x="406328" y="2712110"/>
            <a:ext cx="1600517"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Rapid discovery</a:t>
            </a:r>
          </a:p>
        </p:txBody>
      </p:sp>
      <p:sp>
        <p:nvSpPr>
          <p:cNvPr id="18" name="TextBox 17">
            <a:extLst>
              <a:ext uri="{FF2B5EF4-FFF2-40B4-BE49-F238E27FC236}">
                <a16:creationId xmlns:a16="http://schemas.microsoft.com/office/drawing/2014/main" id="{5A04D37E-46E9-4B98-B81E-960D1B4BB0CD}"/>
              </a:ext>
            </a:extLst>
          </p:cNvPr>
          <p:cNvSpPr txBox="1"/>
          <p:nvPr/>
        </p:nvSpPr>
        <p:spPr>
          <a:xfrm>
            <a:off x="1956542" y="2740142"/>
            <a:ext cx="1600517"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TCO report</a:t>
            </a:r>
          </a:p>
        </p:txBody>
      </p:sp>
      <p:grpSp>
        <p:nvGrpSpPr>
          <p:cNvPr id="19" name="Group 18">
            <a:extLst>
              <a:ext uri="{FF2B5EF4-FFF2-40B4-BE49-F238E27FC236}">
                <a16:creationId xmlns:a16="http://schemas.microsoft.com/office/drawing/2014/main" id="{F9F7A2C9-9D96-4195-B968-41F3A417975A}"/>
              </a:ext>
            </a:extLst>
          </p:cNvPr>
          <p:cNvGrpSpPr/>
          <p:nvPr/>
        </p:nvGrpSpPr>
        <p:grpSpPr>
          <a:xfrm>
            <a:off x="894829" y="2101576"/>
            <a:ext cx="626958" cy="627894"/>
            <a:chOff x="911709" y="4039537"/>
            <a:chExt cx="626958" cy="627894"/>
          </a:xfrm>
        </p:grpSpPr>
        <p:grpSp>
          <p:nvGrpSpPr>
            <p:cNvPr id="20" name="Group 19">
              <a:extLst>
                <a:ext uri="{FF2B5EF4-FFF2-40B4-BE49-F238E27FC236}">
                  <a16:creationId xmlns:a16="http://schemas.microsoft.com/office/drawing/2014/main" id="{94E8E26A-0598-43A6-B472-91F26953FEBE}"/>
                </a:ext>
              </a:extLst>
            </p:cNvPr>
            <p:cNvGrpSpPr/>
            <p:nvPr/>
          </p:nvGrpSpPr>
          <p:grpSpPr>
            <a:xfrm>
              <a:off x="1037650" y="4067642"/>
              <a:ext cx="417790" cy="527355"/>
              <a:chOff x="973057" y="3594891"/>
              <a:chExt cx="348158" cy="439463"/>
            </a:xfrm>
          </p:grpSpPr>
          <p:sp>
            <p:nvSpPr>
              <p:cNvPr id="22" name="Oval 21">
                <a:extLst>
                  <a:ext uri="{FF2B5EF4-FFF2-40B4-BE49-F238E27FC236}">
                    <a16:creationId xmlns:a16="http://schemas.microsoft.com/office/drawing/2014/main" id="{3ED8C8DE-4B2F-4463-9917-E0AB08143F47}"/>
                  </a:ext>
                </a:extLst>
              </p:cNvPr>
              <p:cNvSpPr/>
              <p:nvPr/>
            </p:nvSpPr>
            <p:spPr>
              <a:xfrm>
                <a:off x="1252614" y="3965753"/>
                <a:ext cx="68601" cy="686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14">
                  <a:defRPr/>
                </a:pPr>
                <a:endParaRPr lang="en-US" sz="2520" dirty="0">
                  <a:solidFill>
                    <a:srgbClr val="FFFFFF"/>
                  </a:solidFill>
                  <a:latin typeface="Amazon Ember"/>
                </a:endParaRPr>
              </a:p>
            </p:txBody>
          </p:sp>
          <p:sp>
            <p:nvSpPr>
              <p:cNvPr id="23" name="Oval 22">
                <a:extLst>
                  <a:ext uri="{FF2B5EF4-FFF2-40B4-BE49-F238E27FC236}">
                    <a16:creationId xmlns:a16="http://schemas.microsoft.com/office/drawing/2014/main" id="{9271FFE6-3198-412F-9638-11982DBDAA4F}"/>
                  </a:ext>
                </a:extLst>
              </p:cNvPr>
              <p:cNvSpPr/>
              <p:nvPr/>
            </p:nvSpPr>
            <p:spPr>
              <a:xfrm>
                <a:off x="973057" y="3594891"/>
                <a:ext cx="282934" cy="28293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14">
                  <a:defRPr/>
                </a:pPr>
                <a:endParaRPr lang="en-US" sz="2520" dirty="0">
                  <a:solidFill>
                    <a:srgbClr val="FFFFFF"/>
                  </a:solidFill>
                  <a:latin typeface="Amazon Ember"/>
                </a:endParaRPr>
              </a:p>
            </p:txBody>
          </p:sp>
        </p:grpSp>
        <p:pic>
          <p:nvPicPr>
            <p:cNvPr id="21" name="Picture 20">
              <a:extLst>
                <a:ext uri="{FF2B5EF4-FFF2-40B4-BE49-F238E27FC236}">
                  <a16:creationId xmlns:a16="http://schemas.microsoft.com/office/drawing/2014/main" id="{930CA3A3-04C5-4E0F-860D-2D189E039D28}"/>
                </a:ext>
              </a:extLst>
            </p:cNvPr>
            <p:cNvPicPr>
              <a:picLocks noChangeAspect="1"/>
            </p:cNvPicPr>
            <p:nvPr/>
          </p:nvPicPr>
          <p:blipFill>
            <a:blip r:embed="rId3">
              <a:lum bright="70000" contrast="-70000"/>
              <a:extLst>
                <a:ext uri="{28A0092B-C50C-407E-A947-70E740481C1C}">
                  <a14:useLocalDpi xmlns:a14="http://schemas.microsoft.com/office/drawing/2010/main"/>
                </a:ext>
              </a:extLst>
            </a:blip>
            <a:stretch>
              <a:fillRect/>
            </a:stretch>
          </p:blipFill>
          <p:spPr>
            <a:xfrm>
              <a:off x="911709" y="4039537"/>
              <a:ext cx="626958" cy="627894"/>
            </a:xfrm>
            <a:prstGeom prst="rect">
              <a:avLst/>
            </a:prstGeom>
          </p:spPr>
        </p:pic>
      </p:grpSp>
      <p:grpSp>
        <p:nvGrpSpPr>
          <p:cNvPr id="24" name="Group 23">
            <a:extLst>
              <a:ext uri="{FF2B5EF4-FFF2-40B4-BE49-F238E27FC236}">
                <a16:creationId xmlns:a16="http://schemas.microsoft.com/office/drawing/2014/main" id="{A46832A4-7EF5-4E37-A423-88280AFD67D6}"/>
              </a:ext>
            </a:extLst>
          </p:cNvPr>
          <p:cNvGrpSpPr/>
          <p:nvPr/>
        </p:nvGrpSpPr>
        <p:grpSpPr>
          <a:xfrm>
            <a:off x="2520401" y="2016231"/>
            <a:ext cx="472800" cy="615314"/>
            <a:chOff x="2537282" y="3954193"/>
            <a:chExt cx="472800" cy="615314"/>
          </a:xfrm>
        </p:grpSpPr>
        <p:grpSp>
          <p:nvGrpSpPr>
            <p:cNvPr id="25" name="Group 24">
              <a:extLst>
                <a:ext uri="{FF2B5EF4-FFF2-40B4-BE49-F238E27FC236}">
                  <a16:creationId xmlns:a16="http://schemas.microsoft.com/office/drawing/2014/main" id="{72FE4AF6-87F0-4453-B1E1-5FAE1A824743}"/>
                </a:ext>
              </a:extLst>
            </p:cNvPr>
            <p:cNvGrpSpPr/>
            <p:nvPr/>
          </p:nvGrpSpPr>
          <p:grpSpPr>
            <a:xfrm>
              <a:off x="2621465" y="4130643"/>
              <a:ext cx="311459" cy="253766"/>
              <a:chOff x="2459532" y="3646856"/>
              <a:chExt cx="259548" cy="211471"/>
            </a:xfrm>
          </p:grpSpPr>
          <p:cxnSp>
            <p:nvCxnSpPr>
              <p:cNvPr id="27" name="Straight Connector 26">
                <a:extLst>
                  <a:ext uri="{FF2B5EF4-FFF2-40B4-BE49-F238E27FC236}">
                    <a16:creationId xmlns:a16="http://schemas.microsoft.com/office/drawing/2014/main" id="{C3CFE344-B761-4A36-8C79-0FB80109BE62}"/>
                  </a:ext>
                </a:extLst>
              </p:cNvPr>
              <p:cNvCxnSpPr/>
              <p:nvPr/>
            </p:nvCxnSpPr>
            <p:spPr>
              <a:xfrm>
                <a:off x="2459532" y="3755594"/>
                <a:ext cx="0" cy="1027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258176B-3E32-4A8F-A93A-F3FBD37E274F}"/>
                  </a:ext>
                </a:extLst>
              </p:cNvPr>
              <p:cNvCxnSpPr/>
              <p:nvPr/>
            </p:nvCxnSpPr>
            <p:spPr>
              <a:xfrm>
                <a:off x="2545252" y="3721437"/>
                <a:ext cx="0" cy="13688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BACDD88-D191-47C7-87FF-548347FCC1D1}"/>
                  </a:ext>
                </a:extLst>
              </p:cNvPr>
              <p:cNvCxnSpPr/>
              <p:nvPr/>
            </p:nvCxnSpPr>
            <p:spPr>
              <a:xfrm>
                <a:off x="2633355" y="3679805"/>
                <a:ext cx="0" cy="178522"/>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59E587-BECF-42D8-B3BC-8C48E0A3995D}"/>
                  </a:ext>
                </a:extLst>
              </p:cNvPr>
              <p:cNvCxnSpPr/>
              <p:nvPr/>
            </p:nvCxnSpPr>
            <p:spPr>
              <a:xfrm>
                <a:off x="2719080" y="3646856"/>
                <a:ext cx="0" cy="211471"/>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6" name="Picture 25">
              <a:extLst>
                <a:ext uri="{FF2B5EF4-FFF2-40B4-BE49-F238E27FC236}">
                  <a16:creationId xmlns:a16="http://schemas.microsoft.com/office/drawing/2014/main" id="{A40F7A6C-16D5-437C-9EBC-FF27DC4BEFCB}"/>
                </a:ext>
              </a:extLst>
            </p:cNvPr>
            <p:cNvPicPr>
              <a:picLocks noChangeAspect="1"/>
            </p:cNvPicPr>
            <p:nvPr/>
          </p:nvPicPr>
          <p:blipFill>
            <a:blip r:embed="rId4">
              <a:lum bright="70000" contrast="-70000"/>
              <a:extLst>
                <a:ext uri="{28A0092B-C50C-407E-A947-70E740481C1C}">
                  <a14:useLocalDpi xmlns:a14="http://schemas.microsoft.com/office/drawing/2010/main"/>
                </a:ext>
              </a:extLst>
            </a:blip>
            <a:stretch>
              <a:fillRect/>
            </a:stretch>
          </p:blipFill>
          <p:spPr>
            <a:xfrm>
              <a:off x="2537282" y="3954193"/>
              <a:ext cx="472800" cy="615314"/>
            </a:xfrm>
            <a:prstGeom prst="rect">
              <a:avLst/>
            </a:prstGeom>
          </p:spPr>
        </p:pic>
      </p:grpSp>
      <p:sp>
        <p:nvSpPr>
          <p:cNvPr id="31" name="TextBox 30">
            <a:extLst>
              <a:ext uri="{FF2B5EF4-FFF2-40B4-BE49-F238E27FC236}">
                <a16:creationId xmlns:a16="http://schemas.microsoft.com/office/drawing/2014/main" id="{4A7B13AE-07D4-4777-8C7F-A447352037C5}"/>
              </a:ext>
            </a:extLst>
          </p:cNvPr>
          <p:cNvSpPr txBox="1"/>
          <p:nvPr/>
        </p:nvSpPr>
        <p:spPr>
          <a:xfrm>
            <a:off x="101976" y="4978883"/>
            <a:ext cx="1600517" cy="492443"/>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Briefings &amp; workshops</a:t>
            </a:r>
          </a:p>
        </p:txBody>
      </p:sp>
      <p:sp>
        <p:nvSpPr>
          <p:cNvPr id="32" name="TextBox 31">
            <a:extLst>
              <a:ext uri="{FF2B5EF4-FFF2-40B4-BE49-F238E27FC236}">
                <a16:creationId xmlns:a16="http://schemas.microsoft.com/office/drawing/2014/main" id="{58707011-A219-43F2-9797-B0113C859176}"/>
              </a:ext>
            </a:extLst>
          </p:cNvPr>
          <p:cNvSpPr txBox="1"/>
          <p:nvPr/>
        </p:nvSpPr>
        <p:spPr>
          <a:xfrm>
            <a:off x="1302341" y="3844393"/>
            <a:ext cx="1841896" cy="492443"/>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Migration Readiness Assessment</a:t>
            </a:r>
          </a:p>
        </p:txBody>
      </p:sp>
      <p:grpSp>
        <p:nvGrpSpPr>
          <p:cNvPr id="33" name="Graphic 412">
            <a:extLst>
              <a:ext uri="{FF2B5EF4-FFF2-40B4-BE49-F238E27FC236}">
                <a16:creationId xmlns:a16="http://schemas.microsoft.com/office/drawing/2014/main" id="{F42F8ADC-376B-43C2-84FF-0D8281EA3BE2}"/>
              </a:ext>
            </a:extLst>
          </p:cNvPr>
          <p:cNvGrpSpPr/>
          <p:nvPr/>
        </p:nvGrpSpPr>
        <p:grpSpPr>
          <a:xfrm>
            <a:off x="618545" y="4331781"/>
            <a:ext cx="643690" cy="643690"/>
            <a:chOff x="4244008" y="5593287"/>
            <a:chExt cx="643689" cy="643689"/>
          </a:xfrm>
        </p:grpSpPr>
        <p:sp>
          <p:nvSpPr>
            <p:cNvPr id="34" name="Freeform: Shape 554">
              <a:extLst>
                <a:ext uri="{FF2B5EF4-FFF2-40B4-BE49-F238E27FC236}">
                  <a16:creationId xmlns:a16="http://schemas.microsoft.com/office/drawing/2014/main" id="{D48A1F26-633D-468E-9A38-0A7D4D51836E}"/>
                </a:ext>
              </a:extLst>
            </p:cNvPr>
            <p:cNvSpPr/>
            <p:nvPr/>
          </p:nvSpPr>
          <p:spPr>
            <a:xfrm>
              <a:off x="4380792" y="5645104"/>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116" y="136462"/>
                    <a:pt x="4828" y="106852"/>
                    <a:pt x="4828" y="70484"/>
                  </a:cubicBez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35" name="Freeform: Shape 555">
              <a:extLst>
                <a:ext uri="{FF2B5EF4-FFF2-40B4-BE49-F238E27FC236}">
                  <a16:creationId xmlns:a16="http://schemas.microsoft.com/office/drawing/2014/main" id="{99FBBAA0-7A17-4ACF-9664-FBC292325ED4}"/>
                </a:ext>
              </a:extLst>
            </p:cNvPr>
            <p:cNvSpPr/>
            <p:nvPr/>
          </p:nvSpPr>
          <p:spPr>
            <a:xfrm>
              <a:off x="4330906" y="5780279"/>
              <a:ext cx="199544" cy="128738"/>
            </a:xfrm>
            <a:custGeom>
              <a:avLst/>
              <a:gdLst>
                <a:gd name="connsiteX0" fmla="*/ 195360 w 199543"/>
                <a:gd name="connsiteY0" fmla="*/ 33472 h 128737"/>
                <a:gd name="connsiteX1" fmla="*/ 179589 w 199543"/>
                <a:gd name="connsiteY1" fmla="*/ 21885 h 128737"/>
                <a:gd name="connsiteX2" fmla="*/ 120370 w 199543"/>
                <a:gd name="connsiteY2" fmla="*/ 4828 h 128737"/>
                <a:gd name="connsiteX3" fmla="*/ 4828 w 199543"/>
                <a:gd name="connsiteY3" fmla="*/ 124876 h 128737"/>
                <a:gd name="connsiteX4" fmla="*/ 68553 w 199543"/>
                <a:gd name="connsiteY4" fmla="*/ 124876 h 128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543" h="128737">
                  <a:moveTo>
                    <a:pt x="195360" y="33472"/>
                  </a:moveTo>
                  <a:cubicBezTo>
                    <a:pt x="190532" y="29288"/>
                    <a:pt x="185382" y="25104"/>
                    <a:pt x="179589" y="21885"/>
                  </a:cubicBezTo>
                  <a:cubicBezTo>
                    <a:pt x="162210" y="11265"/>
                    <a:pt x="141933" y="4828"/>
                    <a:pt x="120370" y="4828"/>
                  </a:cubicBezTo>
                  <a:cubicBezTo>
                    <a:pt x="56645" y="4828"/>
                    <a:pt x="4828" y="58576"/>
                    <a:pt x="4828" y="124876"/>
                  </a:cubicBezTo>
                  <a:lnTo>
                    <a:pt x="68553" y="124876"/>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36" name="Freeform: Shape 556">
              <a:extLst>
                <a:ext uri="{FF2B5EF4-FFF2-40B4-BE49-F238E27FC236}">
                  <a16:creationId xmlns:a16="http://schemas.microsoft.com/office/drawing/2014/main" id="{1C267552-F29A-4B6D-9D2E-A87A7BF4A5A7}"/>
                </a:ext>
              </a:extLst>
            </p:cNvPr>
            <p:cNvSpPr/>
            <p:nvPr/>
          </p:nvSpPr>
          <p:spPr>
            <a:xfrm>
              <a:off x="4557806" y="5918994"/>
              <a:ext cx="241383" cy="28966"/>
            </a:xfrm>
            <a:custGeom>
              <a:avLst/>
              <a:gdLst>
                <a:gd name="connsiteX0" fmla="*/ 4828 w 241383"/>
                <a:gd name="connsiteY0" fmla="*/ 24138 h 28966"/>
                <a:gd name="connsiteX1" fmla="*/ 224004 w 241383"/>
                <a:gd name="connsiteY1" fmla="*/ 24138 h 28966"/>
                <a:gd name="connsiteX2" fmla="*/ 236556 w 241383"/>
                <a:gd name="connsiteY2" fmla="*/ 19633 h 28966"/>
                <a:gd name="connsiteX3" fmla="*/ 238165 w 241383"/>
                <a:gd name="connsiteY3" fmla="*/ 18345 h 28966"/>
                <a:gd name="connsiteX4" fmla="*/ 238165 w 241383"/>
                <a:gd name="connsiteY4" fmla="*/ 4828 h 28966"/>
                <a:gd name="connsiteX5" fmla="*/ 168003 w 241383"/>
                <a:gd name="connsiteY5" fmla="*/ 4828 h 2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383" h="28966">
                  <a:moveTo>
                    <a:pt x="4828" y="24138"/>
                  </a:moveTo>
                  <a:lnTo>
                    <a:pt x="224004" y="24138"/>
                  </a:lnTo>
                  <a:cubicBezTo>
                    <a:pt x="228510" y="24138"/>
                    <a:pt x="233015" y="22529"/>
                    <a:pt x="236556" y="19633"/>
                  </a:cubicBezTo>
                  <a:lnTo>
                    <a:pt x="238165" y="18345"/>
                  </a:lnTo>
                  <a:lnTo>
                    <a:pt x="238165" y="4828"/>
                  </a:lnTo>
                  <a:lnTo>
                    <a:pt x="168003"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37" name="Freeform: Shape 557">
              <a:extLst>
                <a:ext uri="{FF2B5EF4-FFF2-40B4-BE49-F238E27FC236}">
                  <a16:creationId xmlns:a16="http://schemas.microsoft.com/office/drawing/2014/main" id="{A9035080-C087-436F-98BE-816278BE6607}"/>
                </a:ext>
              </a:extLst>
            </p:cNvPr>
            <p:cNvSpPr/>
            <p:nvPr/>
          </p:nvSpPr>
          <p:spPr>
            <a:xfrm>
              <a:off x="4568105" y="5776738"/>
              <a:ext cx="180233" cy="125519"/>
            </a:xfrm>
            <a:custGeom>
              <a:avLst/>
              <a:gdLst>
                <a:gd name="connsiteX0" fmla="*/ 177014 w 180232"/>
                <a:gd name="connsiteY0" fmla="*/ 117795 h 125519"/>
                <a:gd name="connsiteX1" fmla="*/ 172187 w 180232"/>
                <a:gd name="connsiteY1" fmla="*/ 122623 h 125519"/>
                <a:gd name="connsiteX2" fmla="*/ 9655 w 180232"/>
                <a:gd name="connsiteY2" fmla="*/ 122623 h 125519"/>
                <a:gd name="connsiteX3" fmla="*/ 4828 w 180232"/>
                <a:gd name="connsiteY3" fmla="*/ 117795 h 125519"/>
                <a:gd name="connsiteX4" fmla="*/ 4828 w 180232"/>
                <a:gd name="connsiteY4" fmla="*/ 9655 h 125519"/>
                <a:gd name="connsiteX5" fmla="*/ 9655 w 180232"/>
                <a:gd name="connsiteY5" fmla="*/ 4828 h 125519"/>
                <a:gd name="connsiteX6" fmla="*/ 171543 w 180232"/>
                <a:gd name="connsiteY6" fmla="*/ 4828 h 125519"/>
                <a:gd name="connsiteX7" fmla="*/ 176371 w 180232"/>
                <a:gd name="connsiteY7" fmla="*/ 9655 h 125519"/>
                <a:gd name="connsiteX8" fmla="*/ 177014 w 180232"/>
                <a:gd name="connsiteY8" fmla="*/ 117795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232" h="125519">
                  <a:moveTo>
                    <a:pt x="177014" y="117795"/>
                  </a:moveTo>
                  <a:cubicBezTo>
                    <a:pt x="177014" y="120370"/>
                    <a:pt x="174762" y="122623"/>
                    <a:pt x="172187" y="122623"/>
                  </a:cubicBezTo>
                  <a:lnTo>
                    <a:pt x="9655" y="122623"/>
                  </a:lnTo>
                  <a:cubicBezTo>
                    <a:pt x="7081" y="122623"/>
                    <a:pt x="4828" y="120370"/>
                    <a:pt x="4828" y="117795"/>
                  </a:cubicBezTo>
                  <a:lnTo>
                    <a:pt x="4828" y="9655"/>
                  </a:lnTo>
                  <a:cubicBezTo>
                    <a:pt x="4828" y="7081"/>
                    <a:pt x="7081" y="4828"/>
                    <a:pt x="9655" y="4828"/>
                  </a:cubicBezTo>
                  <a:lnTo>
                    <a:pt x="171543" y="4828"/>
                  </a:lnTo>
                  <a:cubicBezTo>
                    <a:pt x="174118" y="4828"/>
                    <a:pt x="176371" y="7081"/>
                    <a:pt x="176371" y="9655"/>
                  </a:cubicBezTo>
                  <a:lnTo>
                    <a:pt x="177014" y="117795"/>
                  </a:ln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38" name="Freeform: Shape 558">
              <a:extLst>
                <a:ext uri="{FF2B5EF4-FFF2-40B4-BE49-F238E27FC236}">
                  <a16:creationId xmlns:a16="http://schemas.microsoft.com/office/drawing/2014/main" id="{D92DD8DE-30A7-40F5-A9B5-94A2B3050642}"/>
                </a:ext>
              </a:extLst>
            </p:cNvPr>
            <p:cNvSpPr/>
            <p:nvPr/>
          </p:nvSpPr>
          <p:spPr>
            <a:xfrm>
              <a:off x="4540749" y="5752600"/>
              <a:ext cx="234946" cy="173796"/>
            </a:xfrm>
            <a:custGeom>
              <a:avLst/>
              <a:gdLst>
                <a:gd name="connsiteX0" fmla="*/ 4828 w 234946"/>
                <a:gd name="connsiteY0" fmla="*/ 130025 h 173796"/>
                <a:gd name="connsiteX1" fmla="*/ 4828 w 234946"/>
                <a:gd name="connsiteY1" fmla="*/ 10299 h 173796"/>
                <a:gd name="connsiteX2" fmla="*/ 10299 w 234946"/>
                <a:gd name="connsiteY2" fmla="*/ 4828 h 173796"/>
                <a:gd name="connsiteX3" fmla="*/ 226900 w 234946"/>
                <a:gd name="connsiteY3" fmla="*/ 4828 h 173796"/>
                <a:gd name="connsiteX4" fmla="*/ 232372 w 234946"/>
                <a:gd name="connsiteY4" fmla="*/ 10299 h 173796"/>
                <a:gd name="connsiteX5" fmla="*/ 232372 w 234946"/>
                <a:gd name="connsiteY5" fmla="*/ 165750 h 173796"/>
                <a:gd name="connsiteX6" fmla="*/ 226900 w 234946"/>
                <a:gd name="connsiteY6" fmla="*/ 171221 h 173796"/>
                <a:gd name="connsiteX7" fmla="*/ 26391 w 234946"/>
                <a:gd name="connsiteY7" fmla="*/ 171221 h 17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946" h="173796">
                  <a:moveTo>
                    <a:pt x="4828" y="130025"/>
                  </a:moveTo>
                  <a:lnTo>
                    <a:pt x="4828" y="10299"/>
                  </a:lnTo>
                  <a:cubicBezTo>
                    <a:pt x="4828" y="7402"/>
                    <a:pt x="7402" y="4828"/>
                    <a:pt x="10299" y="4828"/>
                  </a:cubicBezTo>
                  <a:lnTo>
                    <a:pt x="226900" y="4828"/>
                  </a:lnTo>
                  <a:cubicBezTo>
                    <a:pt x="229797" y="4828"/>
                    <a:pt x="232372" y="7402"/>
                    <a:pt x="232372" y="10299"/>
                  </a:cubicBezTo>
                  <a:lnTo>
                    <a:pt x="232372" y="165750"/>
                  </a:lnTo>
                  <a:cubicBezTo>
                    <a:pt x="232372" y="168647"/>
                    <a:pt x="229797" y="171221"/>
                    <a:pt x="226900" y="171221"/>
                  </a:cubicBezTo>
                  <a:lnTo>
                    <a:pt x="26391" y="171221"/>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39" name="Freeform: Shape 559">
              <a:extLst>
                <a:ext uri="{FF2B5EF4-FFF2-40B4-BE49-F238E27FC236}">
                  <a16:creationId xmlns:a16="http://schemas.microsoft.com/office/drawing/2014/main" id="{E566471C-27A1-4E0D-8401-2D9F01E74876}"/>
                </a:ext>
              </a:extLst>
            </p:cNvPr>
            <p:cNvSpPr/>
            <p:nvPr/>
          </p:nvSpPr>
          <p:spPr>
            <a:xfrm>
              <a:off x="4409436" y="5872326"/>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437" y="136462"/>
                    <a:pt x="4828" y="106852"/>
                    <a:pt x="4828" y="70484"/>
                  </a:cubicBez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40" name="Freeform: Shape 560">
              <a:extLst>
                <a:ext uri="{FF2B5EF4-FFF2-40B4-BE49-F238E27FC236}">
                  <a16:creationId xmlns:a16="http://schemas.microsoft.com/office/drawing/2014/main" id="{B636CD27-5995-4E8D-831F-D44B99206C70}"/>
                </a:ext>
              </a:extLst>
            </p:cNvPr>
            <p:cNvSpPr/>
            <p:nvPr/>
          </p:nvSpPr>
          <p:spPr>
            <a:xfrm>
              <a:off x="4359550" y="6007823"/>
              <a:ext cx="205980" cy="128738"/>
            </a:xfrm>
            <a:custGeom>
              <a:avLst/>
              <a:gdLst>
                <a:gd name="connsiteX0" fmla="*/ 163175 w 205980"/>
                <a:gd name="connsiteY0" fmla="*/ 13196 h 128737"/>
                <a:gd name="connsiteX1" fmla="*/ 120370 w 205980"/>
                <a:gd name="connsiteY1" fmla="*/ 4828 h 128737"/>
                <a:gd name="connsiteX2" fmla="*/ 4828 w 205980"/>
                <a:gd name="connsiteY2" fmla="*/ 124876 h 128737"/>
                <a:gd name="connsiteX3" fmla="*/ 202762 w 205980"/>
                <a:gd name="connsiteY3" fmla="*/ 124876 h 128737"/>
              </a:gdLst>
              <a:ahLst/>
              <a:cxnLst>
                <a:cxn ang="0">
                  <a:pos x="connsiteX0" y="connsiteY0"/>
                </a:cxn>
                <a:cxn ang="0">
                  <a:pos x="connsiteX1" y="connsiteY1"/>
                </a:cxn>
                <a:cxn ang="0">
                  <a:pos x="connsiteX2" y="connsiteY2"/>
                </a:cxn>
                <a:cxn ang="0">
                  <a:pos x="connsiteX3" y="connsiteY3"/>
                </a:cxn>
              </a:cxnLst>
              <a:rect l="l" t="t" r="r" b="b"/>
              <a:pathLst>
                <a:path w="205980" h="128737">
                  <a:moveTo>
                    <a:pt x="163175" y="13196"/>
                  </a:moveTo>
                  <a:cubicBezTo>
                    <a:pt x="149980" y="7724"/>
                    <a:pt x="135497" y="4828"/>
                    <a:pt x="120370" y="4828"/>
                  </a:cubicBezTo>
                  <a:cubicBezTo>
                    <a:pt x="56645" y="4828"/>
                    <a:pt x="4828" y="58576"/>
                    <a:pt x="4828" y="124876"/>
                  </a:cubicBezTo>
                  <a:lnTo>
                    <a:pt x="202762" y="124876"/>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41" name="Freeform: Shape 561">
              <a:extLst>
                <a:ext uri="{FF2B5EF4-FFF2-40B4-BE49-F238E27FC236}">
                  <a16:creationId xmlns:a16="http://schemas.microsoft.com/office/drawing/2014/main" id="{0E8D5A24-1646-466F-9E23-EFC71868FB1E}"/>
                </a:ext>
              </a:extLst>
            </p:cNvPr>
            <p:cNvSpPr/>
            <p:nvPr/>
          </p:nvSpPr>
          <p:spPr>
            <a:xfrm>
              <a:off x="4539783" y="5983684"/>
              <a:ext cx="102990" cy="102990"/>
            </a:xfrm>
            <a:custGeom>
              <a:avLst/>
              <a:gdLst>
                <a:gd name="connsiteX0" fmla="*/ 99450 w 102990"/>
                <a:gd name="connsiteY0" fmla="*/ 52139 h 102990"/>
                <a:gd name="connsiteX1" fmla="*/ 52139 w 102990"/>
                <a:gd name="connsiteY1" fmla="*/ 99450 h 102990"/>
                <a:gd name="connsiteX2" fmla="*/ 4828 w 102990"/>
                <a:gd name="connsiteY2" fmla="*/ 52139 h 102990"/>
                <a:gd name="connsiteX3" fmla="*/ 52139 w 102990"/>
                <a:gd name="connsiteY3" fmla="*/ 4828 h 102990"/>
                <a:gd name="connsiteX4" fmla="*/ 99450 w 102990"/>
                <a:gd name="connsiteY4" fmla="*/ 52139 h 102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90" h="102990">
                  <a:moveTo>
                    <a:pt x="99450" y="52139"/>
                  </a:moveTo>
                  <a:cubicBezTo>
                    <a:pt x="99450" y="78268"/>
                    <a:pt x="78268" y="99450"/>
                    <a:pt x="52139" y="99450"/>
                  </a:cubicBezTo>
                  <a:cubicBezTo>
                    <a:pt x="26010" y="99450"/>
                    <a:pt x="4828" y="78268"/>
                    <a:pt x="4828" y="52139"/>
                  </a:cubicBezTo>
                  <a:cubicBezTo>
                    <a:pt x="4828" y="26010"/>
                    <a:pt x="26010" y="4828"/>
                    <a:pt x="52139" y="4828"/>
                  </a:cubicBezTo>
                  <a:cubicBezTo>
                    <a:pt x="78268" y="4828"/>
                    <a:pt x="99450" y="26010"/>
                    <a:pt x="99450" y="52139"/>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42" name="Freeform: Shape 562">
              <a:extLst>
                <a:ext uri="{FF2B5EF4-FFF2-40B4-BE49-F238E27FC236}">
                  <a16:creationId xmlns:a16="http://schemas.microsoft.com/office/drawing/2014/main" id="{7A087460-F243-4893-AB24-EFAB4ACF3B7A}"/>
                </a:ext>
              </a:extLst>
            </p:cNvPr>
            <p:cNvSpPr/>
            <p:nvPr/>
          </p:nvSpPr>
          <p:spPr>
            <a:xfrm>
              <a:off x="4635693" y="6029708"/>
              <a:ext cx="57932" cy="9655"/>
            </a:xfrm>
            <a:custGeom>
              <a:avLst/>
              <a:gdLst>
                <a:gd name="connsiteX0" fmla="*/ 4828 w 57932"/>
                <a:gd name="connsiteY0" fmla="*/ 4828 h 9655"/>
                <a:gd name="connsiteX1" fmla="*/ 56001 w 57932"/>
                <a:gd name="connsiteY1" fmla="*/ 4828 h 9655"/>
              </a:gdLst>
              <a:ahLst/>
              <a:cxnLst>
                <a:cxn ang="0">
                  <a:pos x="connsiteX0" y="connsiteY0"/>
                </a:cxn>
                <a:cxn ang="0">
                  <a:pos x="connsiteX1" y="connsiteY1"/>
                </a:cxn>
              </a:cxnLst>
              <a:rect l="l" t="t" r="r" b="b"/>
              <a:pathLst>
                <a:path w="57932" h="9655">
                  <a:moveTo>
                    <a:pt x="4828" y="4828"/>
                  </a:moveTo>
                  <a:lnTo>
                    <a:pt x="56001"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 name="Freeform: Shape 563">
              <a:extLst>
                <a:ext uri="{FF2B5EF4-FFF2-40B4-BE49-F238E27FC236}">
                  <a16:creationId xmlns:a16="http://schemas.microsoft.com/office/drawing/2014/main" id="{2D8C90F2-B0CD-4E5A-98AE-CBD097D20B67}"/>
                </a:ext>
              </a:extLst>
            </p:cNvPr>
            <p:cNvSpPr/>
            <p:nvPr/>
          </p:nvSpPr>
          <p:spPr>
            <a:xfrm>
              <a:off x="4587094" y="6077985"/>
              <a:ext cx="9655" cy="57932"/>
            </a:xfrm>
            <a:custGeom>
              <a:avLst/>
              <a:gdLst>
                <a:gd name="connsiteX0" fmla="*/ 4828 w 9655"/>
                <a:gd name="connsiteY0" fmla="*/ 4828 h 57932"/>
                <a:gd name="connsiteX1" fmla="*/ 4828 w 9655"/>
                <a:gd name="connsiteY1" fmla="*/ 56001 h 57932"/>
              </a:gdLst>
              <a:ahLst/>
              <a:cxnLst>
                <a:cxn ang="0">
                  <a:pos x="connsiteX0" y="connsiteY0"/>
                </a:cxn>
                <a:cxn ang="0">
                  <a:pos x="connsiteX1" y="connsiteY1"/>
                </a:cxn>
              </a:cxnLst>
              <a:rect l="l" t="t" r="r" b="b"/>
              <a:pathLst>
                <a:path w="9655" h="57932">
                  <a:moveTo>
                    <a:pt x="4828" y="4828"/>
                  </a:moveTo>
                  <a:lnTo>
                    <a:pt x="4828" y="56001"/>
                  </a:lnTo>
                </a:path>
              </a:pathLst>
            </a:custGeom>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44" name="Freeform: Shape 564">
              <a:extLst>
                <a:ext uri="{FF2B5EF4-FFF2-40B4-BE49-F238E27FC236}">
                  <a16:creationId xmlns:a16="http://schemas.microsoft.com/office/drawing/2014/main" id="{211B3F72-ED18-44F6-A9E4-66334477D0D1}"/>
                </a:ext>
              </a:extLst>
            </p:cNvPr>
            <p:cNvSpPr/>
            <p:nvPr/>
          </p:nvSpPr>
          <p:spPr>
            <a:xfrm>
              <a:off x="4564887" y="6127227"/>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45" name="Freeform: Shape 565">
              <a:extLst>
                <a:ext uri="{FF2B5EF4-FFF2-40B4-BE49-F238E27FC236}">
                  <a16:creationId xmlns:a16="http://schemas.microsoft.com/office/drawing/2014/main" id="{3270F973-12BB-40B5-9736-F1D3BCEE9856}"/>
                </a:ext>
              </a:extLst>
            </p:cNvPr>
            <p:cNvSpPr/>
            <p:nvPr/>
          </p:nvSpPr>
          <p:spPr>
            <a:xfrm>
              <a:off x="4683326" y="6004604"/>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46" name="Freeform: Shape 566">
              <a:extLst>
                <a:ext uri="{FF2B5EF4-FFF2-40B4-BE49-F238E27FC236}">
                  <a16:creationId xmlns:a16="http://schemas.microsoft.com/office/drawing/2014/main" id="{ACF3782C-7163-4884-B9D7-B082B9B69434}"/>
                </a:ext>
              </a:extLst>
            </p:cNvPr>
            <p:cNvSpPr/>
            <p:nvPr/>
          </p:nvSpPr>
          <p:spPr>
            <a:xfrm>
              <a:off x="4622819" y="6059962"/>
              <a:ext cx="45058" cy="45058"/>
            </a:xfrm>
            <a:custGeom>
              <a:avLst/>
              <a:gdLst>
                <a:gd name="connsiteX0" fmla="*/ 4828 w 45058"/>
                <a:gd name="connsiteY0" fmla="*/ 4828 h 45058"/>
                <a:gd name="connsiteX1" fmla="*/ 41196 w 45058"/>
                <a:gd name="connsiteY1" fmla="*/ 41196 h 45058"/>
              </a:gdLst>
              <a:ahLst/>
              <a:cxnLst>
                <a:cxn ang="0">
                  <a:pos x="connsiteX0" y="connsiteY0"/>
                </a:cxn>
                <a:cxn ang="0">
                  <a:pos x="connsiteX1" y="connsiteY1"/>
                </a:cxn>
              </a:cxnLst>
              <a:rect l="l" t="t" r="r" b="b"/>
              <a:pathLst>
                <a:path w="45058" h="45058">
                  <a:moveTo>
                    <a:pt x="4828" y="4828"/>
                  </a:moveTo>
                  <a:lnTo>
                    <a:pt x="41196" y="41196"/>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 name="Freeform: Shape 567">
              <a:extLst>
                <a:ext uri="{FF2B5EF4-FFF2-40B4-BE49-F238E27FC236}">
                  <a16:creationId xmlns:a16="http://schemas.microsoft.com/office/drawing/2014/main" id="{5D424FB0-76F2-4241-9E68-477692DFF394}"/>
                </a:ext>
              </a:extLst>
            </p:cNvPr>
            <p:cNvSpPr/>
            <p:nvPr/>
          </p:nvSpPr>
          <p:spPr>
            <a:xfrm>
              <a:off x="4649854" y="6086031"/>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grpSp>
      <p:grpSp>
        <p:nvGrpSpPr>
          <p:cNvPr id="48" name="Graphic 240">
            <a:extLst>
              <a:ext uri="{FF2B5EF4-FFF2-40B4-BE49-F238E27FC236}">
                <a16:creationId xmlns:a16="http://schemas.microsoft.com/office/drawing/2014/main" id="{43A9D3D7-7D48-4226-8BC1-8A354618FF81}"/>
              </a:ext>
            </a:extLst>
          </p:cNvPr>
          <p:cNvGrpSpPr/>
          <p:nvPr/>
        </p:nvGrpSpPr>
        <p:grpSpPr>
          <a:xfrm>
            <a:off x="2299148" y="4319793"/>
            <a:ext cx="915306" cy="915306"/>
            <a:chOff x="6079338" y="322847"/>
            <a:chExt cx="643689" cy="643689"/>
          </a:xfrm>
        </p:grpSpPr>
        <p:sp>
          <p:nvSpPr>
            <p:cNvPr id="49" name="Freeform: Shape 592">
              <a:extLst>
                <a:ext uri="{FF2B5EF4-FFF2-40B4-BE49-F238E27FC236}">
                  <a16:creationId xmlns:a16="http://schemas.microsoft.com/office/drawing/2014/main" id="{D0B28D93-7562-4C1F-90B4-57E072141126}"/>
                </a:ext>
              </a:extLst>
            </p:cNvPr>
            <p:cNvSpPr/>
            <p:nvPr/>
          </p:nvSpPr>
          <p:spPr>
            <a:xfrm>
              <a:off x="6272445" y="480229"/>
              <a:ext cx="270349" cy="308971"/>
            </a:xfrm>
            <a:custGeom>
              <a:avLst/>
              <a:gdLst>
                <a:gd name="connsiteX0" fmla="*/ 265522 w 270349"/>
                <a:gd name="connsiteY0" fmla="*/ 135175 h 308970"/>
                <a:gd name="connsiteX1" fmla="*/ 135175 w 270349"/>
                <a:gd name="connsiteY1" fmla="*/ 4828 h 308970"/>
                <a:gd name="connsiteX2" fmla="*/ 4828 w 270349"/>
                <a:gd name="connsiteY2" fmla="*/ 135175 h 308970"/>
                <a:gd name="connsiteX3" fmla="*/ 78852 w 270349"/>
                <a:gd name="connsiteY3" fmla="*/ 252648 h 308970"/>
                <a:gd name="connsiteX4" fmla="*/ 78852 w 270349"/>
                <a:gd name="connsiteY4" fmla="*/ 305109 h 308970"/>
                <a:gd name="connsiteX5" fmla="*/ 191497 w 270349"/>
                <a:gd name="connsiteY5" fmla="*/ 305109 h 308970"/>
                <a:gd name="connsiteX6" fmla="*/ 191497 w 270349"/>
                <a:gd name="connsiteY6" fmla="*/ 252648 h 308970"/>
                <a:gd name="connsiteX7" fmla="*/ 265522 w 270349"/>
                <a:gd name="connsiteY7" fmla="*/ 135175 h 30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49" h="308970">
                  <a:moveTo>
                    <a:pt x="265522" y="135175"/>
                  </a:moveTo>
                  <a:cubicBezTo>
                    <a:pt x="265522" y="63082"/>
                    <a:pt x="207268" y="4828"/>
                    <a:pt x="135175" y="4828"/>
                  </a:cubicBezTo>
                  <a:cubicBezTo>
                    <a:pt x="63082" y="4828"/>
                    <a:pt x="4828" y="63082"/>
                    <a:pt x="4828" y="135175"/>
                  </a:cubicBezTo>
                  <a:cubicBezTo>
                    <a:pt x="4828" y="186992"/>
                    <a:pt x="35081" y="231728"/>
                    <a:pt x="78852" y="252648"/>
                  </a:cubicBezTo>
                  <a:lnTo>
                    <a:pt x="78852" y="305109"/>
                  </a:lnTo>
                  <a:lnTo>
                    <a:pt x="191497" y="305109"/>
                  </a:lnTo>
                  <a:lnTo>
                    <a:pt x="191497" y="252648"/>
                  </a:lnTo>
                  <a:cubicBezTo>
                    <a:pt x="235268" y="231728"/>
                    <a:pt x="265522" y="186992"/>
                    <a:pt x="265522" y="135175"/>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50" name="Freeform: Shape 593">
              <a:extLst>
                <a:ext uri="{FF2B5EF4-FFF2-40B4-BE49-F238E27FC236}">
                  <a16:creationId xmlns:a16="http://schemas.microsoft.com/office/drawing/2014/main" id="{753154DB-FB44-4A1F-9C5E-BF1C822900E7}"/>
                </a:ext>
              </a:extLst>
            </p:cNvPr>
            <p:cNvSpPr/>
            <p:nvPr/>
          </p:nvSpPr>
          <p:spPr>
            <a:xfrm>
              <a:off x="6402792" y="664324"/>
              <a:ext cx="9655" cy="125519"/>
            </a:xfrm>
            <a:custGeom>
              <a:avLst/>
              <a:gdLst>
                <a:gd name="connsiteX0" fmla="*/ 4828 w 9655"/>
                <a:gd name="connsiteY0" fmla="*/ 121014 h 125519"/>
                <a:gd name="connsiteX1" fmla="*/ 4828 w 9655"/>
                <a:gd name="connsiteY1" fmla="*/ 4828 h 125519"/>
              </a:gdLst>
              <a:ahLst/>
              <a:cxnLst>
                <a:cxn ang="0">
                  <a:pos x="connsiteX0" y="connsiteY0"/>
                </a:cxn>
                <a:cxn ang="0">
                  <a:pos x="connsiteX1" y="connsiteY1"/>
                </a:cxn>
              </a:cxnLst>
              <a:rect l="l" t="t" r="r" b="b"/>
              <a:pathLst>
                <a:path w="9655" h="125519">
                  <a:moveTo>
                    <a:pt x="4828" y="121014"/>
                  </a:moveTo>
                  <a:lnTo>
                    <a:pt x="4828"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51" name="Freeform: Shape 594">
              <a:extLst>
                <a:ext uri="{FF2B5EF4-FFF2-40B4-BE49-F238E27FC236}">
                  <a16:creationId xmlns:a16="http://schemas.microsoft.com/office/drawing/2014/main" id="{E1393594-4FA9-44C9-9B96-7872B3C897BD}"/>
                </a:ext>
              </a:extLst>
            </p:cNvPr>
            <p:cNvSpPr/>
            <p:nvPr/>
          </p:nvSpPr>
          <p:spPr>
            <a:xfrm>
              <a:off x="6373826" y="663358"/>
              <a:ext cx="67587" cy="9655"/>
            </a:xfrm>
            <a:custGeom>
              <a:avLst/>
              <a:gdLst>
                <a:gd name="connsiteX0" fmla="*/ 4828 w 67587"/>
                <a:gd name="connsiteY0" fmla="*/ 4828 h 9655"/>
                <a:gd name="connsiteX1" fmla="*/ 62760 w 67587"/>
                <a:gd name="connsiteY1" fmla="*/ 4828 h 9655"/>
              </a:gdLst>
              <a:ahLst/>
              <a:cxnLst>
                <a:cxn ang="0">
                  <a:pos x="connsiteX0" y="connsiteY0"/>
                </a:cxn>
                <a:cxn ang="0">
                  <a:pos x="connsiteX1" y="connsiteY1"/>
                </a:cxn>
              </a:cxnLst>
              <a:rect l="l" t="t" r="r" b="b"/>
              <a:pathLst>
                <a:path w="67587" h="9655">
                  <a:moveTo>
                    <a:pt x="4828" y="4828"/>
                  </a:moveTo>
                  <a:lnTo>
                    <a:pt x="62760"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52" name="Freeform: Shape 595">
              <a:extLst>
                <a:ext uri="{FF2B5EF4-FFF2-40B4-BE49-F238E27FC236}">
                  <a16:creationId xmlns:a16="http://schemas.microsoft.com/office/drawing/2014/main" id="{DA1B5879-BE5E-401B-B50A-F0BAE4D55DE3}"/>
                </a:ext>
              </a:extLst>
            </p:cNvPr>
            <p:cNvSpPr/>
            <p:nvPr/>
          </p:nvSpPr>
          <p:spPr>
            <a:xfrm>
              <a:off x="6318147" y="404917"/>
              <a:ext cx="28966" cy="61150"/>
            </a:xfrm>
            <a:custGeom>
              <a:avLst/>
              <a:gdLst>
                <a:gd name="connsiteX0" fmla="*/ 26713 w 28966"/>
                <a:gd name="connsiteY0" fmla="*/ 57610 h 61150"/>
                <a:gd name="connsiteX1" fmla="*/ 4828 w 28966"/>
                <a:gd name="connsiteY1" fmla="*/ 4828 h 61150"/>
              </a:gdLst>
              <a:ahLst/>
              <a:cxnLst>
                <a:cxn ang="0">
                  <a:pos x="connsiteX0" y="connsiteY0"/>
                </a:cxn>
                <a:cxn ang="0">
                  <a:pos x="connsiteX1" y="connsiteY1"/>
                </a:cxn>
              </a:cxnLst>
              <a:rect l="l" t="t" r="r" b="b"/>
              <a:pathLst>
                <a:path w="28966" h="61150">
                  <a:moveTo>
                    <a:pt x="26713" y="57610"/>
                  </a:moveTo>
                  <a:lnTo>
                    <a:pt x="4828"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3" name="Freeform: Shape 596">
              <a:extLst>
                <a:ext uri="{FF2B5EF4-FFF2-40B4-BE49-F238E27FC236}">
                  <a16:creationId xmlns:a16="http://schemas.microsoft.com/office/drawing/2014/main" id="{6DACE02C-D922-4620-8D21-221E9126B93F}"/>
                </a:ext>
              </a:extLst>
            </p:cNvPr>
            <p:cNvSpPr/>
            <p:nvPr/>
          </p:nvSpPr>
          <p:spPr>
            <a:xfrm>
              <a:off x="6198099" y="672048"/>
              <a:ext cx="61150" cy="28966"/>
            </a:xfrm>
            <a:custGeom>
              <a:avLst/>
              <a:gdLst>
                <a:gd name="connsiteX0" fmla="*/ 4828 w 61150"/>
                <a:gd name="connsiteY0" fmla="*/ 27035 h 28966"/>
                <a:gd name="connsiteX1" fmla="*/ 57932 w 61150"/>
                <a:gd name="connsiteY1" fmla="*/ 4828 h 28966"/>
              </a:gdLst>
              <a:ahLst/>
              <a:cxnLst>
                <a:cxn ang="0">
                  <a:pos x="connsiteX0" y="connsiteY0"/>
                </a:cxn>
                <a:cxn ang="0">
                  <a:pos x="connsiteX1" y="connsiteY1"/>
                </a:cxn>
              </a:cxnLst>
              <a:rect l="l" t="t" r="r" b="b"/>
              <a:pathLst>
                <a:path w="61150" h="28966">
                  <a:moveTo>
                    <a:pt x="4828" y="27035"/>
                  </a:moveTo>
                  <a:lnTo>
                    <a:pt x="57932"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4" name="Freeform: Shape 597">
              <a:extLst>
                <a:ext uri="{FF2B5EF4-FFF2-40B4-BE49-F238E27FC236}">
                  <a16:creationId xmlns:a16="http://schemas.microsoft.com/office/drawing/2014/main" id="{93F78BEB-8DEC-4215-8811-0546316F2F6E}"/>
                </a:ext>
              </a:extLst>
            </p:cNvPr>
            <p:cNvSpPr/>
            <p:nvPr/>
          </p:nvSpPr>
          <p:spPr>
            <a:xfrm>
              <a:off x="6554380" y="524644"/>
              <a:ext cx="61150" cy="28966"/>
            </a:xfrm>
            <a:custGeom>
              <a:avLst/>
              <a:gdLst>
                <a:gd name="connsiteX0" fmla="*/ 4828 w 61150"/>
                <a:gd name="connsiteY0" fmla="*/ 26713 h 28966"/>
                <a:gd name="connsiteX1" fmla="*/ 57932 w 61150"/>
                <a:gd name="connsiteY1" fmla="*/ 4828 h 28966"/>
              </a:gdLst>
              <a:ahLst/>
              <a:cxnLst>
                <a:cxn ang="0">
                  <a:pos x="connsiteX0" y="connsiteY0"/>
                </a:cxn>
                <a:cxn ang="0">
                  <a:pos x="connsiteX1" y="connsiteY1"/>
                </a:cxn>
              </a:cxnLst>
              <a:rect l="l" t="t" r="r" b="b"/>
              <a:pathLst>
                <a:path w="61150" h="28966">
                  <a:moveTo>
                    <a:pt x="4828" y="26713"/>
                  </a:moveTo>
                  <a:lnTo>
                    <a:pt x="57932"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 name="Freeform: Shape 598">
              <a:extLst>
                <a:ext uri="{FF2B5EF4-FFF2-40B4-BE49-F238E27FC236}">
                  <a16:creationId xmlns:a16="http://schemas.microsoft.com/office/drawing/2014/main" id="{12990F54-E82A-41F3-87A3-A0D46F945F0C}"/>
                </a:ext>
              </a:extLst>
            </p:cNvPr>
            <p:cNvSpPr/>
            <p:nvPr/>
          </p:nvSpPr>
          <p:spPr>
            <a:xfrm>
              <a:off x="6198099" y="524644"/>
              <a:ext cx="61150" cy="28966"/>
            </a:xfrm>
            <a:custGeom>
              <a:avLst/>
              <a:gdLst>
                <a:gd name="connsiteX0" fmla="*/ 4828 w 61150"/>
                <a:gd name="connsiteY0" fmla="*/ 4828 h 28966"/>
                <a:gd name="connsiteX1" fmla="*/ 57932 w 61150"/>
                <a:gd name="connsiteY1" fmla="*/ 27035 h 28966"/>
              </a:gdLst>
              <a:ahLst/>
              <a:cxnLst>
                <a:cxn ang="0">
                  <a:pos x="connsiteX0" y="connsiteY0"/>
                </a:cxn>
                <a:cxn ang="0">
                  <a:pos x="connsiteX1" y="connsiteY1"/>
                </a:cxn>
              </a:cxnLst>
              <a:rect l="l" t="t" r="r" b="b"/>
              <a:pathLst>
                <a:path w="61150" h="28966">
                  <a:moveTo>
                    <a:pt x="4828" y="4828"/>
                  </a:moveTo>
                  <a:lnTo>
                    <a:pt x="57932" y="27035"/>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 name="Freeform: Shape 599">
              <a:extLst>
                <a:ext uri="{FF2B5EF4-FFF2-40B4-BE49-F238E27FC236}">
                  <a16:creationId xmlns:a16="http://schemas.microsoft.com/office/drawing/2014/main" id="{D65EE308-F200-4751-83FB-73A30B07D36E}"/>
                </a:ext>
              </a:extLst>
            </p:cNvPr>
            <p:cNvSpPr/>
            <p:nvPr/>
          </p:nvSpPr>
          <p:spPr>
            <a:xfrm>
              <a:off x="6554380" y="672370"/>
              <a:ext cx="61150" cy="28966"/>
            </a:xfrm>
            <a:custGeom>
              <a:avLst/>
              <a:gdLst>
                <a:gd name="connsiteX0" fmla="*/ 4828 w 61150"/>
                <a:gd name="connsiteY0" fmla="*/ 4828 h 28966"/>
                <a:gd name="connsiteX1" fmla="*/ 57932 w 61150"/>
                <a:gd name="connsiteY1" fmla="*/ 26713 h 28966"/>
              </a:gdLst>
              <a:ahLst/>
              <a:cxnLst>
                <a:cxn ang="0">
                  <a:pos x="connsiteX0" y="connsiteY0"/>
                </a:cxn>
                <a:cxn ang="0">
                  <a:pos x="connsiteX1" y="connsiteY1"/>
                </a:cxn>
              </a:cxnLst>
              <a:rect l="l" t="t" r="r" b="b"/>
              <a:pathLst>
                <a:path w="61150" h="28966">
                  <a:moveTo>
                    <a:pt x="4828" y="4828"/>
                  </a:moveTo>
                  <a:lnTo>
                    <a:pt x="57932" y="26713"/>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7" name="Freeform: Shape 600">
              <a:extLst>
                <a:ext uri="{FF2B5EF4-FFF2-40B4-BE49-F238E27FC236}">
                  <a16:creationId xmlns:a16="http://schemas.microsoft.com/office/drawing/2014/main" id="{8D32025B-2E8C-45C4-8119-EC6323F98566}"/>
                </a:ext>
              </a:extLst>
            </p:cNvPr>
            <p:cNvSpPr/>
            <p:nvPr/>
          </p:nvSpPr>
          <p:spPr>
            <a:xfrm>
              <a:off x="6465551" y="404917"/>
              <a:ext cx="28966" cy="61150"/>
            </a:xfrm>
            <a:custGeom>
              <a:avLst/>
              <a:gdLst>
                <a:gd name="connsiteX0" fmla="*/ 4828 w 28966"/>
                <a:gd name="connsiteY0" fmla="*/ 57610 h 61150"/>
                <a:gd name="connsiteX1" fmla="*/ 26713 w 28966"/>
                <a:gd name="connsiteY1" fmla="*/ 4828 h 61150"/>
              </a:gdLst>
              <a:ahLst/>
              <a:cxnLst>
                <a:cxn ang="0">
                  <a:pos x="connsiteX0" y="connsiteY0"/>
                </a:cxn>
                <a:cxn ang="0">
                  <a:pos x="connsiteX1" y="connsiteY1"/>
                </a:cxn>
              </a:cxnLst>
              <a:rect l="l" t="t" r="r" b="b"/>
              <a:pathLst>
                <a:path w="28966" h="61150">
                  <a:moveTo>
                    <a:pt x="4828" y="57610"/>
                  </a:moveTo>
                  <a:lnTo>
                    <a:pt x="26713"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8" name="Freeform: Shape 601">
              <a:extLst>
                <a:ext uri="{FF2B5EF4-FFF2-40B4-BE49-F238E27FC236}">
                  <a16:creationId xmlns:a16="http://schemas.microsoft.com/office/drawing/2014/main" id="{01CED3B0-21EA-4C97-B12B-BB11453D1541}"/>
                </a:ext>
              </a:extLst>
            </p:cNvPr>
            <p:cNvSpPr/>
            <p:nvPr/>
          </p:nvSpPr>
          <p:spPr>
            <a:xfrm>
              <a:off x="6346469" y="794027"/>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59" name="Freeform: Shape 602">
              <a:extLst>
                <a:ext uri="{FF2B5EF4-FFF2-40B4-BE49-F238E27FC236}">
                  <a16:creationId xmlns:a16="http://schemas.microsoft.com/office/drawing/2014/main" id="{E178F376-B983-4F27-A906-DB4CB0B933C1}"/>
                </a:ext>
              </a:extLst>
            </p:cNvPr>
            <p:cNvSpPr/>
            <p:nvPr/>
          </p:nvSpPr>
          <p:spPr>
            <a:xfrm>
              <a:off x="6346469" y="824281"/>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60" name="Freeform: Shape 603">
              <a:extLst>
                <a:ext uri="{FF2B5EF4-FFF2-40B4-BE49-F238E27FC236}">
                  <a16:creationId xmlns:a16="http://schemas.microsoft.com/office/drawing/2014/main" id="{C57B8F96-45B9-4878-B66F-0A25F03F1E0F}"/>
                </a:ext>
              </a:extLst>
            </p:cNvPr>
            <p:cNvSpPr/>
            <p:nvPr/>
          </p:nvSpPr>
          <p:spPr>
            <a:xfrm>
              <a:off x="6376079" y="854212"/>
              <a:ext cx="61150" cy="25748"/>
            </a:xfrm>
            <a:custGeom>
              <a:avLst/>
              <a:gdLst>
                <a:gd name="connsiteX0" fmla="*/ 49242 w 61150"/>
                <a:gd name="connsiteY0" fmla="*/ 21885 h 25747"/>
                <a:gd name="connsiteX1" fmla="*/ 13839 w 61150"/>
                <a:gd name="connsiteY1" fmla="*/ 21885 h 25747"/>
                <a:gd name="connsiteX2" fmla="*/ 4828 w 61150"/>
                <a:gd name="connsiteY2" fmla="*/ 4828 h 25747"/>
                <a:gd name="connsiteX3" fmla="*/ 58254 w 61150"/>
                <a:gd name="connsiteY3" fmla="*/ 4828 h 25747"/>
              </a:gdLst>
              <a:ahLst/>
              <a:cxnLst>
                <a:cxn ang="0">
                  <a:pos x="connsiteX0" y="connsiteY0"/>
                </a:cxn>
                <a:cxn ang="0">
                  <a:pos x="connsiteX1" y="connsiteY1"/>
                </a:cxn>
                <a:cxn ang="0">
                  <a:pos x="connsiteX2" y="connsiteY2"/>
                </a:cxn>
                <a:cxn ang="0">
                  <a:pos x="connsiteX3" y="connsiteY3"/>
                </a:cxn>
              </a:cxnLst>
              <a:rect l="l" t="t" r="r" b="b"/>
              <a:pathLst>
                <a:path w="61150" h="25747">
                  <a:moveTo>
                    <a:pt x="49242" y="21885"/>
                  </a:moveTo>
                  <a:lnTo>
                    <a:pt x="13839" y="21885"/>
                  </a:lnTo>
                  <a:lnTo>
                    <a:pt x="4828" y="4828"/>
                  </a:lnTo>
                  <a:lnTo>
                    <a:pt x="58254" y="4828"/>
                  </a:ln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grpSp>
      <p:grpSp>
        <p:nvGrpSpPr>
          <p:cNvPr id="61" name="Group 60">
            <a:extLst>
              <a:ext uri="{FF2B5EF4-FFF2-40B4-BE49-F238E27FC236}">
                <a16:creationId xmlns:a16="http://schemas.microsoft.com/office/drawing/2014/main" id="{38259ED5-FE63-47FB-9F8F-FC605E5209C9}"/>
              </a:ext>
            </a:extLst>
          </p:cNvPr>
          <p:cNvGrpSpPr/>
          <p:nvPr/>
        </p:nvGrpSpPr>
        <p:grpSpPr>
          <a:xfrm>
            <a:off x="340743" y="5707503"/>
            <a:ext cx="3878058" cy="423260"/>
            <a:chOff x="578398" y="6478445"/>
            <a:chExt cx="3444109" cy="423260"/>
          </a:xfrm>
        </p:grpSpPr>
        <p:cxnSp>
          <p:nvCxnSpPr>
            <p:cNvPr id="62" name="Straight Connector 61">
              <a:extLst>
                <a:ext uri="{FF2B5EF4-FFF2-40B4-BE49-F238E27FC236}">
                  <a16:creationId xmlns:a16="http://schemas.microsoft.com/office/drawing/2014/main" id="{3C06840C-008B-43C0-80CD-0CB4B34A394D}"/>
                </a:ext>
              </a:extLst>
            </p:cNvPr>
            <p:cNvCxnSpPr/>
            <p:nvPr/>
          </p:nvCxnSpPr>
          <p:spPr>
            <a:xfrm rot="16200000">
              <a:off x="2300453" y="4756390"/>
              <a:ext cx="0" cy="344410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65BF824-8F41-4F59-86F2-534D8C3AD72D}"/>
                </a:ext>
              </a:extLst>
            </p:cNvPr>
            <p:cNvCxnSpPr/>
            <p:nvPr/>
          </p:nvCxnSpPr>
          <p:spPr>
            <a:xfrm rot="16200000" flipH="1">
              <a:off x="2088824" y="6690075"/>
              <a:ext cx="423260" cy="0"/>
            </a:xfrm>
            <a:prstGeom prst="straightConnector1">
              <a:avLst/>
            </a:prstGeom>
            <a:ln w="19050">
              <a:solidFill>
                <a:schemeClr val="accent1"/>
              </a:solidFill>
              <a:headEnd type="none"/>
              <a:tailEnd type="arrow" w="lg" len="med"/>
            </a:ln>
          </p:spPr>
          <p:style>
            <a:lnRef idx="1">
              <a:schemeClr val="accent1"/>
            </a:lnRef>
            <a:fillRef idx="0">
              <a:schemeClr val="accent1"/>
            </a:fillRef>
            <a:effectRef idx="0">
              <a:schemeClr val="accent1"/>
            </a:effectRef>
            <a:fontRef idx="minor">
              <a:schemeClr val="tx1"/>
            </a:fontRef>
          </p:style>
        </p:cxnSp>
      </p:grpSp>
      <p:sp>
        <p:nvSpPr>
          <p:cNvPr id="64" name="TextBox 63">
            <a:extLst>
              <a:ext uri="{FF2B5EF4-FFF2-40B4-BE49-F238E27FC236}">
                <a16:creationId xmlns:a16="http://schemas.microsoft.com/office/drawing/2014/main" id="{6D7A03C0-4C0A-441D-BFD6-FA8504C044D5}"/>
              </a:ext>
            </a:extLst>
          </p:cNvPr>
          <p:cNvSpPr txBox="1"/>
          <p:nvPr/>
        </p:nvSpPr>
        <p:spPr>
          <a:xfrm>
            <a:off x="577915" y="6248580"/>
            <a:ext cx="3026790" cy="369332"/>
          </a:xfrm>
          <a:prstGeom prst="rect">
            <a:avLst/>
          </a:prstGeom>
          <a:noFill/>
        </p:spPr>
        <p:txBody>
          <a:bodyPr wrap="none" rtlCol="0">
            <a:spAutoFit/>
          </a:bodyPr>
          <a:lstStyle/>
          <a:p>
            <a:pPr algn="ctr" defTabSz="731474">
              <a:lnSpc>
                <a:spcPct val="90000"/>
              </a:lnSpc>
              <a:spcAft>
                <a:spcPts val="1800"/>
              </a:spcAft>
              <a:defRPr/>
            </a:pPr>
            <a:r>
              <a:rPr lang="en-US" sz="2000" dirty="0">
                <a:solidFill>
                  <a:srgbClr val="FF9900"/>
                </a:solidFill>
                <a:latin typeface="Amazon Ember"/>
              </a:rPr>
              <a:t>Create a case for change</a:t>
            </a:r>
          </a:p>
        </p:txBody>
      </p:sp>
      <p:sp>
        <p:nvSpPr>
          <p:cNvPr id="65" name="TextBox 64">
            <a:extLst>
              <a:ext uri="{FF2B5EF4-FFF2-40B4-BE49-F238E27FC236}">
                <a16:creationId xmlns:a16="http://schemas.microsoft.com/office/drawing/2014/main" id="{EEB56CFC-98F1-48B0-8331-B1AD2902052F}"/>
              </a:ext>
            </a:extLst>
          </p:cNvPr>
          <p:cNvSpPr txBox="1"/>
          <p:nvPr/>
        </p:nvSpPr>
        <p:spPr>
          <a:xfrm>
            <a:off x="10500325" y="3828915"/>
            <a:ext cx="1472602" cy="492443"/>
          </a:xfrm>
          <a:prstGeom prst="rect">
            <a:avLst/>
          </a:prstGeom>
          <a:noFill/>
        </p:spPr>
        <p:txBody>
          <a:bodyPr wrap="square" rtlCol="0">
            <a:spAutoFit/>
          </a:bodyPr>
          <a:lstStyle/>
          <a:p>
            <a:pPr defTabSz="1097214">
              <a:defRPr/>
            </a:pPr>
            <a:r>
              <a:rPr lang="en-US" sz="1300" dirty="0">
                <a:solidFill>
                  <a:srgbClr val="FFFFFF"/>
                </a:solidFill>
                <a:latin typeface="Amazon Ember"/>
                <a:ea typeface="Amazon Ember" panose="02000000000000000000" pitchFamily="2" charset="0"/>
              </a:rPr>
              <a:t>Operate &amp;</a:t>
            </a:r>
            <a:br>
              <a:rPr lang="en-US" sz="1300" dirty="0">
                <a:solidFill>
                  <a:srgbClr val="FFFFFF"/>
                </a:solidFill>
                <a:latin typeface="Amazon Ember"/>
                <a:ea typeface="Amazon Ember" panose="02000000000000000000" pitchFamily="2" charset="0"/>
              </a:rPr>
            </a:br>
            <a:r>
              <a:rPr lang="en-US" sz="1300" dirty="0">
                <a:solidFill>
                  <a:srgbClr val="FFFFFF"/>
                </a:solidFill>
                <a:latin typeface="Amazon Ember"/>
                <a:ea typeface="Amazon Ember" panose="02000000000000000000" pitchFamily="2" charset="0"/>
              </a:rPr>
              <a:t>optimize</a:t>
            </a:r>
          </a:p>
        </p:txBody>
      </p:sp>
      <p:sp>
        <p:nvSpPr>
          <p:cNvPr id="66" name="TextBox 65">
            <a:extLst>
              <a:ext uri="{FF2B5EF4-FFF2-40B4-BE49-F238E27FC236}">
                <a16:creationId xmlns:a16="http://schemas.microsoft.com/office/drawing/2014/main" id="{E32D9E3F-0FDB-4838-89BF-F9B5F247C6C4}"/>
              </a:ext>
            </a:extLst>
          </p:cNvPr>
          <p:cNvSpPr txBox="1"/>
          <p:nvPr/>
        </p:nvSpPr>
        <p:spPr>
          <a:xfrm>
            <a:off x="10535826" y="2386747"/>
            <a:ext cx="2104771" cy="292388"/>
          </a:xfrm>
          <a:prstGeom prst="rect">
            <a:avLst/>
          </a:prstGeom>
          <a:noFill/>
        </p:spPr>
        <p:txBody>
          <a:bodyPr wrap="square" rtlCol="0">
            <a:spAutoFit/>
          </a:bodyPr>
          <a:lstStyle/>
          <a:p>
            <a:pPr defTabSz="1097214">
              <a:defRPr/>
            </a:pPr>
            <a:r>
              <a:rPr lang="en-US" sz="1300" dirty="0">
                <a:solidFill>
                  <a:srgbClr val="FFFFFF"/>
                </a:solidFill>
                <a:latin typeface="Amazon Ember"/>
                <a:ea typeface="Amazon Ember" panose="02000000000000000000" pitchFamily="2" charset="0"/>
              </a:rPr>
              <a:t>Migrate</a:t>
            </a:r>
          </a:p>
        </p:txBody>
      </p:sp>
      <p:sp>
        <p:nvSpPr>
          <p:cNvPr id="67" name="TextBox 66">
            <a:extLst>
              <a:ext uri="{FF2B5EF4-FFF2-40B4-BE49-F238E27FC236}">
                <a16:creationId xmlns:a16="http://schemas.microsoft.com/office/drawing/2014/main" id="{91AC088E-1A69-43A7-91F2-8A9C7E988BB2}"/>
              </a:ext>
            </a:extLst>
          </p:cNvPr>
          <p:cNvSpPr txBox="1"/>
          <p:nvPr/>
        </p:nvSpPr>
        <p:spPr>
          <a:xfrm>
            <a:off x="10535826" y="4912147"/>
            <a:ext cx="2104771" cy="292388"/>
          </a:xfrm>
          <a:prstGeom prst="rect">
            <a:avLst/>
          </a:prstGeom>
          <a:noFill/>
        </p:spPr>
        <p:txBody>
          <a:bodyPr wrap="square" rtlCol="0">
            <a:spAutoFit/>
          </a:bodyPr>
          <a:lstStyle/>
          <a:p>
            <a:pPr defTabSz="1097214">
              <a:defRPr/>
            </a:pPr>
            <a:r>
              <a:rPr lang="en-US" sz="1300" dirty="0">
                <a:solidFill>
                  <a:srgbClr val="FFFFFF"/>
                </a:solidFill>
                <a:latin typeface="Amazon Ember"/>
                <a:ea typeface="Amazon Ember" panose="02000000000000000000" pitchFamily="2" charset="0"/>
              </a:rPr>
              <a:t>Modernize</a:t>
            </a:r>
          </a:p>
        </p:txBody>
      </p:sp>
      <p:grpSp>
        <p:nvGrpSpPr>
          <p:cNvPr id="68" name="Group 67">
            <a:extLst>
              <a:ext uri="{FF2B5EF4-FFF2-40B4-BE49-F238E27FC236}">
                <a16:creationId xmlns:a16="http://schemas.microsoft.com/office/drawing/2014/main" id="{6FFD48FB-F61B-4A52-9A3C-C467D6581CAD}"/>
              </a:ext>
            </a:extLst>
          </p:cNvPr>
          <p:cNvGrpSpPr/>
          <p:nvPr/>
        </p:nvGrpSpPr>
        <p:grpSpPr>
          <a:xfrm>
            <a:off x="11665989" y="3633458"/>
            <a:ext cx="722164" cy="741402"/>
            <a:chOff x="11775659" y="4756671"/>
            <a:chExt cx="483729" cy="496616"/>
          </a:xfrm>
        </p:grpSpPr>
        <p:grpSp>
          <p:nvGrpSpPr>
            <p:cNvPr id="69" name="Graphic 268">
              <a:extLst>
                <a:ext uri="{FF2B5EF4-FFF2-40B4-BE49-F238E27FC236}">
                  <a16:creationId xmlns:a16="http://schemas.microsoft.com/office/drawing/2014/main" id="{AE60453C-F12F-493F-B5D6-D1CEA3986700}"/>
                </a:ext>
              </a:extLst>
            </p:cNvPr>
            <p:cNvGrpSpPr/>
            <p:nvPr/>
          </p:nvGrpSpPr>
          <p:grpSpPr>
            <a:xfrm>
              <a:off x="11775659" y="4756671"/>
              <a:ext cx="483729" cy="496616"/>
              <a:chOff x="4562059" y="6255271"/>
              <a:chExt cx="483729" cy="496616"/>
            </a:xfrm>
          </p:grpSpPr>
          <p:sp>
            <p:nvSpPr>
              <p:cNvPr id="73" name="Freeform: Shape 486">
                <a:extLst>
                  <a:ext uri="{FF2B5EF4-FFF2-40B4-BE49-F238E27FC236}">
                    <a16:creationId xmlns:a16="http://schemas.microsoft.com/office/drawing/2014/main" id="{9FF180D9-DCFD-43C1-BA6A-87CF6EEA5D96}"/>
                  </a:ext>
                </a:extLst>
              </p:cNvPr>
              <p:cNvSpPr/>
              <p:nvPr/>
            </p:nvSpPr>
            <p:spPr>
              <a:xfrm>
                <a:off x="4566562" y="6542841"/>
                <a:ext cx="80461" cy="138393"/>
              </a:xfrm>
              <a:custGeom>
                <a:avLst/>
                <a:gdLst>
                  <a:gd name="connsiteX0" fmla="*/ 1617 w 80461"/>
                  <a:gd name="connsiteY0" fmla="*/ 1617 h 138393"/>
                  <a:gd name="connsiteX1" fmla="*/ 79825 w 80461"/>
                  <a:gd name="connsiteY1" fmla="*/ 139367 h 138393"/>
                </a:gdLst>
                <a:ahLst/>
                <a:cxnLst>
                  <a:cxn ang="0">
                    <a:pos x="connsiteX0" y="connsiteY0"/>
                  </a:cxn>
                  <a:cxn ang="0">
                    <a:pos x="connsiteX1" y="connsiteY1"/>
                  </a:cxn>
                </a:cxnLst>
                <a:rect l="l" t="t" r="r" b="b"/>
                <a:pathLst>
                  <a:path w="80461" h="138393">
                    <a:moveTo>
                      <a:pt x="1617" y="1617"/>
                    </a:moveTo>
                    <a:cubicBezTo>
                      <a:pt x="9342" y="45066"/>
                      <a:pt x="29296" y="99458"/>
                      <a:pt x="79825" y="13936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4" name="Freeform: Shape 487">
                <a:extLst>
                  <a:ext uri="{FF2B5EF4-FFF2-40B4-BE49-F238E27FC236}">
                    <a16:creationId xmlns:a16="http://schemas.microsoft.com/office/drawing/2014/main" id="{BC69C50D-62BA-40D4-A8CB-3762520AE1C4}"/>
                  </a:ext>
                </a:extLst>
              </p:cNvPr>
              <p:cNvSpPr/>
              <p:nvPr/>
            </p:nvSpPr>
            <p:spPr>
              <a:xfrm>
                <a:off x="4562059" y="6283113"/>
                <a:ext cx="131956" cy="231728"/>
              </a:xfrm>
              <a:custGeom>
                <a:avLst/>
                <a:gdLst>
                  <a:gd name="connsiteX0" fmla="*/ 132926 w 131956"/>
                  <a:gd name="connsiteY0" fmla="*/ 1617 h 231728"/>
                  <a:gd name="connsiteX1" fmla="*/ 121340 w 131956"/>
                  <a:gd name="connsiteY1" fmla="*/ 8054 h 231728"/>
                  <a:gd name="connsiteX2" fmla="*/ 2579 w 131956"/>
                  <a:gd name="connsiteY2" fmla="*/ 191506 h 231728"/>
                  <a:gd name="connsiteX3" fmla="*/ 2258 w 131956"/>
                  <a:gd name="connsiteY3" fmla="*/ 230127 h 231728"/>
                </a:gdLst>
                <a:ahLst/>
                <a:cxnLst>
                  <a:cxn ang="0">
                    <a:pos x="connsiteX0" y="connsiteY0"/>
                  </a:cxn>
                  <a:cxn ang="0">
                    <a:pos x="connsiteX1" y="connsiteY1"/>
                  </a:cxn>
                  <a:cxn ang="0">
                    <a:pos x="connsiteX2" y="connsiteY2"/>
                  </a:cxn>
                  <a:cxn ang="0">
                    <a:pos x="connsiteX3" y="connsiteY3"/>
                  </a:cxn>
                </a:cxnLst>
                <a:rect l="l" t="t" r="r" b="b"/>
                <a:pathLst>
                  <a:path w="131956" h="231728">
                    <a:moveTo>
                      <a:pt x="132926" y="1617"/>
                    </a:moveTo>
                    <a:cubicBezTo>
                      <a:pt x="129064" y="3548"/>
                      <a:pt x="125202" y="5801"/>
                      <a:pt x="121340" y="8054"/>
                    </a:cubicBezTo>
                    <a:cubicBezTo>
                      <a:pt x="70810" y="37342"/>
                      <a:pt x="11591" y="102998"/>
                      <a:pt x="2579" y="191506"/>
                    </a:cubicBezTo>
                    <a:cubicBezTo>
                      <a:pt x="2579" y="191506"/>
                      <a:pt x="648" y="206954"/>
                      <a:pt x="2258" y="23012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5" name="Freeform: Shape 488">
                <a:extLst>
                  <a:ext uri="{FF2B5EF4-FFF2-40B4-BE49-F238E27FC236}">
                    <a16:creationId xmlns:a16="http://schemas.microsoft.com/office/drawing/2014/main" id="{5DBE6E26-A04F-4F36-B4EA-B8BCC7D65C9C}"/>
                  </a:ext>
                </a:extLst>
              </p:cNvPr>
              <p:cNvSpPr/>
              <p:nvPr/>
            </p:nvSpPr>
            <p:spPr>
              <a:xfrm>
                <a:off x="4721369" y="6255271"/>
                <a:ext cx="280005" cy="106209"/>
              </a:xfrm>
              <a:custGeom>
                <a:avLst/>
                <a:gdLst>
                  <a:gd name="connsiteX0" fmla="*/ 281300 w 280004"/>
                  <a:gd name="connsiteY0" fmla="*/ 105737 h 106208"/>
                  <a:gd name="connsiteX1" fmla="*/ 1617 w 280004"/>
                  <a:gd name="connsiteY1" fmla="*/ 16908 h 106208"/>
                </a:gdLst>
                <a:ahLst/>
                <a:cxnLst>
                  <a:cxn ang="0">
                    <a:pos x="connsiteX0" y="connsiteY0"/>
                  </a:cxn>
                  <a:cxn ang="0">
                    <a:pos x="connsiteX1" y="connsiteY1"/>
                  </a:cxn>
                </a:cxnLst>
                <a:rect l="l" t="t" r="r" b="b"/>
                <a:pathLst>
                  <a:path w="280004" h="106208">
                    <a:moveTo>
                      <a:pt x="281300" y="105737"/>
                    </a:moveTo>
                    <a:cubicBezTo>
                      <a:pt x="240104" y="41368"/>
                      <a:pt x="127137" y="-30404"/>
                      <a:pt x="1617" y="16908"/>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6" name="Freeform: Shape 489">
                <a:extLst>
                  <a:ext uri="{FF2B5EF4-FFF2-40B4-BE49-F238E27FC236}">
                    <a16:creationId xmlns:a16="http://schemas.microsoft.com/office/drawing/2014/main" id="{396799F5-9D99-44DA-AE1B-97009A819567}"/>
                  </a:ext>
                </a:extLst>
              </p:cNvPr>
              <p:cNvSpPr/>
              <p:nvPr/>
            </p:nvSpPr>
            <p:spPr>
              <a:xfrm>
                <a:off x="4966139" y="6325122"/>
                <a:ext cx="45058" cy="41840"/>
              </a:xfrm>
              <a:custGeom>
                <a:avLst/>
                <a:gdLst>
                  <a:gd name="connsiteX0" fmla="*/ 45541 w 45058"/>
                  <a:gd name="connsiteY0" fmla="*/ 3379 h 41839"/>
                  <a:gd name="connsiteX1" fmla="*/ 39104 w 45058"/>
                  <a:gd name="connsiteY1" fmla="*/ 2414 h 41839"/>
                  <a:gd name="connsiteX2" fmla="*/ 34598 w 45058"/>
                  <a:gd name="connsiteY2" fmla="*/ 33955 h 41839"/>
                  <a:gd name="connsiteX3" fmla="*/ 3701 w 45058"/>
                  <a:gd name="connsiteY3" fmla="*/ 27196 h 41839"/>
                  <a:gd name="connsiteX4" fmla="*/ 2414 w 45058"/>
                  <a:gd name="connsiteY4" fmla="*/ 33311 h 41839"/>
                  <a:gd name="connsiteX5" fmla="*/ 40070 w 45058"/>
                  <a:gd name="connsiteY5" fmla="*/ 41679 h 4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58" h="41839">
                    <a:moveTo>
                      <a:pt x="45541" y="3379"/>
                    </a:moveTo>
                    <a:lnTo>
                      <a:pt x="39104" y="2414"/>
                    </a:lnTo>
                    <a:lnTo>
                      <a:pt x="34598" y="33955"/>
                    </a:lnTo>
                    <a:lnTo>
                      <a:pt x="3701" y="27196"/>
                    </a:lnTo>
                    <a:lnTo>
                      <a:pt x="2414" y="33311"/>
                    </a:lnTo>
                    <a:lnTo>
                      <a:pt x="40070" y="41679"/>
                    </a:lnTo>
                    <a:close/>
                  </a:path>
                </a:pathLst>
              </a:custGeom>
              <a:solidFill>
                <a:schemeClr val="tx1"/>
              </a:solidFill>
              <a:ln w="15875" cap="flat">
                <a:solidFill>
                  <a:schemeClr val="tx1"/>
                </a:solidFill>
                <a:prstDash val="solid"/>
                <a:miter/>
              </a:ln>
            </p:spPr>
            <p:txBody>
              <a:bodyPr rtlCol="0" anchor="ctr"/>
              <a:lstStyle/>
              <a:p>
                <a:pPr defTabSz="731474">
                  <a:defRPr/>
                </a:pPr>
                <a:endParaRPr lang="en-US" sz="1800" dirty="0">
                  <a:solidFill>
                    <a:srgbClr val="FFFFFF"/>
                  </a:solidFill>
                  <a:latin typeface="Amazon Ember"/>
                </a:endParaRPr>
              </a:p>
            </p:txBody>
          </p:sp>
          <p:sp>
            <p:nvSpPr>
              <p:cNvPr id="77" name="Freeform: Shape 490">
                <a:extLst>
                  <a:ext uri="{FF2B5EF4-FFF2-40B4-BE49-F238E27FC236}">
                    <a16:creationId xmlns:a16="http://schemas.microsoft.com/office/drawing/2014/main" id="{F6E66C7A-BA71-489E-95A5-D966B16473B0}"/>
                  </a:ext>
                </a:extLst>
              </p:cNvPr>
              <p:cNvSpPr/>
              <p:nvPr/>
            </p:nvSpPr>
            <p:spPr>
              <a:xfrm>
                <a:off x="5032914" y="6426655"/>
                <a:ext cx="12874" cy="86898"/>
              </a:xfrm>
              <a:custGeom>
                <a:avLst/>
                <a:gdLst>
                  <a:gd name="connsiteX0" fmla="*/ 12238 w 12873"/>
                  <a:gd name="connsiteY0" fmla="*/ 86584 h 86898"/>
                  <a:gd name="connsiteX1" fmla="*/ 1617 w 12873"/>
                  <a:gd name="connsiteY1" fmla="*/ 1617 h 86898"/>
                </a:gdLst>
                <a:ahLst/>
                <a:cxnLst>
                  <a:cxn ang="0">
                    <a:pos x="connsiteX0" y="connsiteY0"/>
                  </a:cxn>
                  <a:cxn ang="0">
                    <a:pos x="connsiteX1" y="connsiteY1"/>
                  </a:cxn>
                </a:cxnLst>
                <a:rect l="l" t="t" r="r" b="b"/>
                <a:pathLst>
                  <a:path w="12873" h="86898">
                    <a:moveTo>
                      <a:pt x="12238" y="86584"/>
                    </a:moveTo>
                    <a:cubicBezTo>
                      <a:pt x="13847" y="60193"/>
                      <a:pt x="10629" y="31549"/>
                      <a:pt x="1617"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8" name="Freeform: Shape 491">
                <a:extLst>
                  <a:ext uri="{FF2B5EF4-FFF2-40B4-BE49-F238E27FC236}">
                    <a16:creationId xmlns:a16="http://schemas.microsoft.com/office/drawing/2014/main" id="{C7B6264B-2CD9-4AC0-9EBD-4C0F3463A50B}"/>
                  </a:ext>
                </a:extLst>
              </p:cNvPr>
              <p:cNvSpPr/>
              <p:nvPr/>
            </p:nvSpPr>
            <p:spPr>
              <a:xfrm>
                <a:off x="5025190" y="6531255"/>
                <a:ext cx="19311" cy="61150"/>
              </a:xfrm>
              <a:custGeom>
                <a:avLst/>
                <a:gdLst>
                  <a:gd name="connsiteX0" fmla="*/ 1617 w 19310"/>
                  <a:gd name="connsiteY0" fmla="*/ 60193 h 61150"/>
                  <a:gd name="connsiteX1" fmla="*/ 18353 w 19310"/>
                  <a:gd name="connsiteY1" fmla="*/ 1617 h 61150"/>
                </a:gdLst>
                <a:ahLst/>
                <a:cxnLst>
                  <a:cxn ang="0">
                    <a:pos x="connsiteX0" y="connsiteY0"/>
                  </a:cxn>
                  <a:cxn ang="0">
                    <a:pos x="connsiteX1" y="connsiteY1"/>
                  </a:cxn>
                </a:cxnLst>
                <a:rect l="l" t="t" r="r" b="b"/>
                <a:pathLst>
                  <a:path w="19310" h="61150">
                    <a:moveTo>
                      <a:pt x="1617" y="60193"/>
                    </a:moveTo>
                    <a:cubicBezTo>
                      <a:pt x="9342" y="42170"/>
                      <a:pt x="15135" y="22537"/>
                      <a:pt x="18353"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9" name="Freeform: Shape 492">
                <a:extLst>
                  <a:ext uri="{FF2B5EF4-FFF2-40B4-BE49-F238E27FC236}">
                    <a16:creationId xmlns:a16="http://schemas.microsoft.com/office/drawing/2014/main" id="{1443F378-300F-46AE-8302-76B6BD19C5E1}"/>
                  </a:ext>
                </a:extLst>
              </p:cNvPr>
              <p:cNvSpPr/>
              <p:nvPr/>
            </p:nvSpPr>
            <p:spPr>
              <a:xfrm>
                <a:off x="4701736" y="6612038"/>
                <a:ext cx="315408" cy="128738"/>
              </a:xfrm>
              <a:custGeom>
                <a:avLst/>
                <a:gdLst>
                  <a:gd name="connsiteX0" fmla="*/ 1617 w 315407"/>
                  <a:gd name="connsiteY0" fmla="*/ 106539 h 128737"/>
                  <a:gd name="connsiteX1" fmla="*/ 224012 w 315407"/>
                  <a:gd name="connsiteY1" fmla="*/ 95274 h 128737"/>
                  <a:gd name="connsiteX2" fmla="*/ 314450 w 315407"/>
                  <a:gd name="connsiteY2" fmla="*/ 1617 h 128737"/>
                </a:gdLst>
                <a:ahLst/>
                <a:cxnLst>
                  <a:cxn ang="0">
                    <a:pos x="connsiteX0" y="connsiteY0"/>
                  </a:cxn>
                  <a:cxn ang="0">
                    <a:pos x="connsiteX1" y="connsiteY1"/>
                  </a:cxn>
                  <a:cxn ang="0">
                    <a:pos x="connsiteX2" y="connsiteY2"/>
                  </a:cxn>
                </a:cxnLst>
                <a:rect l="l" t="t" r="r" b="b"/>
                <a:pathLst>
                  <a:path w="315407" h="128737">
                    <a:moveTo>
                      <a:pt x="1617" y="106539"/>
                    </a:moveTo>
                    <a:cubicBezTo>
                      <a:pt x="62768" y="135183"/>
                      <a:pt x="141941" y="142585"/>
                      <a:pt x="224012" y="95274"/>
                    </a:cubicBezTo>
                    <a:cubicBezTo>
                      <a:pt x="255553" y="76929"/>
                      <a:pt x="290312" y="44744"/>
                      <a:pt x="314450"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0" name="Freeform: Shape 493">
                <a:extLst>
                  <a:ext uri="{FF2B5EF4-FFF2-40B4-BE49-F238E27FC236}">
                    <a16:creationId xmlns:a16="http://schemas.microsoft.com/office/drawing/2014/main" id="{E4AE16D0-64E3-446A-BBC5-C0C4B25209CF}"/>
                  </a:ext>
                </a:extLst>
              </p:cNvPr>
              <p:cNvSpPr/>
              <p:nvPr/>
            </p:nvSpPr>
            <p:spPr>
              <a:xfrm>
                <a:off x="4694503" y="6700392"/>
                <a:ext cx="41840" cy="51495"/>
              </a:xfrm>
              <a:custGeom>
                <a:avLst/>
                <a:gdLst>
                  <a:gd name="connsiteX0" fmla="*/ 17541 w 41839"/>
                  <a:gd name="connsiteY0" fmla="*/ 50691 h 51495"/>
                  <a:gd name="connsiteX1" fmla="*/ 23656 w 41839"/>
                  <a:gd name="connsiteY1" fmla="*/ 48116 h 51495"/>
                  <a:gd name="connsiteX2" fmla="*/ 11104 w 41839"/>
                  <a:gd name="connsiteY2" fmla="*/ 18828 h 51495"/>
                  <a:gd name="connsiteX3" fmla="*/ 41035 w 41839"/>
                  <a:gd name="connsiteY3" fmla="*/ 8529 h 51495"/>
                  <a:gd name="connsiteX4" fmla="*/ 39104 w 41839"/>
                  <a:gd name="connsiteY4" fmla="*/ 2414 h 51495"/>
                  <a:gd name="connsiteX5" fmla="*/ 2414 w 41839"/>
                  <a:gd name="connsiteY5" fmla="*/ 14966 h 5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39" h="51495">
                    <a:moveTo>
                      <a:pt x="17541" y="50691"/>
                    </a:moveTo>
                    <a:lnTo>
                      <a:pt x="23656" y="48116"/>
                    </a:lnTo>
                    <a:lnTo>
                      <a:pt x="11104" y="18828"/>
                    </a:lnTo>
                    <a:lnTo>
                      <a:pt x="41035" y="8529"/>
                    </a:lnTo>
                    <a:lnTo>
                      <a:pt x="39104" y="2414"/>
                    </a:lnTo>
                    <a:lnTo>
                      <a:pt x="2414" y="14966"/>
                    </a:lnTo>
                    <a:close/>
                  </a:path>
                </a:pathLst>
              </a:custGeom>
              <a:solidFill>
                <a:schemeClr val="tx1"/>
              </a:solidFill>
              <a:ln w="15875" cap="flat">
                <a:solidFill>
                  <a:schemeClr val="tx1"/>
                </a:solidFill>
                <a:prstDash val="solid"/>
                <a:miter/>
              </a:ln>
            </p:spPr>
            <p:txBody>
              <a:bodyPr rtlCol="0" anchor="ctr"/>
              <a:lstStyle/>
              <a:p>
                <a:pPr defTabSz="731474">
                  <a:defRPr/>
                </a:pPr>
                <a:endParaRPr lang="en-US" sz="1800" dirty="0">
                  <a:solidFill>
                    <a:srgbClr val="FFFFFF"/>
                  </a:solidFill>
                  <a:latin typeface="Amazon Ember"/>
                </a:endParaRPr>
              </a:p>
            </p:txBody>
          </p:sp>
        </p:grpSp>
        <p:grpSp>
          <p:nvGrpSpPr>
            <p:cNvPr id="70" name="Graphic 244">
              <a:extLst>
                <a:ext uri="{FF2B5EF4-FFF2-40B4-BE49-F238E27FC236}">
                  <a16:creationId xmlns:a16="http://schemas.microsoft.com/office/drawing/2014/main" id="{309992C6-2EDE-4AD1-A52D-AAB46D63F8D0}"/>
                </a:ext>
              </a:extLst>
            </p:cNvPr>
            <p:cNvGrpSpPr/>
            <p:nvPr/>
          </p:nvGrpSpPr>
          <p:grpSpPr>
            <a:xfrm>
              <a:off x="11885192" y="4863122"/>
              <a:ext cx="274189" cy="274189"/>
              <a:chOff x="7761796" y="567771"/>
              <a:chExt cx="164141" cy="164141"/>
            </a:xfrm>
          </p:grpSpPr>
          <p:sp>
            <p:nvSpPr>
              <p:cNvPr id="71" name="Freeform: Shape 484">
                <a:extLst>
                  <a:ext uri="{FF2B5EF4-FFF2-40B4-BE49-F238E27FC236}">
                    <a16:creationId xmlns:a16="http://schemas.microsoft.com/office/drawing/2014/main" id="{AC54433B-F673-4D08-A752-CEB7C78A69FC}"/>
                  </a:ext>
                </a:extLst>
              </p:cNvPr>
              <p:cNvSpPr/>
              <p:nvPr/>
            </p:nvSpPr>
            <p:spPr>
              <a:xfrm>
                <a:off x="7761796" y="567771"/>
                <a:ext cx="164141" cy="164141"/>
              </a:xfrm>
              <a:custGeom>
                <a:avLst/>
                <a:gdLst>
                  <a:gd name="connsiteX0" fmla="*/ 19311 w 164140"/>
                  <a:gd name="connsiteY0" fmla="*/ 128094 h 164140"/>
                  <a:gd name="connsiteX1" fmla="*/ 22529 w 164140"/>
                  <a:gd name="connsiteY1" fmla="*/ 131634 h 164140"/>
                  <a:gd name="connsiteX2" fmla="*/ 25748 w 164140"/>
                  <a:gd name="connsiteY2" fmla="*/ 135175 h 164140"/>
                  <a:gd name="connsiteX3" fmla="*/ 28966 w 164140"/>
                  <a:gd name="connsiteY3" fmla="*/ 138715 h 164140"/>
                  <a:gd name="connsiteX4" fmla="*/ 50530 w 164140"/>
                  <a:gd name="connsiteY4" fmla="*/ 127772 h 164140"/>
                  <a:gd name="connsiteX5" fmla="*/ 65978 w 164140"/>
                  <a:gd name="connsiteY5" fmla="*/ 135497 h 164140"/>
                  <a:gd name="connsiteX6" fmla="*/ 70162 w 164140"/>
                  <a:gd name="connsiteY6" fmla="*/ 159313 h 164140"/>
                  <a:gd name="connsiteX7" fmla="*/ 74990 w 164140"/>
                  <a:gd name="connsiteY7" fmla="*/ 159635 h 164140"/>
                  <a:gd name="connsiteX8" fmla="*/ 79817 w 164140"/>
                  <a:gd name="connsiteY8" fmla="*/ 159957 h 164140"/>
                  <a:gd name="connsiteX9" fmla="*/ 84645 w 164140"/>
                  <a:gd name="connsiteY9" fmla="*/ 160279 h 164140"/>
                  <a:gd name="connsiteX10" fmla="*/ 92048 w 164140"/>
                  <a:gd name="connsiteY10" fmla="*/ 137106 h 164140"/>
                  <a:gd name="connsiteX11" fmla="*/ 108140 w 164140"/>
                  <a:gd name="connsiteY11" fmla="*/ 131634 h 164140"/>
                  <a:gd name="connsiteX12" fmla="*/ 128094 w 164140"/>
                  <a:gd name="connsiteY12" fmla="*/ 145474 h 164140"/>
                  <a:gd name="connsiteX13" fmla="*/ 131634 w 164140"/>
                  <a:gd name="connsiteY13" fmla="*/ 142255 h 164140"/>
                  <a:gd name="connsiteX14" fmla="*/ 135175 w 164140"/>
                  <a:gd name="connsiteY14" fmla="*/ 139037 h 164140"/>
                  <a:gd name="connsiteX15" fmla="*/ 138715 w 164140"/>
                  <a:gd name="connsiteY15" fmla="*/ 135818 h 164140"/>
                  <a:gd name="connsiteX16" fmla="*/ 127772 w 164140"/>
                  <a:gd name="connsiteY16" fmla="*/ 114255 h 164140"/>
                  <a:gd name="connsiteX17" fmla="*/ 135497 w 164140"/>
                  <a:gd name="connsiteY17" fmla="*/ 99128 h 164140"/>
                  <a:gd name="connsiteX18" fmla="*/ 159313 w 164140"/>
                  <a:gd name="connsiteY18" fmla="*/ 94944 h 164140"/>
                  <a:gd name="connsiteX19" fmla="*/ 159635 w 164140"/>
                  <a:gd name="connsiteY19" fmla="*/ 90116 h 164140"/>
                  <a:gd name="connsiteX20" fmla="*/ 159957 w 164140"/>
                  <a:gd name="connsiteY20" fmla="*/ 85289 h 164140"/>
                  <a:gd name="connsiteX21" fmla="*/ 160279 w 164140"/>
                  <a:gd name="connsiteY21" fmla="*/ 80461 h 164140"/>
                  <a:gd name="connsiteX22" fmla="*/ 137106 w 164140"/>
                  <a:gd name="connsiteY22" fmla="*/ 73059 h 164140"/>
                  <a:gd name="connsiteX23" fmla="*/ 131634 w 164140"/>
                  <a:gd name="connsiteY23" fmla="*/ 56966 h 164140"/>
                  <a:gd name="connsiteX24" fmla="*/ 145474 w 164140"/>
                  <a:gd name="connsiteY24" fmla="*/ 37012 h 164140"/>
                  <a:gd name="connsiteX25" fmla="*/ 142255 w 164140"/>
                  <a:gd name="connsiteY25" fmla="*/ 33472 h 164140"/>
                  <a:gd name="connsiteX26" fmla="*/ 139037 w 164140"/>
                  <a:gd name="connsiteY26" fmla="*/ 29932 h 164140"/>
                  <a:gd name="connsiteX27" fmla="*/ 135818 w 164140"/>
                  <a:gd name="connsiteY27" fmla="*/ 26391 h 164140"/>
                  <a:gd name="connsiteX28" fmla="*/ 114255 w 164140"/>
                  <a:gd name="connsiteY28" fmla="*/ 37334 h 164140"/>
                  <a:gd name="connsiteX29" fmla="*/ 98806 w 164140"/>
                  <a:gd name="connsiteY29" fmla="*/ 29610 h 164140"/>
                  <a:gd name="connsiteX30" fmla="*/ 94622 w 164140"/>
                  <a:gd name="connsiteY30" fmla="*/ 5793 h 164140"/>
                  <a:gd name="connsiteX31" fmla="*/ 89795 w 164140"/>
                  <a:gd name="connsiteY31" fmla="*/ 5471 h 164140"/>
                  <a:gd name="connsiteX32" fmla="*/ 84967 w 164140"/>
                  <a:gd name="connsiteY32" fmla="*/ 5150 h 164140"/>
                  <a:gd name="connsiteX33" fmla="*/ 80139 w 164140"/>
                  <a:gd name="connsiteY33" fmla="*/ 4828 h 164140"/>
                  <a:gd name="connsiteX34" fmla="*/ 72737 w 164140"/>
                  <a:gd name="connsiteY34" fmla="*/ 27679 h 164140"/>
                  <a:gd name="connsiteX35" fmla="*/ 56323 w 164140"/>
                  <a:gd name="connsiteY35" fmla="*/ 33150 h 164140"/>
                  <a:gd name="connsiteX36" fmla="*/ 36690 w 164140"/>
                  <a:gd name="connsiteY36" fmla="*/ 19311 h 164140"/>
                  <a:gd name="connsiteX37" fmla="*/ 33150 w 164140"/>
                  <a:gd name="connsiteY37" fmla="*/ 22529 h 164140"/>
                  <a:gd name="connsiteX38" fmla="*/ 29610 w 164140"/>
                  <a:gd name="connsiteY38" fmla="*/ 25748 h 164140"/>
                  <a:gd name="connsiteX39" fmla="*/ 26069 w 164140"/>
                  <a:gd name="connsiteY39" fmla="*/ 28966 h 164140"/>
                  <a:gd name="connsiteX40" fmla="*/ 37012 w 164140"/>
                  <a:gd name="connsiteY40" fmla="*/ 50208 h 164140"/>
                  <a:gd name="connsiteX41" fmla="*/ 29288 w 164140"/>
                  <a:gd name="connsiteY41" fmla="*/ 65656 h 164140"/>
                  <a:gd name="connsiteX42" fmla="*/ 5793 w 164140"/>
                  <a:gd name="connsiteY42" fmla="*/ 69840 h 164140"/>
                  <a:gd name="connsiteX43" fmla="*/ 5471 w 164140"/>
                  <a:gd name="connsiteY43" fmla="*/ 74668 h 164140"/>
                  <a:gd name="connsiteX44" fmla="*/ 5150 w 164140"/>
                  <a:gd name="connsiteY44" fmla="*/ 79496 h 164140"/>
                  <a:gd name="connsiteX45" fmla="*/ 4828 w 164140"/>
                  <a:gd name="connsiteY45" fmla="*/ 84323 h 164140"/>
                  <a:gd name="connsiteX46" fmla="*/ 27679 w 164140"/>
                  <a:gd name="connsiteY46" fmla="*/ 91726 h 164140"/>
                  <a:gd name="connsiteX47" fmla="*/ 33150 w 164140"/>
                  <a:gd name="connsiteY47" fmla="*/ 108140 h 164140"/>
                  <a:gd name="connsiteX48" fmla="*/ 19311 w 164140"/>
                  <a:gd name="connsiteY48" fmla="*/ 12809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4140" h="164140">
                    <a:moveTo>
                      <a:pt x="19311" y="128094"/>
                    </a:moveTo>
                    <a:lnTo>
                      <a:pt x="22529" y="131634"/>
                    </a:lnTo>
                    <a:lnTo>
                      <a:pt x="25748" y="135175"/>
                    </a:lnTo>
                    <a:lnTo>
                      <a:pt x="28966" y="138715"/>
                    </a:lnTo>
                    <a:lnTo>
                      <a:pt x="50530" y="127772"/>
                    </a:lnTo>
                    <a:cubicBezTo>
                      <a:pt x="55357" y="130991"/>
                      <a:pt x="60507" y="133565"/>
                      <a:pt x="65978" y="135497"/>
                    </a:cubicBezTo>
                    <a:lnTo>
                      <a:pt x="70162" y="159313"/>
                    </a:lnTo>
                    <a:lnTo>
                      <a:pt x="74990" y="159635"/>
                    </a:lnTo>
                    <a:lnTo>
                      <a:pt x="79817" y="159957"/>
                    </a:lnTo>
                    <a:lnTo>
                      <a:pt x="84645" y="160279"/>
                    </a:lnTo>
                    <a:lnTo>
                      <a:pt x="92048" y="137106"/>
                    </a:lnTo>
                    <a:cubicBezTo>
                      <a:pt x="97519" y="136140"/>
                      <a:pt x="102990" y="134209"/>
                      <a:pt x="108140" y="131634"/>
                    </a:cubicBezTo>
                    <a:lnTo>
                      <a:pt x="128094" y="145474"/>
                    </a:lnTo>
                    <a:lnTo>
                      <a:pt x="131634" y="142255"/>
                    </a:lnTo>
                    <a:lnTo>
                      <a:pt x="135175" y="139037"/>
                    </a:lnTo>
                    <a:lnTo>
                      <a:pt x="138715" y="135818"/>
                    </a:lnTo>
                    <a:lnTo>
                      <a:pt x="127772" y="114255"/>
                    </a:lnTo>
                    <a:cubicBezTo>
                      <a:pt x="130991" y="109427"/>
                      <a:pt x="133565" y="104278"/>
                      <a:pt x="135497" y="99128"/>
                    </a:cubicBezTo>
                    <a:lnTo>
                      <a:pt x="159313" y="94944"/>
                    </a:lnTo>
                    <a:lnTo>
                      <a:pt x="159635" y="90116"/>
                    </a:lnTo>
                    <a:lnTo>
                      <a:pt x="159957" y="85289"/>
                    </a:lnTo>
                    <a:lnTo>
                      <a:pt x="160279" y="80461"/>
                    </a:lnTo>
                    <a:lnTo>
                      <a:pt x="137106" y="73059"/>
                    </a:lnTo>
                    <a:cubicBezTo>
                      <a:pt x="136140" y="67587"/>
                      <a:pt x="134209" y="62116"/>
                      <a:pt x="131634" y="56966"/>
                    </a:cubicBezTo>
                    <a:lnTo>
                      <a:pt x="145474" y="37012"/>
                    </a:lnTo>
                    <a:lnTo>
                      <a:pt x="142255" y="33472"/>
                    </a:lnTo>
                    <a:lnTo>
                      <a:pt x="139037" y="29932"/>
                    </a:lnTo>
                    <a:lnTo>
                      <a:pt x="135818" y="26391"/>
                    </a:lnTo>
                    <a:lnTo>
                      <a:pt x="114255" y="37334"/>
                    </a:lnTo>
                    <a:cubicBezTo>
                      <a:pt x="109427" y="33794"/>
                      <a:pt x="104278" y="31541"/>
                      <a:pt x="98806" y="29610"/>
                    </a:cubicBezTo>
                    <a:lnTo>
                      <a:pt x="94622" y="5793"/>
                    </a:lnTo>
                    <a:lnTo>
                      <a:pt x="89795" y="5471"/>
                    </a:lnTo>
                    <a:lnTo>
                      <a:pt x="84967" y="5150"/>
                    </a:lnTo>
                    <a:lnTo>
                      <a:pt x="80139" y="4828"/>
                    </a:lnTo>
                    <a:lnTo>
                      <a:pt x="72737" y="27679"/>
                    </a:lnTo>
                    <a:cubicBezTo>
                      <a:pt x="66944" y="28644"/>
                      <a:pt x="61472" y="30575"/>
                      <a:pt x="56323" y="33150"/>
                    </a:cubicBezTo>
                    <a:lnTo>
                      <a:pt x="36690" y="19311"/>
                    </a:lnTo>
                    <a:lnTo>
                      <a:pt x="33150" y="22529"/>
                    </a:lnTo>
                    <a:lnTo>
                      <a:pt x="29610" y="25748"/>
                    </a:lnTo>
                    <a:lnTo>
                      <a:pt x="26069" y="28966"/>
                    </a:lnTo>
                    <a:lnTo>
                      <a:pt x="37012" y="50208"/>
                    </a:lnTo>
                    <a:cubicBezTo>
                      <a:pt x="33472" y="55035"/>
                      <a:pt x="30897" y="60185"/>
                      <a:pt x="29288" y="65656"/>
                    </a:cubicBezTo>
                    <a:lnTo>
                      <a:pt x="5793" y="69840"/>
                    </a:lnTo>
                    <a:lnTo>
                      <a:pt x="5471" y="74668"/>
                    </a:lnTo>
                    <a:lnTo>
                      <a:pt x="5150" y="79496"/>
                    </a:lnTo>
                    <a:lnTo>
                      <a:pt x="4828" y="84323"/>
                    </a:lnTo>
                    <a:lnTo>
                      <a:pt x="27679" y="91726"/>
                    </a:lnTo>
                    <a:cubicBezTo>
                      <a:pt x="28644" y="97197"/>
                      <a:pt x="30575" y="102990"/>
                      <a:pt x="33150" y="108140"/>
                    </a:cubicBezTo>
                    <a:lnTo>
                      <a:pt x="19311" y="128094"/>
                    </a:lnTo>
                    <a:close/>
                  </a:path>
                </a:pathLst>
              </a:custGeom>
              <a:noFill/>
              <a:ln w="15875"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72" name="Freeform: Shape 485">
                <a:extLst>
                  <a:ext uri="{FF2B5EF4-FFF2-40B4-BE49-F238E27FC236}">
                    <a16:creationId xmlns:a16="http://schemas.microsoft.com/office/drawing/2014/main" id="{EA739EDF-BC05-47E4-9ADF-D95CE4726572}"/>
                  </a:ext>
                </a:extLst>
              </p:cNvPr>
              <p:cNvSpPr/>
              <p:nvPr/>
            </p:nvSpPr>
            <p:spPr>
              <a:xfrm>
                <a:off x="7808463" y="614438"/>
                <a:ext cx="70806" cy="70806"/>
              </a:xfrm>
              <a:custGeom>
                <a:avLst/>
                <a:gdLst>
                  <a:gd name="connsiteX0" fmla="*/ 66622 w 70805"/>
                  <a:gd name="connsiteY0" fmla="*/ 35725 h 70805"/>
                  <a:gd name="connsiteX1" fmla="*/ 35725 w 70805"/>
                  <a:gd name="connsiteY1" fmla="*/ 66622 h 70805"/>
                  <a:gd name="connsiteX2" fmla="*/ 4828 w 70805"/>
                  <a:gd name="connsiteY2" fmla="*/ 35725 h 70805"/>
                  <a:gd name="connsiteX3" fmla="*/ 35725 w 70805"/>
                  <a:gd name="connsiteY3" fmla="*/ 4828 h 70805"/>
                  <a:gd name="connsiteX4" fmla="*/ 66622 w 70805"/>
                  <a:gd name="connsiteY4" fmla="*/ 35725 h 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05" h="70805">
                    <a:moveTo>
                      <a:pt x="66622" y="35725"/>
                    </a:moveTo>
                    <a:cubicBezTo>
                      <a:pt x="66622" y="52789"/>
                      <a:pt x="52789" y="66622"/>
                      <a:pt x="35725" y="66622"/>
                    </a:cubicBezTo>
                    <a:cubicBezTo>
                      <a:pt x="18661" y="66622"/>
                      <a:pt x="4828" y="52789"/>
                      <a:pt x="4828" y="35725"/>
                    </a:cubicBezTo>
                    <a:cubicBezTo>
                      <a:pt x="4828" y="18661"/>
                      <a:pt x="18661" y="4828"/>
                      <a:pt x="35725" y="4828"/>
                    </a:cubicBezTo>
                    <a:cubicBezTo>
                      <a:pt x="52789" y="4828"/>
                      <a:pt x="66622" y="18661"/>
                      <a:pt x="66622" y="35725"/>
                    </a:cubicBezTo>
                    <a:close/>
                  </a:path>
                </a:pathLst>
              </a:custGeom>
              <a:noFill/>
              <a:ln w="15875"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pSp>
      <p:cxnSp>
        <p:nvCxnSpPr>
          <p:cNvPr id="81" name="Connector: Elbow 789">
            <a:extLst>
              <a:ext uri="{FF2B5EF4-FFF2-40B4-BE49-F238E27FC236}">
                <a16:creationId xmlns:a16="http://schemas.microsoft.com/office/drawing/2014/main" id="{1862AF12-4802-46CE-8D3E-6373ECEE3F16}"/>
              </a:ext>
            </a:extLst>
          </p:cNvPr>
          <p:cNvCxnSpPr>
            <a:cxnSpLocks/>
          </p:cNvCxnSpPr>
          <p:nvPr/>
        </p:nvCxnSpPr>
        <p:spPr>
          <a:xfrm rot="5400000" flipH="1" flipV="1">
            <a:off x="11445414" y="3042430"/>
            <a:ext cx="166123" cy="288102"/>
          </a:xfrm>
          <a:prstGeom prst="bentConnector2">
            <a:avLst/>
          </a:prstGeom>
          <a:ln w="19050">
            <a:solidFill>
              <a:srgbClr val="FDC500"/>
            </a:solidFill>
            <a:tailEnd type="arrow" w="lg" len="med"/>
          </a:ln>
          <a:effectLst>
            <a:outerShdw blurRad="40000" dist="20000" dir="5400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80037644-7AED-43FC-9070-DF00530D21BB}"/>
              </a:ext>
            </a:extLst>
          </p:cNvPr>
          <p:cNvGrpSpPr>
            <a:grpSpLocks noChangeAspect="1"/>
          </p:cNvGrpSpPr>
          <p:nvPr/>
        </p:nvGrpSpPr>
        <p:grpSpPr>
          <a:xfrm>
            <a:off x="11750792" y="2993585"/>
            <a:ext cx="312778" cy="265176"/>
            <a:chOff x="1251736" y="3105936"/>
            <a:chExt cx="1189635" cy="1008586"/>
          </a:xfrm>
        </p:grpSpPr>
        <p:sp>
          <p:nvSpPr>
            <p:cNvPr id="83" name="Freeform: Shape 794">
              <a:extLst>
                <a:ext uri="{FF2B5EF4-FFF2-40B4-BE49-F238E27FC236}">
                  <a16:creationId xmlns:a16="http://schemas.microsoft.com/office/drawing/2014/main" id="{B4A67BF0-8A0C-4B4C-8158-5F5481E9783A}"/>
                </a:ext>
              </a:extLst>
            </p:cNvPr>
            <p:cNvSpPr/>
            <p:nvPr/>
          </p:nvSpPr>
          <p:spPr>
            <a:xfrm>
              <a:off x="138249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4" name="Freeform: Shape 795">
              <a:extLst>
                <a:ext uri="{FF2B5EF4-FFF2-40B4-BE49-F238E27FC236}">
                  <a16:creationId xmlns:a16="http://schemas.microsoft.com/office/drawing/2014/main" id="{F4076F53-61BA-40AF-96F3-F9EF40BE89E8}"/>
                </a:ext>
              </a:extLst>
            </p:cNvPr>
            <p:cNvSpPr/>
            <p:nvPr/>
          </p:nvSpPr>
          <p:spPr>
            <a:xfrm>
              <a:off x="1622983"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5" name="Freeform: Shape 796">
              <a:extLst>
                <a:ext uri="{FF2B5EF4-FFF2-40B4-BE49-F238E27FC236}">
                  <a16:creationId xmlns:a16="http://schemas.microsoft.com/office/drawing/2014/main" id="{572C2372-5E68-4055-AE01-BB5F9B9D8C56}"/>
                </a:ext>
              </a:extLst>
            </p:cNvPr>
            <p:cNvSpPr/>
            <p:nvPr/>
          </p:nvSpPr>
          <p:spPr>
            <a:xfrm>
              <a:off x="1864384"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6" name="Freeform: Shape 797">
              <a:extLst>
                <a:ext uri="{FF2B5EF4-FFF2-40B4-BE49-F238E27FC236}">
                  <a16:creationId xmlns:a16="http://schemas.microsoft.com/office/drawing/2014/main" id="{BF5B016D-810F-48C5-A212-D565599901F1}"/>
                </a:ext>
              </a:extLst>
            </p:cNvPr>
            <p:cNvSpPr/>
            <p:nvPr/>
          </p:nvSpPr>
          <p:spPr>
            <a:xfrm>
              <a:off x="210578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7" name="Freeform: Shape 798">
              <a:extLst>
                <a:ext uri="{FF2B5EF4-FFF2-40B4-BE49-F238E27FC236}">
                  <a16:creationId xmlns:a16="http://schemas.microsoft.com/office/drawing/2014/main" id="{BBB366E5-C110-4B34-8919-97DE7429478D}"/>
                </a:ext>
              </a:extLst>
            </p:cNvPr>
            <p:cNvSpPr/>
            <p:nvPr/>
          </p:nvSpPr>
          <p:spPr>
            <a:xfrm>
              <a:off x="2037207" y="3180004"/>
              <a:ext cx="283465" cy="27431"/>
            </a:xfrm>
            <a:custGeom>
              <a:avLst/>
              <a:gdLst>
                <a:gd name="connsiteX0" fmla="*/ 94944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4944"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8" name="Freeform: Shape 799">
              <a:extLst>
                <a:ext uri="{FF2B5EF4-FFF2-40B4-BE49-F238E27FC236}">
                  <a16:creationId xmlns:a16="http://schemas.microsoft.com/office/drawing/2014/main" id="{008E2D64-54BC-4AA8-8829-6B87EC3622A8}"/>
                </a:ext>
              </a:extLst>
            </p:cNvPr>
            <p:cNvSpPr/>
            <p:nvPr/>
          </p:nvSpPr>
          <p:spPr>
            <a:xfrm>
              <a:off x="1718081" y="3180004"/>
              <a:ext cx="283465" cy="27431"/>
            </a:xfrm>
            <a:custGeom>
              <a:avLst/>
              <a:gdLst>
                <a:gd name="connsiteX0" fmla="*/ 95588 w 99771"/>
                <a:gd name="connsiteY0" fmla="*/ 4828 h 9655"/>
                <a:gd name="connsiteX1" fmla="*/ 4828 w 99771"/>
                <a:gd name="connsiteY1" fmla="*/ 5150 h 9655"/>
              </a:gdLst>
              <a:ahLst/>
              <a:cxnLst>
                <a:cxn ang="0">
                  <a:pos x="connsiteX0" y="connsiteY0"/>
                </a:cxn>
                <a:cxn ang="0">
                  <a:pos x="connsiteX1" y="connsiteY1"/>
                </a:cxn>
              </a:cxnLst>
              <a:rect l="l" t="t" r="r" b="b"/>
              <a:pathLst>
                <a:path w="99771" h="9655">
                  <a:moveTo>
                    <a:pt x="95588" y="4828"/>
                  </a:moveTo>
                  <a:lnTo>
                    <a:pt x="4828" y="5150"/>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89" name="Freeform: Shape 800">
              <a:extLst>
                <a:ext uri="{FF2B5EF4-FFF2-40B4-BE49-F238E27FC236}">
                  <a16:creationId xmlns:a16="http://schemas.microsoft.com/office/drawing/2014/main" id="{16656888-FF07-4A85-8B3E-E65630C40F04}"/>
                </a:ext>
              </a:extLst>
            </p:cNvPr>
            <p:cNvSpPr/>
            <p:nvPr/>
          </p:nvSpPr>
          <p:spPr>
            <a:xfrm>
              <a:off x="1252651" y="3180004"/>
              <a:ext cx="1188720" cy="155449"/>
            </a:xfrm>
            <a:custGeom>
              <a:avLst/>
              <a:gdLst>
                <a:gd name="connsiteX0" fmla="*/ 392650 w 418397"/>
                <a:gd name="connsiteY0" fmla="*/ 4828 h 54713"/>
                <a:gd name="connsiteX1" fmla="*/ 406811 w 418397"/>
                <a:gd name="connsiteY1" fmla="*/ 4828 h 54713"/>
                <a:gd name="connsiteX2" fmla="*/ 415501 w 418397"/>
                <a:gd name="connsiteY2" fmla="*/ 13517 h 54713"/>
                <a:gd name="connsiteX3" fmla="*/ 415501 w 418397"/>
                <a:gd name="connsiteY3" fmla="*/ 50530 h 54713"/>
                <a:gd name="connsiteX4" fmla="*/ 4828 w 418397"/>
                <a:gd name="connsiteY4" fmla="*/ 50851 h 54713"/>
                <a:gd name="connsiteX5" fmla="*/ 4828 w 418397"/>
                <a:gd name="connsiteY5" fmla="*/ 13839 h 54713"/>
                <a:gd name="connsiteX6" fmla="*/ 13517 w 418397"/>
                <a:gd name="connsiteY6" fmla="*/ 5150 h 54713"/>
                <a:gd name="connsiteX7" fmla="*/ 35725 w 418397"/>
                <a:gd name="connsiteY7" fmla="*/ 5150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54713">
                  <a:moveTo>
                    <a:pt x="392650" y="4828"/>
                  </a:moveTo>
                  <a:lnTo>
                    <a:pt x="406811" y="4828"/>
                  </a:lnTo>
                  <a:cubicBezTo>
                    <a:pt x="411639" y="4828"/>
                    <a:pt x="415501" y="8690"/>
                    <a:pt x="415501" y="13517"/>
                  </a:cubicBezTo>
                  <a:lnTo>
                    <a:pt x="415501" y="50530"/>
                  </a:lnTo>
                  <a:lnTo>
                    <a:pt x="4828" y="50851"/>
                  </a:lnTo>
                  <a:lnTo>
                    <a:pt x="4828" y="13839"/>
                  </a:lnTo>
                  <a:cubicBezTo>
                    <a:pt x="4828" y="9012"/>
                    <a:pt x="8690" y="5150"/>
                    <a:pt x="13517" y="5150"/>
                  </a:cubicBezTo>
                  <a:lnTo>
                    <a:pt x="35725" y="5150"/>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0" name="Freeform: Shape 801">
              <a:extLst>
                <a:ext uri="{FF2B5EF4-FFF2-40B4-BE49-F238E27FC236}">
                  <a16:creationId xmlns:a16="http://schemas.microsoft.com/office/drawing/2014/main" id="{00560326-E810-44D6-A7ED-8A22270F0F9D}"/>
                </a:ext>
              </a:extLst>
            </p:cNvPr>
            <p:cNvSpPr/>
            <p:nvPr/>
          </p:nvSpPr>
          <p:spPr>
            <a:xfrm>
              <a:off x="1400784" y="3180919"/>
              <a:ext cx="283465" cy="27431"/>
            </a:xfrm>
            <a:custGeom>
              <a:avLst/>
              <a:gdLst>
                <a:gd name="connsiteX0" fmla="*/ 95266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5266"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1" name="Freeform: Shape 802">
              <a:extLst>
                <a:ext uri="{FF2B5EF4-FFF2-40B4-BE49-F238E27FC236}">
                  <a16:creationId xmlns:a16="http://schemas.microsoft.com/office/drawing/2014/main" id="{378D155C-4020-4163-AE5D-48AA5AC375AB}"/>
                </a:ext>
              </a:extLst>
            </p:cNvPr>
            <p:cNvSpPr/>
            <p:nvPr/>
          </p:nvSpPr>
          <p:spPr>
            <a:xfrm>
              <a:off x="133951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2" name="Freeform: Shape 803">
              <a:extLst>
                <a:ext uri="{FF2B5EF4-FFF2-40B4-BE49-F238E27FC236}">
                  <a16:creationId xmlns:a16="http://schemas.microsoft.com/office/drawing/2014/main" id="{78173AFC-1227-479A-8C1D-BADB085F0709}"/>
                </a:ext>
              </a:extLst>
            </p:cNvPr>
            <p:cNvSpPr/>
            <p:nvPr/>
          </p:nvSpPr>
          <p:spPr>
            <a:xfrm>
              <a:off x="1657730"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3" name="Freeform: Shape 804">
              <a:extLst>
                <a:ext uri="{FF2B5EF4-FFF2-40B4-BE49-F238E27FC236}">
                  <a16:creationId xmlns:a16="http://schemas.microsoft.com/office/drawing/2014/main" id="{CA7B71CB-CCF3-4EB6-93F5-DD0AE3613218}"/>
                </a:ext>
              </a:extLst>
            </p:cNvPr>
            <p:cNvSpPr/>
            <p:nvPr/>
          </p:nvSpPr>
          <p:spPr>
            <a:xfrm>
              <a:off x="229323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4" name="Freeform: Shape 805">
              <a:extLst>
                <a:ext uri="{FF2B5EF4-FFF2-40B4-BE49-F238E27FC236}">
                  <a16:creationId xmlns:a16="http://schemas.microsoft.com/office/drawing/2014/main" id="{06EE904E-6E5D-4B4C-8B44-4D98237D4BB7}"/>
                </a:ext>
              </a:extLst>
            </p:cNvPr>
            <p:cNvSpPr/>
            <p:nvPr/>
          </p:nvSpPr>
          <p:spPr>
            <a:xfrm>
              <a:off x="1975941"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5" name="Freeform: Shape 806">
              <a:extLst>
                <a:ext uri="{FF2B5EF4-FFF2-40B4-BE49-F238E27FC236}">
                  <a16:creationId xmlns:a16="http://schemas.microsoft.com/office/drawing/2014/main" id="{02F15A25-0E7F-4AFE-A1EA-40149E5FF26C}"/>
                </a:ext>
              </a:extLst>
            </p:cNvPr>
            <p:cNvSpPr/>
            <p:nvPr/>
          </p:nvSpPr>
          <p:spPr>
            <a:xfrm>
              <a:off x="138249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6" name="Freeform: Shape 807">
              <a:extLst>
                <a:ext uri="{FF2B5EF4-FFF2-40B4-BE49-F238E27FC236}">
                  <a16:creationId xmlns:a16="http://schemas.microsoft.com/office/drawing/2014/main" id="{101E750F-02F1-4211-BDA8-0C05D2E50BDA}"/>
                </a:ext>
              </a:extLst>
            </p:cNvPr>
            <p:cNvSpPr/>
            <p:nvPr/>
          </p:nvSpPr>
          <p:spPr>
            <a:xfrm>
              <a:off x="1622983"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7" name="Freeform: Shape 808">
              <a:extLst>
                <a:ext uri="{FF2B5EF4-FFF2-40B4-BE49-F238E27FC236}">
                  <a16:creationId xmlns:a16="http://schemas.microsoft.com/office/drawing/2014/main" id="{1A44D13A-F6C1-4379-9CE5-7C00EC4676C5}"/>
                </a:ext>
              </a:extLst>
            </p:cNvPr>
            <p:cNvSpPr/>
            <p:nvPr/>
          </p:nvSpPr>
          <p:spPr>
            <a:xfrm>
              <a:off x="1864384"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8" name="Freeform: Shape 809">
              <a:extLst>
                <a:ext uri="{FF2B5EF4-FFF2-40B4-BE49-F238E27FC236}">
                  <a16:creationId xmlns:a16="http://schemas.microsoft.com/office/drawing/2014/main" id="{5FB7DFD3-C0B3-4417-AB91-1C1EB221514C}"/>
                </a:ext>
              </a:extLst>
            </p:cNvPr>
            <p:cNvSpPr/>
            <p:nvPr/>
          </p:nvSpPr>
          <p:spPr>
            <a:xfrm>
              <a:off x="210578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9" name="Freeform: Shape 810">
              <a:extLst>
                <a:ext uri="{FF2B5EF4-FFF2-40B4-BE49-F238E27FC236}">
                  <a16:creationId xmlns:a16="http://schemas.microsoft.com/office/drawing/2014/main" id="{47224DE2-CE2B-4D41-AECB-B8635E86A157}"/>
                </a:ext>
              </a:extLst>
            </p:cNvPr>
            <p:cNvSpPr/>
            <p:nvPr/>
          </p:nvSpPr>
          <p:spPr>
            <a:xfrm>
              <a:off x="1382496" y="3935297"/>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0" name="Freeform: Shape 811">
              <a:extLst>
                <a:ext uri="{FF2B5EF4-FFF2-40B4-BE49-F238E27FC236}">
                  <a16:creationId xmlns:a16="http://schemas.microsoft.com/office/drawing/2014/main" id="{C3684E49-13A6-4301-8D7A-34D9A6FC3928}"/>
                </a:ext>
              </a:extLst>
            </p:cNvPr>
            <p:cNvSpPr/>
            <p:nvPr/>
          </p:nvSpPr>
          <p:spPr>
            <a:xfrm>
              <a:off x="1622983"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1" name="Freeform: Shape 812">
              <a:extLst>
                <a:ext uri="{FF2B5EF4-FFF2-40B4-BE49-F238E27FC236}">
                  <a16:creationId xmlns:a16="http://schemas.microsoft.com/office/drawing/2014/main" id="{695E02DD-251A-4511-B8ED-07756A7DF24D}"/>
                </a:ext>
              </a:extLst>
            </p:cNvPr>
            <p:cNvSpPr/>
            <p:nvPr/>
          </p:nvSpPr>
          <p:spPr>
            <a:xfrm>
              <a:off x="1864384"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2" name="Freeform: Shape 813">
              <a:extLst>
                <a:ext uri="{FF2B5EF4-FFF2-40B4-BE49-F238E27FC236}">
                  <a16:creationId xmlns:a16="http://schemas.microsoft.com/office/drawing/2014/main" id="{50879D4C-DF65-4947-BA6D-6C5AACB1B0B7}"/>
                </a:ext>
              </a:extLst>
            </p:cNvPr>
            <p:cNvSpPr/>
            <p:nvPr/>
          </p:nvSpPr>
          <p:spPr>
            <a:xfrm>
              <a:off x="1251736" y="3309850"/>
              <a:ext cx="1188720" cy="804672"/>
            </a:xfrm>
            <a:custGeom>
              <a:avLst/>
              <a:gdLst>
                <a:gd name="connsiteX0" fmla="*/ 5150 w 418397"/>
                <a:gd name="connsiteY0" fmla="*/ 5150 h 283223"/>
                <a:gd name="connsiteX1" fmla="*/ 415823 w 418397"/>
                <a:gd name="connsiteY1" fmla="*/ 4828 h 283223"/>
                <a:gd name="connsiteX2" fmla="*/ 415823 w 418397"/>
                <a:gd name="connsiteY2" fmla="*/ 270671 h 283223"/>
                <a:gd name="connsiteX3" fmla="*/ 407133 w 418397"/>
                <a:gd name="connsiteY3" fmla="*/ 279361 h 283223"/>
                <a:gd name="connsiteX4" fmla="*/ 13517 w 418397"/>
                <a:gd name="connsiteY4" fmla="*/ 279683 h 283223"/>
                <a:gd name="connsiteX5" fmla="*/ 4828 w 418397"/>
                <a:gd name="connsiteY5" fmla="*/ 270993 h 283223"/>
                <a:gd name="connsiteX6" fmla="*/ 4828 w 418397"/>
                <a:gd name="connsiteY6" fmla="*/ 48277 h 283223"/>
                <a:gd name="connsiteX7" fmla="*/ 35725 w 418397"/>
                <a:gd name="connsiteY7" fmla="*/ 48277 h 28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283223">
                  <a:moveTo>
                    <a:pt x="5150" y="5150"/>
                  </a:moveTo>
                  <a:lnTo>
                    <a:pt x="415823" y="4828"/>
                  </a:lnTo>
                  <a:lnTo>
                    <a:pt x="415823" y="270671"/>
                  </a:lnTo>
                  <a:cubicBezTo>
                    <a:pt x="415823" y="275499"/>
                    <a:pt x="411961" y="279361"/>
                    <a:pt x="407133" y="279361"/>
                  </a:cubicBezTo>
                  <a:lnTo>
                    <a:pt x="13517" y="279683"/>
                  </a:lnTo>
                  <a:cubicBezTo>
                    <a:pt x="8690" y="279683"/>
                    <a:pt x="4828" y="275821"/>
                    <a:pt x="4828" y="270993"/>
                  </a:cubicBezTo>
                  <a:lnTo>
                    <a:pt x="4828" y="48277"/>
                  </a:lnTo>
                  <a:lnTo>
                    <a:pt x="35725" y="48277"/>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3" name="Freeform: Shape 814">
              <a:extLst>
                <a:ext uri="{FF2B5EF4-FFF2-40B4-BE49-F238E27FC236}">
                  <a16:creationId xmlns:a16="http://schemas.microsoft.com/office/drawing/2014/main" id="{0B3DED41-23FB-4201-97CD-7E4F45866DD0}"/>
                </a:ext>
              </a:extLst>
            </p:cNvPr>
            <p:cNvSpPr/>
            <p:nvPr/>
          </p:nvSpPr>
          <p:spPr>
            <a:xfrm>
              <a:off x="2131390" y="3867633"/>
              <a:ext cx="164592" cy="164592"/>
            </a:xfrm>
            <a:custGeom>
              <a:avLst/>
              <a:gdLst>
                <a:gd name="connsiteX0" fmla="*/ 4828 w 57932"/>
                <a:gd name="connsiteY0" fmla="*/ 4828 h 57932"/>
                <a:gd name="connsiteX1" fmla="*/ 54070 w 57932"/>
                <a:gd name="connsiteY1" fmla="*/ 54070 h 57932"/>
              </a:gdLst>
              <a:ahLst/>
              <a:cxnLst>
                <a:cxn ang="0">
                  <a:pos x="connsiteX0" y="connsiteY0"/>
                </a:cxn>
                <a:cxn ang="0">
                  <a:pos x="connsiteX1" y="connsiteY1"/>
                </a:cxn>
              </a:cxnLst>
              <a:rect l="l" t="t" r="r" b="b"/>
              <a:pathLst>
                <a:path w="57932" h="57932">
                  <a:moveTo>
                    <a:pt x="4828" y="4828"/>
                  </a:moveTo>
                  <a:lnTo>
                    <a:pt x="54070" y="54070"/>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4" name="Freeform: Shape 815">
              <a:extLst>
                <a:ext uri="{FF2B5EF4-FFF2-40B4-BE49-F238E27FC236}">
                  <a16:creationId xmlns:a16="http://schemas.microsoft.com/office/drawing/2014/main" id="{226DC695-0E46-411C-9C67-8740D8ECC4A9}"/>
                </a:ext>
              </a:extLst>
            </p:cNvPr>
            <p:cNvSpPr/>
            <p:nvPr/>
          </p:nvSpPr>
          <p:spPr>
            <a:xfrm>
              <a:off x="2131390" y="3867633"/>
              <a:ext cx="164592" cy="164592"/>
            </a:xfrm>
            <a:custGeom>
              <a:avLst/>
              <a:gdLst>
                <a:gd name="connsiteX0" fmla="*/ 54070 w 57932"/>
                <a:gd name="connsiteY0" fmla="*/ 4828 h 57932"/>
                <a:gd name="connsiteX1" fmla="*/ 4828 w 57932"/>
                <a:gd name="connsiteY1" fmla="*/ 54392 h 57932"/>
              </a:gdLst>
              <a:ahLst/>
              <a:cxnLst>
                <a:cxn ang="0">
                  <a:pos x="connsiteX0" y="connsiteY0"/>
                </a:cxn>
                <a:cxn ang="0">
                  <a:pos x="connsiteX1" y="connsiteY1"/>
                </a:cxn>
              </a:cxnLst>
              <a:rect l="l" t="t" r="r" b="b"/>
              <a:pathLst>
                <a:path w="57932" h="57932">
                  <a:moveTo>
                    <a:pt x="54070" y="4828"/>
                  </a:moveTo>
                  <a:lnTo>
                    <a:pt x="4828" y="5439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aphicFrame>
        <p:nvGraphicFramePr>
          <p:cNvPr id="105" name="Table 104">
            <a:extLst>
              <a:ext uri="{FF2B5EF4-FFF2-40B4-BE49-F238E27FC236}">
                <a16:creationId xmlns:a16="http://schemas.microsoft.com/office/drawing/2014/main" id="{51910E1B-8AF9-4C58-85E4-2C74D65727FC}"/>
              </a:ext>
            </a:extLst>
          </p:cNvPr>
          <p:cNvGraphicFramePr>
            <a:graphicFrameLocks noGrp="1"/>
          </p:cNvGraphicFramePr>
          <p:nvPr/>
        </p:nvGraphicFramePr>
        <p:xfrm>
          <a:off x="4802883" y="2128144"/>
          <a:ext cx="5475332" cy="3121380"/>
        </p:xfrm>
        <a:graphic>
          <a:graphicData uri="http://schemas.openxmlformats.org/drawingml/2006/table">
            <a:tbl>
              <a:tblPr firstRow="1" bandRow="1">
                <a:tableStyleId>{5C22544A-7EE6-4342-B048-85BDC9FD1C3A}</a:tableStyleId>
              </a:tblPr>
              <a:tblGrid>
                <a:gridCol w="1368833">
                  <a:extLst>
                    <a:ext uri="{9D8B030D-6E8A-4147-A177-3AD203B41FA5}">
                      <a16:colId xmlns:a16="http://schemas.microsoft.com/office/drawing/2014/main" val="3266020685"/>
                    </a:ext>
                  </a:extLst>
                </a:gridCol>
                <a:gridCol w="1368833">
                  <a:extLst>
                    <a:ext uri="{9D8B030D-6E8A-4147-A177-3AD203B41FA5}">
                      <a16:colId xmlns:a16="http://schemas.microsoft.com/office/drawing/2014/main" val="1541681817"/>
                    </a:ext>
                  </a:extLst>
                </a:gridCol>
                <a:gridCol w="1368833">
                  <a:extLst>
                    <a:ext uri="{9D8B030D-6E8A-4147-A177-3AD203B41FA5}">
                      <a16:colId xmlns:a16="http://schemas.microsoft.com/office/drawing/2014/main" val="178349560"/>
                    </a:ext>
                  </a:extLst>
                </a:gridCol>
                <a:gridCol w="1368833">
                  <a:extLst>
                    <a:ext uri="{9D8B030D-6E8A-4147-A177-3AD203B41FA5}">
                      <a16:colId xmlns:a16="http://schemas.microsoft.com/office/drawing/2014/main" val="785960985"/>
                    </a:ext>
                  </a:extLst>
                </a:gridCol>
              </a:tblGrid>
              <a:tr h="1560690">
                <a:tc>
                  <a:txBody>
                    <a:bodyPr/>
                    <a:lstStyle/>
                    <a:p>
                      <a:pPr algn="ctr"/>
                      <a:r>
                        <a:rPr lang="en-US" sz="1300" b="0" dirty="0">
                          <a:solidFill>
                            <a:schemeClr val="tx2"/>
                          </a:solidFill>
                          <a:latin typeface="Amazon Ember" panose="02000000000000000000" pitchFamily="2" charset="0"/>
                          <a:ea typeface="Amazon Ember" panose="02000000000000000000" pitchFamily="2" charset="0"/>
                        </a:rPr>
                        <a:t>Discovery</a:t>
                      </a:r>
                      <a:r>
                        <a:rPr lang="en-US" sz="1300" b="0" baseline="0" dirty="0">
                          <a:solidFill>
                            <a:schemeClr val="tx2"/>
                          </a:solidFill>
                          <a:latin typeface="Amazon Ember" panose="02000000000000000000" pitchFamily="2" charset="0"/>
                          <a:ea typeface="Amazon Ember" panose="02000000000000000000" pitchFamily="2" charset="0"/>
                        </a:rPr>
                        <a:t> &amp; planning</a:t>
                      </a:r>
                      <a:endParaRPr lang="en-US" sz="1300" b="0" dirty="0">
                        <a:solidFill>
                          <a:schemeClr val="tx2"/>
                        </a:solidFill>
                        <a:latin typeface="Amazon Ember" panose="02000000000000000000" pitchFamily="2" charset="0"/>
                        <a:ea typeface="Amazon Ember" panose="02000000000000000000" pitchFamily="2" charset="0"/>
                      </a:endParaRP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Migration </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plan</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Business case/</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Mig. Evaluator</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Migration &amp; modernization</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experience</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0125974"/>
                  </a:ext>
                </a:extLst>
              </a:tr>
              <a:tr h="15606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Skills</a:t>
                      </a:r>
                      <a:r>
                        <a:rPr lang="en-US" sz="1300" b="0" baseline="0" dirty="0">
                          <a:solidFill>
                            <a:schemeClr val="tx2"/>
                          </a:solidFill>
                          <a:latin typeface="Amazon Ember" panose="02000000000000000000" pitchFamily="2" charset="0"/>
                          <a:ea typeface="Amazon Ember" panose="02000000000000000000" pitchFamily="2" charset="0"/>
                        </a:rPr>
                        <a:t>/center</a:t>
                      </a:r>
                      <a:br>
                        <a:rPr lang="en-US" sz="1300" b="0" baseline="0" dirty="0">
                          <a:solidFill>
                            <a:schemeClr val="tx2"/>
                          </a:solidFill>
                          <a:latin typeface="Amazon Ember" panose="02000000000000000000" pitchFamily="2" charset="0"/>
                          <a:ea typeface="Amazon Ember" panose="02000000000000000000" pitchFamily="2" charset="0"/>
                        </a:rPr>
                      </a:br>
                      <a:r>
                        <a:rPr lang="en-US" sz="1300" b="0" baseline="0" dirty="0">
                          <a:solidFill>
                            <a:schemeClr val="tx2"/>
                          </a:solidFill>
                          <a:latin typeface="Amazon Ember" panose="02000000000000000000" pitchFamily="2" charset="0"/>
                          <a:ea typeface="Amazon Ember" panose="02000000000000000000" pitchFamily="2" charset="0"/>
                        </a:rPr>
                        <a:t>of excellence</a:t>
                      </a:r>
                      <a:endParaRPr lang="en-US" sz="1300" b="0" dirty="0">
                        <a:solidFill>
                          <a:schemeClr val="tx2"/>
                        </a:solidFill>
                        <a:latin typeface="Amazon Ember" panose="02000000000000000000" pitchFamily="2" charset="0"/>
                        <a:ea typeface="Amazon Ember" panose="02000000000000000000" pitchFamily="2" charset="0"/>
                      </a:endParaRP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      Landing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zone</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Operating model</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Security &amp; compliance</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9425567"/>
                  </a:ext>
                </a:extLst>
              </a:tr>
            </a:tbl>
          </a:graphicData>
        </a:graphic>
      </p:graphicFrame>
      <p:grpSp>
        <p:nvGrpSpPr>
          <p:cNvPr id="106" name="Group 105">
            <a:extLst>
              <a:ext uri="{FF2B5EF4-FFF2-40B4-BE49-F238E27FC236}">
                <a16:creationId xmlns:a16="http://schemas.microsoft.com/office/drawing/2014/main" id="{AAB08B7B-93B2-45A4-BC81-4A78B8389342}"/>
              </a:ext>
            </a:extLst>
          </p:cNvPr>
          <p:cNvGrpSpPr/>
          <p:nvPr/>
        </p:nvGrpSpPr>
        <p:grpSpPr>
          <a:xfrm>
            <a:off x="5123647" y="3992018"/>
            <a:ext cx="658681" cy="658678"/>
            <a:chOff x="11738104" y="3067017"/>
            <a:chExt cx="560418" cy="560417"/>
          </a:xfrm>
        </p:grpSpPr>
        <p:grpSp>
          <p:nvGrpSpPr>
            <p:cNvPr id="107" name="Graphic 194">
              <a:extLst>
                <a:ext uri="{FF2B5EF4-FFF2-40B4-BE49-F238E27FC236}">
                  <a16:creationId xmlns:a16="http://schemas.microsoft.com/office/drawing/2014/main" id="{3618BB2D-375E-4C3C-902E-9BC6C2ED73CA}"/>
                </a:ext>
              </a:extLst>
            </p:cNvPr>
            <p:cNvGrpSpPr/>
            <p:nvPr/>
          </p:nvGrpSpPr>
          <p:grpSpPr>
            <a:xfrm>
              <a:off x="11906957" y="3256020"/>
              <a:ext cx="222713" cy="242691"/>
              <a:chOff x="8395794" y="4567573"/>
              <a:chExt cx="218854" cy="238486"/>
            </a:xfrm>
          </p:grpSpPr>
          <p:sp>
            <p:nvSpPr>
              <p:cNvPr id="109" name="Freeform: Shape 903">
                <a:extLst>
                  <a:ext uri="{FF2B5EF4-FFF2-40B4-BE49-F238E27FC236}">
                    <a16:creationId xmlns:a16="http://schemas.microsoft.com/office/drawing/2014/main" id="{E27AF87A-E50E-45EA-A9F6-A913211D1B77}"/>
                  </a:ext>
                </a:extLst>
              </p:cNvPr>
              <p:cNvSpPr/>
              <p:nvPr/>
            </p:nvSpPr>
            <p:spPr>
              <a:xfrm>
                <a:off x="8441174" y="4567573"/>
                <a:ext cx="128738" cy="128738"/>
              </a:xfrm>
              <a:custGeom>
                <a:avLst/>
                <a:gdLst>
                  <a:gd name="connsiteX0" fmla="*/ 4828 w 128737"/>
                  <a:gd name="connsiteY0" fmla="*/ 64369 h 128737"/>
                  <a:gd name="connsiteX1" fmla="*/ 64369 w 128737"/>
                  <a:gd name="connsiteY1" fmla="*/ 4828 h 128737"/>
                  <a:gd name="connsiteX2" fmla="*/ 123910 w 128737"/>
                  <a:gd name="connsiteY2" fmla="*/ 64369 h 128737"/>
                  <a:gd name="connsiteX3" fmla="*/ 64369 w 128737"/>
                  <a:gd name="connsiteY3" fmla="*/ 123910 h 128737"/>
                  <a:gd name="connsiteX4" fmla="*/ 4828 w 128737"/>
                  <a:gd name="connsiteY4" fmla="*/ 64369 h 128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37" h="128737">
                    <a:moveTo>
                      <a:pt x="4828" y="64369"/>
                    </a:moveTo>
                    <a:cubicBezTo>
                      <a:pt x="4828" y="31541"/>
                      <a:pt x="31541" y="4828"/>
                      <a:pt x="64369" y="4828"/>
                    </a:cubicBezTo>
                    <a:cubicBezTo>
                      <a:pt x="97197" y="4828"/>
                      <a:pt x="123910" y="31541"/>
                      <a:pt x="123910" y="64369"/>
                    </a:cubicBezTo>
                    <a:cubicBezTo>
                      <a:pt x="123910" y="97197"/>
                      <a:pt x="97197" y="123910"/>
                      <a:pt x="64369" y="123910"/>
                    </a:cubicBezTo>
                    <a:cubicBezTo>
                      <a:pt x="31541" y="124232"/>
                      <a:pt x="4828" y="97519"/>
                      <a:pt x="4828" y="64369"/>
                    </a:cubicBez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10" name="Freeform: Shape 904">
                <a:extLst>
                  <a:ext uri="{FF2B5EF4-FFF2-40B4-BE49-F238E27FC236}">
                    <a16:creationId xmlns:a16="http://schemas.microsoft.com/office/drawing/2014/main" id="{29D43E5D-463F-4E6D-9BFD-94CF9DCFF0BD}"/>
                  </a:ext>
                </a:extLst>
              </p:cNvPr>
              <p:cNvSpPr/>
              <p:nvPr/>
            </p:nvSpPr>
            <p:spPr>
              <a:xfrm>
                <a:off x="8395794" y="4690195"/>
                <a:ext cx="218854" cy="115864"/>
              </a:xfrm>
              <a:custGeom>
                <a:avLst/>
                <a:gdLst>
                  <a:gd name="connsiteX0" fmla="*/ 4828 w 218854"/>
                  <a:gd name="connsiteY0" fmla="*/ 113611 h 115864"/>
                  <a:gd name="connsiteX1" fmla="*/ 214348 w 218854"/>
                  <a:gd name="connsiteY1" fmla="*/ 113611 h 115864"/>
                  <a:gd name="connsiteX2" fmla="*/ 163175 w 218854"/>
                  <a:gd name="connsiteY2" fmla="*/ 20276 h 115864"/>
                  <a:gd name="connsiteX3" fmla="*/ 109427 w 218854"/>
                  <a:gd name="connsiteY3" fmla="*/ 4828 h 115864"/>
                  <a:gd name="connsiteX4" fmla="*/ 4828 w 218854"/>
                  <a:gd name="connsiteY4" fmla="*/ 113611 h 115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854" h="115864">
                    <a:moveTo>
                      <a:pt x="4828" y="113611"/>
                    </a:moveTo>
                    <a:lnTo>
                      <a:pt x="214348" y="113611"/>
                    </a:lnTo>
                    <a:cubicBezTo>
                      <a:pt x="214348" y="74024"/>
                      <a:pt x="193750" y="39265"/>
                      <a:pt x="163175" y="20276"/>
                    </a:cubicBezTo>
                    <a:cubicBezTo>
                      <a:pt x="147405" y="10621"/>
                      <a:pt x="129060" y="4828"/>
                      <a:pt x="109427" y="4828"/>
                    </a:cubicBezTo>
                    <a:cubicBezTo>
                      <a:pt x="51817" y="4828"/>
                      <a:pt x="4828" y="53748"/>
                      <a:pt x="4828" y="113611"/>
                    </a:cubicBezTo>
                    <a:close/>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sp>
          <p:nvSpPr>
            <p:cNvPr id="108" name="Freeform: Shape 902">
              <a:extLst>
                <a:ext uri="{FF2B5EF4-FFF2-40B4-BE49-F238E27FC236}">
                  <a16:creationId xmlns:a16="http://schemas.microsoft.com/office/drawing/2014/main" id="{69837284-0CDC-428A-BDE9-A521F4DF03A3}"/>
                </a:ext>
              </a:extLst>
            </p:cNvPr>
            <p:cNvSpPr/>
            <p:nvPr/>
          </p:nvSpPr>
          <p:spPr>
            <a:xfrm>
              <a:off x="11738104" y="3067017"/>
              <a:ext cx="560418" cy="560417"/>
            </a:xfrm>
            <a:custGeom>
              <a:avLst/>
              <a:gdLst>
                <a:gd name="connsiteX0" fmla="*/ 280040 w 560418"/>
                <a:gd name="connsiteY0" fmla="*/ 129268 h 560417"/>
                <a:gd name="connsiteX1" fmla="*/ 129269 w 560418"/>
                <a:gd name="connsiteY1" fmla="*/ 280039 h 560417"/>
                <a:gd name="connsiteX2" fmla="*/ 280040 w 560418"/>
                <a:gd name="connsiteY2" fmla="*/ 430811 h 560417"/>
                <a:gd name="connsiteX3" fmla="*/ 430812 w 560418"/>
                <a:gd name="connsiteY3" fmla="*/ 280039 h 560417"/>
                <a:gd name="connsiteX4" fmla="*/ 280040 w 560418"/>
                <a:gd name="connsiteY4" fmla="*/ 129268 h 560417"/>
                <a:gd name="connsiteX5" fmla="*/ 271505 w 560418"/>
                <a:gd name="connsiteY5" fmla="*/ 0 h 560417"/>
                <a:gd name="connsiteX6" fmla="*/ 288910 w 560418"/>
                <a:gd name="connsiteY6" fmla="*/ 1161 h 560417"/>
                <a:gd name="connsiteX7" fmla="*/ 306315 w 560418"/>
                <a:gd name="connsiteY7" fmla="*/ 2318 h 560417"/>
                <a:gd name="connsiteX8" fmla="*/ 323717 w 560418"/>
                <a:gd name="connsiteY8" fmla="*/ 3479 h 560417"/>
                <a:gd name="connsiteX9" fmla="*/ 338801 w 560418"/>
                <a:gd name="connsiteY9" fmla="*/ 89341 h 560417"/>
                <a:gd name="connsiteX10" fmla="*/ 394496 w 560418"/>
                <a:gd name="connsiteY10" fmla="*/ 117187 h 560417"/>
                <a:gd name="connsiteX11" fmla="*/ 472233 w 560418"/>
                <a:gd name="connsiteY11" fmla="*/ 77737 h 560417"/>
                <a:gd name="connsiteX12" fmla="*/ 483838 w 560418"/>
                <a:gd name="connsiteY12" fmla="*/ 90502 h 560417"/>
                <a:gd name="connsiteX13" fmla="*/ 495439 w 560418"/>
                <a:gd name="connsiteY13" fmla="*/ 103264 h 560417"/>
                <a:gd name="connsiteX14" fmla="*/ 507044 w 560418"/>
                <a:gd name="connsiteY14" fmla="*/ 116026 h 560417"/>
                <a:gd name="connsiteX15" fmla="*/ 457149 w 560418"/>
                <a:gd name="connsiteY15" fmla="*/ 187963 h 560417"/>
                <a:gd name="connsiteX16" fmla="*/ 476877 w 560418"/>
                <a:gd name="connsiteY16" fmla="*/ 245980 h 560417"/>
                <a:gd name="connsiteX17" fmla="*/ 560418 w 560418"/>
                <a:gd name="connsiteY17" fmla="*/ 272665 h 560417"/>
                <a:gd name="connsiteX18" fmla="*/ 559257 w 560418"/>
                <a:gd name="connsiteY18" fmla="*/ 290070 h 560417"/>
                <a:gd name="connsiteX19" fmla="*/ 558096 w 560418"/>
                <a:gd name="connsiteY19" fmla="*/ 307472 h 560417"/>
                <a:gd name="connsiteX20" fmla="*/ 556935 w 560418"/>
                <a:gd name="connsiteY20" fmla="*/ 324877 h 560417"/>
                <a:gd name="connsiteX21" fmla="*/ 471076 w 560418"/>
                <a:gd name="connsiteY21" fmla="*/ 339961 h 560417"/>
                <a:gd name="connsiteX22" fmla="*/ 443227 w 560418"/>
                <a:gd name="connsiteY22" fmla="*/ 394496 h 560417"/>
                <a:gd name="connsiteX23" fmla="*/ 482677 w 560418"/>
                <a:gd name="connsiteY23" fmla="*/ 472232 h 560417"/>
                <a:gd name="connsiteX24" fmla="*/ 469915 w 560418"/>
                <a:gd name="connsiteY24" fmla="*/ 483837 h 560417"/>
                <a:gd name="connsiteX25" fmla="*/ 457149 w 560418"/>
                <a:gd name="connsiteY25" fmla="*/ 495439 h 560417"/>
                <a:gd name="connsiteX26" fmla="*/ 444387 w 560418"/>
                <a:gd name="connsiteY26" fmla="*/ 507043 h 560417"/>
                <a:gd name="connsiteX27" fmla="*/ 372451 w 560418"/>
                <a:gd name="connsiteY27" fmla="*/ 457149 h 560417"/>
                <a:gd name="connsiteX28" fmla="*/ 314438 w 560418"/>
                <a:gd name="connsiteY28" fmla="*/ 476876 h 560417"/>
                <a:gd name="connsiteX29" fmla="*/ 287749 w 560418"/>
                <a:gd name="connsiteY29" fmla="*/ 560417 h 560417"/>
                <a:gd name="connsiteX30" fmla="*/ 270344 w 560418"/>
                <a:gd name="connsiteY30" fmla="*/ 559256 h 560417"/>
                <a:gd name="connsiteX31" fmla="*/ 252942 w 560418"/>
                <a:gd name="connsiteY31" fmla="*/ 558095 h 560417"/>
                <a:gd name="connsiteX32" fmla="*/ 235536 w 560418"/>
                <a:gd name="connsiteY32" fmla="*/ 556934 h 560417"/>
                <a:gd name="connsiteX33" fmla="*/ 220453 w 560418"/>
                <a:gd name="connsiteY33" fmla="*/ 471075 h 560417"/>
                <a:gd name="connsiteX34" fmla="*/ 164761 w 560418"/>
                <a:gd name="connsiteY34" fmla="*/ 443226 h 560417"/>
                <a:gd name="connsiteX35" fmla="*/ 87020 w 560418"/>
                <a:gd name="connsiteY35" fmla="*/ 482676 h 560417"/>
                <a:gd name="connsiteX36" fmla="*/ 75419 w 560418"/>
                <a:gd name="connsiteY36" fmla="*/ 469914 h 560417"/>
                <a:gd name="connsiteX37" fmla="*/ 63814 w 560418"/>
                <a:gd name="connsiteY37" fmla="*/ 457149 h 560417"/>
                <a:gd name="connsiteX38" fmla="*/ 52213 w 560418"/>
                <a:gd name="connsiteY38" fmla="*/ 444387 h 560417"/>
                <a:gd name="connsiteX39" fmla="*/ 102104 w 560418"/>
                <a:gd name="connsiteY39" fmla="*/ 372450 h 560417"/>
                <a:gd name="connsiteX40" fmla="*/ 82381 w 560418"/>
                <a:gd name="connsiteY40" fmla="*/ 313276 h 560417"/>
                <a:gd name="connsiteX41" fmla="*/ 0 w 560418"/>
                <a:gd name="connsiteY41" fmla="*/ 286588 h 560417"/>
                <a:gd name="connsiteX42" fmla="*/ 1161 w 560418"/>
                <a:gd name="connsiteY42" fmla="*/ 269186 h 560417"/>
                <a:gd name="connsiteX43" fmla="*/ 2319 w 560418"/>
                <a:gd name="connsiteY43" fmla="*/ 251780 h 560417"/>
                <a:gd name="connsiteX44" fmla="*/ 3479 w 560418"/>
                <a:gd name="connsiteY44" fmla="*/ 234375 h 560417"/>
                <a:gd name="connsiteX45" fmla="*/ 88181 w 560418"/>
                <a:gd name="connsiteY45" fmla="*/ 219291 h 560417"/>
                <a:gd name="connsiteX46" fmla="*/ 116027 w 560418"/>
                <a:gd name="connsiteY46" fmla="*/ 163599 h 560417"/>
                <a:gd name="connsiteX47" fmla="*/ 76576 w 560418"/>
                <a:gd name="connsiteY47" fmla="*/ 87020 h 560417"/>
                <a:gd name="connsiteX48" fmla="*/ 89342 w 560418"/>
                <a:gd name="connsiteY48" fmla="*/ 75418 h 560417"/>
                <a:gd name="connsiteX49" fmla="*/ 102104 w 560418"/>
                <a:gd name="connsiteY49" fmla="*/ 63814 h 560417"/>
                <a:gd name="connsiteX50" fmla="*/ 114866 w 560418"/>
                <a:gd name="connsiteY50" fmla="*/ 52212 h 560417"/>
                <a:gd name="connsiteX51" fmla="*/ 185645 w 560418"/>
                <a:gd name="connsiteY51" fmla="*/ 102103 h 560417"/>
                <a:gd name="connsiteX52" fmla="*/ 244820 w 560418"/>
                <a:gd name="connsiteY52" fmla="*/ 82380 h 56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60418" h="560417">
                  <a:moveTo>
                    <a:pt x="280040" y="129268"/>
                  </a:moveTo>
                  <a:cubicBezTo>
                    <a:pt x="196771" y="129268"/>
                    <a:pt x="129269" y="196770"/>
                    <a:pt x="129269" y="280039"/>
                  </a:cubicBezTo>
                  <a:cubicBezTo>
                    <a:pt x="129269" y="363309"/>
                    <a:pt x="196771" y="430811"/>
                    <a:pt x="280040" y="430811"/>
                  </a:cubicBezTo>
                  <a:cubicBezTo>
                    <a:pt x="363309" y="430811"/>
                    <a:pt x="430812" y="363309"/>
                    <a:pt x="430812" y="280039"/>
                  </a:cubicBezTo>
                  <a:cubicBezTo>
                    <a:pt x="430812" y="196770"/>
                    <a:pt x="363309" y="129268"/>
                    <a:pt x="280040" y="129268"/>
                  </a:cubicBezTo>
                  <a:close/>
                  <a:moveTo>
                    <a:pt x="271505" y="0"/>
                  </a:moveTo>
                  <a:lnTo>
                    <a:pt x="288910" y="1161"/>
                  </a:lnTo>
                  <a:lnTo>
                    <a:pt x="306315" y="2318"/>
                  </a:lnTo>
                  <a:lnTo>
                    <a:pt x="323717" y="3479"/>
                  </a:lnTo>
                  <a:lnTo>
                    <a:pt x="338801" y="89341"/>
                  </a:lnTo>
                  <a:cubicBezTo>
                    <a:pt x="358528" y="96303"/>
                    <a:pt x="377091" y="104425"/>
                    <a:pt x="394496" y="117187"/>
                  </a:cubicBezTo>
                  <a:lnTo>
                    <a:pt x="472233" y="77737"/>
                  </a:lnTo>
                  <a:lnTo>
                    <a:pt x="483838" y="90502"/>
                  </a:lnTo>
                  <a:lnTo>
                    <a:pt x="495439" y="103264"/>
                  </a:lnTo>
                  <a:lnTo>
                    <a:pt x="507044" y="116026"/>
                  </a:lnTo>
                  <a:lnTo>
                    <a:pt x="457149" y="187963"/>
                  </a:lnTo>
                  <a:cubicBezTo>
                    <a:pt x="466433" y="206529"/>
                    <a:pt x="473394" y="226253"/>
                    <a:pt x="476877" y="245980"/>
                  </a:cubicBezTo>
                  <a:lnTo>
                    <a:pt x="560418" y="272665"/>
                  </a:lnTo>
                  <a:lnTo>
                    <a:pt x="559257" y="290070"/>
                  </a:lnTo>
                  <a:lnTo>
                    <a:pt x="558096" y="307472"/>
                  </a:lnTo>
                  <a:lnTo>
                    <a:pt x="556935" y="324877"/>
                  </a:lnTo>
                  <a:lnTo>
                    <a:pt x="471076" y="339961"/>
                  </a:lnTo>
                  <a:cubicBezTo>
                    <a:pt x="464111" y="358527"/>
                    <a:pt x="454831" y="377090"/>
                    <a:pt x="443227" y="394496"/>
                  </a:cubicBezTo>
                  <a:lnTo>
                    <a:pt x="482677" y="472232"/>
                  </a:lnTo>
                  <a:lnTo>
                    <a:pt x="469915" y="483837"/>
                  </a:lnTo>
                  <a:lnTo>
                    <a:pt x="457149" y="495439"/>
                  </a:lnTo>
                  <a:lnTo>
                    <a:pt x="444387" y="507043"/>
                  </a:lnTo>
                  <a:lnTo>
                    <a:pt x="372451" y="457149"/>
                  </a:lnTo>
                  <a:cubicBezTo>
                    <a:pt x="353885" y="466432"/>
                    <a:pt x="334161" y="473393"/>
                    <a:pt x="314438" y="476876"/>
                  </a:cubicBezTo>
                  <a:lnTo>
                    <a:pt x="287749" y="560417"/>
                  </a:lnTo>
                  <a:lnTo>
                    <a:pt x="270344" y="559256"/>
                  </a:lnTo>
                  <a:lnTo>
                    <a:pt x="252942" y="558095"/>
                  </a:lnTo>
                  <a:lnTo>
                    <a:pt x="235536" y="556934"/>
                  </a:lnTo>
                  <a:lnTo>
                    <a:pt x="220453" y="471075"/>
                  </a:lnTo>
                  <a:cubicBezTo>
                    <a:pt x="200729" y="464110"/>
                    <a:pt x="182163" y="454831"/>
                    <a:pt x="164761" y="443226"/>
                  </a:cubicBezTo>
                  <a:lnTo>
                    <a:pt x="87020" y="482676"/>
                  </a:lnTo>
                  <a:lnTo>
                    <a:pt x="75419" y="469914"/>
                  </a:lnTo>
                  <a:lnTo>
                    <a:pt x="63814" y="457149"/>
                  </a:lnTo>
                  <a:lnTo>
                    <a:pt x="52213" y="444387"/>
                  </a:lnTo>
                  <a:lnTo>
                    <a:pt x="102104" y="372450"/>
                  </a:lnTo>
                  <a:cubicBezTo>
                    <a:pt x="92821" y="353884"/>
                    <a:pt x="85860" y="333000"/>
                    <a:pt x="82381" y="313276"/>
                  </a:cubicBezTo>
                  <a:lnTo>
                    <a:pt x="0" y="286588"/>
                  </a:lnTo>
                  <a:lnTo>
                    <a:pt x="1161" y="269186"/>
                  </a:lnTo>
                  <a:lnTo>
                    <a:pt x="2319" y="251780"/>
                  </a:lnTo>
                  <a:lnTo>
                    <a:pt x="3479" y="234375"/>
                  </a:lnTo>
                  <a:lnTo>
                    <a:pt x="88181" y="219291"/>
                  </a:lnTo>
                  <a:cubicBezTo>
                    <a:pt x="93982" y="199568"/>
                    <a:pt x="103265" y="181001"/>
                    <a:pt x="116027" y="163599"/>
                  </a:cubicBezTo>
                  <a:lnTo>
                    <a:pt x="76576" y="87020"/>
                  </a:lnTo>
                  <a:lnTo>
                    <a:pt x="89342" y="75418"/>
                  </a:lnTo>
                  <a:lnTo>
                    <a:pt x="102104" y="63814"/>
                  </a:lnTo>
                  <a:lnTo>
                    <a:pt x="114866" y="52212"/>
                  </a:lnTo>
                  <a:lnTo>
                    <a:pt x="185645" y="102103"/>
                  </a:lnTo>
                  <a:cubicBezTo>
                    <a:pt x="204208" y="92820"/>
                    <a:pt x="223935" y="85859"/>
                    <a:pt x="244820" y="82380"/>
                  </a:cubicBezTo>
                  <a:close/>
                </a:path>
              </a:pathLst>
            </a:custGeom>
            <a:solidFill>
              <a:schemeClr val="bg1"/>
            </a:solidFill>
            <a:ln w="15875" cap="flat">
              <a:solidFill>
                <a:schemeClr val="tx1"/>
              </a:solidFill>
              <a:prstDash val="solid"/>
              <a:round/>
            </a:ln>
          </p:spPr>
          <p:txBody>
            <a:bodyPr wrap="square" rtlCol="0" anchor="ctr">
              <a:noAutofit/>
            </a:bodyPr>
            <a:lstStyle/>
            <a:p>
              <a:pPr defTabSz="731474">
                <a:defRPr/>
              </a:pPr>
              <a:endParaRPr lang="en-US" sz="1800" dirty="0">
                <a:solidFill>
                  <a:srgbClr val="FFFFFF"/>
                </a:solidFill>
                <a:latin typeface="Amazon Ember"/>
              </a:endParaRPr>
            </a:p>
          </p:txBody>
        </p:sp>
      </p:grpSp>
      <p:grpSp>
        <p:nvGrpSpPr>
          <p:cNvPr id="111" name="Group 110">
            <a:extLst>
              <a:ext uri="{FF2B5EF4-FFF2-40B4-BE49-F238E27FC236}">
                <a16:creationId xmlns:a16="http://schemas.microsoft.com/office/drawing/2014/main" id="{853DE1FB-D136-4882-8BB8-CCCF760EC6A3}"/>
              </a:ext>
            </a:extLst>
          </p:cNvPr>
          <p:cNvGrpSpPr/>
          <p:nvPr/>
        </p:nvGrpSpPr>
        <p:grpSpPr>
          <a:xfrm>
            <a:off x="7875739" y="3947895"/>
            <a:ext cx="727543" cy="746924"/>
            <a:chOff x="11775652" y="4756665"/>
            <a:chExt cx="483729" cy="496615"/>
          </a:xfrm>
        </p:grpSpPr>
        <p:grpSp>
          <p:nvGrpSpPr>
            <p:cNvPr id="112" name="Graphic 268">
              <a:extLst>
                <a:ext uri="{FF2B5EF4-FFF2-40B4-BE49-F238E27FC236}">
                  <a16:creationId xmlns:a16="http://schemas.microsoft.com/office/drawing/2014/main" id="{E97FB1F6-AB5C-43FC-A166-3AA881F3BB77}"/>
                </a:ext>
              </a:extLst>
            </p:cNvPr>
            <p:cNvGrpSpPr/>
            <p:nvPr/>
          </p:nvGrpSpPr>
          <p:grpSpPr>
            <a:xfrm>
              <a:off x="11775652" y="4756665"/>
              <a:ext cx="483729" cy="496615"/>
              <a:chOff x="4562059" y="6255271"/>
              <a:chExt cx="483729" cy="496616"/>
            </a:xfrm>
          </p:grpSpPr>
          <p:sp>
            <p:nvSpPr>
              <p:cNvPr id="116" name="Freeform: Shape 910">
                <a:extLst>
                  <a:ext uri="{FF2B5EF4-FFF2-40B4-BE49-F238E27FC236}">
                    <a16:creationId xmlns:a16="http://schemas.microsoft.com/office/drawing/2014/main" id="{97D8EDBA-27C7-45DE-91D7-63FD1FBDFA43}"/>
                  </a:ext>
                </a:extLst>
              </p:cNvPr>
              <p:cNvSpPr/>
              <p:nvPr/>
            </p:nvSpPr>
            <p:spPr>
              <a:xfrm>
                <a:off x="4566562" y="6542841"/>
                <a:ext cx="80461" cy="138393"/>
              </a:xfrm>
              <a:custGeom>
                <a:avLst/>
                <a:gdLst>
                  <a:gd name="connsiteX0" fmla="*/ 1617 w 80461"/>
                  <a:gd name="connsiteY0" fmla="*/ 1617 h 138393"/>
                  <a:gd name="connsiteX1" fmla="*/ 79825 w 80461"/>
                  <a:gd name="connsiteY1" fmla="*/ 139367 h 138393"/>
                </a:gdLst>
                <a:ahLst/>
                <a:cxnLst>
                  <a:cxn ang="0">
                    <a:pos x="connsiteX0" y="connsiteY0"/>
                  </a:cxn>
                  <a:cxn ang="0">
                    <a:pos x="connsiteX1" y="connsiteY1"/>
                  </a:cxn>
                </a:cxnLst>
                <a:rect l="l" t="t" r="r" b="b"/>
                <a:pathLst>
                  <a:path w="80461" h="138393">
                    <a:moveTo>
                      <a:pt x="1617" y="1617"/>
                    </a:moveTo>
                    <a:cubicBezTo>
                      <a:pt x="9342" y="45066"/>
                      <a:pt x="29296" y="99458"/>
                      <a:pt x="79825" y="13936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17" name="Freeform: Shape 911">
                <a:extLst>
                  <a:ext uri="{FF2B5EF4-FFF2-40B4-BE49-F238E27FC236}">
                    <a16:creationId xmlns:a16="http://schemas.microsoft.com/office/drawing/2014/main" id="{796A6D49-D5B8-4E17-9AF9-CCEAFEB8AEAA}"/>
                  </a:ext>
                </a:extLst>
              </p:cNvPr>
              <p:cNvSpPr/>
              <p:nvPr/>
            </p:nvSpPr>
            <p:spPr>
              <a:xfrm>
                <a:off x="4562059" y="6283113"/>
                <a:ext cx="131956" cy="231728"/>
              </a:xfrm>
              <a:custGeom>
                <a:avLst/>
                <a:gdLst>
                  <a:gd name="connsiteX0" fmla="*/ 132926 w 131956"/>
                  <a:gd name="connsiteY0" fmla="*/ 1617 h 231728"/>
                  <a:gd name="connsiteX1" fmla="*/ 121340 w 131956"/>
                  <a:gd name="connsiteY1" fmla="*/ 8054 h 231728"/>
                  <a:gd name="connsiteX2" fmla="*/ 2579 w 131956"/>
                  <a:gd name="connsiteY2" fmla="*/ 191506 h 231728"/>
                  <a:gd name="connsiteX3" fmla="*/ 2258 w 131956"/>
                  <a:gd name="connsiteY3" fmla="*/ 230127 h 231728"/>
                </a:gdLst>
                <a:ahLst/>
                <a:cxnLst>
                  <a:cxn ang="0">
                    <a:pos x="connsiteX0" y="connsiteY0"/>
                  </a:cxn>
                  <a:cxn ang="0">
                    <a:pos x="connsiteX1" y="connsiteY1"/>
                  </a:cxn>
                  <a:cxn ang="0">
                    <a:pos x="connsiteX2" y="connsiteY2"/>
                  </a:cxn>
                  <a:cxn ang="0">
                    <a:pos x="connsiteX3" y="connsiteY3"/>
                  </a:cxn>
                </a:cxnLst>
                <a:rect l="l" t="t" r="r" b="b"/>
                <a:pathLst>
                  <a:path w="131956" h="231728">
                    <a:moveTo>
                      <a:pt x="132926" y="1617"/>
                    </a:moveTo>
                    <a:cubicBezTo>
                      <a:pt x="129064" y="3548"/>
                      <a:pt x="125202" y="5801"/>
                      <a:pt x="121340" y="8054"/>
                    </a:cubicBezTo>
                    <a:cubicBezTo>
                      <a:pt x="70810" y="37342"/>
                      <a:pt x="11591" y="102998"/>
                      <a:pt x="2579" y="191506"/>
                    </a:cubicBezTo>
                    <a:cubicBezTo>
                      <a:pt x="2579" y="191506"/>
                      <a:pt x="648" y="206954"/>
                      <a:pt x="2258" y="23012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18" name="Freeform: Shape 912">
                <a:extLst>
                  <a:ext uri="{FF2B5EF4-FFF2-40B4-BE49-F238E27FC236}">
                    <a16:creationId xmlns:a16="http://schemas.microsoft.com/office/drawing/2014/main" id="{7F3BD53D-118E-4E80-9057-E416145B1E79}"/>
                  </a:ext>
                </a:extLst>
              </p:cNvPr>
              <p:cNvSpPr/>
              <p:nvPr/>
            </p:nvSpPr>
            <p:spPr>
              <a:xfrm>
                <a:off x="4721369" y="6255271"/>
                <a:ext cx="280005" cy="106209"/>
              </a:xfrm>
              <a:custGeom>
                <a:avLst/>
                <a:gdLst>
                  <a:gd name="connsiteX0" fmla="*/ 281300 w 280004"/>
                  <a:gd name="connsiteY0" fmla="*/ 105737 h 106208"/>
                  <a:gd name="connsiteX1" fmla="*/ 1617 w 280004"/>
                  <a:gd name="connsiteY1" fmla="*/ 16908 h 106208"/>
                </a:gdLst>
                <a:ahLst/>
                <a:cxnLst>
                  <a:cxn ang="0">
                    <a:pos x="connsiteX0" y="connsiteY0"/>
                  </a:cxn>
                  <a:cxn ang="0">
                    <a:pos x="connsiteX1" y="connsiteY1"/>
                  </a:cxn>
                </a:cxnLst>
                <a:rect l="l" t="t" r="r" b="b"/>
                <a:pathLst>
                  <a:path w="280004" h="106208">
                    <a:moveTo>
                      <a:pt x="281300" y="105737"/>
                    </a:moveTo>
                    <a:cubicBezTo>
                      <a:pt x="240104" y="41368"/>
                      <a:pt x="127137" y="-30404"/>
                      <a:pt x="1617" y="16908"/>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19" name="Freeform: Shape 913">
                <a:extLst>
                  <a:ext uri="{FF2B5EF4-FFF2-40B4-BE49-F238E27FC236}">
                    <a16:creationId xmlns:a16="http://schemas.microsoft.com/office/drawing/2014/main" id="{5CE865C5-530C-4F4C-A423-CCCA36895954}"/>
                  </a:ext>
                </a:extLst>
              </p:cNvPr>
              <p:cNvSpPr/>
              <p:nvPr/>
            </p:nvSpPr>
            <p:spPr>
              <a:xfrm>
                <a:off x="4966139" y="6325122"/>
                <a:ext cx="45058" cy="41840"/>
              </a:xfrm>
              <a:custGeom>
                <a:avLst/>
                <a:gdLst>
                  <a:gd name="connsiteX0" fmla="*/ 45541 w 45058"/>
                  <a:gd name="connsiteY0" fmla="*/ 3379 h 41839"/>
                  <a:gd name="connsiteX1" fmla="*/ 39104 w 45058"/>
                  <a:gd name="connsiteY1" fmla="*/ 2414 h 41839"/>
                  <a:gd name="connsiteX2" fmla="*/ 34598 w 45058"/>
                  <a:gd name="connsiteY2" fmla="*/ 33955 h 41839"/>
                  <a:gd name="connsiteX3" fmla="*/ 3701 w 45058"/>
                  <a:gd name="connsiteY3" fmla="*/ 27196 h 41839"/>
                  <a:gd name="connsiteX4" fmla="*/ 2414 w 45058"/>
                  <a:gd name="connsiteY4" fmla="*/ 33311 h 41839"/>
                  <a:gd name="connsiteX5" fmla="*/ 40070 w 45058"/>
                  <a:gd name="connsiteY5" fmla="*/ 41679 h 4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58" h="41839">
                    <a:moveTo>
                      <a:pt x="45541" y="3379"/>
                    </a:moveTo>
                    <a:lnTo>
                      <a:pt x="39104" y="2414"/>
                    </a:lnTo>
                    <a:lnTo>
                      <a:pt x="34598" y="33955"/>
                    </a:lnTo>
                    <a:lnTo>
                      <a:pt x="3701" y="27196"/>
                    </a:lnTo>
                    <a:lnTo>
                      <a:pt x="2414" y="33311"/>
                    </a:lnTo>
                    <a:lnTo>
                      <a:pt x="40070" y="41679"/>
                    </a:lnTo>
                    <a:close/>
                  </a:path>
                </a:pathLst>
              </a:custGeom>
              <a:solidFill>
                <a:schemeClr val="tx1"/>
              </a:solidFill>
              <a:ln w="15875" cap="flat">
                <a:solidFill>
                  <a:schemeClr val="tx1"/>
                </a:solidFill>
                <a:prstDash val="solid"/>
                <a:miter/>
              </a:ln>
            </p:spPr>
            <p:txBody>
              <a:bodyPr rtlCol="0" anchor="ctr"/>
              <a:lstStyle/>
              <a:p>
                <a:pPr defTabSz="731474">
                  <a:defRPr/>
                </a:pPr>
                <a:endParaRPr lang="en-US" sz="1800" dirty="0">
                  <a:solidFill>
                    <a:srgbClr val="FFFFFF"/>
                  </a:solidFill>
                  <a:latin typeface="Amazon Ember"/>
                </a:endParaRPr>
              </a:p>
            </p:txBody>
          </p:sp>
          <p:sp>
            <p:nvSpPr>
              <p:cNvPr id="120" name="Freeform: Shape 914">
                <a:extLst>
                  <a:ext uri="{FF2B5EF4-FFF2-40B4-BE49-F238E27FC236}">
                    <a16:creationId xmlns:a16="http://schemas.microsoft.com/office/drawing/2014/main" id="{FDF9B5F2-14E1-4CED-BE74-36982E68519D}"/>
                  </a:ext>
                </a:extLst>
              </p:cNvPr>
              <p:cNvSpPr/>
              <p:nvPr/>
            </p:nvSpPr>
            <p:spPr>
              <a:xfrm>
                <a:off x="5032914" y="6426655"/>
                <a:ext cx="12874" cy="86898"/>
              </a:xfrm>
              <a:custGeom>
                <a:avLst/>
                <a:gdLst>
                  <a:gd name="connsiteX0" fmla="*/ 12238 w 12873"/>
                  <a:gd name="connsiteY0" fmla="*/ 86584 h 86898"/>
                  <a:gd name="connsiteX1" fmla="*/ 1617 w 12873"/>
                  <a:gd name="connsiteY1" fmla="*/ 1617 h 86898"/>
                </a:gdLst>
                <a:ahLst/>
                <a:cxnLst>
                  <a:cxn ang="0">
                    <a:pos x="connsiteX0" y="connsiteY0"/>
                  </a:cxn>
                  <a:cxn ang="0">
                    <a:pos x="connsiteX1" y="connsiteY1"/>
                  </a:cxn>
                </a:cxnLst>
                <a:rect l="l" t="t" r="r" b="b"/>
                <a:pathLst>
                  <a:path w="12873" h="86898">
                    <a:moveTo>
                      <a:pt x="12238" y="86584"/>
                    </a:moveTo>
                    <a:cubicBezTo>
                      <a:pt x="13847" y="60193"/>
                      <a:pt x="10629" y="31549"/>
                      <a:pt x="1617"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1" name="Freeform: Shape 915">
                <a:extLst>
                  <a:ext uri="{FF2B5EF4-FFF2-40B4-BE49-F238E27FC236}">
                    <a16:creationId xmlns:a16="http://schemas.microsoft.com/office/drawing/2014/main" id="{0CBA5158-7E49-40C4-A1E2-1311D2B68BFC}"/>
                  </a:ext>
                </a:extLst>
              </p:cNvPr>
              <p:cNvSpPr/>
              <p:nvPr/>
            </p:nvSpPr>
            <p:spPr>
              <a:xfrm>
                <a:off x="5025190" y="6531255"/>
                <a:ext cx="19311" cy="61150"/>
              </a:xfrm>
              <a:custGeom>
                <a:avLst/>
                <a:gdLst>
                  <a:gd name="connsiteX0" fmla="*/ 1617 w 19310"/>
                  <a:gd name="connsiteY0" fmla="*/ 60193 h 61150"/>
                  <a:gd name="connsiteX1" fmla="*/ 18353 w 19310"/>
                  <a:gd name="connsiteY1" fmla="*/ 1617 h 61150"/>
                </a:gdLst>
                <a:ahLst/>
                <a:cxnLst>
                  <a:cxn ang="0">
                    <a:pos x="connsiteX0" y="connsiteY0"/>
                  </a:cxn>
                  <a:cxn ang="0">
                    <a:pos x="connsiteX1" y="connsiteY1"/>
                  </a:cxn>
                </a:cxnLst>
                <a:rect l="l" t="t" r="r" b="b"/>
                <a:pathLst>
                  <a:path w="19310" h="61150">
                    <a:moveTo>
                      <a:pt x="1617" y="60193"/>
                    </a:moveTo>
                    <a:cubicBezTo>
                      <a:pt x="9342" y="42170"/>
                      <a:pt x="15135" y="22537"/>
                      <a:pt x="18353"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2" name="Freeform: Shape 916">
                <a:extLst>
                  <a:ext uri="{FF2B5EF4-FFF2-40B4-BE49-F238E27FC236}">
                    <a16:creationId xmlns:a16="http://schemas.microsoft.com/office/drawing/2014/main" id="{E5D9872B-0835-4FA1-91AF-C5668DA9A753}"/>
                  </a:ext>
                </a:extLst>
              </p:cNvPr>
              <p:cNvSpPr/>
              <p:nvPr/>
            </p:nvSpPr>
            <p:spPr>
              <a:xfrm>
                <a:off x="4701736" y="6612038"/>
                <a:ext cx="315408" cy="128738"/>
              </a:xfrm>
              <a:custGeom>
                <a:avLst/>
                <a:gdLst>
                  <a:gd name="connsiteX0" fmla="*/ 1617 w 315407"/>
                  <a:gd name="connsiteY0" fmla="*/ 106539 h 128737"/>
                  <a:gd name="connsiteX1" fmla="*/ 224012 w 315407"/>
                  <a:gd name="connsiteY1" fmla="*/ 95274 h 128737"/>
                  <a:gd name="connsiteX2" fmla="*/ 314450 w 315407"/>
                  <a:gd name="connsiteY2" fmla="*/ 1617 h 128737"/>
                </a:gdLst>
                <a:ahLst/>
                <a:cxnLst>
                  <a:cxn ang="0">
                    <a:pos x="connsiteX0" y="connsiteY0"/>
                  </a:cxn>
                  <a:cxn ang="0">
                    <a:pos x="connsiteX1" y="connsiteY1"/>
                  </a:cxn>
                  <a:cxn ang="0">
                    <a:pos x="connsiteX2" y="connsiteY2"/>
                  </a:cxn>
                </a:cxnLst>
                <a:rect l="l" t="t" r="r" b="b"/>
                <a:pathLst>
                  <a:path w="315407" h="128737">
                    <a:moveTo>
                      <a:pt x="1617" y="106539"/>
                    </a:moveTo>
                    <a:cubicBezTo>
                      <a:pt x="62768" y="135183"/>
                      <a:pt x="141941" y="142585"/>
                      <a:pt x="224012" y="95274"/>
                    </a:cubicBezTo>
                    <a:cubicBezTo>
                      <a:pt x="255553" y="76929"/>
                      <a:pt x="290312" y="44744"/>
                      <a:pt x="314450" y="1617"/>
                    </a:cubicBez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3" name="Freeform: Shape 917">
                <a:extLst>
                  <a:ext uri="{FF2B5EF4-FFF2-40B4-BE49-F238E27FC236}">
                    <a16:creationId xmlns:a16="http://schemas.microsoft.com/office/drawing/2014/main" id="{F47FD08C-C696-43E5-A9CB-D31AE404D444}"/>
                  </a:ext>
                </a:extLst>
              </p:cNvPr>
              <p:cNvSpPr/>
              <p:nvPr/>
            </p:nvSpPr>
            <p:spPr>
              <a:xfrm>
                <a:off x="4694503" y="6700392"/>
                <a:ext cx="41840" cy="51495"/>
              </a:xfrm>
              <a:custGeom>
                <a:avLst/>
                <a:gdLst>
                  <a:gd name="connsiteX0" fmla="*/ 17541 w 41839"/>
                  <a:gd name="connsiteY0" fmla="*/ 50691 h 51495"/>
                  <a:gd name="connsiteX1" fmla="*/ 23656 w 41839"/>
                  <a:gd name="connsiteY1" fmla="*/ 48116 h 51495"/>
                  <a:gd name="connsiteX2" fmla="*/ 11104 w 41839"/>
                  <a:gd name="connsiteY2" fmla="*/ 18828 h 51495"/>
                  <a:gd name="connsiteX3" fmla="*/ 41035 w 41839"/>
                  <a:gd name="connsiteY3" fmla="*/ 8529 h 51495"/>
                  <a:gd name="connsiteX4" fmla="*/ 39104 w 41839"/>
                  <a:gd name="connsiteY4" fmla="*/ 2414 h 51495"/>
                  <a:gd name="connsiteX5" fmla="*/ 2414 w 41839"/>
                  <a:gd name="connsiteY5" fmla="*/ 14966 h 5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39" h="51495">
                    <a:moveTo>
                      <a:pt x="17541" y="50691"/>
                    </a:moveTo>
                    <a:lnTo>
                      <a:pt x="23656" y="48116"/>
                    </a:lnTo>
                    <a:lnTo>
                      <a:pt x="11104" y="18828"/>
                    </a:lnTo>
                    <a:lnTo>
                      <a:pt x="41035" y="8529"/>
                    </a:lnTo>
                    <a:lnTo>
                      <a:pt x="39104" y="2414"/>
                    </a:lnTo>
                    <a:lnTo>
                      <a:pt x="2414" y="14966"/>
                    </a:lnTo>
                    <a:close/>
                  </a:path>
                </a:pathLst>
              </a:custGeom>
              <a:solidFill>
                <a:schemeClr val="tx1"/>
              </a:solidFill>
              <a:ln w="15875" cap="flat">
                <a:solidFill>
                  <a:schemeClr val="tx1"/>
                </a:solidFill>
                <a:prstDash val="solid"/>
                <a:miter/>
              </a:ln>
            </p:spPr>
            <p:txBody>
              <a:bodyPr rtlCol="0" anchor="ctr"/>
              <a:lstStyle/>
              <a:p>
                <a:pPr defTabSz="731474">
                  <a:defRPr/>
                </a:pPr>
                <a:endParaRPr lang="en-US" sz="1800" dirty="0">
                  <a:solidFill>
                    <a:srgbClr val="FFFFFF"/>
                  </a:solidFill>
                  <a:latin typeface="Amazon Ember"/>
                </a:endParaRPr>
              </a:p>
            </p:txBody>
          </p:sp>
        </p:grpSp>
        <p:grpSp>
          <p:nvGrpSpPr>
            <p:cNvPr id="113" name="Graphic 244">
              <a:extLst>
                <a:ext uri="{FF2B5EF4-FFF2-40B4-BE49-F238E27FC236}">
                  <a16:creationId xmlns:a16="http://schemas.microsoft.com/office/drawing/2014/main" id="{3BE60685-3344-4448-A62B-F816D89C8677}"/>
                </a:ext>
              </a:extLst>
            </p:cNvPr>
            <p:cNvGrpSpPr/>
            <p:nvPr/>
          </p:nvGrpSpPr>
          <p:grpSpPr>
            <a:xfrm>
              <a:off x="11885192" y="4863122"/>
              <a:ext cx="274189" cy="274189"/>
              <a:chOff x="7761796" y="567771"/>
              <a:chExt cx="164141" cy="164141"/>
            </a:xfrm>
          </p:grpSpPr>
          <p:sp>
            <p:nvSpPr>
              <p:cNvPr id="114" name="Freeform: Shape 908">
                <a:extLst>
                  <a:ext uri="{FF2B5EF4-FFF2-40B4-BE49-F238E27FC236}">
                    <a16:creationId xmlns:a16="http://schemas.microsoft.com/office/drawing/2014/main" id="{83CCB7B8-CACE-4A4A-993A-74BAF4E6C53C}"/>
                  </a:ext>
                </a:extLst>
              </p:cNvPr>
              <p:cNvSpPr/>
              <p:nvPr/>
            </p:nvSpPr>
            <p:spPr>
              <a:xfrm>
                <a:off x="7761796" y="567771"/>
                <a:ext cx="164141" cy="164141"/>
              </a:xfrm>
              <a:custGeom>
                <a:avLst/>
                <a:gdLst>
                  <a:gd name="connsiteX0" fmla="*/ 19311 w 164140"/>
                  <a:gd name="connsiteY0" fmla="*/ 128094 h 164140"/>
                  <a:gd name="connsiteX1" fmla="*/ 22529 w 164140"/>
                  <a:gd name="connsiteY1" fmla="*/ 131634 h 164140"/>
                  <a:gd name="connsiteX2" fmla="*/ 25748 w 164140"/>
                  <a:gd name="connsiteY2" fmla="*/ 135175 h 164140"/>
                  <a:gd name="connsiteX3" fmla="*/ 28966 w 164140"/>
                  <a:gd name="connsiteY3" fmla="*/ 138715 h 164140"/>
                  <a:gd name="connsiteX4" fmla="*/ 50530 w 164140"/>
                  <a:gd name="connsiteY4" fmla="*/ 127772 h 164140"/>
                  <a:gd name="connsiteX5" fmla="*/ 65978 w 164140"/>
                  <a:gd name="connsiteY5" fmla="*/ 135497 h 164140"/>
                  <a:gd name="connsiteX6" fmla="*/ 70162 w 164140"/>
                  <a:gd name="connsiteY6" fmla="*/ 159313 h 164140"/>
                  <a:gd name="connsiteX7" fmla="*/ 74990 w 164140"/>
                  <a:gd name="connsiteY7" fmla="*/ 159635 h 164140"/>
                  <a:gd name="connsiteX8" fmla="*/ 79817 w 164140"/>
                  <a:gd name="connsiteY8" fmla="*/ 159957 h 164140"/>
                  <a:gd name="connsiteX9" fmla="*/ 84645 w 164140"/>
                  <a:gd name="connsiteY9" fmla="*/ 160279 h 164140"/>
                  <a:gd name="connsiteX10" fmla="*/ 92048 w 164140"/>
                  <a:gd name="connsiteY10" fmla="*/ 137106 h 164140"/>
                  <a:gd name="connsiteX11" fmla="*/ 108140 w 164140"/>
                  <a:gd name="connsiteY11" fmla="*/ 131634 h 164140"/>
                  <a:gd name="connsiteX12" fmla="*/ 128094 w 164140"/>
                  <a:gd name="connsiteY12" fmla="*/ 145474 h 164140"/>
                  <a:gd name="connsiteX13" fmla="*/ 131634 w 164140"/>
                  <a:gd name="connsiteY13" fmla="*/ 142255 h 164140"/>
                  <a:gd name="connsiteX14" fmla="*/ 135175 w 164140"/>
                  <a:gd name="connsiteY14" fmla="*/ 139037 h 164140"/>
                  <a:gd name="connsiteX15" fmla="*/ 138715 w 164140"/>
                  <a:gd name="connsiteY15" fmla="*/ 135818 h 164140"/>
                  <a:gd name="connsiteX16" fmla="*/ 127772 w 164140"/>
                  <a:gd name="connsiteY16" fmla="*/ 114255 h 164140"/>
                  <a:gd name="connsiteX17" fmla="*/ 135497 w 164140"/>
                  <a:gd name="connsiteY17" fmla="*/ 99128 h 164140"/>
                  <a:gd name="connsiteX18" fmla="*/ 159313 w 164140"/>
                  <a:gd name="connsiteY18" fmla="*/ 94944 h 164140"/>
                  <a:gd name="connsiteX19" fmla="*/ 159635 w 164140"/>
                  <a:gd name="connsiteY19" fmla="*/ 90116 h 164140"/>
                  <a:gd name="connsiteX20" fmla="*/ 159957 w 164140"/>
                  <a:gd name="connsiteY20" fmla="*/ 85289 h 164140"/>
                  <a:gd name="connsiteX21" fmla="*/ 160279 w 164140"/>
                  <a:gd name="connsiteY21" fmla="*/ 80461 h 164140"/>
                  <a:gd name="connsiteX22" fmla="*/ 137106 w 164140"/>
                  <a:gd name="connsiteY22" fmla="*/ 73059 h 164140"/>
                  <a:gd name="connsiteX23" fmla="*/ 131634 w 164140"/>
                  <a:gd name="connsiteY23" fmla="*/ 56966 h 164140"/>
                  <a:gd name="connsiteX24" fmla="*/ 145474 w 164140"/>
                  <a:gd name="connsiteY24" fmla="*/ 37012 h 164140"/>
                  <a:gd name="connsiteX25" fmla="*/ 142255 w 164140"/>
                  <a:gd name="connsiteY25" fmla="*/ 33472 h 164140"/>
                  <a:gd name="connsiteX26" fmla="*/ 139037 w 164140"/>
                  <a:gd name="connsiteY26" fmla="*/ 29932 h 164140"/>
                  <a:gd name="connsiteX27" fmla="*/ 135818 w 164140"/>
                  <a:gd name="connsiteY27" fmla="*/ 26391 h 164140"/>
                  <a:gd name="connsiteX28" fmla="*/ 114255 w 164140"/>
                  <a:gd name="connsiteY28" fmla="*/ 37334 h 164140"/>
                  <a:gd name="connsiteX29" fmla="*/ 98806 w 164140"/>
                  <a:gd name="connsiteY29" fmla="*/ 29610 h 164140"/>
                  <a:gd name="connsiteX30" fmla="*/ 94622 w 164140"/>
                  <a:gd name="connsiteY30" fmla="*/ 5793 h 164140"/>
                  <a:gd name="connsiteX31" fmla="*/ 89795 w 164140"/>
                  <a:gd name="connsiteY31" fmla="*/ 5471 h 164140"/>
                  <a:gd name="connsiteX32" fmla="*/ 84967 w 164140"/>
                  <a:gd name="connsiteY32" fmla="*/ 5150 h 164140"/>
                  <a:gd name="connsiteX33" fmla="*/ 80139 w 164140"/>
                  <a:gd name="connsiteY33" fmla="*/ 4828 h 164140"/>
                  <a:gd name="connsiteX34" fmla="*/ 72737 w 164140"/>
                  <a:gd name="connsiteY34" fmla="*/ 27679 h 164140"/>
                  <a:gd name="connsiteX35" fmla="*/ 56323 w 164140"/>
                  <a:gd name="connsiteY35" fmla="*/ 33150 h 164140"/>
                  <a:gd name="connsiteX36" fmla="*/ 36690 w 164140"/>
                  <a:gd name="connsiteY36" fmla="*/ 19311 h 164140"/>
                  <a:gd name="connsiteX37" fmla="*/ 33150 w 164140"/>
                  <a:gd name="connsiteY37" fmla="*/ 22529 h 164140"/>
                  <a:gd name="connsiteX38" fmla="*/ 29610 w 164140"/>
                  <a:gd name="connsiteY38" fmla="*/ 25748 h 164140"/>
                  <a:gd name="connsiteX39" fmla="*/ 26069 w 164140"/>
                  <a:gd name="connsiteY39" fmla="*/ 28966 h 164140"/>
                  <a:gd name="connsiteX40" fmla="*/ 37012 w 164140"/>
                  <a:gd name="connsiteY40" fmla="*/ 50208 h 164140"/>
                  <a:gd name="connsiteX41" fmla="*/ 29288 w 164140"/>
                  <a:gd name="connsiteY41" fmla="*/ 65656 h 164140"/>
                  <a:gd name="connsiteX42" fmla="*/ 5793 w 164140"/>
                  <a:gd name="connsiteY42" fmla="*/ 69840 h 164140"/>
                  <a:gd name="connsiteX43" fmla="*/ 5471 w 164140"/>
                  <a:gd name="connsiteY43" fmla="*/ 74668 h 164140"/>
                  <a:gd name="connsiteX44" fmla="*/ 5150 w 164140"/>
                  <a:gd name="connsiteY44" fmla="*/ 79496 h 164140"/>
                  <a:gd name="connsiteX45" fmla="*/ 4828 w 164140"/>
                  <a:gd name="connsiteY45" fmla="*/ 84323 h 164140"/>
                  <a:gd name="connsiteX46" fmla="*/ 27679 w 164140"/>
                  <a:gd name="connsiteY46" fmla="*/ 91726 h 164140"/>
                  <a:gd name="connsiteX47" fmla="*/ 33150 w 164140"/>
                  <a:gd name="connsiteY47" fmla="*/ 108140 h 164140"/>
                  <a:gd name="connsiteX48" fmla="*/ 19311 w 164140"/>
                  <a:gd name="connsiteY48" fmla="*/ 12809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4140" h="164140">
                    <a:moveTo>
                      <a:pt x="19311" y="128094"/>
                    </a:moveTo>
                    <a:lnTo>
                      <a:pt x="22529" y="131634"/>
                    </a:lnTo>
                    <a:lnTo>
                      <a:pt x="25748" y="135175"/>
                    </a:lnTo>
                    <a:lnTo>
                      <a:pt x="28966" y="138715"/>
                    </a:lnTo>
                    <a:lnTo>
                      <a:pt x="50530" y="127772"/>
                    </a:lnTo>
                    <a:cubicBezTo>
                      <a:pt x="55357" y="130991"/>
                      <a:pt x="60507" y="133565"/>
                      <a:pt x="65978" y="135497"/>
                    </a:cubicBezTo>
                    <a:lnTo>
                      <a:pt x="70162" y="159313"/>
                    </a:lnTo>
                    <a:lnTo>
                      <a:pt x="74990" y="159635"/>
                    </a:lnTo>
                    <a:lnTo>
                      <a:pt x="79817" y="159957"/>
                    </a:lnTo>
                    <a:lnTo>
                      <a:pt x="84645" y="160279"/>
                    </a:lnTo>
                    <a:lnTo>
                      <a:pt x="92048" y="137106"/>
                    </a:lnTo>
                    <a:cubicBezTo>
                      <a:pt x="97519" y="136140"/>
                      <a:pt x="102990" y="134209"/>
                      <a:pt x="108140" y="131634"/>
                    </a:cubicBezTo>
                    <a:lnTo>
                      <a:pt x="128094" y="145474"/>
                    </a:lnTo>
                    <a:lnTo>
                      <a:pt x="131634" y="142255"/>
                    </a:lnTo>
                    <a:lnTo>
                      <a:pt x="135175" y="139037"/>
                    </a:lnTo>
                    <a:lnTo>
                      <a:pt x="138715" y="135818"/>
                    </a:lnTo>
                    <a:lnTo>
                      <a:pt x="127772" y="114255"/>
                    </a:lnTo>
                    <a:cubicBezTo>
                      <a:pt x="130991" y="109427"/>
                      <a:pt x="133565" y="104278"/>
                      <a:pt x="135497" y="99128"/>
                    </a:cubicBezTo>
                    <a:lnTo>
                      <a:pt x="159313" y="94944"/>
                    </a:lnTo>
                    <a:lnTo>
                      <a:pt x="159635" y="90116"/>
                    </a:lnTo>
                    <a:lnTo>
                      <a:pt x="159957" y="85289"/>
                    </a:lnTo>
                    <a:lnTo>
                      <a:pt x="160279" y="80461"/>
                    </a:lnTo>
                    <a:lnTo>
                      <a:pt x="137106" y="73059"/>
                    </a:lnTo>
                    <a:cubicBezTo>
                      <a:pt x="136140" y="67587"/>
                      <a:pt x="134209" y="62116"/>
                      <a:pt x="131634" y="56966"/>
                    </a:cubicBezTo>
                    <a:lnTo>
                      <a:pt x="145474" y="37012"/>
                    </a:lnTo>
                    <a:lnTo>
                      <a:pt x="142255" y="33472"/>
                    </a:lnTo>
                    <a:lnTo>
                      <a:pt x="139037" y="29932"/>
                    </a:lnTo>
                    <a:lnTo>
                      <a:pt x="135818" y="26391"/>
                    </a:lnTo>
                    <a:lnTo>
                      <a:pt x="114255" y="37334"/>
                    </a:lnTo>
                    <a:cubicBezTo>
                      <a:pt x="109427" y="33794"/>
                      <a:pt x="104278" y="31541"/>
                      <a:pt x="98806" y="29610"/>
                    </a:cubicBezTo>
                    <a:lnTo>
                      <a:pt x="94622" y="5793"/>
                    </a:lnTo>
                    <a:lnTo>
                      <a:pt x="89795" y="5471"/>
                    </a:lnTo>
                    <a:lnTo>
                      <a:pt x="84967" y="5150"/>
                    </a:lnTo>
                    <a:lnTo>
                      <a:pt x="80139" y="4828"/>
                    </a:lnTo>
                    <a:lnTo>
                      <a:pt x="72737" y="27679"/>
                    </a:lnTo>
                    <a:cubicBezTo>
                      <a:pt x="66944" y="28644"/>
                      <a:pt x="61472" y="30575"/>
                      <a:pt x="56323" y="33150"/>
                    </a:cubicBezTo>
                    <a:lnTo>
                      <a:pt x="36690" y="19311"/>
                    </a:lnTo>
                    <a:lnTo>
                      <a:pt x="33150" y="22529"/>
                    </a:lnTo>
                    <a:lnTo>
                      <a:pt x="29610" y="25748"/>
                    </a:lnTo>
                    <a:lnTo>
                      <a:pt x="26069" y="28966"/>
                    </a:lnTo>
                    <a:lnTo>
                      <a:pt x="37012" y="50208"/>
                    </a:lnTo>
                    <a:cubicBezTo>
                      <a:pt x="33472" y="55035"/>
                      <a:pt x="30897" y="60185"/>
                      <a:pt x="29288" y="65656"/>
                    </a:cubicBezTo>
                    <a:lnTo>
                      <a:pt x="5793" y="69840"/>
                    </a:lnTo>
                    <a:lnTo>
                      <a:pt x="5471" y="74668"/>
                    </a:lnTo>
                    <a:lnTo>
                      <a:pt x="5150" y="79496"/>
                    </a:lnTo>
                    <a:lnTo>
                      <a:pt x="4828" y="84323"/>
                    </a:lnTo>
                    <a:lnTo>
                      <a:pt x="27679" y="91726"/>
                    </a:lnTo>
                    <a:cubicBezTo>
                      <a:pt x="28644" y="97197"/>
                      <a:pt x="30575" y="102990"/>
                      <a:pt x="33150" y="108140"/>
                    </a:cubicBezTo>
                    <a:lnTo>
                      <a:pt x="19311" y="128094"/>
                    </a:lnTo>
                    <a:close/>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15" name="Freeform: Shape 909">
                <a:extLst>
                  <a:ext uri="{FF2B5EF4-FFF2-40B4-BE49-F238E27FC236}">
                    <a16:creationId xmlns:a16="http://schemas.microsoft.com/office/drawing/2014/main" id="{1C2518BA-DDBF-470F-8825-6EA1C088A872}"/>
                  </a:ext>
                </a:extLst>
              </p:cNvPr>
              <p:cNvSpPr/>
              <p:nvPr/>
            </p:nvSpPr>
            <p:spPr>
              <a:xfrm>
                <a:off x="7808463" y="614438"/>
                <a:ext cx="70806" cy="70806"/>
              </a:xfrm>
              <a:custGeom>
                <a:avLst/>
                <a:gdLst>
                  <a:gd name="connsiteX0" fmla="*/ 66622 w 70805"/>
                  <a:gd name="connsiteY0" fmla="*/ 35725 h 70805"/>
                  <a:gd name="connsiteX1" fmla="*/ 35725 w 70805"/>
                  <a:gd name="connsiteY1" fmla="*/ 66622 h 70805"/>
                  <a:gd name="connsiteX2" fmla="*/ 4828 w 70805"/>
                  <a:gd name="connsiteY2" fmla="*/ 35725 h 70805"/>
                  <a:gd name="connsiteX3" fmla="*/ 35725 w 70805"/>
                  <a:gd name="connsiteY3" fmla="*/ 4828 h 70805"/>
                  <a:gd name="connsiteX4" fmla="*/ 66622 w 70805"/>
                  <a:gd name="connsiteY4" fmla="*/ 35725 h 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05" h="70805">
                    <a:moveTo>
                      <a:pt x="66622" y="35725"/>
                    </a:moveTo>
                    <a:cubicBezTo>
                      <a:pt x="66622" y="52789"/>
                      <a:pt x="52789" y="66622"/>
                      <a:pt x="35725" y="66622"/>
                    </a:cubicBezTo>
                    <a:cubicBezTo>
                      <a:pt x="18661" y="66622"/>
                      <a:pt x="4828" y="52789"/>
                      <a:pt x="4828" y="35725"/>
                    </a:cubicBezTo>
                    <a:cubicBezTo>
                      <a:pt x="4828" y="18661"/>
                      <a:pt x="18661" y="4828"/>
                      <a:pt x="35725" y="4828"/>
                    </a:cubicBezTo>
                    <a:cubicBezTo>
                      <a:pt x="52789" y="4828"/>
                      <a:pt x="66622" y="18661"/>
                      <a:pt x="66622" y="35725"/>
                    </a:cubicBezTo>
                    <a:close/>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grpSp>
      <p:grpSp>
        <p:nvGrpSpPr>
          <p:cNvPr id="124" name="Graphic 326">
            <a:extLst>
              <a:ext uri="{FF2B5EF4-FFF2-40B4-BE49-F238E27FC236}">
                <a16:creationId xmlns:a16="http://schemas.microsoft.com/office/drawing/2014/main" id="{01DC375A-9756-41F2-BF98-CDFA24D2AE47}"/>
              </a:ext>
            </a:extLst>
          </p:cNvPr>
          <p:cNvGrpSpPr/>
          <p:nvPr/>
        </p:nvGrpSpPr>
        <p:grpSpPr>
          <a:xfrm>
            <a:off x="9280553" y="2420699"/>
            <a:ext cx="795934" cy="582821"/>
            <a:chOff x="2187719" y="6922499"/>
            <a:chExt cx="567729" cy="413244"/>
          </a:xfrm>
        </p:grpSpPr>
        <p:sp>
          <p:nvSpPr>
            <p:cNvPr id="125" name="Freeform: Shape 919">
              <a:extLst>
                <a:ext uri="{FF2B5EF4-FFF2-40B4-BE49-F238E27FC236}">
                  <a16:creationId xmlns:a16="http://schemas.microsoft.com/office/drawing/2014/main" id="{06C6BFDF-BAB6-4518-9FBB-AEC9C532D92C}"/>
                </a:ext>
              </a:extLst>
            </p:cNvPr>
            <p:cNvSpPr/>
            <p:nvPr/>
          </p:nvSpPr>
          <p:spPr>
            <a:xfrm>
              <a:off x="2187719" y="7147139"/>
              <a:ext cx="370119" cy="135173"/>
            </a:xfrm>
            <a:custGeom>
              <a:avLst/>
              <a:gdLst>
                <a:gd name="connsiteX0" fmla="*/ 337937 w 370121"/>
                <a:gd name="connsiteY0" fmla="*/ 131313 h 135174"/>
                <a:gd name="connsiteX1" fmla="*/ 368512 w 370121"/>
                <a:gd name="connsiteY1" fmla="*/ 131634 h 135174"/>
                <a:gd name="connsiteX2" fmla="*/ 343730 w 370121"/>
                <a:gd name="connsiteY2" fmla="*/ 47955 h 135174"/>
                <a:gd name="connsiteX3" fmla="*/ 251039 w 370121"/>
                <a:gd name="connsiteY3" fmla="*/ 47633 h 135174"/>
                <a:gd name="connsiteX4" fmla="*/ 243958 w 370121"/>
                <a:gd name="connsiteY4" fmla="*/ 4828 h 135174"/>
                <a:gd name="connsiteX5" fmla="*/ 15770 w 370121"/>
                <a:gd name="connsiteY5" fmla="*/ 4828 h 135174"/>
                <a:gd name="connsiteX6" fmla="*/ 4828 w 370121"/>
                <a:gd name="connsiteY6" fmla="*/ 131313 h 135174"/>
                <a:gd name="connsiteX7" fmla="*/ 18667 w 370121"/>
                <a:gd name="connsiteY7" fmla="*/ 131313 h 13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21" h="135174">
                  <a:moveTo>
                    <a:pt x="337937" y="131313"/>
                  </a:moveTo>
                  <a:lnTo>
                    <a:pt x="368512" y="131634"/>
                  </a:lnTo>
                  <a:lnTo>
                    <a:pt x="343730" y="47955"/>
                  </a:lnTo>
                  <a:lnTo>
                    <a:pt x="251039" y="47633"/>
                  </a:lnTo>
                  <a:lnTo>
                    <a:pt x="243958" y="4828"/>
                  </a:lnTo>
                  <a:lnTo>
                    <a:pt x="15770" y="4828"/>
                  </a:lnTo>
                  <a:lnTo>
                    <a:pt x="4828" y="131313"/>
                  </a:lnTo>
                  <a:lnTo>
                    <a:pt x="18667" y="131313"/>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6" name="Freeform: Shape 920">
              <a:extLst>
                <a:ext uri="{FF2B5EF4-FFF2-40B4-BE49-F238E27FC236}">
                  <a16:creationId xmlns:a16="http://schemas.microsoft.com/office/drawing/2014/main" id="{BFCD01F5-36F2-4003-9286-3E3C40468FC1}"/>
                </a:ext>
              </a:extLst>
            </p:cNvPr>
            <p:cNvSpPr/>
            <p:nvPr/>
          </p:nvSpPr>
          <p:spPr>
            <a:xfrm>
              <a:off x="2326433" y="7273623"/>
              <a:ext cx="77243" cy="9655"/>
            </a:xfrm>
            <a:custGeom>
              <a:avLst/>
              <a:gdLst>
                <a:gd name="connsiteX0" fmla="*/ 4828 w 77242"/>
                <a:gd name="connsiteY0" fmla="*/ 4828 h 9655"/>
                <a:gd name="connsiteX1" fmla="*/ 74024 w 77242"/>
                <a:gd name="connsiteY1" fmla="*/ 4828 h 9655"/>
              </a:gdLst>
              <a:ahLst/>
              <a:cxnLst>
                <a:cxn ang="0">
                  <a:pos x="connsiteX0" y="connsiteY0"/>
                </a:cxn>
                <a:cxn ang="0">
                  <a:pos x="connsiteX1" y="connsiteY1"/>
                </a:cxn>
              </a:cxnLst>
              <a:rect l="l" t="t" r="r" b="b"/>
              <a:pathLst>
                <a:path w="77242" h="9655">
                  <a:moveTo>
                    <a:pt x="4828" y="4828"/>
                  </a:moveTo>
                  <a:lnTo>
                    <a:pt x="74024" y="4828"/>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7" name="Freeform: Shape 921">
              <a:extLst>
                <a:ext uri="{FF2B5EF4-FFF2-40B4-BE49-F238E27FC236}">
                  <a16:creationId xmlns:a16="http://schemas.microsoft.com/office/drawing/2014/main" id="{AAD1183F-5890-4C19-B6DE-C04B0753C171}"/>
                </a:ext>
              </a:extLst>
            </p:cNvPr>
            <p:cNvSpPr/>
            <p:nvPr/>
          </p:nvSpPr>
          <p:spPr>
            <a:xfrm>
              <a:off x="2459353" y="6988150"/>
              <a:ext cx="32184" cy="199541"/>
            </a:xfrm>
            <a:custGeom>
              <a:avLst/>
              <a:gdLst>
                <a:gd name="connsiteX0" fmla="*/ 4828 w 32184"/>
                <a:gd name="connsiteY0" fmla="*/ 4828 h 199543"/>
                <a:gd name="connsiteX1" fmla="*/ 30253 w 32184"/>
                <a:gd name="connsiteY1" fmla="*/ 196003 h 199543"/>
              </a:gdLst>
              <a:ahLst/>
              <a:cxnLst>
                <a:cxn ang="0">
                  <a:pos x="connsiteX0" y="connsiteY0"/>
                </a:cxn>
                <a:cxn ang="0">
                  <a:pos x="connsiteX1" y="connsiteY1"/>
                </a:cxn>
              </a:cxnLst>
              <a:rect l="l" t="t" r="r" b="b"/>
              <a:pathLst>
                <a:path w="32184" h="199543">
                  <a:moveTo>
                    <a:pt x="4828" y="4828"/>
                  </a:moveTo>
                  <a:lnTo>
                    <a:pt x="30253" y="196003"/>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8" name="Freeform: Shape 922">
              <a:extLst>
                <a:ext uri="{FF2B5EF4-FFF2-40B4-BE49-F238E27FC236}">
                  <a16:creationId xmlns:a16="http://schemas.microsoft.com/office/drawing/2014/main" id="{A26496E5-C11C-4338-9183-A4472213A412}"/>
                </a:ext>
              </a:extLst>
            </p:cNvPr>
            <p:cNvSpPr/>
            <p:nvPr/>
          </p:nvSpPr>
          <p:spPr>
            <a:xfrm>
              <a:off x="2236639" y="6988150"/>
              <a:ext cx="16092" cy="154483"/>
            </a:xfrm>
            <a:custGeom>
              <a:avLst/>
              <a:gdLst>
                <a:gd name="connsiteX0" fmla="*/ 4828 w 16092"/>
                <a:gd name="connsiteY0" fmla="*/ 151267 h 154485"/>
                <a:gd name="connsiteX1" fmla="*/ 12552 w 16092"/>
                <a:gd name="connsiteY1" fmla="*/ 4828 h 154485"/>
              </a:gdLst>
              <a:ahLst/>
              <a:cxnLst>
                <a:cxn ang="0">
                  <a:pos x="connsiteX0" y="connsiteY0"/>
                </a:cxn>
                <a:cxn ang="0">
                  <a:pos x="connsiteX1" y="connsiteY1"/>
                </a:cxn>
              </a:cxnLst>
              <a:rect l="l" t="t" r="r" b="b"/>
              <a:pathLst>
                <a:path w="16092" h="154485">
                  <a:moveTo>
                    <a:pt x="4828" y="151267"/>
                  </a:moveTo>
                  <a:lnTo>
                    <a:pt x="12552" y="4828"/>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29" name="Freeform: Shape 923">
              <a:extLst>
                <a:ext uri="{FF2B5EF4-FFF2-40B4-BE49-F238E27FC236}">
                  <a16:creationId xmlns:a16="http://schemas.microsoft.com/office/drawing/2014/main" id="{9E24E2D7-78FB-4103-BCBB-FDC5A0105E0D}"/>
                </a:ext>
              </a:extLst>
            </p:cNvPr>
            <p:cNvSpPr/>
            <p:nvPr/>
          </p:nvSpPr>
          <p:spPr>
            <a:xfrm>
              <a:off x="2240501" y="6929254"/>
              <a:ext cx="234944" cy="51494"/>
            </a:xfrm>
            <a:custGeom>
              <a:avLst/>
              <a:gdLst>
                <a:gd name="connsiteX0" fmla="*/ 230441 w 234946"/>
                <a:gd name="connsiteY0" fmla="*/ 47955 h 51495"/>
                <a:gd name="connsiteX1" fmla="*/ 4828 w 234946"/>
                <a:gd name="connsiteY1" fmla="*/ 47955 h 51495"/>
                <a:gd name="connsiteX2" fmla="*/ 7402 w 234946"/>
                <a:gd name="connsiteY2" fmla="*/ 4828 h 51495"/>
                <a:gd name="connsiteX3" fmla="*/ 221107 w 234946"/>
                <a:gd name="connsiteY3" fmla="*/ 4828 h 51495"/>
              </a:gdLst>
              <a:ahLst/>
              <a:cxnLst>
                <a:cxn ang="0">
                  <a:pos x="connsiteX0" y="connsiteY0"/>
                </a:cxn>
                <a:cxn ang="0">
                  <a:pos x="connsiteX1" y="connsiteY1"/>
                </a:cxn>
                <a:cxn ang="0">
                  <a:pos x="connsiteX2" y="connsiteY2"/>
                </a:cxn>
                <a:cxn ang="0">
                  <a:pos x="connsiteX3" y="connsiteY3"/>
                </a:cxn>
              </a:cxnLst>
              <a:rect l="l" t="t" r="r" b="b"/>
              <a:pathLst>
                <a:path w="234946" h="51495">
                  <a:moveTo>
                    <a:pt x="230441" y="47955"/>
                  </a:moveTo>
                  <a:lnTo>
                    <a:pt x="4828" y="47955"/>
                  </a:lnTo>
                  <a:lnTo>
                    <a:pt x="7402" y="4828"/>
                  </a:lnTo>
                  <a:lnTo>
                    <a:pt x="221107" y="4828"/>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0" name="Freeform: Shape 924">
              <a:extLst>
                <a:ext uri="{FF2B5EF4-FFF2-40B4-BE49-F238E27FC236}">
                  <a16:creationId xmlns:a16="http://schemas.microsoft.com/office/drawing/2014/main" id="{2BAF2469-6CA2-4E4C-8A0C-E718E242F3F6}"/>
                </a:ext>
              </a:extLst>
            </p:cNvPr>
            <p:cNvSpPr/>
            <p:nvPr/>
          </p:nvSpPr>
          <p:spPr>
            <a:xfrm>
              <a:off x="2224730" y="7176104"/>
              <a:ext cx="183450" cy="41839"/>
            </a:xfrm>
            <a:custGeom>
              <a:avLst/>
              <a:gdLst>
                <a:gd name="connsiteX0" fmla="*/ 180555 w 183451"/>
                <a:gd name="connsiteY0" fmla="*/ 39265 h 41839"/>
                <a:gd name="connsiteX1" fmla="*/ 4828 w 183451"/>
                <a:gd name="connsiteY1" fmla="*/ 39265 h 41839"/>
                <a:gd name="connsiteX2" fmla="*/ 8368 w 183451"/>
                <a:gd name="connsiteY2" fmla="*/ 4828 h 41839"/>
                <a:gd name="connsiteX3" fmla="*/ 174762 w 183451"/>
                <a:gd name="connsiteY3" fmla="*/ 4828 h 41839"/>
              </a:gdLst>
              <a:ahLst/>
              <a:cxnLst>
                <a:cxn ang="0">
                  <a:pos x="connsiteX0" y="connsiteY0"/>
                </a:cxn>
                <a:cxn ang="0">
                  <a:pos x="connsiteX1" y="connsiteY1"/>
                </a:cxn>
                <a:cxn ang="0">
                  <a:pos x="connsiteX2" y="connsiteY2"/>
                </a:cxn>
                <a:cxn ang="0">
                  <a:pos x="connsiteX3" y="connsiteY3"/>
                </a:cxn>
              </a:cxnLst>
              <a:rect l="l" t="t" r="r" b="b"/>
              <a:pathLst>
                <a:path w="183451" h="41839">
                  <a:moveTo>
                    <a:pt x="180555" y="39265"/>
                  </a:moveTo>
                  <a:lnTo>
                    <a:pt x="4828" y="39265"/>
                  </a:lnTo>
                  <a:lnTo>
                    <a:pt x="8368" y="4828"/>
                  </a:lnTo>
                  <a:lnTo>
                    <a:pt x="174762" y="4828"/>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1" name="Freeform: Shape 925">
              <a:extLst>
                <a:ext uri="{FF2B5EF4-FFF2-40B4-BE49-F238E27FC236}">
                  <a16:creationId xmlns:a16="http://schemas.microsoft.com/office/drawing/2014/main" id="{127ACB0B-E99F-492D-9F3E-2E743489E5D4}"/>
                </a:ext>
              </a:extLst>
            </p:cNvPr>
            <p:cNvSpPr/>
            <p:nvPr/>
          </p:nvSpPr>
          <p:spPr>
            <a:xfrm>
              <a:off x="2278156" y="7011967"/>
              <a:ext cx="22529" cy="125517"/>
            </a:xfrm>
            <a:custGeom>
              <a:avLst/>
              <a:gdLst>
                <a:gd name="connsiteX0" fmla="*/ 19311 w 22529"/>
                <a:gd name="connsiteY0" fmla="*/ 4828 h 125519"/>
                <a:gd name="connsiteX1" fmla="*/ 4828 w 22529"/>
                <a:gd name="connsiteY1" fmla="*/ 4828 h 125519"/>
                <a:gd name="connsiteX2" fmla="*/ 19311 w 22529"/>
                <a:gd name="connsiteY2" fmla="*/ 122945 h 125519"/>
              </a:gdLst>
              <a:ahLst/>
              <a:cxnLst>
                <a:cxn ang="0">
                  <a:pos x="connsiteX0" y="connsiteY0"/>
                </a:cxn>
                <a:cxn ang="0">
                  <a:pos x="connsiteX1" y="connsiteY1"/>
                </a:cxn>
                <a:cxn ang="0">
                  <a:pos x="connsiteX2" y="connsiteY2"/>
                </a:cxn>
              </a:cxnLst>
              <a:rect l="l" t="t" r="r" b="b"/>
              <a:pathLst>
                <a:path w="22529" h="125519">
                  <a:moveTo>
                    <a:pt x="19311" y="4828"/>
                  </a:moveTo>
                  <a:lnTo>
                    <a:pt x="4828" y="4828"/>
                  </a:lnTo>
                  <a:lnTo>
                    <a:pt x="19311" y="122945"/>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2" name="Freeform: Shape 926">
              <a:extLst>
                <a:ext uri="{FF2B5EF4-FFF2-40B4-BE49-F238E27FC236}">
                  <a16:creationId xmlns:a16="http://schemas.microsoft.com/office/drawing/2014/main" id="{56D8C5B7-175E-4425-B972-2C189A56AFD1}"/>
                </a:ext>
              </a:extLst>
            </p:cNvPr>
            <p:cNvSpPr/>
            <p:nvPr/>
          </p:nvSpPr>
          <p:spPr>
            <a:xfrm>
              <a:off x="2292639" y="7011967"/>
              <a:ext cx="115864" cy="128736"/>
            </a:xfrm>
            <a:custGeom>
              <a:avLst/>
              <a:gdLst>
                <a:gd name="connsiteX0" fmla="*/ 112646 w 115864"/>
                <a:gd name="connsiteY0" fmla="*/ 126485 h 128737"/>
                <a:gd name="connsiteX1" fmla="*/ 112646 w 115864"/>
                <a:gd name="connsiteY1" fmla="*/ 102025 h 128737"/>
                <a:gd name="connsiteX2" fmla="*/ 40874 w 115864"/>
                <a:gd name="connsiteY2" fmla="*/ 102025 h 128737"/>
                <a:gd name="connsiteX3" fmla="*/ 29610 w 115864"/>
                <a:gd name="connsiteY3" fmla="*/ 4828 h 128737"/>
                <a:gd name="connsiteX4" fmla="*/ 4828 w 115864"/>
                <a:gd name="connsiteY4" fmla="*/ 4828 h 128737"/>
                <a:gd name="connsiteX5" fmla="*/ 21885 w 115864"/>
                <a:gd name="connsiteY5" fmla="*/ 122945 h 1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864" h="128737">
                  <a:moveTo>
                    <a:pt x="112646" y="126485"/>
                  </a:moveTo>
                  <a:lnTo>
                    <a:pt x="112646" y="102025"/>
                  </a:lnTo>
                  <a:lnTo>
                    <a:pt x="40874" y="102025"/>
                  </a:lnTo>
                  <a:lnTo>
                    <a:pt x="29610" y="4828"/>
                  </a:lnTo>
                  <a:lnTo>
                    <a:pt x="4828" y="4828"/>
                  </a:lnTo>
                  <a:lnTo>
                    <a:pt x="21885" y="122945"/>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3" name="Freeform: Shape 927">
              <a:extLst>
                <a:ext uri="{FF2B5EF4-FFF2-40B4-BE49-F238E27FC236}">
                  <a16:creationId xmlns:a16="http://schemas.microsoft.com/office/drawing/2014/main" id="{113A4BEE-A672-4E93-8CC8-910F6FCEBCC4}"/>
                </a:ext>
              </a:extLst>
            </p:cNvPr>
            <p:cNvSpPr/>
            <p:nvPr/>
          </p:nvSpPr>
          <p:spPr>
            <a:xfrm>
              <a:off x="2322892" y="7234358"/>
              <a:ext cx="83680" cy="19311"/>
            </a:xfrm>
            <a:custGeom>
              <a:avLst/>
              <a:gdLst>
                <a:gd name="connsiteX0" fmla="*/ 4828 w 83679"/>
                <a:gd name="connsiteY0" fmla="*/ 4828 h 19310"/>
                <a:gd name="connsiteX1" fmla="*/ 4828 w 83679"/>
                <a:gd name="connsiteY1" fmla="*/ 17380 h 19310"/>
                <a:gd name="connsiteX2" fmla="*/ 79174 w 83679"/>
                <a:gd name="connsiteY2" fmla="*/ 17380 h 19310"/>
                <a:gd name="connsiteX3" fmla="*/ 79174 w 83679"/>
                <a:gd name="connsiteY3" fmla="*/ 5793 h 19310"/>
              </a:gdLst>
              <a:ahLst/>
              <a:cxnLst>
                <a:cxn ang="0">
                  <a:pos x="connsiteX0" y="connsiteY0"/>
                </a:cxn>
                <a:cxn ang="0">
                  <a:pos x="connsiteX1" y="connsiteY1"/>
                </a:cxn>
                <a:cxn ang="0">
                  <a:pos x="connsiteX2" y="connsiteY2"/>
                </a:cxn>
                <a:cxn ang="0">
                  <a:pos x="connsiteX3" y="connsiteY3"/>
                </a:cxn>
              </a:cxnLst>
              <a:rect l="l" t="t" r="r" b="b"/>
              <a:pathLst>
                <a:path w="83679" h="19310">
                  <a:moveTo>
                    <a:pt x="4828" y="4828"/>
                  </a:moveTo>
                  <a:lnTo>
                    <a:pt x="4828" y="17380"/>
                  </a:lnTo>
                  <a:lnTo>
                    <a:pt x="79174" y="17380"/>
                  </a:lnTo>
                  <a:lnTo>
                    <a:pt x="79174" y="5793"/>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4" name="Freeform: Shape 928">
              <a:extLst>
                <a:ext uri="{FF2B5EF4-FFF2-40B4-BE49-F238E27FC236}">
                  <a16:creationId xmlns:a16="http://schemas.microsoft.com/office/drawing/2014/main" id="{FF03BA6F-36D8-471E-90AF-C28F16628A11}"/>
                </a:ext>
              </a:extLst>
            </p:cNvPr>
            <p:cNvSpPr/>
            <p:nvPr/>
          </p:nvSpPr>
          <p:spPr>
            <a:xfrm>
              <a:off x="2581653" y="6922499"/>
              <a:ext cx="173795" cy="389427"/>
            </a:xfrm>
            <a:custGeom>
              <a:avLst/>
              <a:gdLst>
                <a:gd name="connsiteX0" fmla="*/ 141933 w 173796"/>
                <a:gd name="connsiteY0" fmla="*/ 386213 h 389431"/>
                <a:gd name="connsiteX1" fmla="*/ 169290 w 173796"/>
                <a:gd name="connsiteY1" fmla="*/ 386213 h 389431"/>
                <a:gd name="connsiteX2" fmla="*/ 169290 w 173796"/>
                <a:gd name="connsiteY2" fmla="*/ 361110 h 389431"/>
                <a:gd name="connsiteX3" fmla="*/ 32184 w 173796"/>
                <a:gd name="connsiteY3" fmla="*/ 361110 h 389431"/>
                <a:gd name="connsiteX4" fmla="*/ 32184 w 173796"/>
                <a:gd name="connsiteY4" fmla="*/ 4828 h 389431"/>
                <a:gd name="connsiteX5" fmla="*/ 4828 w 173796"/>
                <a:gd name="connsiteY5" fmla="*/ 4828 h 389431"/>
                <a:gd name="connsiteX6" fmla="*/ 4828 w 173796"/>
                <a:gd name="connsiteY6" fmla="*/ 5471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796" h="389431">
                  <a:moveTo>
                    <a:pt x="141933" y="386213"/>
                  </a:moveTo>
                  <a:lnTo>
                    <a:pt x="169290" y="386213"/>
                  </a:lnTo>
                  <a:lnTo>
                    <a:pt x="169290" y="361110"/>
                  </a:lnTo>
                  <a:lnTo>
                    <a:pt x="32184" y="361110"/>
                  </a:lnTo>
                  <a:lnTo>
                    <a:pt x="32184" y="4828"/>
                  </a:lnTo>
                  <a:lnTo>
                    <a:pt x="4828" y="4828"/>
                  </a:lnTo>
                  <a:lnTo>
                    <a:pt x="4828" y="54714"/>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5" name="Freeform: Shape 929">
              <a:extLst>
                <a:ext uri="{FF2B5EF4-FFF2-40B4-BE49-F238E27FC236}">
                  <a16:creationId xmlns:a16="http://schemas.microsoft.com/office/drawing/2014/main" id="{D146B86A-A1D6-4321-A88F-27CEEF28D409}"/>
                </a:ext>
              </a:extLst>
            </p:cNvPr>
            <p:cNvSpPr/>
            <p:nvPr/>
          </p:nvSpPr>
          <p:spPr>
            <a:xfrm>
              <a:off x="2581652" y="7053166"/>
              <a:ext cx="125518" cy="257473"/>
            </a:xfrm>
            <a:custGeom>
              <a:avLst/>
              <a:gdLst>
                <a:gd name="connsiteX0" fmla="*/ 4828 w 125519"/>
                <a:gd name="connsiteY0" fmla="*/ 4828 h 257475"/>
                <a:gd name="connsiteX1" fmla="*/ 4828 w 125519"/>
                <a:gd name="connsiteY1" fmla="*/ 255545 h 257475"/>
                <a:gd name="connsiteX2" fmla="*/ 121657 w 125519"/>
                <a:gd name="connsiteY2" fmla="*/ 255545 h 257475"/>
              </a:gdLst>
              <a:ahLst/>
              <a:cxnLst>
                <a:cxn ang="0">
                  <a:pos x="connsiteX0" y="connsiteY0"/>
                </a:cxn>
                <a:cxn ang="0">
                  <a:pos x="connsiteX1" y="connsiteY1"/>
                </a:cxn>
                <a:cxn ang="0">
                  <a:pos x="connsiteX2" y="connsiteY2"/>
                </a:cxn>
              </a:cxnLst>
              <a:rect l="l" t="t" r="r" b="b"/>
              <a:pathLst>
                <a:path w="125519" h="257475">
                  <a:moveTo>
                    <a:pt x="4828" y="4828"/>
                  </a:moveTo>
                  <a:lnTo>
                    <a:pt x="4828" y="255545"/>
                  </a:lnTo>
                  <a:lnTo>
                    <a:pt x="121657" y="255545"/>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6" name="Freeform: Shape 930">
              <a:extLst>
                <a:ext uri="{FF2B5EF4-FFF2-40B4-BE49-F238E27FC236}">
                  <a16:creationId xmlns:a16="http://schemas.microsoft.com/office/drawing/2014/main" id="{1A94C9D2-ACDA-4585-A88A-DFDA75ADABDC}"/>
                </a:ext>
              </a:extLst>
            </p:cNvPr>
            <p:cNvSpPr/>
            <p:nvPr/>
          </p:nvSpPr>
          <p:spPr>
            <a:xfrm>
              <a:off x="2581650" y="6988148"/>
              <a:ext cx="9655" cy="54713"/>
            </a:xfrm>
            <a:custGeom>
              <a:avLst/>
              <a:gdLst>
                <a:gd name="connsiteX0" fmla="*/ 4828 w 9655"/>
                <a:gd name="connsiteY0" fmla="*/ 4828 h 54713"/>
                <a:gd name="connsiteX1" fmla="*/ 4828 w 9655"/>
                <a:gd name="connsiteY1" fmla="*/ 52461 h 54713"/>
              </a:gdLst>
              <a:ahLst/>
              <a:cxnLst>
                <a:cxn ang="0">
                  <a:pos x="connsiteX0" y="connsiteY0"/>
                </a:cxn>
                <a:cxn ang="0">
                  <a:pos x="connsiteX1" y="connsiteY1"/>
                </a:cxn>
              </a:cxnLst>
              <a:rect l="l" t="t" r="r" b="b"/>
              <a:pathLst>
                <a:path w="9655" h="54713">
                  <a:moveTo>
                    <a:pt x="4828" y="4828"/>
                  </a:moveTo>
                  <a:lnTo>
                    <a:pt x="4828" y="52461"/>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7" name="Freeform: Shape 931">
              <a:extLst>
                <a:ext uri="{FF2B5EF4-FFF2-40B4-BE49-F238E27FC236}">
                  <a16:creationId xmlns:a16="http://schemas.microsoft.com/office/drawing/2014/main" id="{2D2CAF31-2F08-4AD3-81A9-A5AF0472BB1F}"/>
                </a:ext>
              </a:extLst>
            </p:cNvPr>
            <p:cNvSpPr/>
            <p:nvPr/>
          </p:nvSpPr>
          <p:spPr>
            <a:xfrm>
              <a:off x="2412362" y="7235972"/>
              <a:ext cx="99771" cy="99771"/>
            </a:xfrm>
            <a:custGeom>
              <a:avLst/>
              <a:gdLst>
                <a:gd name="connsiteX0" fmla="*/ 96875 w 99771"/>
                <a:gd name="connsiteY0" fmla="*/ 50851 h 99771"/>
                <a:gd name="connsiteX1" fmla="*/ 50851 w 99771"/>
                <a:gd name="connsiteY1" fmla="*/ 96875 h 99771"/>
                <a:gd name="connsiteX2" fmla="*/ 4828 w 99771"/>
                <a:gd name="connsiteY2" fmla="*/ 50851 h 99771"/>
                <a:gd name="connsiteX3" fmla="*/ 50851 w 99771"/>
                <a:gd name="connsiteY3" fmla="*/ 4828 h 99771"/>
                <a:gd name="connsiteX4" fmla="*/ 96875 w 99771"/>
                <a:gd name="connsiteY4" fmla="*/ 50851 h 99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71" h="99771">
                  <a:moveTo>
                    <a:pt x="96875" y="50851"/>
                  </a:moveTo>
                  <a:cubicBezTo>
                    <a:pt x="96875" y="76270"/>
                    <a:pt x="76270" y="96875"/>
                    <a:pt x="50851" y="96875"/>
                  </a:cubicBezTo>
                  <a:cubicBezTo>
                    <a:pt x="25433" y="96875"/>
                    <a:pt x="4828" y="76270"/>
                    <a:pt x="4828" y="50851"/>
                  </a:cubicBezTo>
                  <a:cubicBezTo>
                    <a:pt x="4828" y="25433"/>
                    <a:pt x="25433" y="4828"/>
                    <a:pt x="50851" y="4828"/>
                  </a:cubicBezTo>
                  <a:cubicBezTo>
                    <a:pt x="76270" y="4828"/>
                    <a:pt x="96875" y="25433"/>
                    <a:pt x="96875" y="50851"/>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8" name="Freeform: Shape 932">
              <a:extLst>
                <a:ext uri="{FF2B5EF4-FFF2-40B4-BE49-F238E27FC236}">
                  <a16:creationId xmlns:a16="http://schemas.microsoft.com/office/drawing/2014/main" id="{B6B38B87-C302-4D73-8684-15F3175ABD54}"/>
                </a:ext>
              </a:extLst>
            </p:cNvPr>
            <p:cNvSpPr/>
            <p:nvPr/>
          </p:nvSpPr>
          <p:spPr>
            <a:xfrm>
              <a:off x="2432637" y="7256248"/>
              <a:ext cx="61150" cy="61149"/>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39" name="Freeform: Shape 933">
              <a:extLst>
                <a:ext uri="{FF2B5EF4-FFF2-40B4-BE49-F238E27FC236}">
                  <a16:creationId xmlns:a16="http://schemas.microsoft.com/office/drawing/2014/main" id="{E36BE67A-6E35-4F2B-A7A0-30759ADA5C5E}"/>
                </a:ext>
              </a:extLst>
            </p:cNvPr>
            <p:cNvSpPr/>
            <p:nvPr/>
          </p:nvSpPr>
          <p:spPr>
            <a:xfrm>
              <a:off x="2219254" y="7235956"/>
              <a:ext cx="99771" cy="99770"/>
            </a:xfrm>
            <a:custGeom>
              <a:avLst/>
              <a:gdLst>
                <a:gd name="connsiteX0" fmla="*/ 96875 w 99771"/>
                <a:gd name="connsiteY0" fmla="*/ 50851 h 99771"/>
                <a:gd name="connsiteX1" fmla="*/ 50851 w 99771"/>
                <a:gd name="connsiteY1" fmla="*/ 96875 h 99771"/>
                <a:gd name="connsiteX2" fmla="*/ 4828 w 99771"/>
                <a:gd name="connsiteY2" fmla="*/ 50851 h 99771"/>
                <a:gd name="connsiteX3" fmla="*/ 50851 w 99771"/>
                <a:gd name="connsiteY3" fmla="*/ 4828 h 99771"/>
                <a:gd name="connsiteX4" fmla="*/ 96875 w 99771"/>
                <a:gd name="connsiteY4" fmla="*/ 50851 h 99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71" h="99771">
                  <a:moveTo>
                    <a:pt x="96875" y="50851"/>
                  </a:moveTo>
                  <a:cubicBezTo>
                    <a:pt x="96875" y="76270"/>
                    <a:pt x="76270" y="96875"/>
                    <a:pt x="50851" y="96875"/>
                  </a:cubicBezTo>
                  <a:cubicBezTo>
                    <a:pt x="25433" y="96875"/>
                    <a:pt x="4828" y="76270"/>
                    <a:pt x="4828" y="50851"/>
                  </a:cubicBezTo>
                  <a:cubicBezTo>
                    <a:pt x="4828" y="25433"/>
                    <a:pt x="25433" y="4828"/>
                    <a:pt x="50851" y="4828"/>
                  </a:cubicBezTo>
                  <a:cubicBezTo>
                    <a:pt x="76270" y="4828"/>
                    <a:pt x="96875" y="25433"/>
                    <a:pt x="96875" y="50851"/>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40" name="Freeform: Shape 934">
              <a:extLst>
                <a:ext uri="{FF2B5EF4-FFF2-40B4-BE49-F238E27FC236}">
                  <a16:creationId xmlns:a16="http://schemas.microsoft.com/office/drawing/2014/main" id="{2D6A1FF1-DC16-46F5-AFC0-B5F68B66FBD4}"/>
                </a:ext>
              </a:extLst>
            </p:cNvPr>
            <p:cNvSpPr/>
            <p:nvPr/>
          </p:nvSpPr>
          <p:spPr>
            <a:xfrm>
              <a:off x="2239533" y="7256234"/>
              <a:ext cx="61150" cy="61149"/>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41" name="Freeform: Shape 935">
              <a:extLst>
                <a:ext uri="{FF2B5EF4-FFF2-40B4-BE49-F238E27FC236}">
                  <a16:creationId xmlns:a16="http://schemas.microsoft.com/office/drawing/2014/main" id="{D0B30479-CB8C-4BE1-B698-794B95984343}"/>
                </a:ext>
              </a:extLst>
            </p:cNvPr>
            <p:cNvSpPr/>
            <p:nvPr/>
          </p:nvSpPr>
          <p:spPr>
            <a:xfrm>
              <a:off x="2545290" y="7203133"/>
              <a:ext cx="35403" cy="9655"/>
            </a:xfrm>
            <a:custGeom>
              <a:avLst/>
              <a:gdLst>
                <a:gd name="connsiteX0" fmla="*/ 4828 w 35402"/>
                <a:gd name="connsiteY0" fmla="*/ 4828 h 9655"/>
                <a:gd name="connsiteX1" fmla="*/ 31541 w 35402"/>
                <a:gd name="connsiteY1" fmla="*/ 4828 h 9655"/>
              </a:gdLst>
              <a:ahLst/>
              <a:cxnLst>
                <a:cxn ang="0">
                  <a:pos x="connsiteX0" y="connsiteY0"/>
                </a:cxn>
                <a:cxn ang="0">
                  <a:pos x="connsiteX1" y="connsiteY1"/>
                </a:cxn>
              </a:cxnLst>
              <a:rect l="l" t="t" r="r" b="b"/>
              <a:pathLst>
                <a:path w="35402" h="9655">
                  <a:moveTo>
                    <a:pt x="4828" y="4828"/>
                  </a:moveTo>
                  <a:lnTo>
                    <a:pt x="31541" y="4828"/>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42" name="Freeform: Shape 936">
              <a:extLst>
                <a:ext uri="{FF2B5EF4-FFF2-40B4-BE49-F238E27FC236}">
                  <a16:creationId xmlns:a16="http://schemas.microsoft.com/office/drawing/2014/main" id="{E72DC936-9309-48B5-8A15-FE73DAD0D499}"/>
                </a:ext>
              </a:extLst>
            </p:cNvPr>
            <p:cNvSpPr/>
            <p:nvPr/>
          </p:nvSpPr>
          <p:spPr>
            <a:xfrm>
              <a:off x="2551418" y="7222549"/>
              <a:ext cx="25748" cy="9655"/>
            </a:xfrm>
            <a:custGeom>
              <a:avLst/>
              <a:gdLst>
                <a:gd name="connsiteX0" fmla="*/ 4828 w 25747"/>
                <a:gd name="connsiteY0" fmla="*/ 4828 h 9655"/>
                <a:gd name="connsiteX1" fmla="*/ 22207 w 25747"/>
                <a:gd name="connsiteY1" fmla="*/ 4828 h 9655"/>
              </a:gdLst>
              <a:ahLst/>
              <a:cxnLst>
                <a:cxn ang="0">
                  <a:pos x="connsiteX0" y="connsiteY0"/>
                </a:cxn>
                <a:cxn ang="0">
                  <a:pos x="connsiteX1" y="connsiteY1"/>
                </a:cxn>
              </a:cxnLst>
              <a:rect l="l" t="t" r="r" b="b"/>
              <a:pathLst>
                <a:path w="25747" h="9655">
                  <a:moveTo>
                    <a:pt x="4828" y="4828"/>
                  </a:moveTo>
                  <a:lnTo>
                    <a:pt x="22207" y="4828"/>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43" name="Group 142">
            <a:extLst>
              <a:ext uri="{FF2B5EF4-FFF2-40B4-BE49-F238E27FC236}">
                <a16:creationId xmlns:a16="http://schemas.microsoft.com/office/drawing/2014/main" id="{87A627E6-4AD9-442B-9F07-D79E450B5705}"/>
              </a:ext>
            </a:extLst>
          </p:cNvPr>
          <p:cNvGrpSpPr/>
          <p:nvPr/>
        </p:nvGrpSpPr>
        <p:grpSpPr>
          <a:xfrm>
            <a:off x="4974931" y="2389536"/>
            <a:ext cx="963394" cy="713884"/>
            <a:chOff x="8359775" y="6592021"/>
            <a:chExt cx="1444632" cy="1070486"/>
          </a:xfrm>
        </p:grpSpPr>
        <p:grpSp>
          <p:nvGrpSpPr>
            <p:cNvPr id="144" name="Graphic 172">
              <a:extLst>
                <a:ext uri="{FF2B5EF4-FFF2-40B4-BE49-F238E27FC236}">
                  <a16:creationId xmlns:a16="http://schemas.microsoft.com/office/drawing/2014/main" id="{C02E77C1-EBB4-43B3-B90B-A3C9E96A5A93}"/>
                </a:ext>
              </a:extLst>
            </p:cNvPr>
            <p:cNvGrpSpPr/>
            <p:nvPr/>
          </p:nvGrpSpPr>
          <p:grpSpPr>
            <a:xfrm>
              <a:off x="8742285" y="6592021"/>
              <a:ext cx="1062122" cy="1041301"/>
              <a:chOff x="1685010" y="4353545"/>
              <a:chExt cx="443180" cy="434492"/>
            </a:xfrm>
          </p:grpSpPr>
          <p:sp>
            <p:nvSpPr>
              <p:cNvPr id="156" name="Freeform: Shape 950">
                <a:extLst>
                  <a:ext uri="{FF2B5EF4-FFF2-40B4-BE49-F238E27FC236}">
                    <a16:creationId xmlns:a16="http://schemas.microsoft.com/office/drawing/2014/main" id="{372C23B3-9CF3-4804-A881-5FA97A00EFDA}"/>
                  </a:ext>
                </a:extLst>
              </p:cNvPr>
              <p:cNvSpPr/>
              <p:nvPr/>
            </p:nvSpPr>
            <p:spPr>
              <a:xfrm>
                <a:off x="1685010" y="4353545"/>
                <a:ext cx="328281" cy="328281"/>
              </a:xfrm>
              <a:custGeom>
                <a:avLst/>
                <a:gdLst>
                  <a:gd name="connsiteX0" fmla="*/ 16736 w 328281"/>
                  <a:gd name="connsiteY0" fmla="*/ 104599 h 328281"/>
                  <a:gd name="connsiteX1" fmla="*/ 4828 w 328281"/>
                  <a:gd name="connsiteY1" fmla="*/ 165106 h 328281"/>
                  <a:gd name="connsiteX2" fmla="*/ 165106 w 328281"/>
                  <a:gd name="connsiteY2" fmla="*/ 325385 h 328281"/>
                  <a:gd name="connsiteX3" fmla="*/ 325385 w 328281"/>
                  <a:gd name="connsiteY3" fmla="*/ 165106 h 328281"/>
                  <a:gd name="connsiteX4" fmla="*/ 165106 w 328281"/>
                  <a:gd name="connsiteY4" fmla="*/ 4828 h 328281"/>
                  <a:gd name="connsiteX5" fmla="*/ 77886 w 328281"/>
                  <a:gd name="connsiteY5" fmla="*/ 30575 h 32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281" h="328281">
                    <a:moveTo>
                      <a:pt x="16736" y="104599"/>
                    </a:moveTo>
                    <a:cubicBezTo>
                      <a:pt x="9012" y="123266"/>
                      <a:pt x="4828" y="143865"/>
                      <a:pt x="4828" y="165106"/>
                    </a:cubicBezTo>
                    <a:cubicBezTo>
                      <a:pt x="4828" y="253613"/>
                      <a:pt x="76599" y="325385"/>
                      <a:pt x="165106" y="325385"/>
                    </a:cubicBezTo>
                    <a:cubicBezTo>
                      <a:pt x="253613" y="325385"/>
                      <a:pt x="325385" y="253613"/>
                      <a:pt x="325385" y="165106"/>
                    </a:cubicBezTo>
                    <a:cubicBezTo>
                      <a:pt x="325385" y="76599"/>
                      <a:pt x="253935" y="4828"/>
                      <a:pt x="165106" y="4828"/>
                    </a:cubicBezTo>
                    <a:cubicBezTo>
                      <a:pt x="132922" y="4828"/>
                      <a:pt x="102990" y="14161"/>
                      <a:pt x="77886" y="30575"/>
                    </a:cubicBez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7" name="Freeform: Shape 951">
                <a:extLst>
                  <a:ext uri="{FF2B5EF4-FFF2-40B4-BE49-F238E27FC236}">
                    <a16:creationId xmlns:a16="http://schemas.microsoft.com/office/drawing/2014/main" id="{F9216971-09C7-400D-B32E-4101345B00F4}"/>
                  </a:ext>
                </a:extLst>
              </p:cNvPr>
              <p:cNvSpPr/>
              <p:nvPr/>
            </p:nvSpPr>
            <p:spPr>
              <a:xfrm>
                <a:off x="1705608" y="4392489"/>
                <a:ext cx="41840" cy="51495"/>
              </a:xfrm>
              <a:custGeom>
                <a:avLst/>
                <a:gdLst>
                  <a:gd name="connsiteX0" fmla="*/ 39909 w 41839"/>
                  <a:gd name="connsiteY0" fmla="*/ 4828 h 51495"/>
                  <a:gd name="connsiteX1" fmla="*/ 4828 w 41839"/>
                  <a:gd name="connsiteY1" fmla="*/ 47633 h 51495"/>
                </a:gdLst>
                <a:ahLst/>
                <a:cxnLst>
                  <a:cxn ang="0">
                    <a:pos x="connsiteX0" y="connsiteY0"/>
                  </a:cxn>
                  <a:cxn ang="0">
                    <a:pos x="connsiteX1" y="connsiteY1"/>
                  </a:cxn>
                </a:cxnLst>
                <a:rect l="l" t="t" r="r" b="b"/>
                <a:pathLst>
                  <a:path w="41839" h="51495">
                    <a:moveTo>
                      <a:pt x="39909" y="4828"/>
                    </a:moveTo>
                    <a:cubicBezTo>
                      <a:pt x="25748" y="17058"/>
                      <a:pt x="13839" y="31541"/>
                      <a:pt x="4828" y="47633"/>
                    </a:cubicBez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8" name="Freeform: Shape 952">
                <a:extLst>
                  <a:ext uri="{FF2B5EF4-FFF2-40B4-BE49-F238E27FC236}">
                    <a16:creationId xmlns:a16="http://schemas.microsoft.com/office/drawing/2014/main" id="{6CA77B2E-7BF9-464A-A783-93EF2D33C819}"/>
                  </a:ext>
                </a:extLst>
              </p:cNvPr>
              <p:cNvSpPr/>
              <p:nvPr/>
            </p:nvSpPr>
            <p:spPr>
              <a:xfrm>
                <a:off x="1928646" y="4588493"/>
                <a:ext cx="199544" cy="199544"/>
              </a:xfrm>
              <a:custGeom>
                <a:avLst/>
                <a:gdLst>
                  <a:gd name="connsiteX0" fmla="*/ 62116 w 199543"/>
                  <a:gd name="connsiteY0" fmla="*/ 4828 h 199543"/>
                  <a:gd name="connsiteX1" fmla="*/ 183451 w 199543"/>
                  <a:gd name="connsiteY1" fmla="*/ 126807 h 199543"/>
                  <a:gd name="connsiteX2" fmla="*/ 182486 w 199543"/>
                  <a:gd name="connsiteY2" fmla="*/ 184739 h 199543"/>
                  <a:gd name="connsiteX3" fmla="*/ 182486 w 199543"/>
                  <a:gd name="connsiteY3" fmla="*/ 184739 h 199543"/>
                  <a:gd name="connsiteX4" fmla="*/ 124554 w 199543"/>
                  <a:gd name="connsiteY4" fmla="*/ 185382 h 199543"/>
                  <a:gd name="connsiteX5" fmla="*/ 4828 w 199543"/>
                  <a:gd name="connsiteY5" fmla="*/ 65656 h 19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543" h="199543">
                    <a:moveTo>
                      <a:pt x="62116" y="4828"/>
                    </a:moveTo>
                    <a:lnTo>
                      <a:pt x="183451" y="126807"/>
                    </a:lnTo>
                    <a:cubicBezTo>
                      <a:pt x="199222" y="142577"/>
                      <a:pt x="198900" y="168647"/>
                      <a:pt x="182486" y="184739"/>
                    </a:cubicBezTo>
                    <a:lnTo>
                      <a:pt x="182486" y="184739"/>
                    </a:lnTo>
                    <a:cubicBezTo>
                      <a:pt x="166394" y="200831"/>
                      <a:pt x="140324" y="201153"/>
                      <a:pt x="124554" y="185382"/>
                    </a:cubicBezTo>
                    <a:lnTo>
                      <a:pt x="4828" y="65656"/>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9" name="Freeform: Shape 953">
                <a:extLst>
                  <a:ext uri="{FF2B5EF4-FFF2-40B4-BE49-F238E27FC236}">
                    <a16:creationId xmlns:a16="http://schemas.microsoft.com/office/drawing/2014/main" id="{016419D6-F246-439C-BCC1-B40E135BBD95}"/>
                  </a:ext>
                </a:extLst>
              </p:cNvPr>
              <p:cNvSpPr/>
              <p:nvPr/>
            </p:nvSpPr>
            <p:spPr>
              <a:xfrm>
                <a:off x="2034533" y="4695989"/>
                <a:ext cx="48277" cy="51495"/>
              </a:xfrm>
              <a:custGeom>
                <a:avLst/>
                <a:gdLst>
                  <a:gd name="connsiteX0" fmla="*/ 46024 w 48276"/>
                  <a:gd name="connsiteY0" fmla="*/ 4828 h 51495"/>
                  <a:gd name="connsiteX1" fmla="*/ 4828 w 48276"/>
                  <a:gd name="connsiteY1" fmla="*/ 47633 h 51495"/>
                </a:gdLst>
                <a:ahLst/>
                <a:cxnLst>
                  <a:cxn ang="0">
                    <a:pos x="connsiteX0" y="connsiteY0"/>
                  </a:cxn>
                  <a:cxn ang="0">
                    <a:pos x="connsiteX1" y="connsiteY1"/>
                  </a:cxn>
                </a:cxnLst>
                <a:rect l="l" t="t" r="r" b="b"/>
                <a:pathLst>
                  <a:path w="48276" h="51495">
                    <a:moveTo>
                      <a:pt x="46024" y="4828"/>
                    </a:moveTo>
                    <a:lnTo>
                      <a:pt x="4828" y="47633"/>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0" name="Freeform: Shape 954">
                <a:extLst>
                  <a:ext uri="{FF2B5EF4-FFF2-40B4-BE49-F238E27FC236}">
                    <a16:creationId xmlns:a16="http://schemas.microsoft.com/office/drawing/2014/main" id="{D2B6B27D-4208-4C67-A87C-BD0E40B37F40}"/>
                  </a:ext>
                </a:extLst>
              </p:cNvPr>
              <p:cNvSpPr/>
              <p:nvPr/>
            </p:nvSpPr>
            <p:spPr>
              <a:xfrm>
                <a:off x="2012004" y="4673460"/>
                <a:ext cx="48277" cy="51495"/>
              </a:xfrm>
              <a:custGeom>
                <a:avLst/>
                <a:gdLst>
                  <a:gd name="connsiteX0" fmla="*/ 46024 w 48276"/>
                  <a:gd name="connsiteY0" fmla="*/ 4828 h 51495"/>
                  <a:gd name="connsiteX1" fmla="*/ 4828 w 48276"/>
                  <a:gd name="connsiteY1" fmla="*/ 47633 h 51495"/>
                </a:gdLst>
                <a:ahLst/>
                <a:cxnLst>
                  <a:cxn ang="0">
                    <a:pos x="connsiteX0" y="connsiteY0"/>
                  </a:cxn>
                  <a:cxn ang="0">
                    <a:pos x="connsiteX1" y="connsiteY1"/>
                  </a:cxn>
                </a:cxnLst>
                <a:rect l="l" t="t" r="r" b="b"/>
                <a:pathLst>
                  <a:path w="48276" h="51495">
                    <a:moveTo>
                      <a:pt x="46024" y="4828"/>
                    </a:moveTo>
                    <a:lnTo>
                      <a:pt x="4828" y="47633"/>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1" name="Freeform: Shape 955">
                <a:extLst>
                  <a:ext uri="{FF2B5EF4-FFF2-40B4-BE49-F238E27FC236}">
                    <a16:creationId xmlns:a16="http://schemas.microsoft.com/office/drawing/2014/main" id="{4B0550FA-6FEA-4AA7-9A7B-35DBF8FC3482}"/>
                  </a:ext>
                </a:extLst>
              </p:cNvPr>
              <p:cNvSpPr/>
              <p:nvPr/>
            </p:nvSpPr>
            <p:spPr>
              <a:xfrm>
                <a:off x="1715359" y="4384184"/>
                <a:ext cx="267131" cy="267131"/>
              </a:xfrm>
              <a:custGeom>
                <a:avLst/>
                <a:gdLst>
                  <a:gd name="connsiteX0" fmla="*/ 241288 w 267130"/>
                  <a:gd name="connsiteY0" fmla="*/ 209137 h 267130"/>
                  <a:gd name="connsiteX1" fmla="*/ 142803 w 267130"/>
                  <a:gd name="connsiteY1" fmla="*/ 264172 h 267130"/>
                  <a:gd name="connsiteX2" fmla="*/ 5054 w 267130"/>
                  <a:gd name="connsiteY2" fmla="*/ 142193 h 267130"/>
                  <a:gd name="connsiteX3" fmla="*/ 127033 w 267130"/>
                  <a:gd name="connsiteY3" fmla="*/ 5087 h 267130"/>
                  <a:gd name="connsiteX4" fmla="*/ 264782 w 267130"/>
                  <a:gd name="connsiteY4" fmla="*/ 127066 h 267130"/>
                  <a:gd name="connsiteX5" fmla="*/ 257702 w 267130"/>
                  <a:gd name="connsiteY5" fmla="*/ 178240 h 26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130" h="267130">
                    <a:moveTo>
                      <a:pt x="241288" y="209137"/>
                    </a:moveTo>
                    <a:cubicBezTo>
                      <a:pt x="219402" y="240356"/>
                      <a:pt x="183677" y="261919"/>
                      <a:pt x="142803" y="264172"/>
                    </a:cubicBezTo>
                    <a:cubicBezTo>
                      <a:pt x="71032" y="268678"/>
                      <a:pt x="9560" y="213964"/>
                      <a:pt x="5054" y="142193"/>
                    </a:cubicBezTo>
                    <a:cubicBezTo>
                      <a:pt x="870" y="70743"/>
                      <a:pt x="55261" y="9271"/>
                      <a:pt x="127033" y="5087"/>
                    </a:cubicBezTo>
                    <a:cubicBezTo>
                      <a:pt x="198804" y="581"/>
                      <a:pt x="260276" y="55295"/>
                      <a:pt x="264782" y="127066"/>
                    </a:cubicBezTo>
                    <a:cubicBezTo>
                      <a:pt x="265748" y="145090"/>
                      <a:pt x="263173" y="162147"/>
                      <a:pt x="257702" y="178240"/>
                    </a:cubicBez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45" name="Graphic 190">
              <a:extLst>
                <a:ext uri="{FF2B5EF4-FFF2-40B4-BE49-F238E27FC236}">
                  <a16:creationId xmlns:a16="http://schemas.microsoft.com/office/drawing/2014/main" id="{67088BC0-07F1-451C-B16F-B4D6B6CC69DB}"/>
                </a:ext>
              </a:extLst>
            </p:cNvPr>
            <p:cNvGrpSpPr/>
            <p:nvPr/>
          </p:nvGrpSpPr>
          <p:grpSpPr>
            <a:xfrm>
              <a:off x="8911314" y="6708453"/>
              <a:ext cx="487551" cy="487551"/>
              <a:chOff x="7285831" y="4387916"/>
              <a:chExt cx="196325" cy="196325"/>
            </a:xfrm>
          </p:grpSpPr>
          <p:sp>
            <p:nvSpPr>
              <p:cNvPr id="153" name="Freeform: Shape 947">
                <a:extLst>
                  <a:ext uri="{FF2B5EF4-FFF2-40B4-BE49-F238E27FC236}">
                    <a16:creationId xmlns:a16="http://schemas.microsoft.com/office/drawing/2014/main" id="{55358CB5-092D-47D4-9725-CA1C4CAC8990}"/>
                  </a:ext>
                </a:extLst>
              </p:cNvPr>
              <p:cNvSpPr/>
              <p:nvPr/>
            </p:nvSpPr>
            <p:spPr>
              <a:xfrm>
                <a:off x="7285831" y="4387916"/>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4" name="Freeform: Shape 948">
                <a:extLst>
                  <a:ext uri="{FF2B5EF4-FFF2-40B4-BE49-F238E27FC236}">
                    <a16:creationId xmlns:a16="http://schemas.microsoft.com/office/drawing/2014/main" id="{616D146E-5434-41F6-BD7A-2D8B1F5EEB7A}"/>
                  </a:ext>
                </a:extLst>
              </p:cNvPr>
              <p:cNvSpPr/>
              <p:nvPr/>
            </p:nvSpPr>
            <p:spPr>
              <a:xfrm>
                <a:off x="7342155" y="4444883"/>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5" name="Freeform: Shape 949">
                <a:extLst>
                  <a:ext uri="{FF2B5EF4-FFF2-40B4-BE49-F238E27FC236}">
                    <a16:creationId xmlns:a16="http://schemas.microsoft.com/office/drawing/2014/main" id="{EAC90131-7193-44F7-88A3-5ACA3CF7B4B9}"/>
                  </a:ext>
                </a:extLst>
              </p:cNvPr>
              <p:cNvSpPr/>
              <p:nvPr/>
            </p:nvSpPr>
            <p:spPr>
              <a:xfrm>
                <a:off x="7368224" y="4470952"/>
                <a:ext cx="32184" cy="32184"/>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46" name="Graphic 190">
              <a:extLst>
                <a:ext uri="{FF2B5EF4-FFF2-40B4-BE49-F238E27FC236}">
                  <a16:creationId xmlns:a16="http://schemas.microsoft.com/office/drawing/2014/main" id="{60D61CAF-7130-4217-8B05-0B0740A047E0}"/>
                </a:ext>
              </a:extLst>
            </p:cNvPr>
            <p:cNvGrpSpPr/>
            <p:nvPr/>
          </p:nvGrpSpPr>
          <p:grpSpPr>
            <a:xfrm>
              <a:off x="8480431" y="7202131"/>
              <a:ext cx="460376" cy="460376"/>
              <a:chOff x="7289321" y="4372213"/>
              <a:chExt cx="196325" cy="196325"/>
            </a:xfrm>
          </p:grpSpPr>
          <p:sp>
            <p:nvSpPr>
              <p:cNvPr id="150" name="Freeform: Shape 944">
                <a:extLst>
                  <a:ext uri="{FF2B5EF4-FFF2-40B4-BE49-F238E27FC236}">
                    <a16:creationId xmlns:a16="http://schemas.microsoft.com/office/drawing/2014/main" id="{63C5200D-205B-40C3-8838-DFA6232CFD30}"/>
                  </a:ext>
                </a:extLst>
              </p:cNvPr>
              <p:cNvSpPr/>
              <p:nvPr/>
            </p:nvSpPr>
            <p:spPr>
              <a:xfrm>
                <a:off x="7289321" y="4372213"/>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1" name="Freeform: Shape 945">
                <a:extLst>
                  <a:ext uri="{FF2B5EF4-FFF2-40B4-BE49-F238E27FC236}">
                    <a16:creationId xmlns:a16="http://schemas.microsoft.com/office/drawing/2014/main" id="{C6C17CA2-DC9E-4DB1-B7BA-7A274B6B7C47}"/>
                  </a:ext>
                </a:extLst>
              </p:cNvPr>
              <p:cNvSpPr/>
              <p:nvPr/>
            </p:nvSpPr>
            <p:spPr>
              <a:xfrm>
                <a:off x="7345644" y="4429180"/>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52" name="Freeform: Shape 946">
                <a:extLst>
                  <a:ext uri="{FF2B5EF4-FFF2-40B4-BE49-F238E27FC236}">
                    <a16:creationId xmlns:a16="http://schemas.microsoft.com/office/drawing/2014/main" id="{06127911-5777-4AA6-A0B5-F9FE76B3E8AF}"/>
                  </a:ext>
                </a:extLst>
              </p:cNvPr>
              <p:cNvSpPr/>
              <p:nvPr/>
            </p:nvSpPr>
            <p:spPr>
              <a:xfrm>
                <a:off x="7371713" y="4455249"/>
                <a:ext cx="32184" cy="32184"/>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47" name="Graphic 190">
              <a:extLst>
                <a:ext uri="{FF2B5EF4-FFF2-40B4-BE49-F238E27FC236}">
                  <a16:creationId xmlns:a16="http://schemas.microsoft.com/office/drawing/2014/main" id="{17F55904-C5B9-47E8-A150-E65675D141E1}"/>
                </a:ext>
              </a:extLst>
            </p:cNvPr>
            <p:cNvGrpSpPr/>
            <p:nvPr/>
          </p:nvGrpSpPr>
          <p:grpSpPr>
            <a:xfrm>
              <a:off x="8359775" y="6905626"/>
              <a:ext cx="301625" cy="301625"/>
              <a:chOff x="7289321" y="4372213"/>
              <a:chExt cx="196325" cy="196325"/>
            </a:xfrm>
          </p:grpSpPr>
          <p:sp>
            <p:nvSpPr>
              <p:cNvPr id="148" name="Freeform: Shape 942">
                <a:extLst>
                  <a:ext uri="{FF2B5EF4-FFF2-40B4-BE49-F238E27FC236}">
                    <a16:creationId xmlns:a16="http://schemas.microsoft.com/office/drawing/2014/main" id="{2E13265B-4511-4FA4-B009-8A40732B5763}"/>
                  </a:ext>
                </a:extLst>
              </p:cNvPr>
              <p:cNvSpPr/>
              <p:nvPr/>
            </p:nvSpPr>
            <p:spPr>
              <a:xfrm>
                <a:off x="7289321" y="4372213"/>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49" name="Freeform: Shape 943">
                <a:extLst>
                  <a:ext uri="{FF2B5EF4-FFF2-40B4-BE49-F238E27FC236}">
                    <a16:creationId xmlns:a16="http://schemas.microsoft.com/office/drawing/2014/main" id="{8B2C0AA9-F7D6-4390-9E28-6317CC55C230}"/>
                  </a:ext>
                </a:extLst>
              </p:cNvPr>
              <p:cNvSpPr/>
              <p:nvPr/>
            </p:nvSpPr>
            <p:spPr>
              <a:xfrm>
                <a:off x="7345644" y="4429180"/>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grpSp>
        <p:nvGrpSpPr>
          <p:cNvPr id="162" name="Graphic 160">
            <a:extLst>
              <a:ext uri="{FF2B5EF4-FFF2-40B4-BE49-F238E27FC236}">
                <a16:creationId xmlns:a16="http://schemas.microsoft.com/office/drawing/2014/main" id="{0D22AC0B-32D6-44BD-93D1-93EF7115988F}"/>
              </a:ext>
            </a:extLst>
          </p:cNvPr>
          <p:cNvGrpSpPr/>
          <p:nvPr/>
        </p:nvGrpSpPr>
        <p:grpSpPr>
          <a:xfrm>
            <a:off x="9313711" y="3960291"/>
            <a:ext cx="698244" cy="722132"/>
            <a:chOff x="4692320" y="5010565"/>
            <a:chExt cx="395223" cy="408744"/>
          </a:xfrm>
        </p:grpSpPr>
        <p:sp>
          <p:nvSpPr>
            <p:cNvPr id="163" name="Freeform: Shape 957">
              <a:extLst>
                <a:ext uri="{FF2B5EF4-FFF2-40B4-BE49-F238E27FC236}">
                  <a16:creationId xmlns:a16="http://schemas.microsoft.com/office/drawing/2014/main" id="{B4480A01-19EF-49D4-9675-3D56F220742E}"/>
                </a:ext>
              </a:extLst>
            </p:cNvPr>
            <p:cNvSpPr/>
            <p:nvPr/>
          </p:nvSpPr>
          <p:spPr>
            <a:xfrm>
              <a:off x="4692320" y="5010565"/>
              <a:ext cx="302535" cy="408744"/>
            </a:xfrm>
            <a:custGeom>
              <a:avLst/>
              <a:gdLst>
                <a:gd name="connsiteX0" fmla="*/ 298028 w 302533"/>
                <a:gd name="connsiteY0" fmla="*/ 72939 h 408742"/>
                <a:gd name="connsiteX1" fmla="*/ 298028 w 302533"/>
                <a:gd name="connsiteY1" fmla="*/ 51376 h 408742"/>
                <a:gd name="connsiteX2" fmla="*/ 286442 w 302533"/>
                <a:gd name="connsiteY2" fmla="*/ 42042 h 408742"/>
                <a:gd name="connsiteX3" fmla="*/ 158991 w 302533"/>
                <a:gd name="connsiteY3" fmla="*/ 7927 h 408742"/>
                <a:gd name="connsiteX4" fmla="*/ 144508 w 302533"/>
                <a:gd name="connsiteY4" fmla="*/ 8248 h 408742"/>
                <a:gd name="connsiteX5" fmla="*/ 16414 w 302533"/>
                <a:gd name="connsiteY5" fmla="*/ 41398 h 408742"/>
                <a:gd name="connsiteX6" fmla="*/ 4828 w 302533"/>
                <a:gd name="connsiteY6" fmla="*/ 50732 h 408742"/>
                <a:gd name="connsiteX7" fmla="*/ 4828 w 302533"/>
                <a:gd name="connsiteY7" fmla="*/ 319150 h 408742"/>
                <a:gd name="connsiteX8" fmla="*/ 9655 w 302533"/>
                <a:gd name="connsiteY8" fmla="*/ 327518 h 408742"/>
                <a:gd name="connsiteX9" fmla="*/ 146761 w 302533"/>
                <a:gd name="connsiteY9" fmla="*/ 404761 h 408742"/>
                <a:gd name="connsiteX10" fmla="*/ 156095 w 302533"/>
                <a:gd name="connsiteY10" fmla="*/ 404761 h 408742"/>
                <a:gd name="connsiteX11" fmla="*/ 293200 w 302533"/>
                <a:gd name="connsiteY11" fmla="*/ 327840 h 408742"/>
                <a:gd name="connsiteX12" fmla="*/ 298028 w 302533"/>
                <a:gd name="connsiteY12" fmla="*/ 319794 h 408742"/>
                <a:gd name="connsiteX13" fmla="*/ 298350 w 302533"/>
                <a:gd name="connsiteY13" fmla="*/ 298230 h 40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2533" h="408742">
                  <a:moveTo>
                    <a:pt x="298028" y="72939"/>
                  </a:moveTo>
                  <a:lnTo>
                    <a:pt x="298028" y="51376"/>
                  </a:lnTo>
                  <a:cubicBezTo>
                    <a:pt x="298028" y="45260"/>
                    <a:pt x="292557" y="40755"/>
                    <a:pt x="286442" y="42042"/>
                  </a:cubicBezTo>
                  <a:cubicBezTo>
                    <a:pt x="261338" y="47513"/>
                    <a:pt x="200187" y="54272"/>
                    <a:pt x="158991" y="7927"/>
                  </a:cubicBezTo>
                  <a:cubicBezTo>
                    <a:pt x="155129" y="3743"/>
                    <a:pt x="148370" y="3743"/>
                    <a:pt x="144508" y="8248"/>
                  </a:cubicBezTo>
                  <a:cubicBezTo>
                    <a:pt x="130025" y="24662"/>
                    <a:pt x="91404" y="56525"/>
                    <a:pt x="16414" y="41398"/>
                  </a:cubicBezTo>
                  <a:cubicBezTo>
                    <a:pt x="10299" y="40111"/>
                    <a:pt x="4828" y="44617"/>
                    <a:pt x="4828" y="50732"/>
                  </a:cubicBezTo>
                  <a:lnTo>
                    <a:pt x="4828" y="319150"/>
                  </a:lnTo>
                  <a:cubicBezTo>
                    <a:pt x="4828" y="322690"/>
                    <a:pt x="6759" y="325909"/>
                    <a:pt x="9655" y="327518"/>
                  </a:cubicBezTo>
                  <a:lnTo>
                    <a:pt x="146761" y="404761"/>
                  </a:lnTo>
                  <a:cubicBezTo>
                    <a:pt x="149658" y="406370"/>
                    <a:pt x="153198" y="406370"/>
                    <a:pt x="156095" y="404761"/>
                  </a:cubicBezTo>
                  <a:lnTo>
                    <a:pt x="293200" y="327840"/>
                  </a:lnTo>
                  <a:cubicBezTo>
                    <a:pt x="296097" y="326231"/>
                    <a:pt x="298028" y="323012"/>
                    <a:pt x="298028" y="319794"/>
                  </a:cubicBezTo>
                  <a:lnTo>
                    <a:pt x="298350" y="298230"/>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4" name="Freeform: Shape 958">
              <a:extLst>
                <a:ext uri="{FF2B5EF4-FFF2-40B4-BE49-F238E27FC236}">
                  <a16:creationId xmlns:a16="http://schemas.microsoft.com/office/drawing/2014/main" id="{FC19E879-914D-466A-A5AE-74406D739305}"/>
                </a:ext>
              </a:extLst>
            </p:cNvPr>
            <p:cNvSpPr/>
            <p:nvPr/>
          </p:nvSpPr>
          <p:spPr>
            <a:xfrm>
              <a:off x="4695217" y="5214495"/>
              <a:ext cx="193108" cy="67587"/>
            </a:xfrm>
            <a:custGeom>
              <a:avLst/>
              <a:gdLst>
                <a:gd name="connsiteX0" fmla="*/ 4828 w 193106"/>
                <a:gd name="connsiteY0" fmla="*/ 4828 h 67587"/>
                <a:gd name="connsiteX1" fmla="*/ 189245 w 193106"/>
                <a:gd name="connsiteY1" fmla="*/ 64691 h 67587"/>
              </a:gdLst>
              <a:ahLst/>
              <a:cxnLst>
                <a:cxn ang="0">
                  <a:pos x="connsiteX0" y="connsiteY0"/>
                </a:cxn>
                <a:cxn ang="0">
                  <a:pos x="connsiteX1" y="connsiteY1"/>
                </a:cxn>
              </a:cxnLst>
              <a:rect l="l" t="t" r="r" b="b"/>
              <a:pathLst>
                <a:path w="193106" h="67587">
                  <a:moveTo>
                    <a:pt x="4828" y="4828"/>
                  </a:moveTo>
                  <a:lnTo>
                    <a:pt x="189245" y="64691"/>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5" name="Freeform: Shape 959">
              <a:extLst>
                <a:ext uri="{FF2B5EF4-FFF2-40B4-BE49-F238E27FC236}">
                  <a16:creationId xmlns:a16="http://schemas.microsoft.com/office/drawing/2014/main" id="{D2735F10-0276-44FC-8DEB-B6AD7D489EB8}"/>
                </a:ext>
              </a:extLst>
            </p:cNvPr>
            <p:cNvSpPr/>
            <p:nvPr/>
          </p:nvSpPr>
          <p:spPr>
            <a:xfrm>
              <a:off x="4694573" y="5105712"/>
              <a:ext cx="183451" cy="64369"/>
            </a:xfrm>
            <a:custGeom>
              <a:avLst/>
              <a:gdLst>
                <a:gd name="connsiteX0" fmla="*/ 4828 w 183451"/>
                <a:gd name="connsiteY0" fmla="*/ 4828 h 64368"/>
                <a:gd name="connsiteX1" fmla="*/ 181198 w 183451"/>
                <a:gd name="connsiteY1" fmla="*/ 59541 h 64368"/>
              </a:gdLst>
              <a:ahLst/>
              <a:cxnLst>
                <a:cxn ang="0">
                  <a:pos x="connsiteX0" y="connsiteY0"/>
                </a:cxn>
                <a:cxn ang="0">
                  <a:pos x="connsiteX1" y="connsiteY1"/>
                </a:cxn>
              </a:cxnLst>
              <a:rect l="l" t="t" r="r" b="b"/>
              <a:pathLst>
                <a:path w="183451" h="64368">
                  <a:moveTo>
                    <a:pt x="4828" y="4828"/>
                  </a:moveTo>
                  <a:lnTo>
                    <a:pt x="181198" y="59541"/>
                  </a:lnTo>
                </a:path>
              </a:pathLst>
            </a:custGeom>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6" name="Freeform: Shape 960">
              <a:extLst>
                <a:ext uri="{FF2B5EF4-FFF2-40B4-BE49-F238E27FC236}">
                  <a16:creationId xmlns:a16="http://schemas.microsoft.com/office/drawing/2014/main" id="{01AEFCCF-CE4C-47B2-B27B-217451BD5549}"/>
                </a:ext>
              </a:extLst>
            </p:cNvPr>
            <p:cNvSpPr/>
            <p:nvPr/>
          </p:nvSpPr>
          <p:spPr>
            <a:xfrm>
              <a:off x="4894435" y="5096061"/>
              <a:ext cx="193108" cy="193108"/>
            </a:xfrm>
            <a:custGeom>
              <a:avLst/>
              <a:gdLst>
                <a:gd name="connsiteX0" fmla="*/ 188279 w 193106"/>
                <a:gd name="connsiteY0" fmla="*/ 96553 h 193106"/>
                <a:gd name="connsiteX1" fmla="*/ 96553 w 193106"/>
                <a:gd name="connsiteY1" fmla="*/ 188279 h 193106"/>
                <a:gd name="connsiteX2" fmla="*/ 4828 w 193106"/>
                <a:gd name="connsiteY2" fmla="*/ 96553 h 193106"/>
                <a:gd name="connsiteX3" fmla="*/ 96553 w 193106"/>
                <a:gd name="connsiteY3" fmla="*/ 4828 h 193106"/>
                <a:gd name="connsiteX4" fmla="*/ 188279 w 193106"/>
                <a:gd name="connsiteY4" fmla="*/ 96553 h 19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06" h="193106">
                  <a:moveTo>
                    <a:pt x="188279" y="96553"/>
                  </a:moveTo>
                  <a:cubicBezTo>
                    <a:pt x="188279" y="147212"/>
                    <a:pt x="147212" y="188279"/>
                    <a:pt x="96553" y="188279"/>
                  </a:cubicBezTo>
                  <a:cubicBezTo>
                    <a:pt x="45895" y="188279"/>
                    <a:pt x="4828" y="147212"/>
                    <a:pt x="4828" y="96553"/>
                  </a:cubicBezTo>
                  <a:cubicBezTo>
                    <a:pt x="4828" y="45895"/>
                    <a:pt x="45895" y="4828"/>
                    <a:pt x="96553" y="4828"/>
                  </a:cubicBezTo>
                  <a:cubicBezTo>
                    <a:pt x="147212" y="4828"/>
                    <a:pt x="188279" y="45895"/>
                    <a:pt x="188279" y="96553"/>
                  </a:cubicBezTo>
                  <a:close/>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67" name="Freeform: Shape 961">
              <a:extLst>
                <a:ext uri="{FF2B5EF4-FFF2-40B4-BE49-F238E27FC236}">
                  <a16:creationId xmlns:a16="http://schemas.microsoft.com/office/drawing/2014/main" id="{5492607B-9599-4263-AC6F-4EEDB83428E2}"/>
                </a:ext>
              </a:extLst>
            </p:cNvPr>
            <p:cNvSpPr/>
            <p:nvPr/>
          </p:nvSpPr>
          <p:spPr>
            <a:xfrm>
              <a:off x="4937228" y="5155580"/>
              <a:ext cx="102990" cy="77243"/>
            </a:xfrm>
            <a:custGeom>
              <a:avLst/>
              <a:gdLst>
                <a:gd name="connsiteX0" fmla="*/ 4828 w 102990"/>
                <a:gd name="connsiteY0" fmla="*/ 45380 h 77242"/>
                <a:gd name="connsiteX1" fmla="*/ 32506 w 102990"/>
                <a:gd name="connsiteY1" fmla="*/ 73059 h 77242"/>
                <a:gd name="connsiteX2" fmla="*/ 100737 w 102990"/>
                <a:gd name="connsiteY2" fmla="*/ 4828 h 77242"/>
              </a:gdLst>
              <a:ahLst/>
              <a:cxnLst>
                <a:cxn ang="0">
                  <a:pos x="connsiteX0" y="connsiteY0"/>
                </a:cxn>
                <a:cxn ang="0">
                  <a:pos x="connsiteX1" y="connsiteY1"/>
                </a:cxn>
                <a:cxn ang="0">
                  <a:pos x="connsiteX2" y="connsiteY2"/>
                </a:cxn>
              </a:cxnLst>
              <a:rect l="l" t="t" r="r" b="b"/>
              <a:pathLst>
                <a:path w="102990" h="77242">
                  <a:moveTo>
                    <a:pt x="4828" y="45380"/>
                  </a:moveTo>
                  <a:lnTo>
                    <a:pt x="32506" y="73059"/>
                  </a:lnTo>
                  <a:lnTo>
                    <a:pt x="100737"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68" name="Group 167">
            <a:extLst>
              <a:ext uri="{FF2B5EF4-FFF2-40B4-BE49-F238E27FC236}">
                <a16:creationId xmlns:a16="http://schemas.microsoft.com/office/drawing/2014/main" id="{2F5786EF-B5D7-472C-9CEE-922F6990069F}"/>
              </a:ext>
            </a:extLst>
          </p:cNvPr>
          <p:cNvGrpSpPr/>
          <p:nvPr/>
        </p:nvGrpSpPr>
        <p:grpSpPr>
          <a:xfrm>
            <a:off x="7621237" y="2370696"/>
            <a:ext cx="991854" cy="732724"/>
            <a:chOff x="8713234" y="4630665"/>
            <a:chExt cx="886841" cy="655145"/>
          </a:xfrm>
        </p:grpSpPr>
        <p:grpSp>
          <p:nvGrpSpPr>
            <p:cNvPr id="169" name="Graphic 188">
              <a:extLst>
                <a:ext uri="{FF2B5EF4-FFF2-40B4-BE49-F238E27FC236}">
                  <a16:creationId xmlns:a16="http://schemas.microsoft.com/office/drawing/2014/main" id="{7F0224D7-59B4-4D27-BAD7-77C43E337A2E}"/>
                </a:ext>
              </a:extLst>
            </p:cNvPr>
            <p:cNvGrpSpPr/>
            <p:nvPr/>
          </p:nvGrpSpPr>
          <p:grpSpPr>
            <a:xfrm>
              <a:off x="8963026" y="4756150"/>
              <a:ext cx="637049" cy="529660"/>
              <a:chOff x="6479413" y="4391524"/>
              <a:chExt cx="450582" cy="374626"/>
            </a:xfrm>
          </p:grpSpPr>
          <p:sp>
            <p:nvSpPr>
              <p:cNvPr id="183" name="Freeform: Shape 977">
                <a:extLst>
                  <a:ext uri="{FF2B5EF4-FFF2-40B4-BE49-F238E27FC236}">
                    <a16:creationId xmlns:a16="http://schemas.microsoft.com/office/drawing/2014/main" id="{C5648868-68C3-45CB-AFB9-0E8A27BD7078}"/>
                  </a:ext>
                </a:extLst>
              </p:cNvPr>
              <p:cNvSpPr/>
              <p:nvPr/>
            </p:nvSpPr>
            <p:spPr>
              <a:xfrm>
                <a:off x="6479413" y="4466835"/>
                <a:ext cx="450582" cy="299315"/>
              </a:xfrm>
              <a:custGeom>
                <a:avLst/>
                <a:gdLst>
                  <a:gd name="connsiteX0" fmla="*/ 437709 w 450582"/>
                  <a:gd name="connsiteY0" fmla="*/ 297384 h 299315"/>
                  <a:gd name="connsiteX1" fmla="*/ 12874 w 450582"/>
                  <a:gd name="connsiteY1" fmla="*/ 297384 h 299315"/>
                  <a:gd name="connsiteX2" fmla="*/ 4828 w 450582"/>
                  <a:gd name="connsiteY2" fmla="*/ 289338 h 299315"/>
                  <a:gd name="connsiteX3" fmla="*/ 4828 w 450582"/>
                  <a:gd name="connsiteY3" fmla="*/ 12874 h 299315"/>
                  <a:gd name="connsiteX4" fmla="*/ 12874 w 450582"/>
                  <a:gd name="connsiteY4" fmla="*/ 4828 h 299315"/>
                  <a:gd name="connsiteX5" fmla="*/ 437709 w 450582"/>
                  <a:gd name="connsiteY5" fmla="*/ 4828 h 299315"/>
                  <a:gd name="connsiteX6" fmla="*/ 445755 w 450582"/>
                  <a:gd name="connsiteY6" fmla="*/ 12874 h 299315"/>
                  <a:gd name="connsiteX7" fmla="*/ 445755 w 450582"/>
                  <a:gd name="connsiteY7" fmla="*/ 289338 h 299315"/>
                  <a:gd name="connsiteX8" fmla="*/ 437709 w 450582"/>
                  <a:gd name="connsiteY8" fmla="*/ 297384 h 299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582" h="299315">
                    <a:moveTo>
                      <a:pt x="437709" y="297384"/>
                    </a:moveTo>
                    <a:lnTo>
                      <a:pt x="12874" y="297384"/>
                    </a:lnTo>
                    <a:cubicBezTo>
                      <a:pt x="8368" y="297384"/>
                      <a:pt x="4828" y="293844"/>
                      <a:pt x="4828" y="289338"/>
                    </a:cubicBezTo>
                    <a:lnTo>
                      <a:pt x="4828" y="12874"/>
                    </a:lnTo>
                    <a:cubicBezTo>
                      <a:pt x="4828" y="8368"/>
                      <a:pt x="8368" y="4828"/>
                      <a:pt x="12874" y="4828"/>
                    </a:cubicBezTo>
                    <a:lnTo>
                      <a:pt x="437709" y="4828"/>
                    </a:lnTo>
                    <a:cubicBezTo>
                      <a:pt x="442214" y="4828"/>
                      <a:pt x="445755" y="8368"/>
                      <a:pt x="445755" y="12874"/>
                    </a:cubicBezTo>
                    <a:lnTo>
                      <a:pt x="445755" y="289338"/>
                    </a:lnTo>
                    <a:cubicBezTo>
                      <a:pt x="445755" y="293844"/>
                      <a:pt x="441893" y="297384"/>
                      <a:pt x="437709" y="297384"/>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4" name="Freeform: Shape 978">
                <a:extLst>
                  <a:ext uri="{FF2B5EF4-FFF2-40B4-BE49-F238E27FC236}">
                    <a16:creationId xmlns:a16="http://schemas.microsoft.com/office/drawing/2014/main" id="{FB9148E8-28A4-4A24-B509-8D0B6D7ECEEE}"/>
                  </a:ext>
                </a:extLst>
              </p:cNvPr>
              <p:cNvSpPr/>
              <p:nvPr/>
            </p:nvSpPr>
            <p:spPr>
              <a:xfrm>
                <a:off x="6619738" y="4391524"/>
                <a:ext cx="167359" cy="67587"/>
              </a:xfrm>
              <a:custGeom>
                <a:avLst/>
                <a:gdLst>
                  <a:gd name="connsiteX0" fmla="*/ 165106 w 167359"/>
                  <a:gd name="connsiteY0" fmla="*/ 62760 h 67587"/>
                  <a:gd name="connsiteX1" fmla="*/ 165106 w 167359"/>
                  <a:gd name="connsiteY1" fmla="*/ 10943 h 67587"/>
                  <a:gd name="connsiteX2" fmla="*/ 158991 w 167359"/>
                  <a:gd name="connsiteY2" fmla="*/ 4828 h 67587"/>
                  <a:gd name="connsiteX3" fmla="*/ 10943 w 167359"/>
                  <a:gd name="connsiteY3" fmla="*/ 4828 h 67587"/>
                  <a:gd name="connsiteX4" fmla="*/ 4828 w 167359"/>
                  <a:gd name="connsiteY4" fmla="*/ 10943 h 67587"/>
                  <a:gd name="connsiteX5" fmla="*/ 4828 w 167359"/>
                  <a:gd name="connsiteY5" fmla="*/ 62760 h 6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59" h="67587">
                    <a:moveTo>
                      <a:pt x="165106" y="62760"/>
                    </a:moveTo>
                    <a:lnTo>
                      <a:pt x="165106" y="10943"/>
                    </a:lnTo>
                    <a:cubicBezTo>
                      <a:pt x="165106" y="7402"/>
                      <a:pt x="162210" y="4828"/>
                      <a:pt x="158991" y="4828"/>
                    </a:cubicBezTo>
                    <a:lnTo>
                      <a:pt x="10943" y="4828"/>
                    </a:lnTo>
                    <a:cubicBezTo>
                      <a:pt x="7402" y="4828"/>
                      <a:pt x="4828" y="7724"/>
                      <a:pt x="4828" y="10943"/>
                    </a:cubicBezTo>
                    <a:lnTo>
                      <a:pt x="4828" y="62760"/>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5" name="Freeform: Shape 979">
                <a:extLst>
                  <a:ext uri="{FF2B5EF4-FFF2-40B4-BE49-F238E27FC236}">
                    <a16:creationId xmlns:a16="http://schemas.microsoft.com/office/drawing/2014/main" id="{4F8FE0EE-6C97-4404-9624-8EE9A370D21C}"/>
                  </a:ext>
                </a:extLst>
              </p:cNvPr>
              <p:cNvSpPr/>
              <p:nvPr/>
            </p:nvSpPr>
            <p:spPr>
              <a:xfrm>
                <a:off x="6648382" y="4419202"/>
                <a:ext cx="112646" cy="38621"/>
              </a:xfrm>
              <a:custGeom>
                <a:avLst/>
                <a:gdLst>
                  <a:gd name="connsiteX0" fmla="*/ 4828 w 112645"/>
                  <a:gd name="connsiteY0" fmla="*/ 36047 h 38621"/>
                  <a:gd name="connsiteX1" fmla="*/ 4828 w 112645"/>
                  <a:gd name="connsiteY1" fmla="*/ 4828 h 38621"/>
                  <a:gd name="connsiteX2" fmla="*/ 107818 w 112645"/>
                  <a:gd name="connsiteY2" fmla="*/ 4828 h 38621"/>
                  <a:gd name="connsiteX3" fmla="*/ 107818 w 112645"/>
                  <a:gd name="connsiteY3" fmla="*/ 36047 h 38621"/>
                </a:gdLst>
                <a:ahLst/>
                <a:cxnLst>
                  <a:cxn ang="0">
                    <a:pos x="connsiteX0" y="connsiteY0"/>
                  </a:cxn>
                  <a:cxn ang="0">
                    <a:pos x="connsiteX1" y="connsiteY1"/>
                  </a:cxn>
                  <a:cxn ang="0">
                    <a:pos x="connsiteX2" y="connsiteY2"/>
                  </a:cxn>
                  <a:cxn ang="0">
                    <a:pos x="connsiteX3" y="connsiteY3"/>
                  </a:cxn>
                </a:cxnLst>
                <a:rect l="l" t="t" r="r" b="b"/>
                <a:pathLst>
                  <a:path w="112645" h="38621">
                    <a:moveTo>
                      <a:pt x="4828" y="36047"/>
                    </a:moveTo>
                    <a:lnTo>
                      <a:pt x="4828" y="4828"/>
                    </a:lnTo>
                    <a:lnTo>
                      <a:pt x="107818" y="4828"/>
                    </a:lnTo>
                    <a:lnTo>
                      <a:pt x="107818" y="36047"/>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6" name="Freeform: Shape 980">
                <a:extLst>
                  <a:ext uri="{FF2B5EF4-FFF2-40B4-BE49-F238E27FC236}">
                    <a16:creationId xmlns:a16="http://schemas.microsoft.com/office/drawing/2014/main" id="{BCC2E66A-A7AF-4FE8-A7D3-A526AA1D9C48}"/>
                  </a:ext>
                </a:extLst>
              </p:cNvPr>
              <p:cNvSpPr/>
              <p:nvPr/>
            </p:nvSpPr>
            <p:spPr>
              <a:xfrm>
                <a:off x="6565024" y="4487433"/>
                <a:ext cx="9655" cy="257476"/>
              </a:xfrm>
              <a:custGeom>
                <a:avLst/>
                <a:gdLst>
                  <a:gd name="connsiteX0" fmla="*/ 4828 w 9655"/>
                  <a:gd name="connsiteY0" fmla="*/ 4828 h 257475"/>
                  <a:gd name="connsiteX1" fmla="*/ 4828 w 9655"/>
                  <a:gd name="connsiteY1" fmla="*/ 253935 h 257475"/>
                </a:gdLst>
                <a:ahLst/>
                <a:cxnLst>
                  <a:cxn ang="0">
                    <a:pos x="connsiteX0" y="connsiteY0"/>
                  </a:cxn>
                  <a:cxn ang="0">
                    <a:pos x="connsiteX1" y="connsiteY1"/>
                  </a:cxn>
                </a:cxnLst>
                <a:rect l="l" t="t" r="r" b="b"/>
                <a:pathLst>
                  <a:path w="9655" h="257475">
                    <a:moveTo>
                      <a:pt x="4828" y="4828"/>
                    </a:moveTo>
                    <a:lnTo>
                      <a:pt x="4828" y="253935"/>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7" name="Freeform: Shape 981">
                <a:extLst>
                  <a:ext uri="{FF2B5EF4-FFF2-40B4-BE49-F238E27FC236}">
                    <a16:creationId xmlns:a16="http://schemas.microsoft.com/office/drawing/2014/main" id="{F95D45E0-A19E-4BEE-80A7-7DAC54A8986A}"/>
                  </a:ext>
                </a:extLst>
              </p:cNvPr>
              <p:cNvSpPr/>
              <p:nvPr/>
            </p:nvSpPr>
            <p:spPr>
              <a:xfrm>
                <a:off x="6830546" y="4487433"/>
                <a:ext cx="9655" cy="257476"/>
              </a:xfrm>
              <a:custGeom>
                <a:avLst/>
                <a:gdLst>
                  <a:gd name="connsiteX0" fmla="*/ 4828 w 9655"/>
                  <a:gd name="connsiteY0" fmla="*/ 4828 h 257475"/>
                  <a:gd name="connsiteX1" fmla="*/ 4828 w 9655"/>
                  <a:gd name="connsiteY1" fmla="*/ 253935 h 257475"/>
                </a:gdLst>
                <a:ahLst/>
                <a:cxnLst>
                  <a:cxn ang="0">
                    <a:pos x="connsiteX0" y="connsiteY0"/>
                  </a:cxn>
                  <a:cxn ang="0">
                    <a:pos x="connsiteX1" y="connsiteY1"/>
                  </a:cxn>
                </a:cxnLst>
                <a:rect l="l" t="t" r="r" b="b"/>
                <a:pathLst>
                  <a:path w="9655" h="257475">
                    <a:moveTo>
                      <a:pt x="4828" y="4828"/>
                    </a:moveTo>
                    <a:lnTo>
                      <a:pt x="4828" y="253935"/>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170" name="Graphic 240">
              <a:extLst>
                <a:ext uri="{FF2B5EF4-FFF2-40B4-BE49-F238E27FC236}">
                  <a16:creationId xmlns:a16="http://schemas.microsoft.com/office/drawing/2014/main" id="{34C05F57-9153-4C3F-962A-CFAB78D4A912}"/>
                </a:ext>
              </a:extLst>
            </p:cNvPr>
            <p:cNvGrpSpPr/>
            <p:nvPr/>
          </p:nvGrpSpPr>
          <p:grpSpPr>
            <a:xfrm rot="20323668">
              <a:off x="8713234" y="4630665"/>
              <a:ext cx="378619" cy="430874"/>
              <a:chOff x="6198099" y="404917"/>
              <a:chExt cx="417431" cy="475043"/>
            </a:xfrm>
          </p:grpSpPr>
          <p:sp>
            <p:nvSpPr>
              <p:cNvPr id="171" name="Freeform: Shape 965">
                <a:extLst>
                  <a:ext uri="{FF2B5EF4-FFF2-40B4-BE49-F238E27FC236}">
                    <a16:creationId xmlns:a16="http://schemas.microsoft.com/office/drawing/2014/main" id="{ED40453D-04CD-43DA-A170-854134FB620D}"/>
                  </a:ext>
                </a:extLst>
              </p:cNvPr>
              <p:cNvSpPr/>
              <p:nvPr/>
            </p:nvSpPr>
            <p:spPr>
              <a:xfrm>
                <a:off x="6272445" y="480229"/>
                <a:ext cx="270349" cy="308971"/>
              </a:xfrm>
              <a:custGeom>
                <a:avLst/>
                <a:gdLst>
                  <a:gd name="connsiteX0" fmla="*/ 265522 w 270349"/>
                  <a:gd name="connsiteY0" fmla="*/ 135175 h 308970"/>
                  <a:gd name="connsiteX1" fmla="*/ 135175 w 270349"/>
                  <a:gd name="connsiteY1" fmla="*/ 4828 h 308970"/>
                  <a:gd name="connsiteX2" fmla="*/ 4828 w 270349"/>
                  <a:gd name="connsiteY2" fmla="*/ 135175 h 308970"/>
                  <a:gd name="connsiteX3" fmla="*/ 78852 w 270349"/>
                  <a:gd name="connsiteY3" fmla="*/ 252648 h 308970"/>
                  <a:gd name="connsiteX4" fmla="*/ 78852 w 270349"/>
                  <a:gd name="connsiteY4" fmla="*/ 305109 h 308970"/>
                  <a:gd name="connsiteX5" fmla="*/ 191497 w 270349"/>
                  <a:gd name="connsiteY5" fmla="*/ 305109 h 308970"/>
                  <a:gd name="connsiteX6" fmla="*/ 191497 w 270349"/>
                  <a:gd name="connsiteY6" fmla="*/ 252648 h 308970"/>
                  <a:gd name="connsiteX7" fmla="*/ 265522 w 270349"/>
                  <a:gd name="connsiteY7" fmla="*/ 135175 h 30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49" h="308970">
                    <a:moveTo>
                      <a:pt x="265522" y="135175"/>
                    </a:moveTo>
                    <a:cubicBezTo>
                      <a:pt x="265522" y="63082"/>
                      <a:pt x="207268" y="4828"/>
                      <a:pt x="135175" y="4828"/>
                    </a:cubicBezTo>
                    <a:cubicBezTo>
                      <a:pt x="63082" y="4828"/>
                      <a:pt x="4828" y="63082"/>
                      <a:pt x="4828" y="135175"/>
                    </a:cubicBezTo>
                    <a:cubicBezTo>
                      <a:pt x="4828" y="186992"/>
                      <a:pt x="35081" y="231728"/>
                      <a:pt x="78852" y="252648"/>
                    </a:cubicBezTo>
                    <a:lnTo>
                      <a:pt x="78852" y="305109"/>
                    </a:lnTo>
                    <a:lnTo>
                      <a:pt x="191497" y="305109"/>
                    </a:lnTo>
                    <a:lnTo>
                      <a:pt x="191497" y="252648"/>
                    </a:lnTo>
                    <a:cubicBezTo>
                      <a:pt x="235268" y="231728"/>
                      <a:pt x="265522" y="186992"/>
                      <a:pt x="265522" y="135175"/>
                    </a:cubicBezTo>
                    <a:close/>
                  </a:path>
                </a:pathLst>
              </a:custGeom>
              <a:solidFill>
                <a:schemeClr val="bg1"/>
              </a:solid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2" name="Freeform: Shape 966">
                <a:extLst>
                  <a:ext uri="{FF2B5EF4-FFF2-40B4-BE49-F238E27FC236}">
                    <a16:creationId xmlns:a16="http://schemas.microsoft.com/office/drawing/2014/main" id="{70A02E2B-F803-4655-A71A-DFA6E15A694E}"/>
                  </a:ext>
                </a:extLst>
              </p:cNvPr>
              <p:cNvSpPr/>
              <p:nvPr/>
            </p:nvSpPr>
            <p:spPr>
              <a:xfrm>
                <a:off x="6402792" y="664324"/>
                <a:ext cx="9655" cy="125519"/>
              </a:xfrm>
              <a:custGeom>
                <a:avLst/>
                <a:gdLst>
                  <a:gd name="connsiteX0" fmla="*/ 4828 w 9655"/>
                  <a:gd name="connsiteY0" fmla="*/ 121014 h 125519"/>
                  <a:gd name="connsiteX1" fmla="*/ 4828 w 9655"/>
                  <a:gd name="connsiteY1" fmla="*/ 4828 h 125519"/>
                </a:gdLst>
                <a:ahLst/>
                <a:cxnLst>
                  <a:cxn ang="0">
                    <a:pos x="connsiteX0" y="connsiteY0"/>
                  </a:cxn>
                  <a:cxn ang="0">
                    <a:pos x="connsiteX1" y="connsiteY1"/>
                  </a:cxn>
                </a:cxnLst>
                <a:rect l="l" t="t" r="r" b="b"/>
                <a:pathLst>
                  <a:path w="9655" h="125519">
                    <a:moveTo>
                      <a:pt x="4828" y="121014"/>
                    </a:moveTo>
                    <a:lnTo>
                      <a:pt x="4828"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3" name="Freeform: Shape 967">
                <a:extLst>
                  <a:ext uri="{FF2B5EF4-FFF2-40B4-BE49-F238E27FC236}">
                    <a16:creationId xmlns:a16="http://schemas.microsoft.com/office/drawing/2014/main" id="{1777F6A6-5B2B-475E-B7EC-63F5CD3DDC9B}"/>
                  </a:ext>
                </a:extLst>
              </p:cNvPr>
              <p:cNvSpPr/>
              <p:nvPr/>
            </p:nvSpPr>
            <p:spPr>
              <a:xfrm>
                <a:off x="6373826" y="663358"/>
                <a:ext cx="67587" cy="9655"/>
              </a:xfrm>
              <a:custGeom>
                <a:avLst/>
                <a:gdLst>
                  <a:gd name="connsiteX0" fmla="*/ 4828 w 67587"/>
                  <a:gd name="connsiteY0" fmla="*/ 4828 h 9655"/>
                  <a:gd name="connsiteX1" fmla="*/ 62760 w 67587"/>
                  <a:gd name="connsiteY1" fmla="*/ 4828 h 9655"/>
                </a:gdLst>
                <a:ahLst/>
                <a:cxnLst>
                  <a:cxn ang="0">
                    <a:pos x="connsiteX0" y="connsiteY0"/>
                  </a:cxn>
                  <a:cxn ang="0">
                    <a:pos x="connsiteX1" y="connsiteY1"/>
                  </a:cxn>
                </a:cxnLst>
                <a:rect l="l" t="t" r="r" b="b"/>
                <a:pathLst>
                  <a:path w="67587" h="9655">
                    <a:moveTo>
                      <a:pt x="4828" y="4828"/>
                    </a:moveTo>
                    <a:lnTo>
                      <a:pt x="62760"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4" name="Freeform: Shape 968">
                <a:extLst>
                  <a:ext uri="{FF2B5EF4-FFF2-40B4-BE49-F238E27FC236}">
                    <a16:creationId xmlns:a16="http://schemas.microsoft.com/office/drawing/2014/main" id="{C778FD4A-F983-4469-B919-CC888E56B418}"/>
                  </a:ext>
                </a:extLst>
              </p:cNvPr>
              <p:cNvSpPr/>
              <p:nvPr/>
            </p:nvSpPr>
            <p:spPr>
              <a:xfrm>
                <a:off x="6318147" y="404917"/>
                <a:ext cx="28966" cy="61150"/>
              </a:xfrm>
              <a:custGeom>
                <a:avLst/>
                <a:gdLst>
                  <a:gd name="connsiteX0" fmla="*/ 26713 w 28966"/>
                  <a:gd name="connsiteY0" fmla="*/ 57610 h 61150"/>
                  <a:gd name="connsiteX1" fmla="*/ 4828 w 28966"/>
                  <a:gd name="connsiteY1" fmla="*/ 4828 h 61150"/>
                </a:gdLst>
                <a:ahLst/>
                <a:cxnLst>
                  <a:cxn ang="0">
                    <a:pos x="connsiteX0" y="connsiteY0"/>
                  </a:cxn>
                  <a:cxn ang="0">
                    <a:pos x="connsiteX1" y="connsiteY1"/>
                  </a:cxn>
                </a:cxnLst>
                <a:rect l="l" t="t" r="r" b="b"/>
                <a:pathLst>
                  <a:path w="28966" h="61150">
                    <a:moveTo>
                      <a:pt x="26713" y="57610"/>
                    </a:moveTo>
                    <a:lnTo>
                      <a:pt x="4828"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5" name="Freeform: Shape 969">
                <a:extLst>
                  <a:ext uri="{FF2B5EF4-FFF2-40B4-BE49-F238E27FC236}">
                    <a16:creationId xmlns:a16="http://schemas.microsoft.com/office/drawing/2014/main" id="{DB2B0D13-B010-4387-B3AF-C8AA3DF5781A}"/>
                  </a:ext>
                </a:extLst>
              </p:cNvPr>
              <p:cNvSpPr/>
              <p:nvPr/>
            </p:nvSpPr>
            <p:spPr>
              <a:xfrm>
                <a:off x="6198099" y="672048"/>
                <a:ext cx="61150" cy="28966"/>
              </a:xfrm>
              <a:custGeom>
                <a:avLst/>
                <a:gdLst>
                  <a:gd name="connsiteX0" fmla="*/ 4828 w 61150"/>
                  <a:gd name="connsiteY0" fmla="*/ 27035 h 28966"/>
                  <a:gd name="connsiteX1" fmla="*/ 57932 w 61150"/>
                  <a:gd name="connsiteY1" fmla="*/ 4828 h 28966"/>
                </a:gdLst>
                <a:ahLst/>
                <a:cxnLst>
                  <a:cxn ang="0">
                    <a:pos x="connsiteX0" y="connsiteY0"/>
                  </a:cxn>
                  <a:cxn ang="0">
                    <a:pos x="connsiteX1" y="connsiteY1"/>
                  </a:cxn>
                </a:cxnLst>
                <a:rect l="l" t="t" r="r" b="b"/>
                <a:pathLst>
                  <a:path w="61150" h="28966">
                    <a:moveTo>
                      <a:pt x="4828" y="27035"/>
                    </a:moveTo>
                    <a:lnTo>
                      <a:pt x="57932"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6" name="Freeform: Shape 970">
                <a:extLst>
                  <a:ext uri="{FF2B5EF4-FFF2-40B4-BE49-F238E27FC236}">
                    <a16:creationId xmlns:a16="http://schemas.microsoft.com/office/drawing/2014/main" id="{F3A8E097-BBE7-40F8-917A-419119D3A03B}"/>
                  </a:ext>
                </a:extLst>
              </p:cNvPr>
              <p:cNvSpPr/>
              <p:nvPr/>
            </p:nvSpPr>
            <p:spPr>
              <a:xfrm>
                <a:off x="6554380" y="524644"/>
                <a:ext cx="61150" cy="28966"/>
              </a:xfrm>
              <a:custGeom>
                <a:avLst/>
                <a:gdLst>
                  <a:gd name="connsiteX0" fmla="*/ 4828 w 61150"/>
                  <a:gd name="connsiteY0" fmla="*/ 26713 h 28966"/>
                  <a:gd name="connsiteX1" fmla="*/ 57932 w 61150"/>
                  <a:gd name="connsiteY1" fmla="*/ 4828 h 28966"/>
                </a:gdLst>
                <a:ahLst/>
                <a:cxnLst>
                  <a:cxn ang="0">
                    <a:pos x="connsiteX0" y="connsiteY0"/>
                  </a:cxn>
                  <a:cxn ang="0">
                    <a:pos x="connsiteX1" y="connsiteY1"/>
                  </a:cxn>
                </a:cxnLst>
                <a:rect l="l" t="t" r="r" b="b"/>
                <a:pathLst>
                  <a:path w="61150" h="28966">
                    <a:moveTo>
                      <a:pt x="4828" y="26713"/>
                    </a:moveTo>
                    <a:lnTo>
                      <a:pt x="57932"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7" name="Freeform: Shape 971">
                <a:extLst>
                  <a:ext uri="{FF2B5EF4-FFF2-40B4-BE49-F238E27FC236}">
                    <a16:creationId xmlns:a16="http://schemas.microsoft.com/office/drawing/2014/main" id="{C3DD371E-FF79-4B90-8C9A-60E88D15C563}"/>
                  </a:ext>
                </a:extLst>
              </p:cNvPr>
              <p:cNvSpPr/>
              <p:nvPr/>
            </p:nvSpPr>
            <p:spPr>
              <a:xfrm>
                <a:off x="6198099" y="524644"/>
                <a:ext cx="61150" cy="28966"/>
              </a:xfrm>
              <a:custGeom>
                <a:avLst/>
                <a:gdLst>
                  <a:gd name="connsiteX0" fmla="*/ 4828 w 61150"/>
                  <a:gd name="connsiteY0" fmla="*/ 4828 h 28966"/>
                  <a:gd name="connsiteX1" fmla="*/ 57932 w 61150"/>
                  <a:gd name="connsiteY1" fmla="*/ 27035 h 28966"/>
                </a:gdLst>
                <a:ahLst/>
                <a:cxnLst>
                  <a:cxn ang="0">
                    <a:pos x="connsiteX0" y="connsiteY0"/>
                  </a:cxn>
                  <a:cxn ang="0">
                    <a:pos x="connsiteX1" y="connsiteY1"/>
                  </a:cxn>
                </a:cxnLst>
                <a:rect l="l" t="t" r="r" b="b"/>
                <a:pathLst>
                  <a:path w="61150" h="28966">
                    <a:moveTo>
                      <a:pt x="4828" y="4828"/>
                    </a:moveTo>
                    <a:lnTo>
                      <a:pt x="57932" y="27035"/>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8" name="Freeform: Shape 972">
                <a:extLst>
                  <a:ext uri="{FF2B5EF4-FFF2-40B4-BE49-F238E27FC236}">
                    <a16:creationId xmlns:a16="http://schemas.microsoft.com/office/drawing/2014/main" id="{FBFCD6E7-4249-4E74-8741-F162014F19BF}"/>
                  </a:ext>
                </a:extLst>
              </p:cNvPr>
              <p:cNvSpPr/>
              <p:nvPr/>
            </p:nvSpPr>
            <p:spPr>
              <a:xfrm>
                <a:off x="6554380" y="672370"/>
                <a:ext cx="61150" cy="28966"/>
              </a:xfrm>
              <a:custGeom>
                <a:avLst/>
                <a:gdLst>
                  <a:gd name="connsiteX0" fmla="*/ 4828 w 61150"/>
                  <a:gd name="connsiteY0" fmla="*/ 4828 h 28966"/>
                  <a:gd name="connsiteX1" fmla="*/ 57932 w 61150"/>
                  <a:gd name="connsiteY1" fmla="*/ 26713 h 28966"/>
                </a:gdLst>
                <a:ahLst/>
                <a:cxnLst>
                  <a:cxn ang="0">
                    <a:pos x="connsiteX0" y="connsiteY0"/>
                  </a:cxn>
                  <a:cxn ang="0">
                    <a:pos x="connsiteX1" y="connsiteY1"/>
                  </a:cxn>
                </a:cxnLst>
                <a:rect l="l" t="t" r="r" b="b"/>
                <a:pathLst>
                  <a:path w="61150" h="28966">
                    <a:moveTo>
                      <a:pt x="4828" y="4828"/>
                    </a:moveTo>
                    <a:lnTo>
                      <a:pt x="57932" y="26713"/>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79" name="Freeform: Shape 973">
                <a:extLst>
                  <a:ext uri="{FF2B5EF4-FFF2-40B4-BE49-F238E27FC236}">
                    <a16:creationId xmlns:a16="http://schemas.microsoft.com/office/drawing/2014/main" id="{11917A29-317D-4CE0-B97D-51C5FFCA329B}"/>
                  </a:ext>
                </a:extLst>
              </p:cNvPr>
              <p:cNvSpPr/>
              <p:nvPr/>
            </p:nvSpPr>
            <p:spPr>
              <a:xfrm>
                <a:off x="6465551" y="404917"/>
                <a:ext cx="28966" cy="61150"/>
              </a:xfrm>
              <a:custGeom>
                <a:avLst/>
                <a:gdLst>
                  <a:gd name="connsiteX0" fmla="*/ 4828 w 28966"/>
                  <a:gd name="connsiteY0" fmla="*/ 57610 h 61150"/>
                  <a:gd name="connsiteX1" fmla="*/ 26713 w 28966"/>
                  <a:gd name="connsiteY1" fmla="*/ 4828 h 61150"/>
                </a:gdLst>
                <a:ahLst/>
                <a:cxnLst>
                  <a:cxn ang="0">
                    <a:pos x="connsiteX0" y="connsiteY0"/>
                  </a:cxn>
                  <a:cxn ang="0">
                    <a:pos x="connsiteX1" y="connsiteY1"/>
                  </a:cxn>
                </a:cxnLst>
                <a:rect l="l" t="t" r="r" b="b"/>
                <a:pathLst>
                  <a:path w="28966" h="61150">
                    <a:moveTo>
                      <a:pt x="4828" y="57610"/>
                    </a:moveTo>
                    <a:lnTo>
                      <a:pt x="26713" y="4828"/>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0" name="Freeform: Shape 974">
                <a:extLst>
                  <a:ext uri="{FF2B5EF4-FFF2-40B4-BE49-F238E27FC236}">
                    <a16:creationId xmlns:a16="http://schemas.microsoft.com/office/drawing/2014/main" id="{98BAFE28-EE5B-4F4D-A1E7-E272C74F29EF}"/>
                  </a:ext>
                </a:extLst>
              </p:cNvPr>
              <p:cNvSpPr/>
              <p:nvPr/>
            </p:nvSpPr>
            <p:spPr>
              <a:xfrm>
                <a:off x="6346469" y="794027"/>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1" name="Freeform: Shape 975">
                <a:extLst>
                  <a:ext uri="{FF2B5EF4-FFF2-40B4-BE49-F238E27FC236}">
                    <a16:creationId xmlns:a16="http://schemas.microsoft.com/office/drawing/2014/main" id="{4B5DE219-F4F1-47EC-BEC8-D82C99C28A51}"/>
                  </a:ext>
                </a:extLst>
              </p:cNvPr>
              <p:cNvSpPr/>
              <p:nvPr/>
            </p:nvSpPr>
            <p:spPr>
              <a:xfrm>
                <a:off x="6346469" y="824281"/>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82" name="Freeform: Shape 976">
                <a:extLst>
                  <a:ext uri="{FF2B5EF4-FFF2-40B4-BE49-F238E27FC236}">
                    <a16:creationId xmlns:a16="http://schemas.microsoft.com/office/drawing/2014/main" id="{ACC008B2-DF01-426D-979D-B0FBABF2D22F}"/>
                  </a:ext>
                </a:extLst>
              </p:cNvPr>
              <p:cNvSpPr/>
              <p:nvPr/>
            </p:nvSpPr>
            <p:spPr>
              <a:xfrm>
                <a:off x="6376079" y="854212"/>
                <a:ext cx="61150" cy="25748"/>
              </a:xfrm>
              <a:custGeom>
                <a:avLst/>
                <a:gdLst>
                  <a:gd name="connsiteX0" fmla="*/ 49242 w 61150"/>
                  <a:gd name="connsiteY0" fmla="*/ 21885 h 25747"/>
                  <a:gd name="connsiteX1" fmla="*/ 13839 w 61150"/>
                  <a:gd name="connsiteY1" fmla="*/ 21885 h 25747"/>
                  <a:gd name="connsiteX2" fmla="*/ 4828 w 61150"/>
                  <a:gd name="connsiteY2" fmla="*/ 4828 h 25747"/>
                  <a:gd name="connsiteX3" fmla="*/ 58254 w 61150"/>
                  <a:gd name="connsiteY3" fmla="*/ 4828 h 25747"/>
                </a:gdLst>
                <a:ahLst/>
                <a:cxnLst>
                  <a:cxn ang="0">
                    <a:pos x="connsiteX0" y="connsiteY0"/>
                  </a:cxn>
                  <a:cxn ang="0">
                    <a:pos x="connsiteX1" y="connsiteY1"/>
                  </a:cxn>
                  <a:cxn ang="0">
                    <a:pos x="connsiteX2" y="connsiteY2"/>
                  </a:cxn>
                  <a:cxn ang="0">
                    <a:pos x="connsiteX3" y="connsiteY3"/>
                  </a:cxn>
                </a:cxnLst>
                <a:rect l="l" t="t" r="r" b="b"/>
                <a:pathLst>
                  <a:path w="61150" h="25747">
                    <a:moveTo>
                      <a:pt x="49242" y="21885"/>
                    </a:moveTo>
                    <a:lnTo>
                      <a:pt x="13839" y="21885"/>
                    </a:lnTo>
                    <a:lnTo>
                      <a:pt x="4828" y="4828"/>
                    </a:lnTo>
                    <a:lnTo>
                      <a:pt x="58254" y="4828"/>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grpSp>
        <p:nvGrpSpPr>
          <p:cNvPr id="188" name="Group 187">
            <a:extLst>
              <a:ext uri="{FF2B5EF4-FFF2-40B4-BE49-F238E27FC236}">
                <a16:creationId xmlns:a16="http://schemas.microsoft.com/office/drawing/2014/main" id="{712E70AF-DE17-4D01-A7A1-DA04C9FB7371}"/>
              </a:ext>
            </a:extLst>
          </p:cNvPr>
          <p:cNvGrpSpPr/>
          <p:nvPr/>
        </p:nvGrpSpPr>
        <p:grpSpPr>
          <a:xfrm>
            <a:off x="6572870" y="2424533"/>
            <a:ext cx="556727" cy="727258"/>
            <a:chOff x="9398940" y="6818557"/>
            <a:chExt cx="657213" cy="858524"/>
          </a:xfrm>
        </p:grpSpPr>
        <p:grpSp>
          <p:nvGrpSpPr>
            <p:cNvPr id="189" name="Graphic 244">
              <a:extLst>
                <a:ext uri="{FF2B5EF4-FFF2-40B4-BE49-F238E27FC236}">
                  <a16:creationId xmlns:a16="http://schemas.microsoft.com/office/drawing/2014/main" id="{1D3E4660-FA72-4459-9702-580A04AF1B04}"/>
                </a:ext>
              </a:extLst>
            </p:cNvPr>
            <p:cNvGrpSpPr/>
            <p:nvPr/>
          </p:nvGrpSpPr>
          <p:grpSpPr>
            <a:xfrm>
              <a:off x="9398940" y="6818557"/>
              <a:ext cx="657213" cy="858524"/>
              <a:chOff x="6874589" y="-649524"/>
              <a:chExt cx="198947" cy="259886"/>
            </a:xfrm>
          </p:grpSpPr>
          <p:sp>
            <p:nvSpPr>
              <p:cNvPr id="207" name="Freeform: Shape 1001">
                <a:extLst>
                  <a:ext uri="{FF2B5EF4-FFF2-40B4-BE49-F238E27FC236}">
                    <a16:creationId xmlns:a16="http://schemas.microsoft.com/office/drawing/2014/main" id="{9176352B-D8E6-4303-A5E8-13982B863A87}"/>
                  </a:ext>
                </a:extLst>
              </p:cNvPr>
              <p:cNvSpPr/>
              <p:nvPr/>
            </p:nvSpPr>
            <p:spPr>
              <a:xfrm>
                <a:off x="6874589" y="-632807"/>
                <a:ext cx="198947" cy="243169"/>
              </a:xfrm>
              <a:custGeom>
                <a:avLst/>
                <a:gdLst>
                  <a:gd name="connsiteX0" fmla="*/ 400696 w 405524"/>
                  <a:gd name="connsiteY0" fmla="*/ 284832 h 296096"/>
                  <a:gd name="connsiteX1" fmla="*/ 391041 w 405524"/>
                  <a:gd name="connsiteY1" fmla="*/ 294488 h 296096"/>
                  <a:gd name="connsiteX2" fmla="*/ 14483 w 405524"/>
                  <a:gd name="connsiteY2" fmla="*/ 294488 h 296096"/>
                  <a:gd name="connsiteX3" fmla="*/ 4828 w 405524"/>
                  <a:gd name="connsiteY3" fmla="*/ 284832 h 296096"/>
                  <a:gd name="connsiteX4" fmla="*/ 4828 w 405524"/>
                  <a:gd name="connsiteY4" fmla="*/ 14483 h 296096"/>
                  <a:gd name="connsiteX5" fmla="*/ 14483 w 405524"/>
                  <a:gd name="connsiteY5" fmla="*/ 4828 h 296096"/>
                  <a:gd name="connsiteX6" fmla="*/ 391041 w 405524"/>
                  <a:gd name="connsiteY6" fmla="*/ 4828 h 296096"/>
                  <a:gd name="connsiteX7" fmla="*/ 400696 w 405524"/>
                  <a:gd name="connsiteY7" fmla="*/ 14483 h 296096"/>
                  <a:gd name="connsiteX8" fmla="*/ 400696 w 405524"/>
                  <a:gd name="connsiteY8" fmla="*/ 284832 h 29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524" h="296096">
                    <a:moveTo>
                      <a:pt x="400696" y="284832"/>
                    </a:moveTo>
                    <a:cubicBezTo>
                      <a:pt x="400696" y="290304"/>
                      <a:pt x="396512" y="294488"/>
                      <a:pt x="391041" y="294488"/>
                    </a:cubicBezTo>
                    <a:lnTo>
                      <a:pt x="14483" y="294488"/>
                    </a:lnTo>
                    <a:cubicBezTo>
                      <a:pt x="9012" y="294488"/>
                      <a:pt x="4828" y="290304"/>
                      <a:pt x="4828" y="284832"/>
                    </a:cubicBezTo>
                    <a:lnTo>
                      <a:pt x="4828" y="14483"/>
                    </a:lnTo>
                    <a:cubicBezTo>
                      <a:pt x="4828" y="9012"/>
                      <a:pt x="9012" y="4828"/>
                      <a:pt x="14483" y="4828"/>
                    </a:cubicBezTo>
                    <a:lnTo>
                      <a:pt x="391041" y="4828"/>
                    </a:lnTo>
                    <a:cubicBezTo>
                      <a:pt x="396512" y="4828"/>
                      <a:pt x="400696" y="9012"/>
                      <a:pt x="400696" y="14483"/>
                    </a:cubicBezTo>
                    <a:lnTo>
                      <a:pt x="400696" y="284832"/>
                    </a:lnTo>
                    <a:close/>
                  </a:path>
                </a:pathLst>
              </a:custGeom>
              <a:noFill/>
              <a:ln w="15875" cap="flat">
                <a:solidFill>
                  <a:schemeClr val="tx1"/>
                </a:solidFill>
                <a:prstDash val="solid"/>
                <a:round/>
              </a:ln>
            </p:spPr>
            <p:txBody>
              <a:bodyPr rtlCol="0" anchor="ctr"/>
              <a:lstStyle/>
              <a:p>
                <a:pPr algn="ctr" defTabSz="731474">
                  <a:defRPr/>
                </a:pPr>
                <a:endParaRPr lang="en-US" sz="1800" dirty="0">
                  <a:solidFill>
                    <a:srgbClr val="FFFFFF"/>
                  </a:solidFill>
                  <a:latin typeface="Amazon Ember"/>
                </a:endParaRPr>
              </a:p>
            </p:txBody>
          </p:sp>
          <p:sp>
            <p:nvSpPr>
              <p:cNvPr id="208" name="Freeform: Shape 1002">
                <a:extLst>
                  <a:ext uri="{FF2B5EF4-FFF2-40B4-BE49-F238E27FC236}">
                    <a16:creationId xmlns:a16="http://schemas.microsoft.com/office/drawing/2014/main" id="{6EFAF8D7-643D-416F-82D3-4ADC87C980EF}"/>
                  </a:ext>
                </a:extLst>
              </p:cNvPr>
              <p:cNvSpPr/>
              <p:nvPr/>
            </p:nvSpPr>
            <p:spPr>
              <a:xfrm>
                <a:off x="6934220" y="-649524"/>
                <a:ext cx="79685" cy="32683"/>
              </a:xfrm>
              <a:custGeom>
                <a:avLst/>
                <a:gdLst>
                  <a:gd name="connsiteX0" fmla="*/ 353385 w 357247"/>
                  <a:gd name="connsiteY0" fmla="*/ 234303 h 247820"/>
                  <a:gd name="connsiteX1" fmla="*/ 343730 w 357247"/>
                  <a:gd name="connsiteY1" fmla="*/ 243958 h 247820"/>
                  <a:gd name="connsiteX2" fmla="*/ 14483 w 357247"/>
                  <a:gd name="connsiteY2" fmla="*/ 243958 h 247820"/>
                  <a:gd name="connsiteX3" fmla="*/ 4828 w 357247"/>
                  <a:gd name="connsiteY3" fmla="*/ 234303 h 247820"/>
                  <a:gd name="connsiteX4" fmla="*/ 4828 w 357247"/>
                  <a:gd name="connsiteY4" fmla="*/ 14483 h 247820"/>
                  <a:gd name="connsiteX5" fmla="*/ 14483 w 357247"/>
                  <a:gd name="connsiteY5" fmla="*/ 4828 h 247820"/>
                  <a:gd name="connsiteX6" fmla="*/ 342121 w 357247"/>
                  <a:gd name="connsiteY6" fmla="*/ 4828 h 247820"/>
                  <a:gd name="connsiteX7" fmla="*/ 351776 w 357247"/>
                  <a:gd name="connsiteY7" fmla="*/ 14483 h 247820"/>
                  <a:gd name="connsiteX8" fmla="*/ 353385 w 357247"/>
                  <a:gd name="connsiteY8" fmla="*/ 234303 h 2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247" h="247820">
                    <a:moveTo>
                      <a:pt x="353385" y="234303"/>
                    </a:moveTo>
                    <a:cubicBezTo>
                      <a:pt x="353385" y="239774"/>
                      <a:pt x="349201" y="243958"/>
                      <a:pt x="343730" y="243958"/>
                    </a:cubicBezTo>
                    <a:lnTo>
                      <a:pt x="14483" y="243958"/>
                    </a:lnTo>
                    <a:cubicBezTo>
                      <a:pt x="9012" y="243958"/>
                      <a:pt x="4828" y="239774"/>
                      <a:pt x="4828" y="234303"/>
                    </a:cubicBezTo>
                    <a:lnTo>
                      <a:pt x="4828" y="14483"/>
                    </a:lnTo>
                    <a:cubicBezTo>
                      <a:pt x="4828" y="9012"/>
                      <a:pt x="9012" y="4828"/>
                      <a:pt x="14483" y="4828"/>
                    </a:cubicBezTo>
                    <a:lnTo>
                      <a:pt x="342121" y="4828"/>
                    </a:lnTo>
                    <a:cubicBezTo>
                      <a:pt x="347592" y="4828"/>
                      <a:pt x="351776" y="9012"/>
                      <a:pt x="351776" y="14483"/>
                    </a:cubicBezTo>
                    <a:lnTo>
                      <a:pt x="353385" y="234303"/>
                    </a:lnTo>
                    <a:close/>
                  </a:path>
                </a:pathLst>
              </a:custGeom>
              <a:solidFill>
                <a:schemeClr val="bg1"/>
              </a:solidFill>
              <a:ln w="15875" cap="flat">
                <a:solidFill>
                  <a:schemeClr val="tx1"/>
                </a:solidFill>
                <a:prstDash val="solid"/>
                <a:round/>
              </a:ln>
            </p:spPr>
            <p:txBody>
              <a:bodyPr rtlCol="0" anchor="ctr"/>
              <a:lstStyle/>
              <a:p>
                <a:pPr algn="ctr" defTabSz="731474">
                  <a:defRPr/>
                </a:pPr>
                <a:endParaRPr lang="en-US" sz="1800" dirty="0">
                  <a:solidFill>
                    <a:srgbClr val="FFFFFF"/>
                  </a:solidFill>
                  <a:latin typeface="Amazon Ember"/>
                </a:endParaRPr>
              </a:p>
            </p:txBody>
          </p:sp>
        </p:grpSp>
        <p:grpSp>
          <p:nvGrpSpPr>
            <p:cNvPr id="190" name="Graphic 286">
              <a:extLst>
                <a:ext uri="{FF2B5EF4-FFF2-40B4-BE49-F238E27FC236}">
                  <a16:creationId xmlns:a16="http://schemas.microsoft.com/office/drawing/2014/main" id="{9853B17C-A47F-40BD-A1EE-0AFF4D350943}"/>
                </a:ext>
              </a:extLst>
            </p:cNvPr>
            <p:cNvGrpSpPr/>
            <p:nvPr/>
          </p:nvGrpSpPr>
          <p:grpSpPr>
            <a:xfrm>
              <a:off x="9459644" y="7061587"/>
              <a:ext cx="535816" cy="371021"/>
              <a:chOff x="357820" y="2375315"/>
              <a:chExt cx="557756" cy="386213"/>
            </a:xfrm>
          </p:grpSpPr>
          <p:sp>
            <p:nvSpPr>
              <p:cNvPr id="200" name="Freeform: Shape 994">
                <a:extLst>
                  <a:ext uri="{FF2B5EF4-FFF2-40B4-BE49-F238E27FC236}">
                    <a16:creationId xmlns:a16="http://schemas.microsoft.com/office/drawing/2014/main" id="{DC755D9B-6690-4143-96AC-2A6C18F7EE8A}"/>
                  </a:ext>
                </a:extLst>
              </p:cNvPr>
              <p:cNvSpPr/>
              <p:nvPr/>
            </p:nvSpPr>
            <p:spPr>
              <a:xfrm>
                <a:off x="767528" y="2543640"/>
                <a:ext cx="148048" cy="141612"/>
              </a:xfrm>
              <a:custGeom>
                <a:avLst/>
                <a:gdLst>
                  <a:gd name="connsiteX0" fmla="*/ 4828 w 148048"/>
                  <a:gd name="connsiteY0" fmla="*/ 4828 h 141611"/>
                  <a:gd name="connsiteX1" fmla="*/ 93657 w 148048"/>
                  <a:gd name="connsiteY1" fmla="*/ 4828 h 141611"/>
                  <a:gd name="connsiteX2" fmla="*/ 144508 w 148048"/>
                  <a:gd name="connsiteY2" fmla="*/ 70806 h 141611"/>
                  <a:gd name="connsiteX3" fmla="*/ 144508 w 148048"/>
                  <a:gd name="connsiteY3" fmla="*/ 70806 h 141611"/>
                  <a:gd name="connsiteX4" fmla="*/ 93657 w 148048"/>
                  <a:gd name="connsiteY4" fmla="*/ 136784 h 141611"/>
                  <a:gd name="connsiteX5" fmla="*/ 74990 w 148048"/>
                  <a:gd name="connsiteY5" fmla="*/ 136784 h 14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048" h="141611">
                    <a:moveTo>
                      <a:pt x="4828" y="4828"/>
                    </a:moveTo>
                    <a:lnTo>
                      <a:pt x="93657" y="4828"/>
                    </a:lnTo>
                    <a:cubicBezTo>
                      <a:pt x="121657" y="4828"/>
                      <a:pt x="144508" y="34437"/>
                      <a:pt x="144508" y="70806"/>
                    </a:cubicBezTo>
                    <a:lnTo>
                      <a:pt x="144508" y="70806"/>
                    </a:lnTo>
                    <a:cubicBezTo>
                      <a:pt x="144508" y="107174"/>
                      <a:pt x="121657" y="136784"/>
                      <a:pt x="93657" y="136784"/>
                    </a:cubicBezTo>
                    <a:lnTo>
                      <a:pt x="74990" y="136784"/>
                    </a:lnTo>
                  </a:path>
                </a:pathLst>
              </a:custGeom>
              <a:noFill/>
              <a:ln w="15875" cap="flat">
                <a:solidFill>
                  <a:srgbClr val="A166FF"/>
                </a:solidFill>
                <a:prstDash val="dash"/>
                <a:round/>
              </a:ln>
            </p:spPr>
            <p:txBody>
              <a:bodyPr rtlCol="0" anchor="ctr"/>
              <a:lstStyle/>
              <a:p>
                <a:pPr algn="ctr" defTabSz="731474">
                  <a:defRPr/>
                </a:pPr>
                <a:endParaRPr lang="en-US" sz="1800" dirty="0">
                  <a:solidFill>
                    <a:srgbClr val="FFFFFF"/>
                  </a:solidFill>
                  <a:latin typeface="Amazon Ember"/>
                </a:endParaRPr>
              </a:p>
            </p:txBody>
          </p:sp>
          <p:sp>
            <p:nvSpPr>
              <p:cNvPr id="201" name="Freeform: Shape 995">
                <a:extLst>
                  <a:ext uri="{FF2B5EF4-FFF2-40B4-BE49-F238E27FC236}">
                    <a16:creationId xmlns:a16="http://schemas.microsoft.com/office/drawing/2014/main" id="{C7DCA818-FB82-4574-B79B-1B2A92DA7379}"/>
                  </a:ext>
                </a:extLst>
              </p:cNvPr>
              <p:cNvSpPr/>
              <p:nvPr/>
            </p:nvSpPr>
            <p:spPr>
              <a:xfrm>
                <a:off x="413499" y="2397522"/>
                <a:ext cx="119082" cy="154485"/>
              </a:xfrm>
              <a:custGeom>
                <a:avLst/>
                <a:gdLst>
                  <a:gd name="connsiteX0" fmla="*/ 114255 w 119082"/>
                  <a:gd name="connsiteY0" fmla="*/ 4828 h 154485"/>
                  <a:gd name="connsiteX1" fmla="*/ 61150 w 119082"/>
                  <a:gd name="connsiteY1" fmla="*/ 4828 h 154485"/>
                  <a:gd name="connsiteX2" fmla="*/ 4828 w 119082"/>
                  <a:gd name="connsiteY2" fmla="*/ 77886 h 154485"/>
                  <a:gd name="connsiteX3" fmla="*/ 4828 w 119082"/>
                  <a:gd name="connsiteY3" fmla="*/ 77886 h 154485"/>
                  <a:gd name="connsiteX4" fmla="*/ 61150 w 119082"/>
                  <a:gd name="connsiteY4" fmla="*/ 150945 h 154485"/>
                  <a:gd name="connsiteX5" fmla="*/ 96553 w 119082"/>
                  <a:gd name="connsiteY5" fmla="*/ 150945 h 15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82" h="154485">
                    <a:moveTo>
                      <a:pt x="114255" y="4828"/>
                    </a:moveTo>
                    <a:lnTo>
                      <a:pt x="61150" y="4828"/>
                    </a:lnTo>
                    <a:cubicBezTo>
                      <a:pt x="29932" y="4828"/>
                      <a:pt x="4828" y="37656"/>
                      <a:pt x="4828" y="77886"/>
                    </a:cubicBezTo>
                    <a:lnTo>
                      <a:pt x="4828" y="77886"/>
                    </a:lnTo>
                    <a:cubicBezTo>
                      <a:pt x="4828" y="118439"/>
                      <a:pt x="29932" y="150945"/>
                      <a:pt x="61150" y="150945"/>
                    </a:cubicBezTo>
                    <a:lnTo>
                      <a:pt x="96553" y="150945"/>
                    </a:lnTo>
                  </a:path>
                </a:pathLst>
              </a:custGeom>
              <a:noFill/>
              <a:ln w="15875" cap="flat">
                <a:solidFill>
                  <a:srgbClr val="A166FF"/>
                </a:solidFill>
                <a:prstDash val="dash"/>
                <a:round/>
              </a:ln>
            </p:spPr>
            <p:txBody>
              <a:bodyPr rtlCol="0" anchor="ctr"/>
              <a:lstStyle/>
              <a:p>
                <a:pPr algn="ctr" defTabSz="731474">
                  <a:defRPr/>
                </a:pPr>
                <a:endParaRPr lang="en-US" sz="1800" dirty="0">
                  <a:solidFill>
                    <a:srgbClr val="FFFFFF"/>
                  </a:solidFill>
                  <a:latin typeface="Amazon Ember"/>
                </a:endParaRPr>
              </a:p>
            </p:txBody>
          </p:sp>
          <p:sp>
            <p:nvSpPr>
              <p:cNvPr id="202" name="Freeform: Shape 996">
                <a:extLst>
                  <a:ext uri="{FF2B5EF4-FFF2-40B4-BE49-F238E27FC236}">
                    <a16:creationId xmlns:a16="http://schemas.microsoft.com/office/drawing/2014/main" id="{770E9167-DC4D-4239-A4F5-2F2F969EF01C}"/>
                  </a:ext>
                </a:extLst>
              </p:cNvPr>
              <p:cNvSpPr/>
              <p:nvPr/>
            </p:nvSpPr>
            <p:spPr>
              <a:xfrm>
                <a:off x="784264" y="2642768"/>
                <a:ext cx="64369" cy="64369"/>
              </a:xfrm>
              <a:custGeom>
                <a:avLst/>
                <a:gdLst>
                  <a:gd name="connsiteX0" fmla="*/ 61472 w 64368"/>
                  <a:gd name="connsiteY0" fmla="*/ 33150 h 64368"/>
                  <a:gd name="connsiteX1" fmla="*/ 33150 w 64368"/>
                  <a:gd name="connsiteY1" fmla="*/ 61472 h 64368"/>
                  <a:gd name="connsiteX2" fmla="*/ 4828 w 64368"/>
                  <a:gd name="connsiteY2" fmla="*/ 33150 h 64368"/>
                  <a:gd name="connsiteX3" fmla="*/ 33150 w 64368"/>
                  <a:gd name="connsiteY3" fmla="*/ 4828 h 64368"/>
                  <a:gd name="connsiteX4" fmla="*/ 61472 w 64368"/>
                  <a:gd name="connsiteY4" fmla="*/ 33150 h 64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68" h="64368">
                    <a:moveTo>
                      <a:pt x="61472" y="33150"/>
                    </a:moveTo>
                    <a:cubicBezTo>
                      <a:pt x="61472" y="48792"/>
                      <a:pt x="48792" y="61472"/>
                      <a:pt x="33150" y="61472"/>
                    </a:cubicBezTo>
                    <a:cubicBezTo>
                      <a:pt x="17508" y="61472"/>
                      <a:pt x="4828" y="48792"/>
                      <a:pt x="4828" y="33150"/>
                    </a:cubicBezTo>
                    <a:cubicBezTo>
                      <a:pt x="4828" y="17508"/>
                      <a:pt x="17508" y="4828"/>
                      <a:pt x="33150" y="4828"/>
                    </a:cubicBezTo>
                    <a:cubicBezTo>
                      <a:pt x="48792" y="4828"/>
                      <a:pt x="61472" y="17508"/>
                      <a:pt x="61472" y="33150"/>
                    </a:cubicBezTo>
                    <a:close/>
                  </a:path>
                </a:pathLst>
              </a:custGeom>
              <a:noFill/>
              <a:ln w="15875" cap="flat">
                <a:solidFill>
                  <a:srgbClr val="A166FF"/>
                </a:solidFill>
                <a:prstDash val="solid"/>
                <a:round/>
              </a:ln>
            </p:spPr>
            <p:txBody>
              <a:bodyPr rtlCol="0" anchor="ctr"/>
              <a:lstStyle/>
              <a:p>
                <a:pPr algn="ctr" defTabSz="731474">
                  <a:defRPr/>
                </a:pPr>
                <a:endParaRPr lang="en-US" sz="1800" dirty="0">
                  <a:solidFill>
                    <a:srgbClr val="FFFFFF"/>
                  </a:solidFill>
                  <a:latin typeface="Amazon Ember"/>
                </a:endParaRPr>
              </a:p>
            </p:txBody>
          </p:sp>
          <p:sp>
            <p:nvSpPr>
              <p:cNvPr id="203" name="Freeform: Shape 997">
                <a:extLst>
                  <a:ext uri="{FF2B5EF4-FFF2-40B4-BE49-F238E27FC236}">
                    <a16:creationId xmlns:a16="http://schemas.microsoft.com/office/drawing/2014/main" id="{63B2C173-A0A3-49A5-B5A9-B077C6F2078D}"/>
                  </a:ext>
                </a:extLst>
              </p:cNvPr>
              <p:cNvSpPr/>
              <p:nvPr/>
            </p:nvSpPr>
            <p:spPr>
              <a:xfrm>
                <a:off x="525823" y="2375315"/>
                <a:ext cx="51495" cy="51495"/>
              </a:xfrm>
              <a:custGeom>
                <a:avLst/>
                <a:gdLst>
                  <a:gd name="connsiteX0" fmla="*/ 49242 w 51495"/>
                  <a:gd name="connsiteY0" fmla="*/ 27035 h 51495"/>
                  <a:gd name="connsiteX1" fmla="*/ 27035 w 51495"/>
                  <a:gd name="connsiteY1" fmla="*/ 49242 h 51495"/>
                  <a:gd name="connsiteX2" fmla="*/ 4828 w 51495"/>
                  <a:gd name="connsiteY2" fmla="*/ 27035 h 51495"/>
                  <a:gd name="connsiteX3" fmla="*/ 27035 w 51495"/>
                  <a:gd name="connsiteY3" fmla="*/ 4828 h 51495"/>
                  <a:gd name="connsiteX4" fmla="*/ 49242 w 51495"/>
                  <a:gd name="connsiteY4" fmla="*/ 27035 h 5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95" h="51495">
                    <a:moveTo>
                      <a:pt x="49242" y="27035"/>
                    </a:moveTo>
                    <a:cubicBezTo>
                      <a:pt x="49242" y="39300"/>
                      <a:pt x="39300" y="49242"/>
                      <a:pt x="27035" y="49242"/>
                    </a:cubicBezTo>
                    <a:cubicBezTo>
                      <a:pt x="14770" y="49242"/>
                      <a:pt x="4828" y="39300"/>
                      <a:pt x="4828" y="27035"/>
                    </a:cubicBezTo>
                    <a:cubicBezTo>
                      <a:pt x="4828" y="14770"/>
                      <a:pt x="14770" y="4828"/>
                      <a:pt x="27035" y="4828"/>
                    </a:cubicBezTo>
                    <a:cubicBezTo>
                      <a:pt x="39300" y="4828"/>
                      <a:pt x="49242" y="14770"/>
                      <a:pt x="49242" y="27035"/>
                    </a:cubicBezTo>
                    <a:close/>
                  </a:path>
                </a:pathLst>
              </a:custGeom>
              <a:noFill/>
              <a:ln w="15875" cap="flat">
                <a:solidFill>
                  <a:srgbClr val="A166FF"/>
                </a:solidFill>
                <a:prstDash val="solid"/>
                <a:round/>
              </a:ln>
            </p:spPr>
            <p:txBody>
              <a:bodyPr rtlCol="0" anchor="ctr"/>
              <a:lstStyle/>
              <a:p>
                <a:pPr algn="ctr" defTabSz="731474">
                  <a:defRPr/>
                </a:pPr>
                <a:endParaRPr lang="en-US" sz="1800" dirty="0">
                  <a:solidFill>
                    <a:srgbClr val="FFFFFF"/>
                  </a:solidFill>
                  <a:latin typeface="Amazon Ember"/>
                </a:endParaRPr>
              </a:p>
            </p:txBody>
          </p:sp>
          <p:sp>
            <p:nvSpPr>
              <p:cNvPr id="204" name="Freeform: Shape 998">
                <a:extLst>
                  <a:ext uri="{FF2B5EF4-FFF2-40B4-BE49-F238E27FC236}">
                    <a16:creationId xmlns:a16="http://schemas.microsoft.com/office/drawing/2014/main" id="{1B463114-765D-43B4-A349-D3A9DE0AA6E1}"/>
                  </a:ext>
                </a:extLst>
              </p:cNvPr>
              <p:cNvSpPr/>
              <p:nvPr/>
            </p:nvSpPr>
            <p:spPr>
              <a:xfrm>
                <a:off x="416395" y="2581295"/>
                <a:ext cx="41840" cy="9655"/>
              </a:xfrm>
              <a:custGeom>
                <a:avLst/>
                <a:gdLst>
                  <a:gd name="connsiteX0" fmla="*/ 37012 w 41839"/>
                  <a:gd name="connsiteY0" fmla="*/ 4828 h 9655"/>
                  <a:gd name="connsiteX1" fmla="*/ 4828 w 41839"/>
                  <a:gd name="connsiteY1" fmla="*/ 4828 h 9655"/>
                </a:gdLst>
                <a:ahLst/>
                <a:cxnLst>
                  <a:cxn ang="0">
                    <a:pos x="connsiteX0" y="connsiteY0"/>
                  </a:cxn>
                  <a:cxn ang="0">
                    <a:pos x="connsiteX1" y="connsiteY1"/>
                  </a:cxn>
                </a:cxnLst>
                <a:rect l="l" t="t" r="r" b="b"/>
                <a:pathLst>
                  <a:path w="41839" h="9655">
                    <a:moveTo>
                      <a:pt x="37012" y="4828"/>
                    </a:moveTo>
                    <a:lnTo>
                      <a:pt x="4828" y="4828"/>
                    </a:lnTo>
                  </a:path>
                </a:pathLst>
              </a:custGeom>
              <a:ln w="15875" cap="flat">
                <a:solidFill>
                  <a:srgbClr val="A166FF"/>
                </a:solidFill>
                <a:prstDash val="solid"/>
                <a:round/>
              </a:ln>
            </p:spPr>
            <p:txBody>
              <a:bodyPr rtlCol="0" anchor="ctr"/>
              <a:lstStyle/>
              <a:p>
                <a:pPr algn="ctr" defTabSz="731474">
                  <a:defRPr/>
                </a:pPr>
                <a:endParaRPr lang="en-US" sz="1800" dirty="0">
                  <a:solidFill>
                    <a:srgbClr val="FFFFFF"/>
                  </a:solidFill>
                  <a:latin typeface="Amazon Ember"/>
                </a:endParaRPr>
              </a:p>
            </p:txBody>
          </p:sp>
          <p:sp>
            <p:nvSpPr>
              <p:cNvPr id="205" name="Freeform: Shape 999">
                <a:extLst>
                  <a:ext uri="{FF2B5EF4-FFF2-40B4-BE49-F238E27FC236}">
                    <a16:creationId xmlns:a16="http://schemas.microsoft.com/office/drawing/2014/main" id="{A5E2EC23-F18F-4EDE-AACF-71A7C83B6855}"/>
                  </a:ext>
                </a:extLst>
              </p:cNvPr>
              <p:cNvSpPr/>
              <p:nvPr/>
            </p:nvSpPr>
            <p:spPr>
              <a:xfrm>
                <a:off x="357820" y="2581295"/>
                <a:ext cx="405524" cy="180233"/>
              </a:xfrm>
              <a:custGeom>
                <a:avLst/>
                <a:gdLst>
                  <a:gd name="connsiteX0" fmla="*/ 52461 w 405524"/>
                  <a:gd name="connsiteY0" fmla="*/ 4828 h 180232"/>
                  <a:gd name="connsiteX1" fmla="*/ 19311 w 405524"/>
                  <a:gd name="connsiteY1" fmla="*/ 4828 h 180232"/>
                  <a:gd name="connsiteX2" fmla="*/ 4828 w 405524"/>
                  <a:gd name="connsiteY2" fmla="*/ 19311 h 180232"/>
                  <a:gd name="connsiteX3" fmla="*/ 19311 w 405524"/>
                  <a:gd name="connsiteY3" fmla="*/ 33794 h 180232"/>
                  <a:gd name="connsiteX4" fmla="*/ 173474 w 405524"/>
                  <a:gd name="connsiteY4" fmla="*/ 33794 h 180232"/>
                  <a:gd name="connsiteX5" fmla="*/ 237521 w 405524"/>
                  <a:gd name="connsiteY5" fmla="*/ 102347 h 180232"/>
                  <a:gd name="connsiteX6" fmla="*/ 255223 w 405524"/>
                  <a:gd name="connsiteY6" fmla="*/ 110071 h 180232"/>
                  <a:gd name="connsiteX7" fmla="*/ 357891 w 405524"/>
                  <a:gd name="connsiteY7" fmla="*/ 110393 h 180232"/>
                  <a:gd name="connsiteX8" fmla="*/ 323132 w 405524"/>
                  <a:gd name="connsiteY8" fmla="*/ 151911 h 180232"/>
                  <a:gd name="connsiteX9" fmla="*/ 325063 w 405524"/>
                  <a:gd name="connsiteY9" fmla="*/ 172509 h 180232"/>
                  <a:gd name="connsiteX10" fmla="*/ 334396 w 405524"/>
                  <a:gd name="connsiteY10" fmla="*/ 176049 h 180232"/>
                  <a:gd name="connsiteX11" fmla="*/ 345661 w 405524"/>
                  <a:gd name="connsiteY11" fmla="*/ 170899 h 180232"/>
                  <a:gd name="connsiteX12" fmla="*/ 400375 w 405524"/>
                  <a:gd name="connsiteY12" fmla="*/ 105565 h 180232"/>
                  <a:gd name="connsiteX13" fmla="*/ 401018 w 405524"/>
                  <a:gd name="connsiteY13" fmla="*/ 104599 h 180232"/>
                  <a:gd name="connsiteX14" fmla="*/ 401340 w 405524"/>
                  <a:gd name="connsiteY14" fmla="*/ 103956 h 180232"/>
                  <a:gd name="connsiteX15" fmla="*/ 402627 w 405524"/>
                  <a:gd name="connsiteY15" fmla="*/ 101703 h 180232"/>
                  <a:gd name="connsiteX16" fmla="*/ 402949 w 405524"/>
                  <a:gd name="connsiteY16" fmla="*/ 101381 h 180232"/>
                  <a:gd name="connsiteX17" fmla="*/ 403593 w 405524"/>
                  <a:gd name="connsiteY17" fmla="*/ 99450 h 180232"/>
                  <a:gd name="connsiteX18" fmla="*/ 403593 w 405524"/>
                  <a:gd name="connsiteY18" fmla="*/ 98806 h 180232"/>
                  <a:gd name="connsiteX19" fmla="*/ 403915 w 405524"/>
                  <a:gd name="connsiteY19" fmla="*/ 96875 h 180232"/>
                  <a:gd name="connsiteX20" fmla="*/ 403915 w 405524"/>
                  <a:gd name="connsiteY20" fmla="*/ 96232 h 180232"/>
                  <a:gd name="connsiteX21" fmla="*/ 403593 w 405524"/>
                  <a:gd name="connsiteY21" fmla="*/ 93657 h 180232"/>
                  <a:gd name="connsiteX22" fmla="*/ 403593 w 405524"/>
                  <a:gd name="connsiteY22" fmla="*/ 93013 h 180232"/>
                  <a:gd name="connsiteX23" fmla="*/ 402949 w 405524"/>
                  <a:gd name="connsiteY23" fmla="*/ 91082 h 180232"/>
                  <a:gd name="connsiteX24" fmla="*/ 402627 w 405524"/>
                  <a:gd name="connsiteY24" fmla="*/ 90438 h 180232"/>
                  <a:gd name="connsiteX25" fmla="*/ 402306 w 405524"/>
                  <a:gd name="connsiteY25" fmla="*/ 89795 h 180232"/>
                  <a:gd name="connsiteX26" fmla="*/ 401662 w 405524"/>
                  <a:gd name="connsiteY26" fmla="*/ 88507 h 180232"/>
                  <a:gd name="connsiteX27" fmla="*/ 401340 w 405524"/>
                  <a:gd name="connsiteY27" fmla="*/ 88185 h 180232"/>
                  <a:gd name="connsiteX28" fmla="*/ 399731 w 405524"/>
                  <a:gd name="connsiteY28" fmla="*/ 86254 h 180232"/>
                  <a:gd name="connsiteX29" fmla="*/ 399409 w 405524"/>
                  <a:gd name="connsiteY29" fmla="*/ 85933 h 180232"/>
                  <a:gd name="connsiteX30" fmla="*/ 341477 w 405524"/>
                  <a:gd name="connsiteY30" fmla="*/ 26713 h 180232"/>
                  <a:gd name="connsiteX31" fmla="*/ 320879 w 405524"/>
                  <a:gd name="connsiteY31" fmla="*/ 26391 h 180232"/>
                  <a:gd name="connsiteX32" fmla="*/ 320557 w 405524"/>
                  <a:gd name="connsiteY32" fmla="*/ 46989 h 180232"/>
                  <a:gd name="connsiteX33" fmla="*/ 354029 w 405524"/>
                  <a:gd name="connsiteY33" fmla="*/ 81427 h 180232"/>
                  <a:gd name="connsiteX34" fmla="*/ 256832 w 405524"/>
                  <a:gd name="connsiteY34" fmla="*/ 81105 h 180232"/>
                  <a:gd name="connsiteX35" fmla="*/ 192785 w 405524"/>
                  <a:gd name="connsiteY35" fmla="*/ 12552 h 180232"/>
                  <a:gd name="connsiteX36" fmla="*/ 175083 w 405524"/>
                  <a:gd name="connsiteY36" fmla="*/ 4828 h 180232"/>
                  <a:gd name="connsiteX37" fmla="*/ 112967 w 405524"/>
                  <a:gd name="connsiteY37" fmla="*/ 4828 h 18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524" h="180232">
                    <a:moveTo>
                      <a:pt x="52461" y="4828"/>
                    </a:moveTo>
                    <a:lnTo>
                      <a:pt x="19311" y="4828"/>
                    </a:lnTo>
                    <a:cubicBezTo>
                      <a:pt x="11265" y="4828"/>
                      <a:pt x="4828" y="11265"/>
                      <a:pt x="4828" y="19311"/>
                    </a:cubicBezTo>
                    <a:cubicBezTo>
                      <a:pt x="4828" y="27357"/>
                      <a:pt x="11265" y="33794"/>
                      <a:pt x="19311" y="33794"/>
                    </a:cubicBezTo>
                    <a:lnTo>
                      <a:pt x="173474" y="33794"/>
                    </a:lnTo>
                    <a:lnTo>
                      <a:pt x="237521" y="102347"/>
                    </a:lnTo>
                    <a:cubicBezTo>
                      <a:pt x="242027" y="107174"/>
                      <a:pt x="248464" y="110071"/>
                      <a:pt x="255223" y="110071"/>
                    </a:cubicBezTo>
                    <a:lnTo>
                      <a:pt x="357891" y="110393"/>
                    </a:lnTo>
                    <a:lnTo>
                      <a:pt x="323132" y="151911"/>
                    </a:lnTo>
                    <a:cubicBezTo>
                      <a:pt x="317982" y="158026"/>
                      <a:pt x="318626" y="167359"/>
                      <a:pt x="325063" y="172509"/>
                    </a:cubicBezTo>
                    <a:cubicBezTo>
                      <a:pt x="327638" y="174762"/>
                      <a:pt x="331178" y="176049"/>
                      <a:pt x="334396" y="176049"/>
                    </a:cubicBezTo>
                    <a:cubicBezTo>
                      <a:pt x="338580" y="176049"/>
                      <a:pt x="342764" y="174118"/>
                      <a:pt x="345661" y="170899"/>
                    </a:cubicBezTo>
                    <a:lnTo>
                      <a:pt x="400375" y="105565"/>
                    </a:lnTo>
                    <a:cubicBezTo>
                      <a:pt x="400696" y="105243"/>
                      <a:pt x="400696" y="104921"/>
                      <a:pt x="401018" y="104599"/>
                    </a:cubicBezTo>
                    <a:cubicBezTo>
                      <a:pt x="401018" y="104278"/>
                      <a:pt x="401340" y="104278"/>
                      <a:pt x="401340" y="103956"/>
                    </a:cubicBezTo>
                    <a:cubicBezTo>
                      <a:pt x="401662" y="103312"/>
                      <a:pt x="402306" y="102668"/>
                      <a:pt x="402627" y="101703"/>
                    </a:cubicBezTo>
                    <a:cubicBezTo>
                      <a:pt x="402627" y="101703"/>
                      <a:pt x="402627" y="101381"/>
                      <a:pt x="402949" y="101381"/>
                    </a:cubicBezTo>
                    <a:cubicBezTo>
                      <a:pt x="403271" y="100737"/>
                      <a:pt x="403271" y="100094"/>
                      <a:pt x="403593" y="99450"/>
                    </a:cubicBezTo>
                    <a:cubicBezTo>
                      <a:pt x="403593" y="99128"/>
                      <a:pt x="403593" y="98806"/>
                      <a:pt x="403593" y="98806"/>
                    </a:cubicBezTo>
                    <a:cubicBezTo>
                      <a:pt x="403593" y="98163"/>
                      <a:pt x="403915" y="97519"/>
                      <a:pt x="403915" y="96875"/>
                    </a:cubicBezTo>
                    <a:cubicBezTo>
                      <a:pt x="403915" y="96553"/>
                      <a:pt x="403915" y="96553"/>
                      <a:pt x="403915" y="96232"/>
                    </a:cubicBezTo>
                    <a:cubicBezTo>
                      <a:pt x="403915" y="95266"/>
                      <a:pt x="403915" y="94622"/>
                      <a:pt x="403593" y="93657"/>
                    </a:cubicBezTo>
                    <a:cubicBezTo>
                      <a:pt x="403593" y="93335"/>
                      <a:pt x="403593" y="93335"/>
                      <a:pt x="403593" y="93013"/>
                    </a:cubicBezTo>
                    <a:cubicBezTo>
                      <a:pt x="403593" y="92369"/>
                      <a:pt x="403271" y="91726"/>
                      <a:pt x="402949" y="91082"/>
                    </a:cubicBezTo>
                    <a:cubicBezTo>
                      <a:pt x="402949" y="90760"/>
                      <a:pt x="402627" y="90438"/>
                      <a:pt x="402627" y="90438"/>
                    </a:cubicBezTo>
                    <a:cubicBezTo>
                      <a:pt x="402627" y="90116"/>
                      <a:pt x="402627" y="90116"/>
                      <a:pt x="402306" y="89795"/>
                    </a:cubicBezTo>
                    <a:cubicBezTo>
                      <a:pt x="401984" y="89151"/>
                      <a:pt x="401662" y="88829"/>
                      <a:pt x="401662" y="88507"/>
                    </a:cubicBezTo>
                    <a:cubicBezTo>
                      <a:pt x="401662" y="88507"/>
                      <a:pt x="401662" y="88185"/>
                      <a:pt x="401340" y="88185"/>
                    </a:cubicBezTo>
                    <a:cubicBezTo>
                      <a:pt x="401018" y="87542"/>
                      <a:pt x="400375" y="86898"/>
                      <a:pt x="399731" y="86254"/>
                    </a:cubicBezTo>
                    <a:cubicBezTo>
                      <a:pt x="399731" y="86254"/>
                      <a:pt x="399731" y="86254"/>
                      <a:pt x="399409" y="85933"/>
                    </a:cubicBezTo>
                    <a:lnTo>
                      <a:pt x="341477" y="26713"/>
                    </a:lnTo>
                    <a:cubicBezTo>
                      <a:pt x="336006" y="20920"/>
                      <a:pt x="326672" y="20920"/>
                      <a:pt x="320879" y="26391"/>
                    </a:cubicBezTo>
                    <a:cubicBezTo>
                      <a:pt x="315086" y="31863"/>
                      <a:pt x="315086" y="41196"/>
                      <a:pt x="320557" y="46989"/>
                    </a:cubicBezTo>
                    <a:lnTo>
                      <a:pt x="354029" y="81427"/>
                    </a:lnTo>
                    <a:lnTo>
                      <a:pt x="256832" y="81105"/>
                    </a:lnTo>
                    <a:lnTo>
                      <a:pt x="192785" y="12552"/>
                    </a:lnTo>
                    <a:cubicBezTo>
                      <a:pt x="188279" y="7724"/>
                      <a:pt x="181842" y="4828"/>
                      <a:pt x="175083" y="4828"/>
                    </a:cubicBezTo>
                    <a:lnTo>
                      <a:pt x="112967" y="4828"/>
                    </a:lnTo>
                  </a:path>
                </a:pathLst>
              </a:custGeom>
              <a:noFill/>
              <a:ln w="15875" cap="flat">
                <a:solidFill>
                  <a:srgbClr val="A166FF"/>
                </a:solidFill>
                <a:prstDash val="solid"/>
                <a:round/>
              </a:ln>
            </p:spPr>
            <p:txBody>
              <a:bodyPr rtlCol="0" anchor="ctr"/>
              <a:lstStyle/>
              <a:p>
                <a:pPr algn="ctr" defTabSz="731474">
                  <a:defRPr/>
                </a:pPr>
                <a:endParaRPr lang="en-US" sz="1800" dirty="0">
                  <a:solidFill>
                    <a:srgbClr val="FFFFFF"/>
                  </a:solidFill>
                  <a:latin typeface="Amazon Ember"/>
                </a:endParaRPr>
              </a:p>
            </p:txBody>
          </p:sp>
          <p:sp>
            <p:nvSpPr>
              <p:cNvPr id="206" name="Freeform: Shape 1000">
                <a:extLst>
                  <a:ext uri="{FF2B5EF4-FFF2-40B4-BE49-F238E27FC236}">
                    <a16:creationId xmlns:a16="http://schemas.microsoft.com/office/drawing/2014/main" id="{2206F7AA-4FC8-4445-8429-3F19AD640FCF}"/>
                  </a:ext>
                </a:extLst>
              </p:cNvPr>
              <p:cNvSpPr/>
              <p:nvPr/>
            </p:nvSpPr>
            <p:spPr>
              <a:xfrm>
                <a:off x="522926" y="2415546"/>
                <a:ext cx="241383" cy="164141"/>
              </a:xfrm>
              <a:custGeom>
                <a:avLst/>
                <a:gdLst>
                  <a:gd name="connsiteX0" fmla="*/ 4828 w 241383"/>
                  <a:gd name="connsiteY0" fmla="*/ 150301 h 164140"/>
                  <a:gd name="connsiteX1" fmla="*/ 72093 w 241383"/>
                  <a:gd name="connsiteY1" fmla="*/ 78530 h 164140"/>
                  <a:gd name="connsiteX2" fmla="*/ 89795 w 241383"/>
                  <a:gd name="connsiteY2" fmla="*/ 70806 h 164140"/>
                  <a:gd name="connsiteX3" fmla="*/ 192463 w 241383"/>
                  <a:gd name="connsiteY3" fmla="*/ 70484 h 164140"/>
                  <a:gd name="connsiteX4" fmla="*/ 157704 w 241383"/>
                  <a:gd name="connsiteY4" fmla="*/ 28966 h 164140"/>
                  <a:gd name="connsiteX5" fmla="*/ 159635 w 241383"/>
                  <a:gd name="connsiteY5" fmla="*/ 8368 h 164140"/>
                  <a:gd name="connsiteX6" fmla="*/ 168968 w 241383"/>
                  <a:gd name="connsiteY6" fmla="*/ 4828 h 164140"/>
                  <a:gd name="connsiteX7" fmla="*/ 180233 w 241383"/>
                  <a:gd name="connsiteY7" fmla="*/ 9977 h 164140"/>
                  <a:gd name="connsiteX8" fmla="*/ 234946 w 241383"/>
                  <a:gd name="connsiteY8" fmla="*/ 75312 h 164140"/>
                  <a:gd name="connsiteX9" fmla="*/ 235590 w 241383"/>
                  <a:gd name="connsiteY9" fmla="*/ 76277 h 164140"/>
                  <a:gd name="connsiteX10" fmla="*/ 235912 w 241383"/>
                  <a:gd name="connsiteY10" fmla="*/ 76921 h 164140"/>
                  <a:gd name="connsiteX11" fmla="*/ 237199 w 241383"/>
                  <a:gd name="connsiteY11" fmla="*/ 79174 h 164140"/>
                  <a:gd name="connsiteX12" fmla="*/ 237521 w 241383"/>
                  <a:gd name="connsiteY12" fmla="*/ 79496 h 164140"/>
                  <a:gd name="connsiteX13" fmla="*/ 238165 w 241383"/>
                  <a:gd name="connsiteY13" fmla="*/ 81427 h 164140"/>
                  <a:gd name="connsiteX14" fmla="*/ 238165 w 241383"/>
                  <a:gd name="connsiteY14" fmla="*/ 82070 h 164140"/>
                  <a:gd name="connsiteX15" fmla="*/ 238487 w 241383"/>
                  <a:gd name="connsiteY15" fmla="*/ 84001 h 164140"/>
                  <a:gd name="connsiteX16" fmla="*/ 238487 w 241383"/>
                  <a:gd name="connsiteY16" fmla="*/ 84645 h 164140"/>
                  <a:gd name="connsiteX17" fmla="*/ 238165 w 241383"/>
                  <a:gd name="connsiteY17" fmla="*/ 87220 h 164140"/>
                  <a:gd name="connsiteX18" fmla="*/ 238165 w 241383"/>
                  <a:gd name="connsiteY18" fmla="*/ 87864 h 164140"/>
                  <a:gd name="connsiteX19" fmla="*/ 237521 w 241383"/>
                  <a:gd name="connsiteY19" fmla="*/ 89795 h 164140"/>
                  <a:gd name="connsiteX20" fmla="*/ 237199 w 241383"/>
                  <a:gd name="connsiteY20" fmla="*/ 90438 h 164140"/>
                  <a:gd name="connsiteX21" fmla="*/ 236878 w 241383"/>
                  <a:gd name="connsiteY21" fmla="*/ 91082 h 164140"/>
                  <a:gd name="connsiteX22" fmla="*/ 236234 w 241383"/>
                  <a:gd name="connsiteY22" fmla="*/ 92369 h 164140"/>
                  <a:gd name="connsiteX23" fmla="*/ 235912 w 241383"/>
                  <a:gd name="connsiteY23" fmla="*/ 92691 h 164140"/>
                  <a:gd name="connsiteX24" fmla="*/ 234303 w 241383"/>
                  <a:gd name="connsiteY24" fmla="*/ 94622 h 164140"/>
                  <a:gd name="connsiteX25" fmla="*/ 233981 w 241383"/>
                  <a:gd name="connsiteY25" fmla="*/ 94944 h 164140"/>
                  <a:gd name="connsiteX26" fmla="*/ 176049 w 241383"/>
                  <a:gd name="connsiteY26" fmla="*/ 154164 h 164140"/>
                  <a:gd name="connsiteX27" fmla="*/ 155451 w 241383"/>
                  <a:gd name="connsiteY27" fmla="*/ 154485 h 164140"/>
                  <a:gd name="connsiteX28" fmla="*/ 155129 w 241383"/>
                  <a:gd name="connsiteY28" fmla="*/ 133887 h 164140"/>
                  <a:gd name="connsiteX29" fmla="*/ 188601 w 241383"/>
                  <a:gd name="connsiteY29" fmla="*/ 99450 h 164140"/>
                  <a:gd name="connsiteX30" fmla="*/ 91404 w 241383"/>
                  <a:gd name="connsiteY30" fmla="*/ 99772 h 164140"/>
                  <a:gd name="connsiteX31" fmla="*/ 34116 w 241383"/>
                  <a:gd name="connsiteY31" fmla="*/ 16124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1383" h="164140">
                    <a:moveTo>
                      <a:pt x="4828" y="150301"/>
                    </a:moveTo>
                    <a:lnTo>
                      <a:pt x="72093" y="78530"/>
                    </a:lnTo>
                    <a:cubicBezTo>
                      <a:pt x="76599" y="73702"/>
                      <a:pt x="83036" y="70806"/>
                      <a:pt x="89795" y="70806"/>
                    </a:cubicBezTo>
                    <a:lnTo>
                      <a:pt x="192463" y="70484"/>
                    </a:lnTo>
                    <a:lnTo>
                      <a:pt x="157704" y="28966"/>
                    </a:lnTo>
                    <a:cubicBezTo>
                      <a:pt x="152554" y="22851"/>
                      <a:pt x="153198" y="13517"/>
                      <a:pt x="159635" y="8368"/>
                    </a:cubicBezTo>
                    <a:cubicBezTo>
                      <a:pt x="162210" y="6115"/>
                      <a:pt x="165750" y="4828"/>
                      <a:pt x="168968" y="4828"/>
                    </a:cubicBezTo>
                    <a:cubicBezTo>
                      <a:pt x="173152" y="4828"/>
                      <a:pt x="177336" y="6759"/>
                      <a:pt x="180233" y="9977"/>
                    </a:cubicBezTo>
                    <a:lnTo>
                      <a:pt x="234946" y="75312"/>
                    </a:lnTo>
                    <a:cubicBezTo>
                      <a:pt x="235268" y="75633"/>
                      <a:pt x="235268" y="75955"/>
                      <a:pt x="235590" y="76277"/>
                    </a:cubicBezTo>
                    <a:cubicBezTo>
                      <a:pt x="235590" y="76599"/>
                      <a:pt x="235912" y="76599"/>
                      <a:pt x="235912" y="76921"/>
                    </a:cubicBezTo>
                    <a:cubicBezTo>
                      <a:pt x="236234" y="77565"/>
                      <a:pt x="236878" y="78208"/>
                      <a:pt x="237199" y="79174"/>
                    </a:cubicBezTo>
                    <a:cubicBezTo>
                      <a:pt x="237199" y="79174"/>
                      <a:pt x="237199" y="79496"/>
                      <a:pt x="237521" y="79496"/>
                    </a:cubicBezTo>
                    <a:cubicBezTo>
                      <a:pt x="237843" y="80139"/>
                      <a:pt x="237843" y="80783"/>
                      <a:pt x="238165" y="81427"/>
                    </a:cubicBezTo>
                    <a:cubicBezTo>
                      <a:pt x="238165" y="81749"/>
                      <a:pt x="238165" y="82070"/>
                      <a:pt x="238165" y="82070"/>
                    </a:cubicBezTo>
                    <a:cubicBezTo>
                      <a:pt x="238165" y="82714"/>
                      <a:pt x="238487" y="83358"/>
                      <a:pt x="238487" y="84001"/>
                    </a:cubicBezTo>
                    <a:cubicBezTo>
                      <a:pt x="238487" y="84323"/>
                      <a:pt x="238487" y="84323"/>
                      <a:pt x="238487" y="84645"/>
                    </a:cubicBezTo>
                    <a:cubicBezTo>
                      <a:pt x="238487" y="85611"/>
                      <a:pt x="238487" y="86254"/>
                      <a:pt x="238165" y="87220"/>
                    </a:cubicBezTo>
                    <a:cubicBezTo>
                      <a:pt x="238165" y="87542"/>
                      <a:pt x="238165" y="87542"/>
                      <a:pt x="238165" y="87864"/>
                    </a:cubicBezTo>
                    <a:cubicBezTo>
                      <a:pt x="238165" y="88507"/>
                      <a:pt x="237843" y="89151"/>
                      <a:pt x="237521" y="89795"/>
                    </a:cubicBezTo>
                    <a:cubicBezTo>
                      <a:pt x="237521" y="90116"/>
                      <a:pt x="237199" y="90438"/>
                      <a:pt x="237199" y="90438"/>
                    </a:cubicBezTo>
                    <a:cubicBezTo>
                      <a:pt x="237199" y="90760"/>
                      <a:pt x="237199" y="90760"/>
                      <a:pt x="236878" y="91082"/>
                    </a:cubicBezTo>
                    <a:cubicBezTo>
                      <a:pt x="236556" y="91726"/>
                      <a:pt x="236234" y="92048"/>
                      <a:pt x="236234" y="92369"/>
                    </a:cubicBezTo>
                    <a:cubicBezTo>
                      <a:pt x="236234" y="92369"/>
                      <a:pt x="236234" y="92691"/>
                      <a:pt x="235912" y="92691"/>
                    </a:cubicBezTo>
                    <a:cubicBezTo>
                      <a:pt x="235590" y="93335"/>
                      <a:pt x="234946" y="93979"/>
                      <a:pt x="234303" y="94622"/>
                    </a:cubicBezTo>
                    <a:cubicBezTo>
                      <a:pt x="234303" y="94622"/>
                      <a:pt x="234303" y="94622"/>
                      <a:pt x="233981" y="94944"/>
                    </a:cubicBezTo>
                    <a:lnTo>
                      <a:pt x="176049" y="154164"/>
                    </a:lnTo>
                    <a:cubicBezTo>
                      <a:pt x="170578" y="159957"/>
                      <a:pt x="161244" y="159957"/>
                      <a:pt x="155451" y="154485"/>
                    </a:cubicBezTo>
                    <a:cubicBezTo>
                      <a:pt x="149658" y="149014"/>
                      <a:pt x="149658" y="139681"/>
                      <a:pt x="155129" y="133887"/>
                    </a:cubicBezTo>
                    <a:lnTo>
                      <a:pt x="188601" y="99450"/>
                    </a:lnTo>
                    <a:lnTo>
                      <a:pt x="91404" y="99772"/>
                    </a:lnTo>
                    <a:lnTo>
                      <a:pt x="34116" y="161244"/>
                    </a:lnTo>
                  </a:path>
                </a:pathLst>
              </a:custGeom>
              <a:noFill/>
              <a:ln w="15875" cap="flat">
                <a:solidFill>
                  <a:srgbClr val="A166FF"/>
                </a:solidFill>
                <a:prstDash val="solid"/>
                <a:round/>
              </a:ln>
            </p:spPr>
            <p:txBody>
              <a:bodyPr rtlCol="0" anchor="ctr"/>
              <a:lstStyle/>
              <a:p>
                <a:pPr algn="ctr" defTabSz="731474">
                  <a:defRPr/>
                </a:pPr>
                <a:endParaRPr lang="en-US" sz="1800" dirty="0">
                  <a:solidFill>
                    <a:srgbClr val="FFFFFF"/>
                  </a:solidFill>
                  <a:latin typeface="Amazon Ember"/>
                </a:endParaRPr>
              </a:p>
            </p:txBody>
          </p:sp>
        </p:grpSp>
        <p:grpSp>
          <p:nvGrpSpPr>
            <p:cNvPr id="191" name="Group 190">
              <a:extLst>
                <a:ext uri="{FF2B5EF4-FFF2-40B4-BE49-F238E27FC236}">
                  <a16:creationId xmlns:a16="http://schemas.microsoft.com/office/drawing/2014/main" id="{47320D4C-FCC8-4006-9579-2517B24BD92B}"/>
                </a:ext>
              </a:extLst>
            </p:cNvPr>
            <p:cNvGrpSpPr/>
            <p:nvPr/>
          </p:nvGrpSpPr>
          <p:grpSpPr>
            <a:xfrm>
              <a:off x="9869002" y="7003188"/>
              <a:ext cx="57150" cy="57150"/>
              <a:chOff x="10385822" y="7024688"/>
              <a:chExt cx="133350" cy="133350"/>
            </a:xfrm>
          </p:grpSpPr>
          <p:cxnSp>
            <p:nvCxnSpPr>
              <p:cNvPr id="198" name="Straight Connector 197">
                <a:extLst>
                  <a:ext uri="{FF2B5EF4-FFF2-40B4-BE49-F238E27FC236}">
                    <a16:creationId xmlns:a16="http://schemas.microsoft.com/office/drawing/2014/main" id="{437527E1-62B2-43A8-9320-2629B7FE4BBD}"/>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99" name="Straight Connector 198">
                <a:extLst>
                  <a:ext uri="{FF2B5EF4-FFF2-40B4-BE49-F238E27FC236}">
                    <a16:creationId xmlns:a16="http://schemas.microsoft.com/office/drawing/2014/main" id="{1FE98960-1453-4FED-821C-3B21771B4FF3}"/>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nvGrpSpPr>
            <p:cNvPr id="192" name="Group 191">
              <a:extLst>
                <a:ext uri="{FF2B5EF4-FFF2-40B4-BE49-F238E27FC236}">
                  <a16:creationId xmlns:a16="http://schemas.microsoft.com/office/drawing/2014/main" id="{D85482C9-FCB8-4143-8EB8-D18AC003BF54}"/>
                </a:ext>
              </a:extLst>
            </p:cNvPr>
            <p:cNvGrpSpPr/>
            <p:nvPr/>
          </p:nvGrpSpPr>
          <p:grpSpPr>
            <a:xfrm>
              <a:off x="9561036" y="7466749"/>
              <a:ext cx="57150" cy="57150"/>
              <a:chOff x="10385822" y="7024688"/>
              <a:chExt cx="133350" cy="133350"/>
            </a:xfrm>
          </p:grpSpPr>
          <p:cxnSp>
            <p:nvCxnSpPr>
              <p:cNvPr id="196" name="Straight Connector 195">
                <a:extLst>
                  <a:ext uri="{FF2B5EF4-FFF2-40B4-BE49-F238E27FC236}">
                    <a16:creationId xmlns:a16="http://schemas.microsoft.com/office/drawing/2014/main" id="{F1A669FD-2E44-41B4-B8B3-400CAFF53506}"/>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97" name="Straight Connector 196">
                <a:extLst>
                  <a:ext uri="{FF2B5EF4-FFF2-40B4-BE49-F238E27FC236}">
                    <a16:creationId xmlns:a16="http://schemas.microsoft.com/office/drawing/2014/main" id="{129FA14A-C7A6-4FB9-81D6-6D3BEEDBACB2}"/>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nvGrpSpPr>
            <p:cNvPr id="193" name="Group 192">
              <a:extLst>
                <a:ext uri="{FF2B5EF4-FFF2-40B4-BE49-F238E27FC236}">
                  <a16:creationId xmlns:a16="http://schemas.microsoft.com/office/drawing/2014/main" id="{B82FB434-8E94-45FB-8829-7E77F0C7C0BA}"/>
                </a:ext>
              </a:extLst>
            </p:cNvPr>
            <p:cNvGrpSpPr/>
            <p:nvPr/>
          </p:nvGrpSpPr>
          <p:grpSpPr>
            <a:xfrm>
              <a:off x="9853214" y="7527132"/>
              <a:ext cx="57150" cy="57150"/>
              <a:chOff x="10385822" y="7024688"/>
              <a:chExt cx="133350" cy="133350"/>
            </a:xfrm>
          </p:grpSpPr>
          <p:cxnSp>
            <p:nvCxnSpPr>
              <p:cNvPr id="194" name="Straight Connector 193">
                <a:extLst>
                  <a:ext uri="{FF2B5EF4-FFF2-40B4-BE49-F238E27FC236}">
                    <a16:creationId xmlns:a16="http://schemas.microsoft.com/office/drawing/2014/main" id="{BE2FFE83-E7CC-4B46-9829-9BF1A8A03401}"/>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95" name="Straight Connector 194">
                <a:extLst>
                  <a:ext uri="{FF2B5EF4-FFF2-40B4-BE49-F238E27FC236}">
                    <a16:creationId xmlns:a16="http://schemas.microsoft.com/office/drawing/2014/main" id="{BC567B94-43BC-4185-B830-D41D5CC1131B}"/>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grpSp>
        <p:nvGrpSpPr>
          <p:cNvPr id="209" name="Group 208">
            <a:extLst>
              <a:ext uri="{FF2B5EF4-FFF2-40B4-BE49-F238E27FC236}">
                <a16:creationId xmlns:a16="http://schemas.microsoft.com/office/drawing/2014/main" id="{E8D59516-DE7C-478E-9A4A-1541D29D3104}"/>
              </a:ext>
            </a:extLst>
          </p:cNvPr>
          <p:cNvGrpSpPr/>
          <p:nvPr/>
        </p:nvGrpSpPr>
        <p:grpSpPr>
          <a:xfrm>
            <a:off x="6497061" y="3926001"/>
            <a:ext cx="718766" cy="790712"/>
            <a:chOff x="10283651" y="2930442"/>
            <a:chExt cx="727249" cy="800043"/>
          </a:xfrm>
        </p:grpSpPr>
        <p:sp>
          <p:nvSpPr>
            <p:cNvPr id="210" name="Oval 209">
              <a:extLst>
                <a:ext uri="{FF2B5EF4-FFF2-40B4-BE49-F238E27FC236}">
                  <a16:creationId xmlns:a16="http://schemas.microsoft.com/office/drawing/2014/main" id="{0E966A35-2F65-43E1-8642-8F33435F51C1}"/>
                </a:ext>
              </a:extLst>
            </p:cNvPr>
            <p:cNvSpPr/>
            <p:nvPr/>
          </p:nvSpPr>
          <p:spPr>
            <a:xfrm>
              <a:off x="10419224" y="3561559"/>
              <a:ext cx="456101" cy="168926"/>
            </a:xfrm>
            <a:prstGeom prst="ellipse">
              <a:avLst/>
            </a:prstGeom>
            <a:no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74">
                <a:defRPr/>
              </a:pPr>
              <a:endParaRPr lang="en-US" sz="1800" dirty="0">
                <a:solidFill>
                  <a:srgbClr val="FFFFFF"/>
                </a:solidFill>
                <a:latin typeface="Amazon Ember"/>
              </a:endParaRPr>
            </a:p>
          </p:txBody>
        </p:sp>
        <p:sp>
          <p:nvSpPr>
            <p:cNvPr id="211" name="Rectangle 210">
              <a:extLst>
                <a:ext uri="{FF2B5EF4-FFF2-40B4-BE49-F238E27FC236}">
                  <a16:creationId xmlns:a16="http://schemas.microsoft.com/office/drawing/2014/main" id="{F84BB20F-CBCA-47F1-9BA1-9B56323EAC67}"/>
                </a:ext>
              </a:extLst>
            </p:cNvPr>
            <p:cNvSpPr/>
            <p:nvPr/>
          </p:nvSpPr>
          <p:spPr>
            <a:xfrm>
              <a:off x="10558493" y="3450716"/>
              <a:ext cx="177565" cy="19370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74">
                <a:defRPr/>
              </a:pPr>
              <a:endParaRPr lang="en-US" sz="1800" dirty="0">
                <a:solidFill>
                  <a:srgbClr val="FFFFFF"/>
                </a:solidFill>
                <a:latin typeface="Amazon Ember"/>
              </a:endParaRPr>
            </a:p>
          </p:txBody>
        </p:sp>
        <p:grpSp>
          <p:nvGrpSpPr>
            <p:cNvPr id="212" name="Graphic 236">
              <a:extLst>
                <a:ext uri="{FF2B5EF4-FFF2-40B4-BE49-F238E27FC236}">
                  <a16:creationId xmlns:a16="http://schemas.microsoft.com/office/drawing/2014/main" id="{BB894820-A0F5-472A-9542-ED02202FD2AB}"/>
                </a:ext>
              </a:extLst>
            </p:cNvPr>
            <p:cNvGrpSpPr/>
            <p:nvPr/>
          </p:nvGrpSpPr>
          <p:grpSpPr>
            <a:xfrm rot="18950275">
              <a:off x="10283651" y="2930442"/>
              <a:ext cx="727249" cy="727249"/>
              <a:chOff x="4629252" y="322847"/>
              <a:chExt cx="643689" cy="643689"/>
            </a:xfrm>
          </p:grpSpPr>
          <p:sp>
            <p:nvSpPr>
              <p:cNvPr id="213" name="Freeform: Shape 1007">
                <a:extLst>
                  <a:ext uri="{FF2B5EF4-FFF2-40B4-BE49-F238E27FC236}">
                    <a16:creationId xmlns:a16="http://schemas.microsoft.com/office/drawing/2014/main" id="{DFAD5E61-BA82-4711-A4C9-E34901AF20EC}"/>
                  </a:ext>
                </a:extLst>
              </p:cNvPr>
              <p:cNvSpPr/>
              <p:nvPr/>
            </p:nvSpPr>
            <p:spPr>
              <a:xfrm>
                <a:off x="4829117" y="427235"/>
                <a:ext cx="337937" cy="337937"/>
              </a:xfrm>
              <a:custGeom>
                <a:avLst/>
                <a:gdLst>
                  <a:gd name="connsiteX0" fmla="*/ 101059 w 337936"/>
                  <a:gd name="connsiteY0" fmla="*/ 334286 h 337936"/>
                  <a:gd name="connsiteX1" fmla="*/ 226257 w 337936"/>
                  <a:gd name="connsiteY1" fmla="*/ 254790 h 337936"/>
                  <a:gd name="connsiteX2" fmla="*/ 333753 w 337936"/>
                  <a:gd name="connsiteY2" fmla="*/ 5361 h 337936"/>
                  <a:gd name="connsiteX3" fmla="*/ 84323 w 337936"/>
                  <a:gd name="connsiteY3" fmla="*/ 112857 h 337936"/>
                  <a:gd name="connsiteX4" fmla="*/ 4828 w 337936"/>
                  <a:gd name="connsiteY4" fmla="*/ 238055 h 337936"/>
                  <a:gd name="connsiteX5" fmla="*/ 101059 w 337936"/>
                  <a:gd name="connsiteY5" fmla="*/ 334286 h 33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936" h="337936">
                    <a:moveTo>
                      <a:pt x="101059" y="334286"/>
                    </a:moveTo>
                    <a:cubicBezTo>
                      <a:pt x="162210" y="313044"/>
                      <a:pt x="226257" y="254790"/>
                      <a:pt x="226257" y="254790"/>
                    </a:cubicBezTo>
                    <a:cubicBezTo>
                      <a:pt x="348236" y="132811"/>
                      <a:pt x="333753" y="5361"/>
                      <a:pt x="333753" y="5361"/>
                    </a:cubicBezTo>
                    <a:cubicBezTo>
                      <a:pt x="333753" y="5361"/>
                      <a:pt x="206302" y="-9122"/>
                      <a:pt x="84323" y="112857"/>
                    </a:cubicBezTo>
                    <a:cubicBezTo>
                      <a:pt x="84323" y="112857"/>
                      <a:pt x="26391" y="176904"/>
                      <a:pt x="4828" y="238055"/>
                    </a:cubicBezTo>
                    <a:lnTo>
                      <a:pt x="101059" y="334286"/>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4" name="Freeform: Shape 1008">
                <a:extLst>
                  <a:ext uri="{FF2B5EF4-FFF2-40B4-BE49-F238E27FC236}">
                    <a16:creationId xmlns:a16="http://schemas.microsoft.com/office/drawing/2014/main" id="{C3012081-7212-497F-89EB-B54F9C70B8E5}"/>
                  </a:ext>
                </a:extLst>
              </p:cNvPr>
              <p:cNvSpPr/>
              <p:nvPr/>
            </p:nvSpPr>
            <p:spPr>
              <a:xfrm>
                <a:off x="4804657" y="682669"/>
                <a:ext cx="106209" cy="106209"/>
              </a:xfrm>
              <a:custGeom>
                <a:avLst/>
                <a:gdLst>
                  <a:gd name="connsiteX0" fmla="*/ 51495 w 106208"/>
                  <a:gd name="connsiteY0" fmla="*/ 4828 h 106208"/>
                  <a:gd name="connsiteX1" fmla="*/ 4828 w 106208"/>
                  <a:gd name="connsiteY1" fmla="*/ 5471 h 106208"/>
                  <a:gd name="connsiteX2" fmla="*/ 102668 w 106208"/>
                  <a:gd name="connsiteY2" fmla="*/ 103312 h 106208"/>
                  <a:gd name="connsiteX3" fmla="*/ 102668 w 106208"/>
                  <a:gd name="connsiteY3" fmla="*/ 56001 h 106208"/>
                </a:gdLst>
                <a:ahLst/>
                <a:cxnLst>
                  <a:cxn ang="0">
                    <a:pos x="connsiteX0" y="connsiteY0"/>
                  </a:cxn>
                  <a:cxn ang="0">
                    <a:pos x="connsiteX1" y="connsiteY1"/>
                  </a:cxn>
                  <a:cxn ang="0">
                    <a:pos x="connsiteX2" y="connsiteY2"/>
                  </a:cxn>
                  <a:cxn ang="0">
                    <a:pos x="connsiteX3" y="connsiteY3"/>
                  </a:cxn>
                </a:cxnLst>
                <a:rect l="l" t="t" r="r" b="b"/>
                <a:pathLst>
                  <a:path w="106208" h="106208">
                    <a:moveTo>
                      <a:pt x="51495" y="4828"/>
                    </a:moveTo>
                    <a:lnTo>
                      <a:pt x="4828" y="5471"/>
                    </a:lnTo>
                    <a:lnTo>
                      <a:pt x="102668" y="103312"/>
                    </a:lnTo>
                    <a:lnTo>
                      <a:pt x="102668" y="56001"/>
                    </a:lnTo>
                    <a:close/>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5" name="Freeform: Shape 1009">
                <a:extLst>
                  <a:ext uri="{FF2B5EF4-FFF2-40B4-BE49-F238E27FC236}">
                    <a16:creationId xmlns:a16="http://schemas.microsoft.com/office/drawing/2014/main" id="{B831ACED-B5FF-465D-93A1-BBC32AC7E311}"/>
                  </a:ext>
                </a:extLst>
              </p:cNvPr>
              <p:cNvSpPr/>
              <p:nvPr/>
            </p:nvSpPr>
            <p:spPr>
              <a:xfrm>
                <a:off x="4733851" y="539417"/>
                <a:ext cx="177014" cy="106209"/>
              </a:xfrm>
              <a:custGeom>
                <a:avLst/>
                <a:gdLst>
                  <a:gd name="connsiteX0" fmla="*/ 174762 w 177014"/>
                  <a:gd name="connsiteY0" fmla="*/ 5503 h 106208"/>
                  <a:gd name="connsiteX1" fmla="*/ 94944 w 177014"/>
                  <a:gd name="connsiteY1" fmla="*/ 11618 h 106208"/>
                  <a:gd name="connsiteX2" fmla="*/ 4828 w 177014"/>
                  <a:gd name="connsiteY2" fmla="*/ 101734 h 106208"/>
                  <a:gd name="connsiteX3" fmla="*/ 110071 w 177014"/>
                  <a:gd name="connsiteY3" fmla="*/ 101734 h 106208"/>
                </a:gdLst>
                <a:ahLst/>
                <a:cxnLst>
                  <a:cxn ang="0">
                    <a:pos x="connsiteX0" y="connsiteY0"/>
                  </a:cxn>
                  <a:cxn ang="0">
                    <a:pos x="connsiteX1" y="connsiteY1"/>
                  </a:cxn>
                  <a:cxn ang="0">
                    <a:pos x="connsiteX2" y="connsiteY2"/>
                  </a:cxn>
                  <a:cxn ang="0">
                    <a:pos x="connsiteX3" y="connsiteY3"/>
                  </a:cxn>
                </a:cxnLst>
                <a:rect l="l" t="t" r="r" b="b"/>
                <a:pathLst>
                  <a:path w="177014" h="106208">
                    <a:moveTo>
                      <a:pt x="174762" y="5503"/>
                    </a:moveTo>
                    <a:cubicBezTo>
                      <a:pt x="171543" y="2284"/>
                      <a:pt x="94944" y="11618"/>
                      <a:pt x="94944" y="11618"/>
                    </a:cubicBezTo>
                    <a:lnTo>
                      <a:pt x="4828" y="101734"/>
                    </a:lnTo>
                    <a:lnTo>
                      <a:pt x="110071" y="101734"/>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6" name="Freeform: Shape 1010">
                <a:extLst>
                  <a:ext uri="{FF2B5EF4-FFF2-40B4-BE49-F238E27FC236}">
                    <a16:creationId xmlns:a16="http://schemas.microsoft.com/office/drawing/2014/main" id="{80892266-78A0-4929-8FDF-E763F4821753}"/>
                  </a:ext>
                </a:extLst>
              </p:cNvPr>
              <p:cNvSpPr/>
              <p:nvPr/>
            </p:nvSpPr>
            <p:spPr>
              <a:xfrm>
                <a:off x="4949809" y="682347"/>
                <a:ext cx="106209" cy="177014"/>
              </a:xfrm>
              <a:custGeom>
                <a:avLst/>
                <a:gdLst>
                  <a:gd name="connsiteX0" fmla="*/ 101381 w 106208"/>
                  <a:gd name="connsiteY0" fmla="*/ 4828 h 177014"/>
                  <a:gd name="connsiteX1" fmla="*/ 95266 w 106208"/>
                  <a:gd name="connsiteY1" fmla="*/ 84645 h 177014"/>
                  <a:gd name="connsiteX2" fmla="*/ 4828 w 106208"/>
                  <a:gd name="connsiteY2" fmla="*/ 175083 h 177014"/>
                  <a:gd name="connsiteX3" fmla="*/ 4828 w 106208"/>
                  <a:gd name="connsiteY3" fmla="*/ 69840 h 177014"/>
                </a:gdLst>
                <a:ahLst/>
                <a:cxnLst>
                  <a:cxn ang="0">
                    <a:pos x="connsiteX0" y="connsiteY0"/>
                  </a:cxn>
                  <a:cxn ang="0">
                    <a:pos x="connsiteX1" y="connsiteY1"/>
                  </a:cxn>
                  <a:cxn ang="0">
                    <a:pos x="connsiteX2" y="connsiteY2"/>
                  </a:cxn>
                  <a:cxn ang="0">
                    <a:pos x="connsiteX3" y="connsiteY3"/>
                  </a:cxn>
                </a:cxnLst>
                <a:rect l="l" t="t" r="r" b="b"/>
                <a:pathLst>
                  <a:path w="106208" h="177014">
                    <a:moveTo>
                      <a:pt x="101381" y="4828"/>
                    </a:moveTo>
                    <a:cubicBezTo>
                      <a:pt x="104599" y="8046"/>
                      <a:pt x="95266" y="84645"/>
                      <a:pt x="95266" y="84645"/>
                    </a:cubicBezTo>
                    <a:lnTo>
                      <a:pt x="4828" y="175083"/>
                    </a:lnTo>
                    <a:lnTo>
                      <a:pt x="4828" y="69840"/>
                    </a:lnTo>
                  </a:path>
                </a:pathLst>
              </a:custGeom>
              <a:noFill/>
              <a:ln w="15875"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7" name="Freeform: Shape 1011">
                <a:extLst>
                  <a:ext uri="{FF2B5EF4-FFF2-40B4-BE49-F238E27FC236}">
                    <a16:creationId xmlns:a16="http://schemas.microsoft.com/office/drawing/2014/main" id="{82DF55FC-8B9B-4FBB-9BBE-6C3BEDDBDA81}"/>
                  </a:ext>
                </a:extLst>
              </p:cNvPr>
              <p:cNvSpPr/>
              <p:nvPr/>
            </p:nvSpPr>
            <p:spPr>
              <a:xfrm>
                <a:off x="4739323" y="728049"/>
                <a:ext cx="74024" cy="74024"/>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8" name="Freeform: Shape 1012">
                <a:extLst>
                  <a:ext uri="{FF2B5EF4-FFF2-40B4-BE49-F238E27FC236}">
                    <a16:creationId xmlns:a16="http://schemas.microsoft.com/office/drawing/2014/main" id="{ED14E059-8D43-4D99-A4A4-8DC618DF62E2}"/>
                  </a:ext>
                </a:extLst>
              </p:cNvPr>
              <p:cNvSpPr/>
              <p:nvPr/>
            </p:nvSpPr>
            <p:spPr>
              <a:xfrm>
                <a:off x="4795967" y="784694"/>
                <a:ext cx="74024" cy="74024"/>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19" name="Freeform: Shape 1013">
                <a:extLst>
                  <a:ext uri="{FF2B5EF4-FFF2-40B4-BE49-F238E27FC236}">
                    <a16:creationId xmlns:a16="http://schemas.microsoft.com/office/drawing/2014/main" id="{1AE61AA5-9907-4353-9A71-FDAA14D5615B}"/>
                  </a:ext>
                </a:extLst>
              </p:cNvPr>
              <p:cNvSpPr/>
              <p:nvPr/>
            </p:nvSpPr>
            <p:spPr>
              <a:xfrm>
                <a:off x="4739323" y="767314"/>
                <a:ext cx="90116" cy="90116"/>
              </a:xfrm>
              <a:custGeom>
                <a:avLst/>
                <a:gdLst>
                  <a:gd name="connsiteX0" fmla="*/ 86576 w 90116"/>
                  <a:gd name="connsiteY0" fmla="*/ 4828 h 90116"/>
                  <a:gd name="connsiteX1" fmla="*/ 4828 w 90116"/>
                  <a:gd name="connsiteY1" fmla="*/ 86576 h 90116"/>
                </a:gdLst>
                <a:ahLst/>
                <a:cxnLst>
                  <a:cxn ang="0">
                    <a:pos x="connsiteX0" y="connsiteY0"/>
                  </a:cxn>
                  <a:cxn ang="0">
                    <a:pos x="connsiteX1" y="connsiteY1"/>
                  </a:cxn>
                </a:cxnLst>
                <a:rect l="l" t="t" r="r" b="b"/>
                <a:pathLst>
                  <a:path w="90116" h="90116">
                    <a:moveTo>
                      <a:pt x="86576" y="4828"/>
                    </a:moveTo>
                    <a:lnTo>
                      <a:pt x="4828" y="86576"/>
                    </a:lnTo>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0" name="Freeform: Shape 1014">
                <a:extLst>
                  <a:ext uri="{FF2B5EF4-FFF2-40B4-BE49-F238E27FC236}">
                    <a16:creationId xmlns:a16="http://schemas.microsoft.com/office/drawing/2014/main" id="{F211AAAE-A799-4996-BEF0-708E117AF9E4}"/>
                  </a:ext>
                </a:extLst>
              </p:cNvPr>
              <p:cNvSpPr/>
              <p:nvPr/>
            </p:nvSpPr>
            <p:spPr>
              <a:xfrm>
                <a:off x="4988994" y="477252"/>
                <a:ext cx="128738" cy="128738"/>
              </a:xfrm>
              <a:custGeom>
                <a:avLst/>
                <a:gdLst>
                  <a:gd name="connsiteX0" fmla="*/ 66702 w 128737"/>
                  <a:gd name="connsiteY0" fmla="*/ 118841 h 128737"/>
                  <a:gd name="connsiteX1" fmla="*/ 10379 w 128737"/>
                  <a:gd name="connsiteY1" fmla="*/ 62518 h 128737"/>
                  <a:gd name="connsiteX2" fmla="*/ 10379 w 128737"/>
                  <a:gd name="connsiteY2" fmla="*/ 36127 h 128737"/>
                  <a:gd name="connsiteX3" fmla="*/ 36127 w 128737"/>
                  <a:gd name="connsiteY3" fmla="*/ 10379 h 128737"/>
                  <a:gd name="connsiteX4" fmla="*/ 62518 w 128737"/>
                  <a:gd name="connsiteY4" fmla="*/ 10379 h 128737"/>
                  <a:gd name="connsiteX5" fmla="*/ 119163 w 128737"/>
                  <a:gd name="connsiteY5" fmla="*/ 67024 h 128737"/>
                  <a:gd name="connsiteX6" fmla="*/ 119163 w 128737"/>
                  <a:gd name="connsiteY6" fmla="*/ 93415 h 128737"/>
                  <a:gd name="connsiteX7" fmla="*/ 93415 w 128737"/>
                  <a:gd name="connsiteY7" fmla="*/ 119163 h 128737"/>
                  <a:gd name="connsiteX8" fmla="*/ 66702 w 128737"/>
                  <a:gd name="connsiteY8" fmla="*/ 118841 h 1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7" h="128737">
                    <a:moveTo>
                      <a:pt x="66702" y="118841"/>
                    </a:moveTo>
                    <a:lnTo>
                      <a:pt x="10379" y="62518"/>
                    </a:lnTo>
                    <a:cubicBezTo>
                      <a:pt x="2977" y="55116"/>
                      <a:pt x="2977" y="43529"/>
                      <a:pt x="10379" y="36127"/>
                    </a:cubicBezTo>
                    <a:lnTo>
                      <a:pt x="36127" y="10379"/>
                    </a:lnTo>
                    <a:cubicBezTo>
                      <a:pt x="43529" y="2977"/>
                      <a:pt x="55116" y="2977"/>
                      <a:pt x="62518" y="10379"/>
                    </a:cubicBezTo>
                    <a:lnTo>
                      <a:pt x="119163" y="67024"/>
                    </a:lnTo>
                    <a:cubicBezTo>
                      <a:pt x="126565" y="74427"/>
                      <a:pt x="126565" y="86013"/>
                      <a:pt x="119163" y="93415"/>
                    </a:cubicBezTo>
                    <a:lnTo>
                      <a:pt x="93415" y="119163"/>
                    </a:lnTo>
                    <a:cubicBezTo>
                      <a:pt x="86013" y="126243"/>
                      <a:pt x="74105" y="126243"/>
                      <a:pt x="66702" y="118841"/>
                    </a:cubicBezTo>
                    <a:close/>
                  </a:path>
                </a:pathLst>
              </a:custGeom>
              <a:noFill/>
              <a:ln w="15875" cap="flat">
                <a:solidFill>
                  <a:srgbClr val="A166FF"/>
                </a:solidFill>
                <a:prstDash val="solid"/>
                <a:round/>
              </a:ln>
            </p:spPr>
            <p:txBody>
              <a:bodyPr rtlCol="0" anchor="ctr"/>
              <a:lstStyle/>
              <a:p>
                <a:pPr defTabSz="731474">
                  <a:defRPr/>
                </a:pPr>
                <a:endParaRPr lang="en-US" sz="1800" dirty="0">
                  <a:solidFill>
                    <a:srgbClr val="FFFFFF"/>
                  </a:solidFill>
                  <a:latin typeface="Amazon Ember"/>
                </a:endParaRPr>
              </a:p>
            </p:txBody>
          </p:sp>
        </p:grpSp>
      </p:grpSp>
      <p:cxnSp>
        <p:nvCxnSpPr>
          <p:cNvPr id="221" name="Connector: Elbow 1133">
            <a:extLst>
              <a:ext uri="{FF2B5EF4-FFF2-40B4-BE49-F238E27FC236}">
                <a16:creationId xmlns:a16="http://schemas.microsoft.com/office/drawing/2014/main" id="{297968FC-7A4C-4D85-B0F7-5A9BC32C5611}"/>
              </a:ext>
            </a:extLst>
          </p:cNvPr>
          <p:cNvCxnSpPr>
            <a:cxnSpLocks/>
          </p:cNvCxnSpPr>
          <p:nvPr/>
        </p:nvCxnSpPr>
        <p:spPr>
          <a:xfrm rot="5400000" flipH="1" flipV="1">
            <a:off x="11626641" y="2561049"/>
            <a:ext cx="166123" cy="288102"/>
          </a:xfrm>
          <a:prstGeom prst="bentConnector2">
            <a:avLst/>
          </a:prstGeom>
          <a:ln w="19050">
            <a:solidFill>
              <a:srgbClr val="FDC500"/>
            </a:solidFill>
            <a:tailEnd type="arrow" w="lg" len="med"/>
          </a:ln>
          <a:effectLst>
            <a:outerShdw blurRad="40000" dist="20000" dir="5400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grpSp>
        <p:nvGrpSpPr>
          <p:cNvPr id="222" name="Group 221">
            <a:extLst>
              <a:ext uri="{FF2B5EF4-FFF2-40B4-BE49-F238E27FC236}">
                <a16:creationId xmlns:a16="http://schemas.microsoft.com/office/drawing/2014/main" id="{BEFBF8FA-12E6-40C5-82FA-49352B76B5F1}"/>
              </a:ext>
            </a:extLst>
          </p:cNvPr>
          <p:cNvGrpSpPr>
            <a:grpSpLocks noChangeAspect="1"/>
          </p:cNvGrpSpPr>
          <p:nvPr/>
        </p:nvGrpSpPr>
        <p:grpSpPr>
          <a:xfrm>
            <a:off x="11932019" y="2512204"/>
            <a:ext cx="312778" cy="265176"/>
            <a:chOff x="1251736" y="3105936"/>
            <a:chExt cx="1189635" cy="1008586"/>
          </a:xfrm>
        </p:grpSpPr>
        <p:sp>
          <p:nvSpPr>
            <p:cNvPr id="223" name="Freeform: Shape 1138">
              <a:extLst>
                <a:ext uri="{FF2B5EF4-FFF2-40B4-BE49-F238E27FC236}">
                  <a16:creationId xmlns:a16="http://schemas.microsoft.com/office/drawing/2014/main" id="{713107F5-5BAA-45ED-94DB-72A2195FFF2B}"/>
                </a:ext>
              </a:extLst>
            </p:cNvPr>
            <p:cNvSpPr/>
            <p:nvPr/>
          </p:nvSpPr>
          <p:spPr>
            <a:xfrm>
              <a:off x="138249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4" name="Freeform: Shape 1139">
              <a:extLst>
                <a:ext uri="{FF2B5EF4-FFF2-40B4-BE49-F238E27FC236}">
                  <a16:creationId xmlns:a16="http://schemas.microsoft.com/office/drawing/2014/main" id="{2DFACE53-4F63-475A-9747-1B996FCC42BD}"/>
                </a:ext>
              </a:extLst>
            </p:cNvPr>
            <p:cNvSpPr/>
            <p:nvPr/>
          </p:nvSpPr>
          <p:spPr>
            <a:xfrm>
              <a:off x="1622983"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5" name="Freeform: Shape 1140">
              <a:extLst>
                <a:ext uri="{FF2B5EF4-FFF2-40B4-BE49-F238E27FC236}">
                  <a16:creationId xmlns:a16="http://schemas.microsoft.com/office/drawing/2014/main" id="{66AD939C-F20B-40C8-9AED-C892607719FD}"/>
                </a:ext>
              </a:extLst>
            </p:cNvPr>
            <p:cNvSpPr/>
            <p:nvPr/>
          </p:nvSpPr>
          <p:spPr>
            <a:xfrm>
              <a:off x="1864384"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6" name="Freeform: Shape 1141">
              <a:extLst>
                <a:ext uri="{FF2B5EF4-FFF2-40B4-BE49-F238E27FC236}">
                  <a16:creationId xmlns:a16="http://schemas.microsoft.com/office/drawing/2014/main" id="{89BE2CA9-0FCB-436F-8F2B-045936C186CF}"/>
                </a:ext>
              </a:extLst>
            </p:cNvPr>
            <p:cNvSpPr/>
            <p:nvPr/>
          </p:nvSpPr>
          <p:spPr>
            <a:xfrm>
              <a:off x="210578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7" name="Freeform: Shape 1142">
              <a:extLst>
                <a:ext uri="{FF2B5EF4-FFF2-40B4-BE49-F238E27FC236}">
                  <a16:creationId xmlns:a16="http://schemas.microsoft.com/office/drawing/2014/main" id="{15D7A9D6-3D86-4FD6-A193-2AC4A9DE2551}"/>
                </a:ext>
              </a:extLst>
            </p:cNvPr>
            <p:cNvSpPr/>
            <p:nvPr/>
          </p:nvSpPr>
          <p:spPr>
            <a:xfrm>
              <a:off x="2037207" y="3180004"/>
              <a:ext cx="283465" cy="27431"/>
            </a:xfrm>
            <a:custGeom>
              <a:avLst/>
              <a:gdLst>
                <a:gd name="connsiteX0" fmla="*/ 94944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4944"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8" name="Freeform: Shape 1143">
              <a:extLst>
                <a:ext uri="{FF2B5EF4-FFF2-40B4-BE49-F238E27FC236}">
                  <a16:creationId xmlns:a16="http://schemas.microsoft.com/office/drawing/2014/main" id="{4067BD82-886A-4DF3-806E-314FEDA9C78F}"/>
                </a:ext>
              </a:extLst>
            </p:cNvPr>
            <p:cNvSpPr/>
            <p:nvPr/>
          </p:nvSpPr>
          <p:spPr>
            <a:xfrm>
              <a:off x="1718081" y="3180004"/>
              <a:ext cx="283465" cy="27431"/>
            </a:xfrm>
            <a:custGeom>
              <a:avLst/>
              <a:gdLst>
                <a:gd name="connsiteX0" fmla="*/ 95588 w 99771"/>
                <a:gd name="connsiteY0" fmla="*/ 4828 h 9655"/>
                <a:gd name="connsiteX1" fmla="*/ 4828 w 99771"/>
                <a:gd name="connsiteY1" fmla="*/ 5150 h 9655"/>
              </a:gdLst>
              <a:ahLst/>
              <a:cxnLst>
                <a:cxn ang="0">
                  <a:pos x="connsiteX0" y="connsiteY0"/>
                </a:cxn>
                <a:cxn ang="0">
                  <a:pos x="connsiteX1" y="connsiteY1"/>
                </a:cxn>
              </a:cxnLst>
              <a:rect l="l" t="t" r="r" b="b"/>
              <a:pathLst>
                <a:path w="99771" h="9655">
                  <a:moveTo>
                    <a:pt x="95588" y="4828"/>
                  </a:moveTo>
                  <a:lnTo>
                    <a:pt x="4828" y="5150"/>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29" name="Freeform: Shape 1144">
              <a:extLst>
                <a:ext uri="{FF2B5EF4-FFF2-40B4-BE49-F238E27FC236}">
                  <a16:creationId xmlns:a16="http://schemas.microsoft.com/office/drawing/2014/main" id="{60CB438C-0AE0-413A-81DE-27498305AAFC}"/>
                </a:ext>
              </a:extLst>
            </p:cNvPr>
            <p:cNvSpPr/>
            <p:nvPr/>
          </p:nvSpPr>
          <p:spPr>
            <a:xfrm>
              <a:off x="1252651" y="3180004"/>
              <a:ext cx="1188720" cy="155449"/>
            </a:xfrm>
            <a:custGeom>
              <a:avLst/>
              <a:gdLst>
                <a:gd name="connsiteX0" fmla="*/ 392650 w 418397"/>
                <a:gd name="connsiteY0" fmla="*/ 4828 h 54713"/>
                <a:gd name="connsiteX1" fmla="*/ 406811 w 418397"/>
                <a:gd name="connsiteY1" fmla="*/ 4828 h 54713"/>
                <a:gd name="connsiteX2" fmla="*/ 415501 w 418397"/>
                <a:gd name="connsiteY2" fmla="*/ 13517 h 54713"/>
                <a:gd name="connsiteX3" fmla="*/ 415501 w 418397"/>
                <a:gd name="connsiteY3" fmla="*/ 50530 h 54713"/>
                <a:gd name="connsiteX4" fmla="*/ 4828 w 418397"/>
                <a:gd name="connsiteY4" fmla="*/ 50851 h 54713"/>
                <a:gd name="connsiteX5" fmla="*/ 4828 w 418397"/>
                <a:gd name="connsiteY5" fmla="*/ 13839 h 54713"/>
                <a:gd name="connsiteX6" fmla="*/ 13517 w 418397"/>
                <a:gd name="connsiteY6" fmla="*/ 5150 h 54713"/>
                <a:gd name="connsiteX7" fmla="*/ 35725 w 418397"/>
                <a:gd name="connsiteY7" fmla="*/ 5150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54713">
                  <a:moveTo>
                    <a:pt x="392650" y="4828"/>
                  </a:moveTo>
                  <a:lnTo>
                    <a:pt x="406811" y="4828"/>
                  </a:lnTo>
                  <a:cubicBezTo>
                    <a:pt x="411639" y="4828"/>
                    <a:pt x="415501" y="8690"/>
                    <a:pt x="415501" y="13517"/>
                  </a:cubicBezTo>
                  <a:lnTo>
                    <a:pt x="415501" y="50530"/>
                  </a:lnTo>
                  <a:lnTo>
                    <a:pt x="4828" y="50851"/>
                  </a:lnTo>
                  <a:lnTo>
                    <a:pt x="4828" y="13839"/>
                  </a:lnTo>
                  <a:cubicBezTo>
                    <a:pt x="4828" y="9012"/>
                    <a:pt x="8690" y="5150"/>
                    <a:pt x="13517" y="5150"/>
                  </a:cubicBezTo>
                  <a:lnTo>
                    <a:pt x="35725" y="5150"/>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0" name="Freeform: Shape 1145">
              <a:extLst>
                <a:ext uri="{FF2B5EF4-FFF2-40B4-BE49-F238E27FC236}">
                  <a16:creationId xmlns:a16="http://schemas.microsoft.com/office/drawing/2014/main" id="{3FE9D6D9-7418-453C-8156-B07F5CD9A05F}"/>
                </a:ext>
              </a:extLst>
            </p:cNvPr>
            <p:cNvSpPr/>
            <p:nvPr/>
          </p:nvSpPr>
          <p:spPr>
            <a:xfrm>
              <a:off x="1400784" y="3180919"/>
              <a:ext cx="283465" cy="27431"/>
            </a:xfrm>
            <a:custGeom>
              <a:avLst/>
              <a:gdLst>
                <a:gd name="connsiteX0" fmla="*/ 95266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5266"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1" name="Freeform: Shape 1146">
              <a:extLst>
                <a:ext uri="{FF2B5EF4-FFF2-40B4-BE49-F238E27FC236}">
                  <a16:creationId xmlns:a16="http://schemas.microsoft.com/office/drawing/2014/main" id="{41B695E7-5844-41A2-9171-714F4D17A2C2}"/>
                </a:ext>
              </a:extLst>
            </p:cNvPr>
            <p:cNvSpPr/>
            <p:nvPr/>
          </p:nvSpPr>
          <p:spPr>
            <a:xfrm>
              <a:off x="133951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2" name="Freeform: Shape 1147">
              <a:extLst>
                <a:ext uri="{FF2B5EF4-FFF2-40B4-BE49-F238E27FC236}">
                  <a16:creationId xmlns:a16="http://schemas.microsoft.com/office/drawing/2014/main" id="{217781C0-6BA4-4F25-8F81-D478283CC00E}"/>
                </a:ext>
              </a:extLst>
            </p:cNvPr>
            <p:cNvSpPr/>
            <p:nvPr/>
          </p:nvSpPr>
          <p:spPr>
            <a:xfrm>
              <a:off x="1657730"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3" name="Freeform: Shape 1148">
              <a:extLst>
                <a:ext uri="{FF2B5EF4-FFF2-40B4-BE49-F238E27FC236}">
                  <a16:creationId xmlns:a16="http://schemas.microsoft.com/office/drawing/2014/main" id="{48C3B803-4E94-4FAD-8EB1-2ED966B73E46}"/>
                </a:ext>
              </a:extLst>
            </p:cNvPr>
            <p:cNvSpPr/>
            <p:nvPr/>
          </p:nvSpPr>
          <p:spPr>
            <a:xfrm>
              <a:off x="229323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4" name="Freeform: Shape 1149">
              <a:extLst>
                <a:ext uri="{FF2B5EF4-FFF2-40B4-BE49-F238E27FC236}">
                  <a16:creationId xmlns:a16="http://schemas.microsoft.com/office/drawing/2014/main" id="{7BCFF909-5D95-4F60-8B8C-8B5FB3D477CE}"/>
                </a:ext>
              </a:extLst>
            </p:cNvPr>
            <p:cNvSpPr/>
            <p:nvPr/>
          </p:nvSpPr>
          <p:spPr>
            <a:xfrm>
              <a:off x="1975941"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5" name="Freeform: Shape 1150">
              <a:extLst>
                <a:ext uri="{FF2B5EF4-FFF2-40B4-BE49-F238E27FC236}">
                  <a16:creationId xmlns:a16="http://schemas.microsoft.com/office/drawing/2014/main" id="{6C022DE0-3C37-478D-B3A4-8139C56794ED}"/>
                </a:ext>
              </a:extLst>
            </p:cNvPr>
            <p:cNvSpPr/>
            <p:nvPr/>
          </p:nvSpPr>
          <p:spPr>
            <a:xfrm>
              <a:off x="138249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6" name="Freeform: Shape 1151">
              <a:extLst>
                <a:ext uri="{FF2B5EF4-FFF2-40B4-BE49-F238E27FC236}">
                  <a16:creationId xmlns:a16="http://schemas.microsoft.com/office/drawing/2014/main" id="{0895284B-24B3-4F35-AB14-A45F59E04749}"/>
                </a:ext>
              </a:extLst>
            </p:cNvPr>
            <p:cNvSpPr/>
            <p:nvPr/>
          </p:nvSpPr>
          <p:spPr>
            <a:xfrm>
              <a:off x="1622983"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7" name="Freeform: Shape 1152">
              <a:extLst>
                <a:ext uri="{FF2B5EF4-FFF2-40B4-BE49-F238E27FC236}">
                  <a16:creationId xmlns:a16="http://schemas.microsoft.com/office/drawing/2014/main" id="{36A48713-A325-45B7-AE7E-E0ACE23EE6C4}"/>
                </a:ext>
              </a:extLst>
            </p:cNvPr>
            <p:cNvSpPr/>
            <p:nvPr/>
          </p:nvSpPr>
          <p:spPr>
            <a:xfrm>
              <a:off x="1864384"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8" name="Freeform: Shape 1153">
              <a:extLst>
                <a:ext uri="{FF2B5EF4-FFF2-40B4-BE49-F238E27FC236}">
                  <a16:creationId xmlns:a16="http://schemas.microsoft.com/office/drawing/2014/main" id="{6976F554-C1CC-4069-8446-46EF3C8A7FB2}"/>
                </a:ext>
              </a:extLst>
            </p:cNvPr>
            <p:cNvSpPr/>
            <p:nvPr/>
          </p:nvSpPr>
          <p:spPr>
            <a:xfrm>
              <a:off x="210578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39" name="Freeform: Shape 1154">
              <a:extLst>
                <a:ext uri="{FF2B5EF4-FFF2-40B4-BE49-F238E27FC236}">
                  <a16:creationId xmlns:a16="http://schemas.microsoft.com/office/drawing/2014/main" id="{FB428E12-A57A-4489-84BC-BE07887FBC3E}"/>
                </a:ext>
              </a:extLst>
            </p:cNvPr>
            <p:cNvSpPr/>
            <p:nvPr/>
          </p:nvSpPr>
          <p:spPr>
            <a:xfrm>
              <a:off x="1382496" y="3935297"/>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0" name="Freeform: Shape 1155">
              <a:extLst>
                <a:ext uri="{FF2B5EF4-FFF2-40B4-BE49-F238E27FC236}">
                  <a16:creationId xmlns:a16="http://schemas.microsoft.com/office/drawing/2014/main" id="{9BAA4D31-8C4E-4634-BCA7-91387C7F170C}"/>
                </a:ext>
              </a:extLst>
            </p:cNvPr>
            <p:cNvSpPr/>
            <p:nvPr/>
          </p:nvSpPr>
          <p:spPr>
            <a:xfrm>
              <a:off x="1622983"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1" name="Freeform: Shape 1156">
              <a:extLst>
                <a:ext uri="{FF2B5EF4-FFF2-40B4-BE49-F238E27FC236}">
                  <a16:creationId xmlns:a16="http://schemas.microsoft.com/office/drawing/2014/main" id="{1898DBF6-CD0B-47C5-8262-5A190D8F1C98}"/>
                </a:ext>
              </a:extLst>
            </p:cNvPr>
            <p:cNvSpPr/>
            <p:nvPr/>
          </p:nvSpPr>
          <p:spPr>
            <a:xfrm>
              <a:off x="1864384"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2" name="Freeform: Shape 1157">
              <a:extLst>
                <a:ext uri="{FF2B5EF4-FFF2-40B4-BE49-F238E27FC236}">
                  <a16:creationId xmlns:a16="http://schemas.microsoft.com/office/drawing/2014/main" id="{E9665937-BA44-4330-9903-9EFAA434C1D0}"/>
                </a:ext>
              </a:extLst>
            </p:cNvPr>
            <p:cNvSpPr/>
            <p:nvPr/>
          </p:nvSpPr>
          <p:spPr>
            <a:xfrm>
              <a:off x="1251736" y="3309850"/>
              <a:ext cx="1188720" cy="804672"/>
            </a:xfrm>
            <a:custGeom>
              <a:avLst/>
              <a:gdLst>
                <a:gd name="connsiteX0" fmla="*/ 5150 w 418397"/>
                <a:gd name="connsiteY0" fmla="*/ 5150 h 283223"/>
                <a:gd name="connsiteX1" fmla="*/ 415823 w 418397"/>
                <a:gd name="connsiteY1" fmla="*/ 4828 h 283223"/>
                <a:gd name="connsiteX2" fmla="*/ 415823 w 418397"/>
                <a:gd name="connsiteY2" fmla="*/ 270671 h 283223"/>
                <a:gd name="connsiteX3" fmla="*/ 407133 w 418397"/>
                <a:gd name="connsiteY3" fmla="*/ 279361 h 283223"/>
                <a:gd name="connsiteX4" fmla="*/ 13517 w 418397"/>
                <a:gd name="connsiteY4" fmla="*/ 279683 h 283223"/>
                <a:gd name="connsiteX5" fmla="*/ 4828 w 418397"/>
                <a:gd name="connsiteY5" fmla="*/ 270993 h 283223"/>
                <a:gd name="connsiteX6" fmla="*/ 4828 w 418397"/>
                <a:gd name="connsiteY6" fmla="*/ 48277 h 283223"/>
                <a:gd name="connsiteX7" fmla="*/ 35725 w 418397"/>
                <a:gd name="connsiteY7" fmla="*/ 48277 h 28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283223">
                  <a:moveTo>
                    <a:pt x="5150" y="5150"/>
                  </a:moveTo>
                  <a:lnTo>
                    <a:pt x="415823" y="4828"/>
                  </a:lnTo>
                  <a:lnTo>
                    <a:pt x="415823" y="270671"/>
                  </a:lnTo>
                  <a:cubicBezTo>
                    <a:pt x="415823" y="275499"/>
                    <a:pt x="411961" y="279361"/>
                    <a:pt x="407133" y="279361"/>
                  </a:cubicBezTo>
                  <a:lnTo>
                    <a:pt x="13517" y="279683"/>
                  </a:lnTo>
                  <a:cubicBezTo>
                    <a:pt x="8690" y="279683"/>
                    <a:pt x="4828" y="275821"/>
                    <a:pt x="4828" y="270993"/>
                  </a:cubicBezTo>
                  <a:lnTo>
                    <a:pt x="4828" y="48277"/>
                  </a:lnTo>
                  <a:lnTo>
                    <a:pt x="35725" y="48277"/>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3" name="Freeform: Shape 1158">
              <a:extLst>
                <a:ext uri="{FF2B5EF4-FFF2-40B4-BE49-F238E27FC236}">
                  <a16:creationId xmlns:a16="http://schemas.microsoft.com/office/drawing/2014/main" id="{3624692B-41E4-48D9-A12B-672CD082EBDE}"/>
                </a:ext>
              </a:extLst>
            </p:cNvPr>
            <p:cNvSpPr/>
            <p:nvPr/>
          </p:nvSpPr>
          <p:spPr>
            <a:xfrm>
              <a:off x="2131390" y="3867633"/>
              <a:ext cx="164592" cy="164592"/>
            </a:xfrm>
            <a:custGeom>
              <a:avLst/>
              <a:gdLst>
                <a:gd name="connsiteX0" fmla="*/ 4828 w 57932"/>
                <a:gd name="connsiteY0" fmla="*/ 4828 h 57932"/>
                <a:gd name="connsiteX1" fmla="*/ 54070 w 57932"/>
                <a:gd name="connsiteY1" fmla="*/ 54070 h 57932"/>
              </a:gdLst>
              <a:ahLst/>
              <a:cxnLst>
                <a:cxn ang="0">
                  <a:pos x="connsiteX0" y="connsiteY0"/>
                </a:cxn>
                <a:cxn ang="0">
                  <a:pos x="connsiteX1" y="connsiteY1"/>
                </a:cxn>
              </a:cxnLst>
              <a:rect l="l" t="t" r="r" b="b"/>
              <a:pathLst>
                <a:path w="57932" h="57932">
                  <a:moveTo>
                    <a:pt x="4828" y="4828"/>
                  </a:moveTo>
                  <a:lnTo>
                    <a:pt x="54070" y="54070"/>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4" name="Freeform: Shape 1159">
              <a:extLst>
                <a:ext uri="{FF2B5EF4-FFF2-40B4-BE49-F238E27FC236}">
                  <a16:creationId xmlns:a16="http://schemas.microsoft.com/office/drawing/2014/main" id="{7FF7903F-70E3-47DF-BFAE-B937BEB81015}"/>
                </a:ext>
              </a:extLst>
            </p:cNvPr>
            <p:cNvSpPr/>
            <p:nvPr/>
          </p:nvSpPr>
          <p:spPr>
            <a:xfrm>
              <a:off x="2131390" y="3867633"/>
              <a:ext cx="164592" cy="164592"/>
            </a:xfrm>
            <a:custGeom>
              <a:avLst/>
              <a:gdLst>
                <a:gd name="connsiteX0" fmla="*/ 54070 w 57932"/>
                <a:gd name="connsiteY0" fmla="*/ 4828 h 57932"/>
                <a:gd name="connsiteX1" fmla="*/ 4828 w 57932"/>
                <a:gd name="connsiteY1" fmla="*/ 54392 h 57932"/>
              </a:gdLst>
              <a:ahLst/>
              <a:cxnLst>
                <a:cxn ang="0">
                  <a:pos x="connsiteX0" y="connsiteY0"/>
                </a:cxn>
                <a:cxn ang="0">
                  <a:pos x="connsiteX1" y="connsiteY1"/>
                </a:cxn>
              </a:cxnLst>
              <a:rect l="l" t="t" r="r" b="b"/>
              <a:pathLst>
                <a:path w="57932" h="57932">
                  <a:moveTo>
                    <a:pt x="54070" y="4828"/>
                  </a:moveTo>
                  <a:lnTo>
                    <a:pt x="4828" y="5439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cxnSp>
        <p:nvCxnSpPr>
          <p:cNvPr id="245" name="Connector: Elbow 1241">
            <a:extLst>
              <a:ext uri="{FF2B5EF4-FFF2-40B4-BE49-F238E27FC236}">
                <a16:creationId xmlns:a16="http://schemas.microsoft.com/office/drawing/2014/main" id="{15C36C9E-495E-481D-B80C-F4666020786C}"/>
              </a:ext>
            </a:extLst>
          </p:cNvPr>
          <p:cNvCxnSpPr>
            <a:cxnSpLocks/>
          </p:cNvCxnSpPr>
          <p:nvPr/>
        </p:nvCxnSpPr>
        <p:spPr>
          <a:xfrm rot="5400000" flipH="1" flipV="1">
            <a:off x="11799958" y="2019537"/>
            <a:ext cx="166123" cy="288102"/>
          </a:xfrm>
          <a:prstGeom prst="bentConnector2">
            <a:avLst/>
          </a:prstGeom>
          <a:ln w="19050">
            <a:solidFill>
              <a:srgbClr val="FDC500"/>
            </a:solidFill>
            <a:tailEnd type="arrow" w="lg" len="med"/>
          </a:ln>
          <a:effectLst>
            <a:outerShdw blurRad="40000" dist="20000" dir="5400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grpSp>
        <p:nvGrpSpPr>
          <p:cNvPr id="246" name="Group 245">
            <a:extLst>
              <a:ext uri="{FF2B5EF4-FFF2-40B4-BE49-F238E27FC236}">
                <a16:creationId xmlns:a16="http://schemas.microsoft.com/office/drawing/2014/main" id="{F8A9CA52-CD88-4E7F-BC4E-CA98E01ADABB}"/>
              </a:ext>
            </a:extLst>
          </p:cNvPr>
          <p:cNvGrpSpPr/>
          <p:nvPr/>
        </p:nvGrpSpPr>
        <p:grpSpPr>
          <a:xfrm>
            <a:off x="13045450" y="1942875"/>
            <a:ext cx="404028" cy="322423"/>
            <a:chOff x="6630539" y="5287514"/>
            <a:chExt cx="1865762" cy="1488919"/>
          </a:xfrm>
        </p:grpSpPr>
        <p:sp>
          <p:nvSpPr>
            <p:cNvPr id="247" name="Freeform: Shape 1339">
              <a:extLst>
                <a:ext uri="{FF2B5EF4-FFF2-40B4-BE49-F238E27FC236}">
                  <a16:creationId xmlns:a16="http://schemas.microsoft.com/office/drawing/2014/main" id="{5944CC31-7163-4305-8BFA-0F9908F637F1}"/>
                </a:ext>
              </a:extLst>
            </p:cNvPr>
            <p:cNvSpPr/>
            <p:nvPr/>
          </p:nvSpPr>
          <p:spPr>
            <a:xfrm>
              <a:off x="7750331" y="6186674"/>
              <a:ext cx="589759" cy="589759"/>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8" name="Freeform: Shape 1340">
              <a:extLst>
                <a:ext uri="{FF2B5EF4-FFF2-40B4-BE49-F238E27FC236}">
                  <a16:creationId xmlns:a16="http://schemas.microsoft.com/office/drawing/2014/main" id="{EE96CFF0-43EC-47EF-A594-DA18A677B336}"/>
                </a:ext>
              </a:extLst>
            </p:cNvPr>
            <p:cNvSpPr/>
            <p:nvPr/>
          </p:nvSpPr>
          <p:spPr>
            <a:xfrm>
              <a:off x="7919525" y="6357802"/>
              <a:ext cx="251374" cy="25137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49" name="Freeform: Shape 1341">
              <a:extLst>
                <a:ext uri="{FF2B5EF4-FFF2-40B4-BE49-F238E27FC236}">
                  <a16:creationId xmlns:a16="http://schemas.microsoft.com/office/drawing/2014/main" id="{F7E46619-DE03-4AFD-812E-04889072818B}"/>
                </a:ext>
              </a:extLst>
            </p:cNvPr>
            <p:cNvSpPr/>
            <p:nvPr/>
          </p:nvSpPr>
          <p:spPr>
            <a:xfrm>
              <a:off x="7997836" y="6436114"/>
              <a:ext cx="96681" cy="96681"/>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0" name="Freeform: Shape 1342">
              <a:extLst>
                <a:ext uri="{FF2B5EF4-FFF2-40B4-BE49-F238E27FC236}">
                  <a16:creationId xmlns:a16="http://schemas.microsoft.com/office/drawing/2014/main" id="{4905B333-2145-4022-9DC0-549DE61B413D}"/>
                </a:ext>
              </a:extLst>
            </p:cNvPr>
            <p:cNvSpPr/>
            <p:nvPr/>
          </p:nvSpPr>
          <p:spPr>
            <a:xfrm>
              <a:off x="6630539" y="5548499"/>
              <a:ext cx="1119001" cy="1119001"/>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1" name="Freeform: Shape 1343">
              <a:extLst>
                <a:ext uri="{FF2B5EF4-FFF2-40B4-BE49-F238E27FC236}">
                  <a16:creationId xmlns:a16="http://schemas.microsoft.com/office/drawing/2014/main" id="{47A726E3-91C3-4A08-84D4-3F2E7A13D5A5}"/>
                </a:ext>
              </a:extLst>
            </p:cNvPr>
            <p:cNvSpPr/>
            <p:nvPr/>
          </p:nvSpPr>
          <p:spPr>
            <a:xfrm>
              <a:off x="6951565" y="5873196"/>
              <a:ext cx="476954" cy="47695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2" name="Freeform: Shape 1344">
              <a:extLst>
                <a:ext uri="{FF2B5EF4-FFF2-40B4-BE49-F238E27FC236}">
                  <a16:creationId xmlns:a16="http://schemas.microsoft.com/office/drawing/2014/main" id="{B0C904E0-EBAB-404F-8D87-9C0E5EE86D79}"/>
                </a:ext>
              </a:extLst>
            </p:cNvPr>
            <p:cNvSpPr/>
            <p:nvPr/>
          </p:nvSpPr>
          <p:spPr>
            <a:xfrm>
              <a:off x="7100152" y="6021782"/>
              <a:ext cx="183440" cy="183440"/>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3" name="Freeform: Shape 1345">
              <a:extLst>
                <a:ext uri="{FF2B5EF4-FFF2-40B4-BE49-F238E27FC236}">
                  <a16:creationId xmlns:a16="http://schemas.microsoft.com/office/drawing/2014/main" id="{F6EFE659-D745-4E68-94E3-445C294B19FE}"/>
                </a:ext>
              </a:extLst>
            </p:cNvPr>
            <p:cNvSpPr/>
            <p:nvPr/>
          </p:nvSpPr>
          <p:spPr>
            <a:xfrm>
              <a:off x="7702707" y="5287514"/>
              <a:ext cx="793594" cy="793594"/>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4" name="Freeform: Shape 1346">
              <a:extLst>
                <a:ext uri="{FF2B5EF4-FFF2-40B4-BE49-F238E27FC236}">
                  <a16:creationId xmlns:a16="http://schemas.microsoft.com/office/drawing/2014/main" id="{36CA514B-E9DB-466C-853D-2B4E6F8948C7}"/>
                </a:ext>
              </a:extLst>
            </p:cNvPr>
            <p:cNvSpPr/>
            <p:nvPr/>
          </p:nvSpPr>
          <p:spPr>
            <a:xfrm>
              <a:off x="7930378" y="5517789"/>
              <a:ext cx="338255" cy="338255"/>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55" name="Freeform: Shape 1347">
              <a:extLst>
                <a:ext uri="{FF2B5EF4-FFF2-40B4-BE49-F238E27FC236}">
                  <a16:creationId xmlns:a16="http://schemas.microsoft.com/office/drawing/2014/main" id="{D28B4C4E-2E4B-4E31-854E-17D68956C5A0}"/>
                </a:ext>
              </a:extLst>
            </p:cNvPr>
            <p:cNvSpPr/>
            <p:nvPr/>
          </p:nvSpPr>
          <p:spPr>
            <a:xfrm>
              <a:off x="8035756" y="5623166"/>
              <a:ext cx="130096" cy="130096"/>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256" name="Group 255">
            <a:extLst>
              <a:ext uri="{FF2B5EF4-FFF2-40B4-BE49-F238E27FC236}">
                <a16:creationId xmlns:a16="http://schemas.microsoft.com/office/drawing/2014/main" id="{C9376807-BD57-4EE1-BCF3-2EA1E3B3268A}"/>
              </a:ext>
            </a:extLst>
          </p:cNvPr>
          <p:cNvGrpSpPr/>
          <p:nvPr/>
        </p:nvGrpSpPr>
        <p:grpSpPr>
          <a:xfrm>
            <a:off x="13557233" y="1926940"/>
            <a:ext cx="462784" cy="356616"/>
            <a:chOff x="13914391" y="3271480"/>
            <a:chExt cx="462784" cy="356616"/>
          </a:xfrm>
        </p:grpSpPr>
        <p:grpSp>
          <p:nvGrpSpPr>
            <p:cNvPr id="257" name="Group 256">
              <a:extLst>
                <a:ext uri="{FF2B5EF4-FFF2-40B4-BE49-F238E27FC236}">
                  <a16:creationId xmlns:a16="http://schemas.microsoft.com/office/drawing/2014/main" id="{0AA86AD2-F41F-4F6B-80DD-1037D4DDB953}"/>
                </a:ext>
              </a:extLst>
            </p:cNvPr>
            <p:cNvGrpSpPr/>
            <p:nvPr/>
          </p:nvGrpSpPr>
          <p:grpSpPr>
            <a:xfrm>
              <a:off x="13914391" y="3271480"/>
              <a:ext cx="334784" cy="292114"/>
              <a:chOff x="8648967" y="2983833"/>
              <a:chExt cx="1285975" cy="1122070"/>
            </a:xfrm>
          </p:grpSpPr>
          <p:sp>
            <p:nvSpPr>
              <p:cNvPr id="285" name="Freeform: Shape 1327">
                <a:extLst>
                  <a:ext uri="{FF2B5EF4-FFF2-40B4-BE49-F238E27FC236}">
                    <a16:creationId xmlns:a16="http://schemas.microsoft.com/office/drawing/2014/main" id="{B811593E-1B84-412F-B45F-0D30A249A0D4}"/>
                  </a:ext>
                </a:extLst>
              </p:cNvPr>
              <p:cNvSpPr/>
              <p:nvPr/>
            </p:nvSpPr>
            <p:spPr>
              <a:xfrm>
                <a:off x="9051631" y="3389926"/>
                <a:ext cx="822960" cy="576072"/>
              </a:xfrm>
              <a:custGeom>
                <a:avLst/>
                <a:gdLst>
                  <a:gd name="connsiteX0" fmla="*/ 288051 w 289660"/>
                  <a:gd name="connsiteY0" fmla="*/ 93657 h 202762"/>
                  <a:gd name="connsiteX1" fmla="*/ 288051 w 289660"/>
                  <a:gd name="connsiteY1" fmla="*/ 12552 h 202762"/>
                  <a:gd name="connsiteX2" fmla="*/ 280327 w 289660"/>
                  <a:gd name="connsiteY2" fmla="*/ 4828 h 202762"/>
                  <a:gd name="connsiteX3" fmla="*/ 12552 w 289660"/>
                  <a:gd name="connsiteY3" fmla="*/ 4828 h 202762"/>
                  <a:gd name="connsiteX4" fmla="*/ 4828 w 289660"/>
                  <a:gd name="connsiteY4" fmla="*/ 12552 h 202762"/>
                  <a:gd name="connsiteX5" fmla="*/ 4828 w 289660"/>
                  <a:gd name="connsiteY5" fmla="*/ 190854 h 202762"/>
                  <a:gd name="connsiteX6" fmla="*/ 12552 w 289660"/>
                  <a:gd name="connsiteY6" fmla="*/ 198578 h 202762"/>
                  <a:gd name="connsiteX7" fmla="*/ 225613 w 289660"/>
                  <a:gd name="connsiteY7" fmla="*/ 198578 h 20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60" h="202762">
                    <a:moveTo>
                      <a:pt x="288051" y="93657"/>
                    </a:moveTo>
                    <a:lnTo>
                      <a:pt x="288051" y="12552"/>
                    </a:lnTo>
                    <a:cubicBezTo>
                      <a:pt x="288051" y="8046"/>
                      <a:pt x="284511" y="4828"/>
                      <a:pt x="280327" y="4828"/>
                    </a:cubicBezTo>
                    <a:lnTo>
                      <a:pt x="12552" y="4828"/>
                    </a:lnTo>
                    <a:cubicBezTo>
                      <a:pt x="8046" y="4828"/>
                      <a:pt x="4828" y="8368"/>
                      <a:pt x="4828" y="12552"/>
                    </a:cubicBezTo>
                    <a:lnTo>
                      <a:pt x="4828" y="190854"/>
                    </a:lnTo>
                    <a:cubicBezTo>
                      <a:pt x="4828" y="195360"/>
                      <a:pt x="8368" y="198578"/>
                      <a:pt x="12552" y="198578"/>
                    </a:cubicBezTo>
                    <a:lnTo>
                      <a:pt x="225613" y="19857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86" name="Freeform: Shape 1328">
                <a:extLst>
                  <a:ext uri="{FF2B5EF4-FFF2-40B4-BE49-F238E27FC236}">
                    <a16:creationId xmlns:a16="http://schemas.microsoft.com/office/drawing/2014/main" id="{47FCE0D5-AE7B-432A-AE8A-16EB37DC3C7C}"/>
                  </a:ext>
                </a:extLst>
              </p:cNvPr>
              <p:cNvSpPr/>
              <p:nvPr/>
            </p:nvSpPr>
            <p:spPr>
              <a:xfrm>
                <a:off x="8896185" y="4005319"/>
                <a:ext cx="841248" cy="100584"/>
              </a:xfrm>
              <a:custGeom>
                <a:avLst/>
                <a:gdLst>
                  <a:gd name="connsiteX0" fmla="*/ 291913 w 296096"/>
                  <a:gd name="connsiteY0" fmla="*/ 33472 h 35402"/>
                  <a:gd name="connsiteX1" fmla="*/ 28000 w 296096"/>
                  <a:gd name="connsiteY1" fmla="*/ 33472 h 35402"/>
                  <a:gd name="connsiteX2" fmla="*/ 4828 w 296096"/>
                  <a:gd name="connsiteY2" fmla="*/ 23495 h 35402"/>
                  <a:gd name="connsiteX3" fmla="*/ 4828 w 296096"/>
                  <a:gd name="connsiteY3" fmla="*/ 4828 h 35402"/>
                  <a:gd name="connsiteX4" fmla="*/ 42483 w 296096"/>
                  <a:gd name="connsiteY4" fmla="*/ 4828 h 3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96" h="35402">
                    <a:moveTo>
                      <a:pt x="291913" y="33472"/>
                    </a:moveTo>
                    <a:lnTo>
                      <a:pt x="28000" y="33472"/>
                    </a:lnTo>
                    <a:cubicBezTo>
                      <a:pt x="28000" y="33472"/>
                      <a:pt x="11265" y="33472"/>
                      <a:pt x="4828" y="23495"/>
                    </a:cubicBezTo>
                    <a:lnTo>
                      <a:pt x="4828" y="4828"/>
                    </a:lnTo>
                    <a:lnTo>
                      <a:pt x="42483"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87" name="Freeform: Shape 1329">
                <a:extLst>
                  <a:ext uri="{FF2B5EF4-FFF2-40B4-BE49-F238E27FC236}">
                    <a16:creationId xmlns:a16="http://schemas.microsoft.com/office/drawing/2014/main" id="{9DC39603-5DA8-43C4-9AD6-070578F4A908}"/>
                  </a:ext>
                </a:extLst>
              </p:cNvPr>
              <p:cNvSpPr/>
              <p:nvPr/>
            </p:nvSpPr>
            <p:spPr>
              <a:xfrm>
                <a:off x="8993109" y="3337806"/>
                <a:ext cx="941833" cy="685799"/>
              </a:xfrm>
              <a:custGeom>
                <a:avLst/>
                <a:gdLst>
                  <a:gd name="connsiteX0" fmla="*/ 327638 w 331499"/>
                  <a:gd name="connsiteY0" fmla="*/ 93335 h 241383"/>
                  <a:gd name="connsiteX1" fmla="*/ 327638 w 331499"/>
                  <a:gd name="connsiteY1" fmla="*/ 12552 h 241383"/>
                  <a:gd name="connsiteX2" fmla="*/ 319913 w 331499"/>
                  <a:gd name="connsiteY2" fmla="*/ 4828 h 241383"/>
                  <a:gd name="connsiteX3" fmla="*/ 12552 w 331499"/>
                  <a:gd name="connsiteY3" fmla="*/ 4828 h 241383"/>
                  <a:gd name="connsiteX4" fmla="*/ 4828 w 331499"/>
                  <a:gd name="connsiteY4" fmla="*/ 12552 h 241383"/>
                  <a:gd name="connsiteX5" fmla="*/ 4828 w 331499"/>
                  <a:gd name="connsiteY5" fmla="*/ 232050 h 241383"/>
                  <a:gd name="connsiteX6" fmla="*/ 12552 w 331499"/>
                  <a:gd name="connsiteY6" fmla="*/ 239774 h 241383"/>
                  <a:gd name="connsiteX7" fmla="*/ 255223 w 331499"/>
                  <a:gd name="connsiteY7" fmla="*/ 239774 h 24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499" h="241383">
                    <a:moveTo>
                      <a:pt x="327638" y="93335"/>
                    </a:moveTo>
                    <a:lnTo>
                      <a:pt x="327638" y="12552"/>
                    </a:lnTo>
                    <a:cubicBezTo>
                      <a:pt x="327638" y="8046"/>
                      <a:pt x="324097" y="4828"/>
                      <a:pt x="319913" y="4828"/>
                    </a:cubicBezTo>
                    <a:lnTo>
                      <a:pt x="12552" y="4828"/>
                    </a:lnTo>
                    <a:cubicBezTo>
                      <a:pt x="8046" y="4828"/>
                      <a:pt x="4828" y="8368"/>
                      <a:pt x="4828" y="12552"/>
                    </a:cubicBezTo>
                    <a:lnTo>
                      <a:pt x="4828" y="232050"/>
                    </a:lnTo>
                    <a:cubicBezTo>
                      <a:pt x="4828" y="236556"/>
                      <a:pt x="8368" y="239774"/>
                      <a:pt x="12552" y="239774"/>
                    </a:cubicBezTo>
                    <a:lnTo>
                      <a:pt x="255223" y="23977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88" name="Freeform: Shape 1330">
                <a:extLst>
                  <a:ext uri="{FF2B5EF4-FFF2-40B4-BE49-F238E27FC236}">
                    <a16:creationId xmlns:a16="http://schemas.microsoft.com/office/drawing/2014/main" id="{E19F6481-CA9F-4B70-8027-72700993CDA7}"/>
                  </a:ext>
                </a:extLst>
              </p:cNvPr>
              <p:cNvSpPr/>
              <p:nvPr/>
            </p:nvSpPr>
            <p:spPr>
              <a:xfrm>
                <a:off x="9042974" y="327572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89" name="Freeform: Shape 1331">
                <a:extLst>
                  <a:ext uri="{FF2B5EF4-FFF2-40B4-BE49-F238E27FC236}">
                    <a16:creationId xmlns:a16="http://schemas.microsoft.com/office/drawing/2014/main" id="{E7990FAB-E721-47E4-8BC0-A85AB1FE3B82}"/>
                  </a:ext>
                </a:extLst>
              </p:cNvPr>
              <p:cNvSpPr/>
              <p:nvPr/>
            </p:nvSpPr>
            <p:spPr>
              <a:xfrm>
                <a:off x="8961937" y="316267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0" name="Freeform: Shape 1332">
                <a:extLst>
                  <a:ext uri="{FF2B5EF4-FFF2-40B4-BE49-F238E27FC236}">
                    <a16:creationId xmlns:a16="http://schemas.microsoft.com/office/drawing/2014/main" id="{427BA8A0-9A76-4BC8-B2E0-4F675416CEC8}"/>
                  </a:ext>
                </a:extLst>
              </p:cNvPr>
              <p:cNvSpPr/>
              <p:nvPr/>
            </p:nvSpPr>
            <p:spPr>
              <a:xfrm>
                <a:off x="9074170" y="3039948"/>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1" name="Freeform: Shape 1333">
                <a:extLst>
                  <a:ext uri="{FF2B5EF4-FFF2-40B4-BE49-F238E27FC236}">
                    <a16:creationId xmlns:a16="http://schemas.microsoft.com/office/drawing/2014/main" id="{06E14133-D5DE-4BC7-8D8F-6C76B63A3798}"/>
                  </a:ext>
                </a:extLst>
              </p:cNvPr>
              <p:cNvSpPr/>
              <p:nvPr/>
            </p:nvSpPr>
            <p:spPr>
              <a:xfrm>
                <a:off x="8648967" y="298383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2" name="Freeform: Shape 1334">
                <a:extLst>
                  <a:ext uri="{FF2B5EF4-FFF2-40B4-BE49-F238E27FC236}">
                    <a16:creationId xmlns:a16="http://schemas.microsoft.com/office/drawing/2014/main" id="{B3C4C4CF-C6E1-490D-9048-7EB9ECB1AD40}"/>
                  </a:ext>
                </a:extLst>
              </p:cNvPr>
              <p:cNvSpPr/>
              <p:nvPr/>
            </p:nvSpPr>
            <p:spPr>
              <a:xfrm>
                <a:off x="9164560" y="3227184"/>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3" name="Freeform: Shape 1335">
                <a:extLst>
                  <a:ext uri="{FF2B5EF4-FFF2-40B4-BE49-F238E27FC236}">
                    <a16:creationId xmlns:a16="http://schemas.microsoft.com/office/drawing/2014/main" id="{2FEF1A5C-B942-41C0-A4A8-AB1B5A013A9D}"/>
                  </a:ext>
                </a:extLst>
              </p:cNvPr>
              <p:cNvSpPr/>
              <p:nvPr/>
            </p:nvSpPr>
            <p:spPr>
              <a:xfrm>
                <a:off x="8885650" y="3287035"/>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4" name="Freeform: Shape 1336">
                <a:extLst>
                  <a:ext uri="{FF2B5EF4-FFF2-40B4-BE49-F238E27FC236}">
                    <a16:creationId xmlns:a16="http://schemas.microsoft.com/office/drawing/2014/main" id="{372A1191-9FB6-40D2-ADDB-193D2833E904}"/>
                  </a:ext>
                </a:extLst>
              </p:cNvPr>
              <p:cNvSpPr/>
              <p:nvPr/>
            </p:nvSpPr>
            <p:spPr>
              <a:xfrm>
                <a:off x="8867336" y="3474179"/>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5" name="Freeform: Shape 1337">
                <a:extLst>
                  <a:ext uri="{FF2B5EF4-FFF2-40B4-BE49-F238E27FC236}">
                    <a16:creationId xmlns:a16="http://schemas.microsoft.com/office/drawing/2014/main" id="{81E14D0C-6FDF-4778-9FC2-CED16F7B79D2}"/>
                  </a:ext>
                </a:extLst>
              </p:cNvPr>
              <p:cNvSpPr/>
              <p:nvPr/>
            </p:nvSpPr>
            <p:spPr>
              <a:xfrm>
                <a:off x="8743699" y="3361947"/>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6" name="Freeform: Shape 1338">
                <a:extLst>
                  <a:ext uri="{FF2B5EF4-FFF2-40B4-BE49-F238E27FC236}">
                    <a16:creationId xmlns:a16="http://schemas.microsoft.com/office/drawing/2014/main" id="{8B6104A1-6511-4829-829E-076613D6AD56}"/>
                  </a:ext>
                </a:extLst>
              </p:cNvPr>
              <p:cNvSpPr/>
              <p:nvPr/>
            </p:nvSpPr>
            <p:spPr>
              <a:xfrm>
                <a:off x="8809425" y="315160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258" name="Group 257">
              <a:extLst>
                <a:ext uri="{FF2B5EF4-FFF2-40B4-BE49-F238E27FC236}">
                  <a16:creationId xmlns:a16="http://schemas.microsoft.com/office/drawing/2014/main" id="{5A0A1040-6DE5-4FD5-B4E3-FC1516B422AE}"/>
                </a:ext>
              </a:extLst>
            </p:cNvPr>
            <p:cNvGrpSpPr/>
            <p:nvPr/>
          </p:nvGrpSpPr>
          <p:grpSpPr>
            <a:xfrm>
              <a:off x="14043618" y="3396602"/>
              <a:ext cx="167758" cy="108313"/>
              <a:chOff x="9145357" y="3464451"/>
              <a:chExt cx="644395" cy="416052"/>
            </a:xfrm>
          </p:grpSpPr>
          <p:sp>
            <p:nvSpPr>
              <p:cNvPr id="266" name="Freeform: Shape 1308">
                <a:extLst>
                  <a:ext uri="{FF2B5EF4-FFF2-40B4-BE49-F238E27FC236}">
                    <a16:creationId xmlns:a16="http://schemas.microsoft.com/office/drawing/2014/main" id="{86003476-6DCF-459C-95FD-069E21EA0AC2}"/>
                  </a:ext>
                </a:extLst>
              </p:cNvPr>
              <p:cNvSpPr/>
              <p:nvPr/>
            </p:nvSpPr>
            <p:spPr>
              <a:xfrm>
                <a:off x="9222167" y="3515657"/>
                <a:ext cx="228600" cy="27431"/>
              </a:xfrm>
              <a:custGeom>
                <a:avLst/>
                <a:gdLst>
                  <a:gd name="connsiteX0" fmla="*/ 2414 w 80461"/>
                  <a:gd name="connsiteY0" fmla="*/ 2414 h 9655"/>
                  <a:gd name="connsiteX1" fmla="*/ 78691 w 80461"/>
                  <a:gd name="connsiteY1" fmla="*/ 2414 h 9655"/>
                  <a:gd name="connsiteX2" fmla="*/ 78691 w 80461"/>
                  <a:gd name="connsiteY2" fmla="*/ 8207 h 9655"/>
                  <a:gd name="connsiteX3" fmla="*/ 2414 w 80461"/>
                  <a:gd name="connsiteY3" fmla="*/ 8207 h 9655"/>
                </a:gdLst>
                <a:ahLst/>
                <a:cxnLst>
                  <a:cxn ang="0">
                    <a:pos x="connsiteX0" y="connsiteY0"/>
                  </a:cxn>
                  <a:cxn ang="0">
                    <a:pos x="connsiteX1" y="connsiteY1"/>
                  </a:cxn>
                  <a:cxn ang="0">
                    <a:pos x="connsiteX2" y="connsiteY2"/>
                  </a:cxn>
                  <a:cxn ang="0">
                    <a:pos x="connsiteX3" y="connsiteY3"/>
                  </a:cxn>
                </a:cxnLst>
                <a:rect l="l" t="t" r="r" b="b"/>
                <a:pathLst>
                  <a:path w="80461" h="9655">
                    <a:moveTo>
                      <a:pt x="2414" y="2414"/>
                    </a:moveTo>
                    <a:lnTo>
                      <a:pt x="78691" y="2414"/>
                    </a:lnTo>
                    <a:lnTo>
                      <a:pt x="78691"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67" name="Freeform: Shape 1309">
                <a:extLst>
                  <a:ext uri="{FF2B5EF4-FFF2-40B4-BE49-F238E27FC236}">
                    <a16:creationId xmlns:a16="http://schemas.microsoft.com/office/drawing/2014/main" id="{91B6870E-C2CD-41DB-B2A3-7170398B77CE}"/>
                  </a:ext>
                </a:extLst>
              </p:cNvPr>
              <p:cNvSpPr/>
              <p:nvPr/>
            </p:nvSpPr>
            <p:spPr>
              <a:xfrm>
                <a:off x="9461847" y="3515086"/>
                <a:ext cx="164592" cy="27431"/>
              </a:xfrm>
              <a:custGeom>
                <a:avLst/>
                <a:gdLst>
                  <a:gd name="connsiteX0" fmla="*/ 57771 w 57932"/>
                  <a:gd name="connsiteY0" fmla="*/ 8207 h 9655"/>
                  <a:gd name="connsiteX1" fmla="*/ 2414 w 57932"/>
                  <a:gd name="connsiteY1" fmla="*/ 8207 h 9655"/>
                  <a:gd name="connsiteX2" fmla="*/ 2414 w 57932"/>
                  <a:gd name="connsiteY2" fmla="*/ 2414 h 9655"/>
                  <a:gd name="connsiteX3" fmla="*/ 57771 w 57932"/>
                  <a:gd name="connsiteY3" fmla="*/ 2414 h 9655"/>
                </a:gdLst>
                <a:ahLst/>
                <a:cxnLst>
                  <a:cxn ang="0">
                    <a:pos x="connsiteX0" y="connsiteY0"/>
                  </a:cxn>
                  <a:cxn ang="0">
                    <a:pos x="connsiteX1" y="connsiteY1"/>
                  </a:cxn>
                  <a:cxn ang="0">
                    <a:pos x="connsiteX2" y="connsiteY2"/>
                  </a:cxn>
                  <a:cxn ang="0">
                    <a:pos x="connsiteX3" y="connsiteY3"/>
                  </a:cxn>
                </a:cxnLst>
                <a:rect l="l" t="t" r="r" b="b"/>
                <a:pathLst>
                  <a:path w="57932" h="9655">
                    <a:moveTo>
                      <a:pt x="57771" y="8207"/>
                    </a:moveTo>
                    <a:lnTo>
                      <a:pt x="2414" y="8207"/>
                    </a:lnTo>
                    <a:lnTo>
                      <a:pt x="2414" y="2414"/>
                    </a:lnTo>
                    <a:lnTo>
                      <a:pt x="5777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68" name="Freeform: Shape 1310">
                <a:extLst>
                  <a:ext uri="{FF2B5EF4-FFF2-40B4-BE49-F238E27FC236}">
                    <a16:creationId xmlns:a16="http://schemas.microsoft.com/office/drawing/2014/main" id="{21A7BA59-3A28-422A-BDEE-BA182284D0C4}"/>
                  </a:ext>
                </a:extLst>
              </p:cNvPr>
              <p:cNvSpPr/>
              <p:nvPr/>
            </p:nvSpPr>
            <p:spPr>
              <a:xfrm>
                <a:off x="9278861" y="3589722"/>
                <a:ext cx="301753" cy="27431"/>
              </a:xfrm>
              <a:custGeom>
                <a:avLst/>
                <a:gdLst>
                  <a:gd name="connsiteX0" fmla="*/ 2414 w 106208"/>
                  <a:gd name="connsiteY0" fmla="*/ 2414 h 9655"/>
                  <a:gd name="connsiteX1" fmla="*/ 104760 w 106208"/>
                  <a:gd name="connsiteY1" fmla="*/ 2414 h 9655"/>
                  <a:gd name="connsiteX2" fmla="*/ 104760 w 106208"/>
                  <a:gd name="connsiteY2" fmla="*/ 8207 h 9655"/>
                  <a:gd name="connsiteX3" fmla="*/ 2414 w 106208"/>
                  <a:gd name="connsiteY3" fmla="*/ 8207 h 9655"/>
                </a:gdLst>
                <a:ahLst/>
                <a:cxnLst>
                  <a:cxn ang="0">
                    <a:pos x="connsiteX0" y="connsiteY0"/>
                  </a:cxn>
                  <a:cxn ang="0">
                    <a:pos x="connsiteX1" y="connsiteY1"/>
                  </a:cxn>
                  <a:cxn ang="0">
                    <a:pos x="connsiteX2" y="connsiteY2"/>
                  </a:cxn>
                  <a:cxn ang="0">
                    <a:pos x="connsiteX3" y="connsiteY3"/>
                  </a:cxn>
                </a:cxnLst>
                <a:rect l="l" t="t" r="r" b="b"/>
                <a:pathLst>
                  <a:path w="106208" h="9655">
                    <a:moveTo>
                      <a:pt x="2414" y="2414"/>
                    </a:moveTo>
                    <a:lnTo>
                      <a:pt x="104760" y="2414"/>
                    </a:lnTo>
                    <a:lnTo>
                      <a:pt x="104760"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69" name="Freeform: Shape 1311">
                <a:extLst>
                  <a:ext uri="{FF2B5EF4-FFF2-40B4-BE49-F238E27FC236}">
                    <a16:creationId xmlns:a16="http://schemas.microsoft.com/office/drawing/2014/main" id="{A6689A99-21BC-484A-BA8C-765BC9FC9166}"/>
                  </a:ext>
                </a:extLst>
              </p:cNvPr>
              <p:cNvSpPr/>
              <p:nvPr/>
            </p:nvSpPr>
            <p:spPr>
              <a:xfrm>
                <a:off x="9689168" y="3590484"/>
                <a:ext cx="100584" cy="27431"/>
              </a:xfrm>
              <a:custGeom>
                <a:avLst/>
                <a:gdLst>
                  <a:gd name="connsiteX0" fmla="*/ 33955 w 35402"/>
                  <a:gd name="connsiteY0" fmla="*/ 8207 h 9655"/>
                  <a:gd name="connsiteX1" fmla="*/ 2414 w 35402"/>
                  <a:gd name="connsiteY1" fmla="*/ 8207 h 9655"/>
                  <a:gd name="connsiteX2" fmla="*/ 2414 w 35402"/>
                  <a:gd name="connsiteY2" fmla="*/ 2414 h 9655"/>
                  <a:gd name="connsiteX3" fmla="*/ 33955 w 35402"/>
                  <a:gd name="connsiteY3" fmla="*/ 2414 h 9655"/>
                </a:gdLst>
                <a:ahLst/>
                <a:cxnLst>
                  <a:cxn ang="0">
                    <a:pos x="connsiteX0" y="connsiteY0"/>
                  </a:cxn>
                  <a:cxn ang="0">
                    <a:pos x="connsiteX1" y="connsiteY1"/>
                  </a:cxn>
                  <a:cxn ang="0">
                    <a:pos x="connsiteX2" y="connsiteY2"/>
                  </a:cxn>
                  <a:cxn ang="0">
                    <a:pos x="connsiteX3" y="connsiteY3"/>
                  </a:cxn>
                </a:cxnLst>
                <a:rect l="l" t="t" r="r" b="b"/>
                <a:pathLst>
                  <a:path w="35402" h="9655">
                    <a:moveTo>
                      <a:pt x="33955" y="8207"/>
                    </a:moveTo>
                    <a:lnTo>
                      <a:pt x="2414" y="8207"/>
                    </a:lnTo>
                    <a:lnTo>
                      <a:pt x="2414" y="2414"/>
                    </a:lnTo>
                    <a:lnTo>
                      <a:pt x="3395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0" name="Freeform: Shape 1312">
                <a:extLst>
                  <a:ext uri="{FF2B5EF4-FFF2-40B4-BE49-F238E27FC236}">
                    <a16:creationId xmlns:a16="http://schemas.microsoft.com/office/drawing/2014/main" id="{A9E5F1CC-249B-4176-86FB-3D619B00B938}"/>
                  </a:ext>
                </a:extLst>
              </p:cNvPr>
              <p:cNvSpPr/>
              <p:nvPr/>
            </p:nvSpPr>
            <p:spPr>
              <a:xfrm>
                <a:off x="9582441" y="3589722"/>
                <a:ext cx="100584" cy="27431"/>
              </a:xfrm>
              <a:custGeom>
                <a:avLst/>
                <a:gdLst>
                  <a:gd name="connsiteX0" fmla="*/ 2414 w 35402"/>
                  <a:gd name="connsiteY0" fmla="*/ 2414 h 9655"/>
                  <a:gd name="connsiteX1" fmla="*/ 34598 w 35402"/>
                  <a:gd name="connsiteY1" fmla="*/ 2414 h 9655"/>
                  <a:gd name="connsiteX2" fmla="*/ 34598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598" y="2414"/>
                    </a:lnTo>
                    <a:lnTo>
                      <a:pt x="3459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1" name="Freeform: Shape 1313">
                <a:extLst>
                  <a:ext uri="{FF2B5EF4-FFF2-40B4-BE49-F238E27FC236}">
                    <a16:creationId xmlns:a16="http://schemas.microsoft.com/office/drawing/2014/main" id="{91836794-73EA-4756-A937-484CCAB46AAA}"/>
                  </a:ext>
                </a:extLst>
              </p:cNvPr>
              <p:cNvSpPr/>
              <p:nvPr/>
            </p:nvSpPr>
            <p:spPr>
              <a:xfrm>
                <a:off x="9375786" y="3664702"/>
                <a:ext cx="265176" cy="27431"/>
              </a:xfrm>
              <a:custGeom>
                <a:avLst/>
                <a:gdLst>
                  <a:gd name="connsiteX0" fmla="*/ 2414 w 93334"/>
                  <a:gd name="connsiteY0" fmla="*/ 2414 h 9655"/>
                  <a:gd name="connsiteX1" fmla="*/ 92208 w 93334"/>
                  <a:gd name="connsiteY1" fmla="*/ 2414 h 9655"/>
                  <a:gd name="connsiteX2" fmla="*/ 92208 w 93334"/>
                  <a:gd name="connsiteY2" fmla="*/ 8207 h 9655"/>
                  <a:gd name="connsiteX3" fmla="*/ 2414 w 93334"/>
                  <a:gd name="connsiteY3" fmla="*/ 8207 h 9655"/>
                </a:gdLst>
                <a:ahLst/>
                <a:cxnLst>
                  <a:cxn ang="0">
                    <a:pos x="connsiteX0" y="connsiteY0"/>
                  </a:cxn>
                  <a:cxn ang="0">
                    <a:pos x="connsiteX1" y="connsiteY1"/>
                  </a:cxn>
                  <a:cxn ang="0">
                    <a:pos x="connsiteX2" y="connsiteY2"/>
                  </a:cxn>
                  <a:cxn ang="0">
                    <a:pos x="connsiteX3" y="connsiteY3"/>
                  </a:cxn>
                </a:cxnLst>
                <a:rect l="l" t="t" r="r" b="b"/>
                <a:pathLst>
                  <a:path w="93334" h="9655">
                    <a:moveTo>
                      <a:pt x="2414" y="2414"/>
                    </a:moveTo>
                    <a:lnTo>
                      <a:pt x="92208" y="2414"/>
                    </a:lnTo>
                    <a:lnTo>
                      <a:pt x="9220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2" name="Freeform: Shape 1314">
                <a:extLst>
                  <a:ext uri="{FF2B5EF4-FFF2-40B4-BE49-F238E27FC236}">
                    <a16:creationId xmlns:a16="http://schemas.microsoft.com/office/drawing/2014/main" id="{611A3B9C-2C03-4289-8BE7-21FBF644A15E}"/>
                  </a:ext>
                </a:extLst>
              </p:cNvPr>
              <p:cNvSpPr/>
              <p:nvPr/>
            </p:nvSpPr>
            <p:spPr>
              <a:xfrm>
                <a:off x="9305727" y="3664961"/>
                <a:ext cx="64008" cy="27431"/>
              </a:xfrm>
              <a:custGeom>
                <a:avLst/>
                <a:gdLst>
                  <a:gd name="connsiteX0" fmla="*/ 21081 w 22529"/>
                  <a:gd name="connsiteY0" fmla="*/ 8207 h 9655"/>
                  <a:gd name="connsiteX1" fmla="*/ 2414 w 22529"/>
                  <a:gd name="connsiteY1" fmla="*/ 8207 h 9655"/>
                  <a:gd name="connsiteX2" fmla="*/ 2414 w 22529"/>
                  <a:gd name="connsiteY2" fmla="*/ 2414 h 9655"/>
                  <a:gd name="connsiteX3" fmla="*/ 21081 w 22529"/>
                  <a:gd name="connsiteY3" fmla="*/ 2414 h 9655"/>
                </a:gdLst>
                <a:ahLst/>
                <a:cxnLst>
                  <a:cxn ang="0">
                    <a:pos x="connsiteX0" y="connsiteY0"/>
                  </a:cxn>
                  <a:cxn ang="0">
                    <a:pos x="connsiteX1" y="connsiteY1"/>
                  </a:cxn>
                  <a:cxn ang="0">
                    <a:pos x="connsiteX2" y="connsiteY2"/>
                  </a:cxn>
                  <a:cxn ang="0">
                    <a:pos x="connsiteX3" y="connsiteY3"/>
                  </a:cxn>
                </a:cxnLst>
                <a:rect l="l" t="t" r="r" b="b"/>
                <a:pathLst>
                  <a:path w="22529" h="9655">
                    <a:moveTo>
                      <a:pt x="21081" y="8207"/>
                    </a:moveTo>
                    <a:lnTo>
                      <a:pt x="2414" y="8207"/>
                    </a:lnTo>
                    <a:lnTo>
                      <a:pt x="2414" y="2414"/>
                    </a:lnTo>
                    <a:lnTo>
                      <a:pt x="2108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3" name="Freeform: Shape 1315">
                <a:extLst>
                  <a:ext uri="{FF2B5EF4-FFF2-40B4-BE49-F238E27FC236}">
                    <a16:creationId xmlns:a16="http://schemas.microsoft.com/office/drawing/2014/main" id="{F37128BB-5DE5-4DA8-AB14-B24365B55F65}"/>
                  </a:ext>
                </a:extLst>
              </p:cNvPr>
              <p:cNvSpPr/>
              <p:nvPr/>
            </p:nvSpPr>
            <p:spPr>
              <a:xfrm>
                <a:off x="9222167" y="3722312"/>
                <a:ext cx="182880" cy="27431"/>
              </a:xfrm>
              <a:custGeom>
                <a:avLst/>
                <a:gdLst>
                  <a:gd name="connsiteX0" fmla="*/ 2414 w 64368"/>
                  <a:gd name="connsiteY0" fmla="*/ 2414 h 9655"/>
                  <a:gd name="connsiteX1" fmla="*/ 63564 w 64368"/>
                  <a:gd name="connsiteY1" fmla="*/ 2414 h 9655"/>
                  <a:gd name="connsiteX2" fmla="*/ 63564 w 64368"/>
                  <a:gd name="connsiteY2" fmla="*/ 8207 h 9655"/>
                  <a:gd name="connsiteX3" fmla="*/ 2414 w 64368"/>
                  <a:gd name="connsiteY3" fmla="*/ 8207 h 9655"/>
                </a:gdLst>
                <a:ahLst/>
                <a:cxnLst>
                  <a:cxn ang="0">
                    <a:pos x="connsiteX0" y="connsiteY0"/>
                  </a:cxn>
                  <a:cxn ang="0">
                    <a:pos x="connsiteX1" y="connsiteY1"/>
                  </a:cxn>
                  <a:cxn ang="0">
                    <a:pos x="connsiteX2" y="connsiteY2"/>
                  </a:cxn>
                  <a:cxn ang="0">
                    <a:pos x="connsiteX3" y="connsiteY3"/>
                  </a:cxn>
                </a:cxnLst>
                <a:rect l="l" t="t" r="r" b="b"/>
                <a:pathLst>
                  <a:path w="64368" h="9655">
                    <a:moveTo>
                      <a:pt x="2414" y="2414"/>
                    </a:moveTo>
                    <a:lnTo>
                      <a:pt x="63564" y="2414"/>
                    </a:lnTo>
                    <a:lnTo>
                      <a:pt x="6356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4" name="Freeform: Shape 1316">
                <a:extLst>
                  <a:ext uri="{FF2B5EF4-FFF2-40B4-BE49-F238E27FC236}">
                    <a16:creationId xmlns:a16="http://schemas.microsoft.com/office/drawing/2014/main" id="{69FD2E36-450D-43D0-BF82-15AF187557CD}"/>
                  </a:ext>
                </a:extLst>
              </p:cNvPr>
              <p:cNvSpPr/>
              <p:nvPr/>
            </p:nvSpPr>
            <p:spPr>
              <a:xfrm>
                <a:off x="9409621" y="3722312"/>
                <a:ext cx="73153" cy="27431"/>
              </a:xfrm>
              <a:custGeom>
                <a:avLst/>
                <a:gdLst>
                  <a:gd name="connsiteX0" fmla="*/ 2414 w 25747"/>
                  <a:gd name="connsiteY0" fmla="*/ 2414 h 9655"/>
                  <a:gd name="connsiteX1" fmla="*/ 23334 w 25747"/>
                  <a:gd name="connsiteY1" fmla="*/ 2414 h 9655"/>
                  <a:gd name="connsiteX2" fmla="*/ 23334 w 25747"/>
                  <a:gd name="connsiteY2" fmla="*/ 8207 h 9655"/>
                  <a:gd name="connsiteX3" fmla="*/ 2414 w 25747"/>
                  <a:gd name="connsiteY3" fmla="*/ 8207 h 9655"/>
                </a:gdLst>
                <a:ahLst/>
                <a:cxnLst>
                  <a:cxn ang="0">
                    <a:pos x="connsiteX0" y="connsiteY0"/>
                  </a:cxn>
                  <a:cxn ang="0">
                    <a:pos x="connsiteX1" y="connsiteY1"/>
                  </a:cxn>
                  <a:cxn ang="0">
                    <a:pos x="connsiteX2" y="connsiteY2"/>
                  </a:cxn>
                  <a:cxn ang="0">
                    <a:pos x="connsiteX3" y="connsiteY3"/>
                  </a:cxn>
                </a:cxnLst>
                <a:rect l="l" t="t" r="r" b="b"/>
                <a:pathLst>
                  <a:path w="25747" h="9655">
                    <a:moveTo>
                      <a:pt x="2414" y="2414"/>
                    </a:moveTo>
                    <a:lnTo>
                      <a:pt x="23334" y="2414"/>
                    </a:lnTo>
                    <a:lnTo>
                      <a:pt x="2333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5" name="Freeform: Shape 1317">
                <a:extLst>
                  <a:ext uri="{FF2B5EF4-FFF2-40B4-BE49-F238E27FC236}">
                    <a16:creationId xmlns:a16="http://schemas.microsoft.com/office/drawing/2014/main" id="{79A482A7-B658-4F83-BCD1-AA89AFFA5DD6}"/>
                  </a:ext>
                </a:extLst>
              </p:cNvPr>
              <p:cNvSpPr/>
              <p:nvPr/>
            </p:nvSpPr>
            <p:spPr>
              <a:xfrm>
                <a:off x="9485516" y="3722312"/>
                <a:ext cx="246888" cy="27431"/>
              </a:xfrm>
              <a:custGeom>
                <a:avLst/>
                <a:gdLst>
                  <a:gd name="connsiteX0" fmla="*/ 2414 w 86898"/>
                  <a:gd name="connsiteY0" fmla="*/ 2414 h 9655"/>
                  <a:gd name="connsiteX1" fmla="*/ 86093 w 86898"/>
                  <a:gd name="connsiteY1" fmla="*/ 2414 h 9655"/>
                  <a:gd name="connsiteX2" fmla="*/ 86093 w 86898"/>
                  <a:gd name="connsiteY2" fmla="*/ 8207 h 9655"/>
                  <a:gd name="connsiteX3" fmla="*/ 2414 w 86898"/>
                  <a:gd name="connsiteY3" fmla="*/ 8207 h 9655"/>
                </a:gdLst>
                <a:ahLst/>
                <a:cxnLst>
                  <a:cxn ang="0">
                    <a:pos x="connsiteX0" y="connsiteY0"/>
                  </a:cxn>
                  <a:cxn ang="0">
                    <a:pos x="connsiteX1" y="connsiteY1"/>
                  </a:cxn>
                  <a:cxn ang="0">
                    <a:pos x="connsiteX2" y="connsiteY2"/>
                  </a:cxn>
                  <a:cxn ang="0">
                    <a:pos x="connsiteX3" y="connsiteY3"/>
                  </a:cxn>
                </a:cxnLst>
                <a:rect l="l" t="t" r="r" b="b"/>
                <a:pathLst>
                  <a:path w="86898" h="9655">
                    <a:moveTo>
                      <a:pt x="2414" y="2414"/>
                    </a:moveTo>
                    <a:lnTo>
                      <a:pt x="86093" y="2414"/>
                    </a:lnTo>
                    <a:lnTo>
                      <a:pt x="86093"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6" name="Freeform: Shape 1318">
                <a:extLst>
                  <a:ext uri="{FF2B5EF4-FFF2-40B4-BE49-F238E27FC236}">
                    <a16:creationId xmlns:a16="http://schemas.microsoft.com/office/drawing/2014/main" id="{EBFBC497-045A-44E9-B1E2-5677C40F828C}"/>
                  </a:ext>
                </a:extLst>
              </p:cNvPr>
              <p:cNvSpPr/>
              <p:nvPr/>
            </p:nvSpPr>
            <p:spPr>
              <a:xfrm>
                <a:off x="9278861" y="3797292"/>
                <a:ext cx="100584" cy="27431"/>
              </a:xfrm>
              <a:custGeom>
                <a:avLst/>
                <a:gdLst>
                  <a:gd name="connsiteX0" fmla="*/ 2414 w 35402"/>
                  <a:gd name="connsiteY0" fmla="*/ 2414 h 9655"/>
                  <a:gd name="connsiteX1" fmla="*/ 34276 w 35402"/>
                  <a:gd name="connsiteY1" fmla="*/ 2414 h 9655"/>
                  <a:gd name="connsiteX2" fmla="*/ 34276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276" y="2414"/>
                    </a:lnTo>
                    <a:lnTo>
                      <a:pt x="34276"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7" name="Freeform: Shape 1319">
                <a:extLst>
                  <a:ext uri="{FF2B5EF4-FFF2-40B4-BE49-F238E27FC236}">
                    <a16:creationId xmlns:a16="http://schemas.microsoft.com/office/drawing/2014/main" id="{D22ADDDB-882B-4E54-851B-9B423B2567C9}"/>
                  </a:ext>
                </a:extLst>
              </p:cNvPr>
              <p:cNvSpPr/>
              <p:nvPr/>
            </p:nvSpPr>
            <p:spPr>
              <a:xfrm>
                <a:off x="9395935" y="3797553"/>
                <a:ext cx="219457" cy="27431"/>
              </a:xfrm>
              <a:custGeom>
                <a:avLst/>
                <a:gdLst>
                  <a:gd name="connsiteX0" fmla="*/ 77725 w 77242"/>
                  <a:gd name="connsiteY0" fmla="*/ 8207 h 9655"/>
                  <a:gd name="connsiteX1" fmla="*/ 2414 w 77242"/>
                  <a:gd name="connsiteY1" fmla="*/ 8207 h 9655"/>
                  <a:gd name="connsiteX2" fmla="*/ 2414 w 77242"/>
                  <a:gd name="connsiteY2" fmla="*/ 2414 h 9655"/>
                  <a:gd name="connsiteX3" fmla="*/ 77725 w 77242"/>
                  <a:gd name="connsiteY3" fmla="*/ 2414 h 9655"/>
                </a:gdLst>
                <a:ahLst/>
                <a:cxnLst>
                  <a:cxn ang="0">
                    <a:pos x="connsiteX0" y="connsiteY0"/>
                  </a:cxn>
                  <a:cxn ang="0">
                    <a:pos x="connsiteX1" y="connsiteY1"/>
                  </a:cxn>
                  <a:cxn ang="0">
                    <a:pos x="connsiteX2" y="connsiteY2"/>
                  </a:cxn>
                  <a:cxn ang="0">
                    <a:pos x="connsiteX3" y="connsiteY3"/>
                  </a:cxn>
                </a:cxnLst>
                <a:rect l="l" t="t" r="r" b="b"/>
                <a:pathLst>
                  <a:path w="77242" h="9655">
                    <a:moveTo>
                      <a:pt x="77725" y="8207"/>
                    </a:moveTo>
                    <a:lnTo>
                      <a:pt x="2414" y="8207"/>
                    </a:lnTo>
                    <a:lnTo>
                      <a:pt x="2414" y="2414"/>
                    </a:lnTo>
                    <a:lnTo>
                      <a:pt x="7772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8" name="Freeform: Shape 1320">
                <a:extLst>
                  <a:ext uri="{FF2B5EF4-FFF2-40B4-BE49-F238E27FC236}">
                    <a16:creationId xmlns:a16="http://schemas.microsoft.com/office/drawing/2014/main" id="{5494D4C3-3C38-4E50-804D-A93DB3435068}"/>
                  </a:ext>
                </a:extLst>
              </p:cNvPr>
              <p:cNvSpPr/>
              <p:nvPr/>
            </p:nvSpPr>
            <p:spPr>
              <a:xfrm>
                <a:off x="9145357" y="3464451"/>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79" name="Freeform: Shape 1321">
                <a:extLst>
                  <a:ext uri="{FF2B5EF4-FFF2-40B4-BE49-F238E27FC236}">
                    <a16:creationId xmlns:a16="http://schemas.microsoft.com/office/drawing/2014/main" id="{457304D2-FD51-46B4-8252-F0C43C889039}"/>
                  </a:ext>
                </a:extLst>
              </p:cNvPr>
              <p:cNvSpPr/>
              <p:nvPr/>
            </p:nvSpPr>
            <p:spPr>
              <a:xfrm>
                <a:off x="9145357" y="3527544"/>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80" name="Freeform: Shape 1322">
                <a:extLst>
                  <a:ext uri="{FF2B5EF4-FFF2-40B4-BE49-F238E27FC236}">
                    <a16:creationId xmlns:a16="http://schemas.microsoft.com/office/drawing/2014/main" id="{E503273B-DF84-4FDF-A191-7ABFDD04CA0F}"/>
                  </a:ext>
                </a:extLst>
              </p:cNvPr>
              <p:cNvSpPr/>
              <p:nvPr/>
            </p:nvSpPr>
            <p:spPr>
              <a:xfrm>
                <a:off x="9145357" y="3590637"/>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81" name="Freeform: Shape 1323">
                <a:extLst>
                  <a:ext uri="{FF2B5EF4-FFF2-40B4-BE49-F238E27FC236}">
                    <a16:creationId xmlns:a16="http://schemas.microsoft.com/office/drawing/2014/main" id="{5430A887-626F-41E2-B139-A96363D6A11F}"/>
                  </a:ext>
                </a:extLst>
              </p:cNvPr>
              <p:cNvSpPr/>
              <p:nvPr/>
            </p:nvSpPr>
            <p:spPr>
              <a:xfrm>
                <a:off x="9145357" y="3654645"/>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82" name="Freeform: Shape 1324">
                <a:extLst>
                  <a:ext uri="{FF2B5EF4-FFF2-40B4-BE49-F238E27FC236}">
                    <a16:creationId xmlns:a16="http://schemas.microsoft.com/office/drawing/2014/main" id="{31742D63-43AF-4249-8A5E-BF86D34AD6FB}"/>
                  </a:ext>
                </a:extLst>
              </p:cNvPr>
              <p:cNvSpPr/>
              <p:nvPr/>
            </p:nvSpPr>
            <p:spPr>
              <a:xfrm>
                <a:off x="9145357" y="3717738"/>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83" name="Freeform: Shape 1325">
                <a:extLst>
                  <a:ext uri="{FF2B5EF4-FFF2-40B4-BE49-F238E27FC236}">
                    <a16:creationId xmlns:a16="http://schemas.microsoft.com/office/drawing/2014/main" id="{1D7D16D1-B687-4ADD-A37D-BE685CE23282}"/>
                  </a:ext>
                </a:extLst>
              </p:cNvPr>
              <p:cNvSpPr/>
              <p:nvPr/>
            </p:nvSpPr>
            <p:spPr>
              <a:xfrm>
                <a:off x="9145357" y="3780833"/>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284" name="Freeform: Shape 1326">
                <a:extLst>
                  <a:ext uri="{FF2B5EF4-FFF2-40B4-BE49-F238E27FC236}">
                    <a16:creationId xmlns:a16="http://schemas.microsoft.com/office/drawing/2014/main" id="{E60BE446-7A01-4D2D-94CE-A19B10B96CE5}"/>
                  </a:ext>
                </a:extLst>
              </p:cNvPr>
              <p:cNvSpPr/>
              <p:nvPr/>
            </p:nvSpPr>
            <p:spPr>
              <a:xfrm>
                <a:off x="9145357" y="3843926"/>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grpSp>
        <p:grpSp>
          <p:nvGrpSpPr>
            <p:cNvPr id="259" name="Group 258">
              <a:extLst>
                <a:ext uri="{FF2B5EF4-FFF2-40B4-BE49-F238E27FC236}">
                  <a16:creationId xmlns:a16="http://schemas.microsoft.com/office/drawing/2014/main" id="{58B492C7-E712-44EC-8E42-241C7977ACC0}"/>
                </a:ext>
              </a:extLst>
            </p:cNvPr>
            <p:cNvGrpSpPr/>
            <p:nvPr/>
          </p:nvGrpSpPr>
          <p:grpSpPr>
            <a:xfrm>
              <a:off x="14184160" y="3439575"/>
              <a:ext cx="193015" cy="188521"/>
              <a:chOff x="8848997" y="6359275"/>
              <a:chExt cx="785468" cy="767180"/>
            </a:xfrm>
          </p:grpSpPr>
          <p:sp>
            <p:nvSpPr>
              <p:cNvPr id="260" name="Freeform: Shape 1302">
                <a:extLst>
                  <a:ext uri="{FF2B5EF4-FFF2-40B4-BE49-F238E27FC236}">
                    <a16:creationId xmlns:a16="http://schemas.microsoft.com/office/drawing/2014/main" id="{05EE5274-19A6-4E0F-8BFF-C83C81EFC34C}"/>
                  </a:ext>
                </a:extLst>
              </p:cNvPr>
              <p:cNvSpPr/>
              <p:nvPr/>
            </p:nvSpPr>
            <p:spPr>
              <a:xfrm>
                <a:off x="8998045" y="6725948"/>
                <a:ext cx="265176" cy="27431"/>
              </a:xfrm>
              <a:custGeom>
                <a:avLst/>
                <a:gdLst>
                  <a:gd name="connsiteX0" fmla="*/ 4828 w 93334"/>
                  <a:gd name="connsiteY0" fmla="*/ 4828 h 9655"/>
                  <a:gd name="connsiteX1" fmla="*/ 91404 w 93334"/>
                  <a:gd name="connsiteY1" fmla="*/ 4828 h 9655"/>
                </a:gdLst>
                <a:ahLst/>
                <a:cxnLst>
                  <a:cxn ang="0">
                    <a:pos x="connsiteX0" y="connsiteY0"/>
                  </a:cxn>
                  <a:cxn ang="0">
                    <a:pos x="connsiteX1" y="connsiteY1"/>
                  </a:cxn>
                </a:cxnLst>
                <a:rect l="l" t="t" r="r" b="b"/>
                <a:pathLst>
                  <a:path w="93334" h="9655">
                    <a:moveTo>
                      <a:pt x="4828" y="4828"/>
                    </a:moveTo>
                    <a:lnTo>
                      <a:pt x="91404"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61" name="Freeform: Shape 1303">
                <a:extLst>
                  <a:ext uri="{FF2B5EF4-FFF2-40B4-BE49-F238E27FC236}">
                    <a16:creationId xmlns:a16="http://schemas.microsoft.com/office/drawing/2014/main" id="{129B6040-E594-4AF6-8234-EFB9496C23EA}"/>
                  </a:ext>
                </a:extLst>
              </p:cNvPr>
              <p:cNvSpPr/>
              <p:nvPr/>
            </p:nvSpPr>
            <p:spPr>
              <a:xfrm>
                <a:off x="8951411" y="6639080"/>
                <a:ext cx="182880" cy="27431"/>
              </a:xfrm>
              <a:custGeom>
                <a:avLst/>
                <a:gdLst>
                  <a:gd name="connsiteX0" fmla="*/ 4828 w 64368"/>
                  <a:gd name="connsiteY0" fmla="*/ 4828 h 9655"/>
                  <a:gd name="connsiteX1" fmla="*/ 62116 w 64368"/>
                  <a:gd name="connsiteY1" fmla="*/ 4828 h 9655"/>
                </a:gdLst>
                <a:ahLst/>
                <a:cxnLst>
                  <a:cxn ang="0">
                    <a:pos x="connsiteX0" y="connsiteY0"/>
                  </a:cxn>
                  <a:cxn ang="0">
                    <a:pos x="connsiteX1" y="connsiteY1"/>
                  </a:cxn>
                </a:cxnLst>
                <a:rect l="l" t="t" r="r" b="b"/>
                <a:pathLst>
                  <a:path w="64368" h="9655">
                    <a:moveTo>
                      <a:pt x="4828" y="4828"/>
                    </a:moveTo>
                    <a:lnTo>
                      <a:pt x="62116"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62" name="Freeform: Shape 1304">
                <a:extLst>
                  <a:ext uri="{FF2B5EF4-FFF2-40B4-BE49-F238E27FC236}">
                    <a16:creationId xmlns:a16="http://schemas.microsoft.com/office/drawing/2014/main" id="{802DFB4A-D697-4AEC-B31C-2BB034C718AC}"/>
                  </a:ext>
                </a:extLst>
              </p:cNvPr>
              <p:cNvSpPr/>
              <p:nvPr/>
            </p:nvSpPr>
            <p:spPr>
              <a:xfrm>
                <a:off x="9150750" y="6639080"/>
                <a:ext cx="91439" cy="27431"/>
              </a:xfrm>
              <a:custGeom>
                <a:avLst/>
                <a:gdLst>
                  <a:gd name="connsiteX0" fmla="*/ 4828 w 32184"/>
                  <a:gd name="connsiteY0" fmla="*/ 4828 h 9655"/>
                  <a:gd name="connsiteX1" fmla="*/ 29288 w 32184"/>
                  <a:gd name="connsiteY1" fmla="*/ 4828 h 9655"/>
                </a:gdLst>
                <a:ahLst/>
                <a:cxnLst>
                  <a:cxn ang="0">
                    <a:pos x="connsiteX0" y="connsiteY0"/>
                  </a:cxn>
                  <a:cxn ang="0">
                    <a:pos x="connsiteX1" y="connsiteY1"/>
                  </a:cxn>
                </a:cxnLst>
                <a:rect l="l" t="t" r="r" b="b"/>
                <a:pathLst>
                  <a:path w="32184" h="9655">
                    <a:moveTo>
                      <a:pt x="4828" y="4828"/>
                    </a:moveTo>
                    <a:lnTo>
                      <a:pt x="2928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63" name="Freeform: Shape 1305">
                <a:extLst>
                  <a:ext uri="{FF2B5EF4-FFF2-40B4-BE49-F238E27FC236}">
                    <a16:creationId xmlns:a16="http://schemas.microsoft.com/office/drawing/2014/main" id="{73DB9E62-3DEC-4F78-AF55-AE7BD0FCAA62}"/>
                  </a:ext>
                </a:extLst>
              </p:cNvPr>
              <p:cNvSpPr/>
              <p:nvPr/>
            </p:nvSpPr>
            <p:spPr>
              <a:xfrm>
                <a:off x="9056566" y="6553128"/>
                <a:ext cx="256031" cy="27431"/>
              </a:xfrm>
              <a:custGeom>
                <a:avLst/>
                <a:gdLst>
                  <a:gd name="connsiteX0" fmla="*/ 4828 w 90116"/>
                  <a:gd name="connsiteY0" fmla="*/ 4828 h 9655"/>
                  <a:gd name="connsiteX1" fmla="*/ 86898 w 90116"/>
                  <a:gd name="connsiteY1" fmla="*/ 4828 h 9655"/>
                </a:gdLst>
                <a:ahLst/>
                <a:cxnLst>
                  <a:cxn ang="0">
                    <a:pos x="connsiteX0" y="connsiteY0"/>
                  </a:cxn>
                  <a:cxn ang="0">
                    <a:pos x="connsiteX1" y="connsiteY1"/>
                  </a:cxn>
                </a:cxnLst>
                <a:rect l="l" t="t" r="r" b="b"/>
                <a:pathLst>
                  <a:path w="90116" h="9655">
                    <a:moveTo>
                      <a:pt x="4828" y="4828"/>
                    </a:moveTo>
                    <a:lnTo>
                      <a:pt x="8689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64" name="Freeform: Shape 1306">
                <a:extLst>
                  <a:ext uri="{FF2B5EF4-FFF2-40B4-BE49-F238E27FC236}">
                    <a16:creationId xmlns:a16="http://schemas.microsoft.com/office/drawing/2014/main" id="{274A8405-7981-472B-8411-5452EFC3508F}"/>
                  </a:ext>
                </a:extLst>
              </p:cNvPr>
              <p:cNvSpPr/>
              <p:nvPr/>
            </p:nvSpPr>
            <p:spPr>
              <a:xfrm>
                <a:off x="8848997" y="6359275"/>
                <a:ext cx="585214" cy="576072"/>
              </a:xfrm>
              <a:custGeom>
                <a:avLst/>
                <a:gdLst>
                  <a:gd name="connsiteX0" fmla="*/ 201153 w 205980"/>
                  <a:gd name="connsiteY0" fmla="*/ 102990 h 202762"/>
                  <a:gd name="connsiteX1" fmla="*/ 102990 w 205980"/>
                  <a:gd name="connsiteY1" fmla="*/ 201153 h 202762"/>
                  <a:gd name="connsiteX2" fmla="*/ 4828 w 205980"/>
                  <a:gd name="connsiteY2" fmla="*/ 102990 h 202762"/>
                  <a:gd name="connsiteX3" fmla="*/ 102990 w 205980"/>
                  <a:gd name="connsiteY3" fmla="*/ 4828 h 202762"/>
                  <a:gd name="connsiteX4" fmla="*/ 201153 w 205980"/>
                  <a:gd name="connsiteY4" fmla="*/ 102990 h 202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980" h="202762">
                    <a:moveTo>
                      <a:pt x="201153" y="102990"/>
                    </a:moveTo>
                    <a:cubicBezTo>
                      <a:pt x="201153" y="157204"/>
                      <a:pt x="157204" y="201153"/>
                      <a:pt x="102990" y="201153"/>
                    </a:cubicBezTo>
                    <a:cubicBezTo>
                      <a:pt x="48777" y="201153"/>
                      <a:pt x="4828" y="157204"/>
                      <a:pt x="4828" y="102990"/>
                    </a:cubicBezTo>
                    <a:cubicBezTo>
                      <a:pt x="4828" y="48777"/>
                      <a:pt x="48777" y="4828"/>
                      <a:pt x="102990" y="4828"/>
                    </a:cubicBezTo>
                    <a:cubicBezTo>
                      <a:pt x="157204" y="4828"/>
                      <a:pt x="201153" y="48777"/>
                      <a:pt x="201153" y="102990"/>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65" name="Freeform: Shape 1307">
                <a:extLst>
                  <a:ext uri="{FF2B5EF4-FFF2-40B4-BE49-F238E27FC236}">
                    <a16:creationId xmlns:a16="http://schemas.microsoft.com/office/drawing/2014/main" id="{227E455B-D69F-4FFE-AB33-9D964AD62ABE}"/>
                  </a:ext>
                </a:extLst>
              </p:cNvPr>
              <p:cNvSpPr/>
              <p:nvPr/>
            </p:nvSpPr>
            <p:spPr>
              <a:xfrm>
                <a:off x="9277850" y="6769840"/>
                <a:ext cx="356615" cy="356615"/>
              </a:xfrm>
              <a:custGeom>
                <a:avLst/>
                <a:gdLst>
                  <a:gd name="connsiteX0" fmla="*/ 39909 w 125519"/>
                  <a:gd name="connsiteY0" fmla="*/ 4828 h 125519"/>
                  <a:gd name="connsiteX1" fmla="*/ 114255 w 125519"/>
                  <a:gd name="connsiteY1" fmla="*/ 79496 h 125519"/>
                  <a:gd name="connsiteX2" fmla="*/ 113611 w 125519"/>
                  <a:gd name="connsiteY2" fmla="*/ 114898 h 125519"/>
                  <a:gd name="connsiteX3" fmla="*/ 113611 w 125519"/>
                  <a:gd name="connsiteY3" fmla="*/ 114898 h 125519"/>
                  <a:gd name="connsiteX4" fmla="*/ 78208 w 125519"/>
                  <a:gd name="connsiteY4" fmla="*/ 115542 h 125519"/>
                  <a:gd name="connsiteX5" fmla="*/ 4828 w 125519"/>
                  <a:gd name="connsiteY5" fmla="*/ 42162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19" h="125519">
                    <a:moveTo>
                      <a:pt x="39909" y="4828"/>
                    </a:moveTo>
                    <a:lnTo>
                      <a:pt x="114255" y="79496"/>
                    </a:lnTo>
                    <a:cubicBezTo>
                      <a:pt x="123910" y="89151"/>
                      <a:pt x="123588" y="104921"/>
                      <a:pt x="113611" y="114898"/>
                    </a:cubicBezTo>
                    <a:lnTo>
                      <a:pt x="113611" y="114898"/>
                    </a:lnTo>
                    <a:cubicBezTo>
                      <a:pt x="103634" y="124876"/>
                      <a:pt x="87864" y="125197"/>
                      <a:pt x="78208" y="115542"/>
                    </a:cubicBezTo>
                    <a:lnTo>
                      <a:pt x="4828" y="4216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grpSp>
        <p:nvGrpSpPr>
          <p:cNvPr id="297" name="Group 296">
            <a:extLst>
              <a:ext uri="{FF2B5EF4-FFF2-40B4-BE49-F238E27FC236}">
                <a16:creationId xmlns:a16="http://schemas.microsoft.com/office/drawing/2014/main" id="{B601548B-0574-40AB-B269-2C2AD975BD06}"/>
              </a:ext>
            </a:extLst>
          </p:cNvPr>
          <p:cNvGrpSpPr>
            <a:grpSpLocks noChangeAspect="1"/>
          </p:cNvGrpSpPr>
          <p:nvPr/>
        </p:nvGrpSpPr>
        <p:grpSpPr>
          <a:xfrm>
            <a:off x="12584809" y="1938071"/>
            <a:ext cx="327769" cy="329184"/>
            <a:chOff x="3853940" y="3046180"/>
            <a:chExt cx="1239926" cy="1245279"/>
          </a:xfrm>
        </p:grpSpPr>
        <p:sp>
          <p:nvSpPr>
            <p:cNvPr id="298" name="Freeform: Shape 1268">
              <a:extLst>
                <a:ext uri="{FF2B5EF4-FFF2-40B4-BE49-F238E27FC236}">
                  <a16:creationId xmlns:a16="http://schemas.microsoft.com/office/drawing/2014/main" id="{6D9390E4-2945-4AC6-B1EF-1A98F0D17160}"/>
                </a:ext>
              </a:extLst>
            </p:cNvPr>
            <p:cNvSpPr/>
            <p:nvPr/>
          </p:nvSpPr>
          <p:spPr>
            <a:xfrm>
              <a:off x="3853940" y="3315794"/>
              <a:ext cx="54865" cy="685799"/>
            </a:xfrm>
            <a:custGeom>
              <a:avLst/>
              <a:gdLst>
                <a:gd name="connsiteX0" fmla="*/ 4828 w 19310"/>
                <a:gd name="connsiteY0" fmla="*/ 238487 h 241383"/>
                <a:gd name="connsiteX1" fmla="*/ 4828 w 19310"/>
                <a:gd name="connsiteY1" fmla="*/ 4828 h 241383"/>
                <a:gd name="connsiteX2" fmla="*/ 16736 w 19310"/>
                <a:gd name="connsiteY2" fmla="*/ 4828 h 241383"/>
              </a:gdLst>
              <a:ahLst/>
              <a:cxnLst>
                <a:cxn ang="0">
                  <a:pos x="connsiteX0" y="connsiteY0"/>
                </a:cxn>
                <a:cxn ang="0">
                  <a:pos x="connsiteX1" y="connsiteY1"/>
                </a:cxn>
                <a:cxn ang="0">
                  <a:pos x="connsiteX2" y="connsiteY2"/>
                </a:cxn>
              </a:cxnLst>
              <a:rect l="l" t="t" r="r" b="b"/>
              <a:pathLst>
                <a:path w="19310" h="241383">
                  <a:moveTo>
                    <a:pt x="4828" y="238487"/>
                  </a:moveTo>
                  <a:lnTo>
                    <a:pt x="4828" y="4828"/>
                  </a:lnTo>
                  <a:lnTo>
                    <a:pt x="16736"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299" name="Freeform: Shape 1269">
              <a:extLst>
                <a:ext uri="{FF2B5EF4-FFF2-40B4-BE49-F238E27FC236}">
                  <a16:creationId xmlns:a16="http://schemas.microsoft.com/office/drawing/2014/main" id="{90CED449-040F-451B-B958-05D233C92F9E}"/>
                </a:ext>
              </a:extLst>
            </p:cNvPr>
            <p:cNvSpPr/>
            <p:nvPr/>
          </p:nvSpPr>
          <p:spPr>
            <a:xfrm>
              <a:off x="3853940" y="4024453"/>
              <a:ext cx="27431" cy="128015"/>
            </a:xfrm>
            <a:custGeom>
              <a:avLst/>
              <a:gdLst>
                <a:gd name="connsiteX0" fmla="*/ 4828 w 9655"/>
                <a:gd name="connsiteY0" fmla="*/ 40552 h 45058"/>
                <a:gd name="connsiteX1" fmla="*/ 4828 w 9655"/>
                <a:gd name="connsiteY1" fmla="*/ 4828 h 45058"/>
              </a:gdLst>
              <a:ahLst/>
              <a:cxnLst>
                <a:cxn ang="0">
                  <a:pos x="connsiteX0" y="connsiteY0"/>
                </a:cxn>
                <a:cxn ang="0">
                  <a:pos x="connsiteX1" y="connsiteY1"/>
                </a:cxn>
              </a:cxnLst>
              <a:rect l="l" t="t" r="r" b="b"/>
              <a:pathLst>
                <a:path w="9655" h="45058">
                  <a:moveTo>
                    <a:pt x="4828" y="40552"/>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0" name="Freeform: Shape 1270">
              <a:extLst>
                <a:ext uri="{FF2B5EF4-FFF2-40B4-BE49-F238E27FC236}">
                  <a16:creationId xmlns:a16="http://schemas.microsoft.com/office/drawing/2014/main" id="{2C6C09DE-7109-4E99-95E5-935C00F6BA4B}"/>
                </a:ext>
              </a:extLst>
            </p:cNvPr>
            <p:cNvSpPr/>
            <p:nvPr/>
          </p:nvSpPr>
          <p:spPr>
            <a:xfrm>
              <a:off x="3853940" y="3550795"/>
              <a:ext cx="128015" cy="740664"/>
            </a:xfrm>
            <a:custGeom>
              <a:avLst/>
              <a:gdLst>
                <a:gd name="connsiteX0" fmla="*/ 40231 w 45058"/>
                <a:gd name="connsiteY0" fmla="*/ 4828 h 260694"/>
                <a:gd name="connsiteX1" fmla="*/ 40231 w 45058"/>
                <a:gd name="connsiteY1" fmla="*/ 255866 h 260694"/>
                <a:gd name="connsiteX2" fmla="*/ 4828 w 45058"/>
                <a:gd name="connsiteY2" fmla="*/ 255866 h 260694"/>
                <a:gd name="connsiteX3" fmla="*/ 4828 w 45058"/>
                <a:gd name="connsiteY3" fmla="*/ 224004 h 260694"/>
              </a:gdLst>
              <a:ahLst/>
              <a:cxnLst>
                <a:cxn ang="0">
                  <a:pos x="connsiteX0" y="connsiteY0"/>
                </a:cxn>
                <a:cxn ang="0">
                  <a:pos x="connsiteX1" y="connsiteY1"/>
                </a:cxn>
                <a:cxn ang="0">
                  <a:pos x="connsiteX2" y="connsiteY2"/>
                </a:cxn>
                <a:cxn ang="0">
                  <a:pos x="connsiteX3" y="connsiteY3"/>
                </a:cxn>
              </a:cxnLst>
              <a:rect l="l" t="t" r="r" b="b"/>
              <a:pathLst>
                <a:path w="45058" h="260694">
                  <a:moveTo>
                    <a:pt x="40231" y="4828"/>
                  </a:moveTo>
                  <a:lnTo>
                    <a:pt x="40231" y="255866"/>
                  </a:lnTo>
                  <a:lnTo>
                    <a:pt x="4828" y="255866"/>
                  </a:lnTo>
                  <a:lnTo>
                    <a:pt x="4828" y="22400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1" name="Freeform: Shape 1271">
              <a:extLst>
                <a:ext uri="{FF2B5EF4-FFF2-40B4-BE49-F238E27FC236}">
                  <a16:creationId xmlns:a16="http://schemas.microsoft.com/office/drawing/2014/main" id="{0E7E3314-7449-4FE2-B740-A045EF50C3DB}"/>
                </a:ext>
              </a:extLst>
            </p:cNvPr>
            <p:cNvSpPr/>
            <p:nvPr/>
          </p:nvSpPr>
          <p:spPr>
            <a:xfrm>
              <a:off x="4965851" y="3315794"/>
              <a:ext cx="128015" cy="969264"/>
            </a:xfrm>
            <a:custGeom>
              <a:avLst/>
              <a:gdLst>
                <a:gd name="connsiteX0" fmla="*/ 30575 w 45058"/>
                <a:gd name="connsiteY0" fmla="*/ 4828 h 341155"/>
                <a:gd name="connsiteX1" fmla="*/ 40231 w 45058"/>
                <a:gd name="connsiteY1" fmla="*/ 4828 h 341155"/>
                <a:gd name="connsiteX2" fmla="*/ 40231 w 45058"/>
                <a:gd name="connsiteY2" fmla="*/ 338580 h 341155"/>
                <a:gd name="connsiteX3" fmla="*/ 4828 w 45058"/>
                <a:gd name="connsiteY3" fmla="*/ 338580 h 341155"/>
                <a:gd name="connsiteX4" fmla="*/ 4828 w 45058"/>
                <a:gd name="connsiteY4" fmla="*/ 73702 h 34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58" h="341155">
                  <a:moveTo>
                    <a:pt x="30575" y="4828"/>
                  </a:moveTo>
                  <a:lnTo>
                    <a:pt x="40231" y="4828"/>
                  </a:lnTo>
                  <a:lnTo>
                    <a:pt x="40231" y="338580"/>
                  </a:lnTo>
                  <a:lnTo>
                    <a:pt x="4828" y="338580"/>
                  </a:lnTo>
                  <a:lnTo>
                    <a:pt x="4828" y="7370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2" name="Freeform: Shape 1272">
              <a:extLst>
                <a:ext uri="{FF2B5EF4-FFF2-40B4-BE49-F238E27FC236}">
                  <a16:creationId xmlns:a16="http://schemas.microsoft.com/office/drawing/2014/main" id="{DF969B51-AAF0-41AE-922A-D113BAA247E1}"/>
                </a:ext>
              </a:extLst>
            </p:cNvPr>
            <p:cNvSpPr/>
            <p:nvPr/>
          </p:nvSpPr>
          <p:spPr>
            <a:xfrm>
              <a:off x="4812231" y="4222877"/>
              <a:ext cx="137161" cy="27431"/>
            </a:xfrm>
            <a:custGeom>
              <a:avLst/>
              <a:gdLst>
                <a:gd name="connsiteX0" fmla="*/ 4828 w 48276"/>
                <a:gd name="connsiteY0" fmla="*/ 4828 h 9655"/>
                <a:gd name="connsiteX1" fmla="*/ 44736 w 48276"/>
                <a:gd name="connsiteY1" fmla="*/ 4828 h 9655"/>
              </a:gdLst>
              <a:ahLst/>
              <a:cxnLst>
                <a:cxn ang="0">
                  <a:pos x="connsiteX0" y="connsiteY0"/>
                </a:cxn>
                <a:cxn ang="0">
                  <a:pos x="connsiteX1" y="connsiteY1"/>
                </a:cxn>
              </a:cxnLst>
              <a:rect l="l" t="t" r="r" b="b"/>
              <a:pathLst>
                <a:path w="48276" h="9655">
                  <a:moveTo>
                    <a:pt x="4828" y="4828"/>
                  </a:moveTo>
                  <a:lnTo>
                    <a:pt x="4473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3" name="Freeform: Shape 1273">
              <a:extLst>
                <a:ext uri="{FF2B5EF4-FFF2-40B4-BE49-F238E27FC236}">
                  <a16:creationId xmlns:a16="http://schemas.microsoft.com/office/drawing/2014/main" id="{DF518762-6B6B-4588-B419-3BA9164446B0}"/>
                </a:ext>
              </a:extLst>
            </p:cNvPr>
            <p:cNvSpPr/>
            <p:nvPr/>
          </p:nvSpPr>
          <p:spPr>
            <a:xfrm>
              <a:off x="4641238" y="4222877"/>
              <a:ext cx="137161" cy="27431"/>
            </a:xfrm>
            <a:custGeom>
              <a:avLst/>
              <a:gdLst>
                <a:gd name="connsiteX0" fmla="*/ 4828 w 48276"/>
                <a:gd name="connsiteY0" fmla="*/ 4828 h 9655"/>
                <a:gd name="connsiteX1" fmla="*/ 45380 w 48276"/>
                <a:gd name="connsiteY1" fmla="*/ 4828 h 9655"/>
              </a:gdLst>
              <a:ahLst/>
              <a:cxnLst>
                <a:cxn ang="0">
                  <a:pos x="connsiteX0" y="connsiteY0"/>
                </a:cxn>
                <a:cxn ang="0">
                  <a:pos x="connsiteX1" y="connsiteY1"/>
                </a:cxn>
              </a:cxnLst>
              <a:rect l="l" t="t" r="r" b="b"/>
              <a:pathLst>
                <a:path w="48276" h="9655">
                  <a:moveTo>
                    <a:pt x="4828" y="4828"/>
                  </a:moveTo>
                  <a:lnTo>
                    <a:pt x="453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4" name="Freeform: Shape 1274">
              <a:extLst>
                <a:ext uri="{FF2B5EF4-FFF2-40B4-BE49-F238E27FC236}">
                  <a16:creationId xmlns:a16="http://schemas.microsoft.com/office/drawing/2014/main" id="{3112B9F2-4A8F-4D2E-B1C2-4B9DF28A3E58}"/>
                </a:ext>
              </a:extLst>
            </p:cNvPr>
            <p:cNvSpPr/>
            <p:nvPr/>
          </p:nvSpPr>
          <p:spPr>
            <a:xfrm>
              <a:off x="3994757" y="4222877"/>
              <a:ext cx="630937" cy="27431"/>
            </a:xfrm>
            <a:custGeom>
              <a:avLst/>
              <a:gdLst>
                <a:gd name="connsiteX0" fmla="*/ 4828 w 222072"/>
                <a:gd name="connsiteY0" fmla="*/ 4828 h 9655"/>
                <a:gd name="connsiteX1" fmla="*/ 219176 w 222072"/>
                <a:gd name="connsiteY1" fmla="*/ 4828 h 9655"/>
              </a:gdLst>
              <a:ahLst/>
              <a:cxnLst>
                <a:cxn ang="0">
                  <a:pos x="connsiteX0" y="connsiteY0"/>
                </a:cxn>
                <a:cxn ang="0">
                  <a:pos x="connsiteX1" y="connsiteY1"/>
                </a:cxn>
              </a:cxnLst>
              <a:rect l="l" t="t" r="r" b="b"/>
              <a:pathLst>
                <a:path w="222072" h="9655">
                  <a:moveTo>
                    <a:pt x="4828" y="4828"/>
                  </a:moveTo>
                  <a:lnTo>
                    <a:pt x="21917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5" name="Freeform: Shape 1275">
              <a:extLst>
                <a:ext uri="{FF2B5EF4-FFF2-40B4-BE49-F238E27FC236}">
                  <a16:creationId xmlns:a16="http://schemas.microsoft.com/office/drawing/2014/main" id="{1947E00D-D59D-4531-B956-1132245BFD32}"/>
                </a:ext>
              </a:extLst>
            </p:cNvPr>
            <p:cNvSpPr/>
            <p:nvPr/>
          </p:nvSpPr>
          <p:spPr>
            <a:xfrm>
              <a:off x="4658612" y="3383458"/>
              <a:ext cx="201169" cy="27431"/>
            </a:xfrm>
            <a:custGeom>
              <a:avLst/>
              <a:gdLst>
                <a:gd name="connsiteX0" fmla="*/ 4828 w 70805"/>
                <a:gd name="connsiteY0" fmla="*/ 4828 h 9655"/>
                <a:gd name="connsiteX1" fmla="*/ 68875 w 70805"/>
                <a:gd name="connsiteY1" fmla="*/ 4828 h 9655"/>
              </a:gdLst>
              <a:ahLst/>
              <a:cxnLst>
                <a:cxn ang="0">
                  <a:pos x="connsiteX0" y="connsiteY0"/>
                </a:cxn>
                <a:cxn ang="0">
                  <a:pos x="connsiteX1" y="connsiteY1"/>
                </a:cxn>
              </a:cxnLst>
              <a:rect l="l" t="t" r="r" b="b"/>
              <a:pathLst>
                <a:path w="70805" h="9655">
                  <a:moveTo>
                    <a:pt x="4828" y="4828"/>
                  </a:moveTo>
                  <a:lnTo>
                    <a:pt x="68875"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6" name="Freeform: Shape 1276">
              <a:extLst>
                <a:ext uri="{FF2B5EF4-FFF2-40B4-BE49-F238E27FC236}">
                  <a16:creationId xmlns:a16="http://schemas.microsoft.com/office/drawing/2014/main" id="{B4FE8406-2EBC-486E-9A60-533D5EBCCCB6}"/>
                </a:ext>
              </a:extLst>
            </p:cNvPr>
            <p:cNvSpPr/>
            <p:nvPr/>
          </p:nvSpPr>
          <p:spPr>
            <a:xfrm>
              <a:off x="4172152" y="3383458"/>
              <a:ext cx="146304" cy="27431"/>
            </a:xfrm>
            <a:custGeom>
              <a:avLst/>
              <a:gdLst>
                <a:gd name="connsiteX0" fmla="*/ 4828 w 51495"/>
                <a:gd name="connsiteY0" fmla="*/ 4828 h 9655"/>
                <a:gd name="connsiteX1" fmla="*/ 47311 w 51495"/>
                <a:gd name="connsiteY1" fmla="*/ 4828 h 9655"/>
              </a:gdLst>
              <a:ahLst/>
              <a:cxnLst>
                <a:cxn ang="0">
                  <a:pos x="connsiteX0" y="connsiteY0"/>
                </a:cxn>
                <a:cxn ang="0">
                  <a:pos x="connsiteX1" y="connsiteY1"/>
                </a:cxn>
              </a:cxnLst>
              <a:rect l="l" t="t" r="r" b="b"/>
              <a:pathLst>
                <a:path w="51495" h="9655">
                  <a:moveTo>
                    <a:pt x="4828" y="4828"/>
                  </a:moveTo>
                  <a:lnTo>
                    <a:pt x="4731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7" name="Freeform: Shape 1277">
              <a:extLst>
                <a:ext uri="{FF2B5EF4-FFF2-40B4-BE49-F238E27FC236}">
                  <a16:creationId xmlns:a16="http://schemas.microsoft.com/office/drawing/2014/main" id="{9CCE8C53-F0D6-40A0-A360-987A46FD9845}"/>
                </a:ext>
              </a:extLst>
            </p:cNvPr>
            <p:cNvSpPr/>
            <p:nvPr/>
          </p:nvSpPr>
          <p:spPr>
            <a:xfrm>
              <a:off x="4666842" y="3463924"/>
              <a:ext cx="201169" cy="27431"/>
            </a:xfrm>
            <a:custGeom>
              <a:avLst/>
              <a:gdLst>
                <a:gd name="connsiteX0" fmla="*/ 4828 w 70805"/>
                <a:gd name="connsiteY0" fmla="*/ 4828 h 9655"/>
                <a:gd name="connsiteX1" fmla="*/ 68231 w 70805"/>
                <a:gd name="connsiteY1" fmla="*/ 4828 h 9655"/>
              </a:gdLst>
              <a:ahLst/>
              <a:cxnLst>
                <a:cxn ang="0">
                  <a:pos x="connsiteX0" y="connsiteY0"/>
                </a:cxn>
                <a:cxn ang="0">
                  <a:pos x="connsiteX1" y="connsiteY1"/>
                </a:cxn>
              </a:cxnLst>
              <a:rect l="l" t="t" r="r" b="b"/>
              <a:pathLst>
                <a:path w="70805" h="9655">
                  <a:moveTo>
                    <a:pt x="4828" y="4828"/>
                  </a:moveTo>
                  <a:lnTo>
                    <a:pt x="68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8" name="Freeform: Shape 1278">
              <a:extLst>
                <a:ext uri="{FF2B5EF4-FFF2-40B4-BE49-F238E27FC236}">
                  <a16:creationId xmlns:a16="http://schemas.microsoft.com/office/drawing/2014/main" id="{3A42879E-C9D5-4077-9AFC-8E5DA8BA6B37}"/>
                </a:ext>
              </a:extLst>
            </p:cNvPr>
            <p:cNvSpPr/>
            <p:nvPr/>
          </p:nvSpPr>
          <p:spPr>
            <a:xfrm>
              <a:off x="4441899" y="3463924"/>
              <a:ext cx="54865" cy="27431"/>
            </a:xfrm>
            <a:custGeom>
              <a:avLst/>
              <a:gdLst>
                <a:gd name="connsiteX0" fmla="*/ 4828 w 19310"/>
                <a:gd name="connsiteY0" fmla="*/ 4828 h 9655"/>
                <a:gd name="connsiteX1" fmla="*/ 17058 w 19310"/>
                <a:gd name="connsiteY1" fmla="*/ 4828 h 9655"/>
              </a:gdLst>
              <a:ahLst/>
              <a:cxnLst>
                <a:cxn ang="0">
                  <a:pos x="connsiteX0" y="connsiteY0"/>
                </a:cxn>
                <a:cxn ang="0">
                  <a:pos x="connsiteX1" y="connsiteY1"/>
                </a:cxn>
              </a:cxnLst>
              <a:rect l="l" t="t" r="r" b="b"/>
              <a:pathLst>
                <a:path w="19310" h="9655">
                  <a:moveTo>
                    <a:pt x="4828" y="4828"/>
                  </a:moveTo>
                  <a:lnTo>
                    <a:pt x="1705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09" name="Freeform: Shape 1279">
              <a:extLst>
                <a:ext uri="{FF2B5EF4-FFF2-40B4-BE49-F238E27FC236}">
                  <a16:creationId xmlns:a16="http://schemas.microsoft.com/office/drawing/2014/main" id="{F5B48631-4001-4A20-A150-8E1A64B30A29}"/>
                </a:ext>
              </a:extLst>
            </p:cNvPr>
            <p:cNvSpPr/>
            <p:nvPr/>
          </p:nvSpPr>
          <p:spPr>
            <a:xfrm>
              <a:off x="4161179" y="3463924"/>
              <a:ext cx="146304" cy="27431"/>
            </a:xfrm>
            <a:custGeom>
              <a:avLst/>
              <a:gdLst>
                <a:gd name="connsiteX0" fmla="*/ 4828 w 51495"/>
                <a:gd name="connsiteY0" fmla="*/ 4828 h 9655"/>
                <a:gd name="connsiteX1" fmla="*/ 46667 w 51495"/>
                <a:gd name="connsiteY1" fmla="*/ 4828 h 9655"/>
              </a:gdLst>
              <a:ahLst/>
              <a:cxnLst>
                <a:cxn ang="0">
                  <a:pos x="connsiteX0" y="connsiteY0"/>
                </a:cxn>
                <a:cxn ang="0">
                  <a:pos x="connsiteX1" y="connsiteY1"/>
                </a:cxn>
              </a:cxnLst>
              <a:rect l="l" t="t" r="r" b="b"/>
              <a:pathLst>
                <a:path w="51495" h="9655">
                  <a:moveTo>
                    <a:pt x="4828" y="4828"/>
                  </a:moveTo>
                  <a:lnTo>
                    <a:pt x="46667"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0" name="Freeform: Shape 1280">
              <a:extLst>
                <a:ext uri="{FF2B5EF4-FFF2-40B4-BE49-F238E27FC236}">
                  <a16:creationId xmlns:a16="http://schemas.microsoft.com/office/drawing/2014/main" id="{090E56FC-49AD-4474-8C5C-53D76555C38E}"/>
                </a:ext>
              </a:extLst>
            </p:cNvPr>
            <p:cNvSpPr/>
            <p:nvPr/>
          </p:nvSpPr>
          <p:spPr>
            <a:xfrm>
              <a:off x="4509563" y="3473070"/>
              <a:ext cx="73153" cy="27431"/>
            </a:xfrm>
            <a:custGeom>
              <a:avLst/>
              <a:gdLst>
                <a:gd name="connsiteX0" fmla="*/ 23495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495"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1" name="Freeform: Shape 1281">
              <a:extLst>
                <a:ext uri="{FF2B5EF4-FFF2-40B4-BE49-F238E27FC236}">
                  <a16:creationId xmlns:a16="http://schemas.microsoft.com/office/drawing/2014/main" id="{E766FCE5-9A0D-48ED-A919-E54A6D92A8FA}"/>
                </a:ext>
              </a:extLst>
            </p:cNvPr>
            <p:cNvSpPr/>
            <p:nvPr/>
          </p:nvSpPr>
          <p:spPr>
            <a:xfrm>
              <a:off x="4518709" y="3559023"/>
              <a:ext cx="73153" cy="27431"/>
            </a:xfrm>
            <a:custGeom>
              <a:avLst/>
              <a:gdLst>
                <a:gd name="connsiteX0" fmla="*/ 23817 w 25747"/>
                <a:gd name="connsiteY0" fmla="*/ 4828 h 9655"/>
                <a:gd name="connsiteX1" fmla="*/ 4828 w 25747"/>
                <a:gd name="connsiteY1" fmla="*/ 7081 h 9655"/>
              </a:gdLst>
              <a:ahLst/>
              <a:cxnLst>
                <a:cxn ang="0">
                  <a:pos x="connsiteX0" y="connsiteY0"/>
                </a:cxn>
                <a:cxn ang="0">
                  <a:pos x="connsiteX1" y="connsiteY1"/>
                </a:cxn>
              </a:cxnLst>
              <a:rect l="l" t="t" r="r" b="b"/>
              <a:pathLst>
                <a:path w="25747" h="9655">
                  <a:moveTo>
                    <a:pt x="23817" y="4828"/>
                  </a:moveTo>
                  <a:lnTo>
                    <a:pt x="4828" y="7081"/>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2" name="Freeform: Shape 1282">
              <a:extLst>
                <a:ext uri="{FF2B5EF4-FFF2-40B4-BE49-F238E27FC236}">
                  <a16:creationId xmlns:a16="http://schemas.microsoft.com/office/drawing/2014/main" id="{ADE37A1F-0DCE-4C8A-A6F0-C1FD3820DE52}"/>
                </a:ext>
              </a:extLst>
            </p:cNvPr>
            <p:cNvSpPr/>
            <p:nvPr/>
          </p:nvSpPr>
          <p:spPr>
            <a:xfrm>
              <a:off x="4527852" y="364589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3" name="Freeform: Shape 1283">
              <a:extLst>
                <a:ext uri="{FF2B5EF4-FFF2-40B4-BE49-F238E27FC236}">
                  <a16:creationId xmlns:a16="http://schemas.microsoft.com/office/drawing/2014/main" id="{82059924-B762-4CE6-9019-4D5E878A51F6}"/>
                </a:ext>
              </a:extLst>
            </p:cNvPr>
            <p:cNvSpPr/>
            <p:nvPr/>
          </p:nvSpPr>
          <p:spPr>
            <a:xfrm>
              <a:off x="4536997" y="373276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4" name="Freeform: Shape 1284">
              <a:extLst>
                <a:ext uri="{FF2B5EF4-FFF2-40B4-BE49-F238E27FC236}">
                  <a16:creationId xmlns:a16="http://schemas.microsoft.com/office/drawing/2014/main" id="{30C73753-4752-4744-8FC0-F095CB7B02C6}"/>
                </a:ext>
              </a:extLst>
            </p:cNvPr>
            <p:cNvSpPr/>
            <p:nvPr/>
          </p:nvSpPr>
          <p:spPr>
            <a:xfrm>
              <a:off x="4494934" y="3356027"/>
              <a:ext cx="210311" cy="457199"/>
            </a:xfrm>
            <a:custGeom>
              <a:avLst/>
              <a:gdLst>
                <a:gd name="connsiteX0" fmla="*/ 20598 w 74024"/>
                <a:gd name="connsiteY0" fmla="*/ 157382 h 160922"/>
                <a:gd name="connsiteX1" fmla="*/ 4828 w 74024"/>
                <a:gd name="connsiteY1" fmla="*/ 9977 h 160922"/>
                <a:gd name="connsiteX2" fmla="*/ 53104 w 74024"/>
                <a:gd name="connsiteY2" fmla="*/ 4828 h 160922"/>
                <a:gd name="connsiteX3" fmla="*/ 69197 w 74024"/>
                <a:gd name="connsiteY3" fmla="*/ 155773 h 160922"/>
              </a:gdLst>
              <a:ahLst/>
              <a:cxnLst>
                <a:cxn ang="0">
                  <a:pos x="connsiteX0" y="connsiteY0"/>
                </a:cxn>
                <a:cxn ang="0">
                  <a:pos x="connsiteX1" y="connsiteY1"/>
                </a:cxn>
                <a:cxn ang="0">
                  <a:pos x="connsiteX2" y="connsiteY2"/>
                </a:cxn>
                <a:cxn ang="0">
                  <a:pos x="connsiteX3" y="connsiteY3"/>
                </a:cxn>
              </a:cxnLst>
              <a:rect l="l" t="t" r="r" b="b"/>
              <a:pathLst>
                <a:path w="74024" h="160922">
                  <a:moveTo>
                    <a:pt x="20598" y="157382"/>
                  </a:moveTo>
                  <a:lnTo>
                    <a:pt x="4828" y="9977"/>
                  </a:lnTo>
                  <a:lnTo>
                    <a:pt x="53104" y="4828"/>
                  </a:lnTo>
                  <a:lnTo>
                    <a:pt x="69197" y="155773"/>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5" name="Freeform: Shape 1285">
              <a:extLst>
                <a:ext uri="{FF2B5EF4-FFF2-40B4-BE49-F238E27FC236}">
                  <a16:creationId xmlns:a16="http://schemas.microsoft.com/office/drawing/2014/main" id="{FF3150DF-1871-4883-9307-878BD0B64B4B}"/>
                </a:ext>
              </a:extLst>
            </p:cNvPr>
            <p:cNvSpPr/>
            <p:nvPr/>
          </p:nvSpPr>
          <p:spPr>
            <a:xfrm>
              <a:off x="4349546" y="3267330"/>
              <a:ext cx="137161" cy="548641"/>
            </a:xfrm>
            <a:custGeom>
              <a:avLst/>
              <a:gdLst>
                <a:gd name="connsiteX0" fmla="*/ 4828 w 48276"/>
                <a:gd name="connsiteY0" fmla="*/ 190854 h 193106"/>
                <a:gd name="connsiteX1" fmla="*/ 45058 w 48276"/>
                <a:gd name="connsiteY1" fmla="*/ 4828 h 193106"/>
              </a:gdLst>
              <a:ahLst/>
              <a:cxnLst>
                <a:cxn ang="0">
                  <a:pos x="connsiteX0" y="connsiteY0"/>
                </a:cxn>
                <a:cxn ang="0">
                  <a:pos x="connsiteX1" y="connsiteY1"/>
                </a:cxn>
              </a:cxnLst>
              <a:rect l="l" t="t" r="r" b="b"/>
              <a:pathLst>
                <a:path w="48276" h="193106">
                  <a:moveTo>
                    <a:pt x="4828" y="190854"/>
                  </a:moveTo>
                  <a:lnTo>
                    <a:pt x="4505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6" name="Freeform: Shape 1286">
              <a:extLst>
                <a:ext uri="{FF2B5EF4-FFF2-40B4-BE49-F238E27FC236}">
                  <a16:creationId xmlns:a16="http://schemas.microsoft.com/office/drawing/2014/main" id="{9E3F7FB6-4EF7-4638-89B6-3B88AD2CEA48}"/>
                </a:ext>
              </a:extLst>
            </p:cNvPr>
            <p:cNvSpPr/>
            <p:nvPr/>
          </p:nvSpPr>
          <p:spPr>
            <a:xfrm>
              <a:off x="4236159" y="3246297"/>
              <a:ext cx="137161" cy="566929"/>
            </a:xfrm>
            <a:custGeom>
              <a:avLst/>
              <a:gdLst>
                <a:gd name="connsiteX0" fmla="*/ 46346 w 48276"/>
                <a:gd name="connsiteY0" fmla="*/ 4828 h 199543"/>
                <a:gd name="connsiteX1" fmla="*/ 4828 w 48276"/>
                <a:gd name="connsiteY1" fmla="*/ 196003 h 199543"/>
              </a:gdLst>
              <a:ahLst/>
              <a:cxnLst>
                <a:cxn ang="0">
                  <a:pos x="connsiteX0" y="connsiteY0"/>
                </a:cxn>
                <a:cxn ang="0">
                  <a:pos x="connsiteX1" y="connsiteY1"/>
                </a:cxn>
              </a:cxnLst>
              <a:rect l="l" t="t" r="r" b="b"/>
              <a:pathLst>
                <a:path w="48276" h="199543">
                  <a:moveTo>
                    <a:pt x="46346" y="4828"/>
                  </a:moveTo>
                  <a:lnTo>
                    <a:pt x="4828" y="196003"/>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7" name="Freeform: Shape 1287">
              <a:extLst>
                <a:ext uri="{FF2B5EF4-FFF2-40B4-BE49-F238E27FC236}">
                  <a16:creationId xmlns:a16="http://schemas.microsoft.com/office/drawing/2014/main" id="{483B6338-B2AB-41C5-9ECC-0C9CAD5EE585}"/>
                </a:ext>
              </a:extLst>
            </p:cNvPr>
            <p:cNvSpPr/>
            <p:nvPr/>
          </p:nvSpPr>
          <p:spPr>
            <a:xfrm>
              <a:off x="4537912" y="3090851"/>
              <a:ext cx="118873" cy="54865"/>
            </a:xfrm>
            <a:custGeom>
              <a:avLst/>
              <a:gdLst>
                <a:gd name="connsiteX0" fmla="*/ 4828 w 41839"/>
                <a:gd name="connsiteY0" fmla="*/ 4828 h 19310"/>
                <a:gd name="connsiteX1" fmla="*/ 19954 w 41839"/>
                <a:gd name="connsiteY1" fmla="*/ 13839 h 19310"/>
                <a:gd name="connsiteX2" fmla="*/ 37656 w 41839"/>
                <a:gd name="connsiteY2" fmla="*/ 11908 h 19310"/>
              </a:gdLst>
              <a:ahLst/>
              <a:cxnLst>
                <a:cxn ang="0">
                  <a:pos x="connsiteX0" y="connsiteY0"/>
                </a:cxn>
                <a:cxn ang="0">
                  <a:pos x="connsiteX1" y="connsiteY1"/>
                </a:cxn>
                <a:cxn ang="0">
                  <a:pos x="connsiteX2" y="connsiteY2"/>
                </a:cxn>
              </a:cxnLst>
              <a:rect l="l" t="t" r="r" b="b"/>
              <a:pathLst>
                <a:path w="41839" h="19310">
                  <a:moveTo>
                    <a:pt x="4828" y="4828"/>
                  </a:moveTo>
                  <a:cubicBezTo>
                    <a:pt x="8368" y="9012"/>
                    <a:pt x="13839" y="12552"/>
                    <a:pt x="19954" y="13839"/>
                  </a:cubicBezTo>
                  <a:cubicBezTo>
                    <a:pt x="26069" y="15127"/>
                    <a:pt x="32506" y="14483"/>
                    <a:pt x="37656" y="1190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8" name="Freeform: Shape 1288">
              <a:extLst>
                <a:ext uri="{FF2B5EF4-FFF2-40B4-BE49-F238E27FC236}">
                  <a16:creationId xmlns:a16="http://schemas.microsoft.com/office/drawing/2014/main" id="{BDEEA1F1-53F1-47CB-8A7E-07C20F2CDF22}"/>
                </a:ext>
              </a:extLst>
            </p:cNvPr>
            <p:cNvSpPr/>
            <p:nvPr/>
          </p:nvSpPr>
          <p:spPr>
            <a:xfrm>
              <a:off x="4517794" y="3181591"/>
              <a:ext cx="109727" cy="45719"/>
            </a:xfrm>
            <a:custGeom>
              <a:avLst/>
              <a:gdLst>
                <a:gd name="connsiteX0" fmla="*/ 35081 w 38621"/>
                <a:gd name="connsiteY0" fmla="*/ 14085 h 16092"/>
                <a:gd name="connsiteX1" fmla="*/ 21242 w 38621"/>
                <a:gd name="connsiteY1" fmla="*/ 5395 h 16092"/>
                <a:gd name="connsiteX2" fmla="*/ 4828 w 38621"/>
                <a:gd name="connsiteY2" fmla="*/ 7648 h 16092"/>
              </a:gdLst>
              <a:ahLst/>
              <a:cxnLst>
                <a:cxn ang="0">
                  <a:pos x="connsiteX0" y="connsiteY0"/>
                </a:cxn>
                <a:cxn ang="0">
                  <a:pos x="connsiteX1" y="connsiteY1"/>
                </a:cxn>
                <a:cxn ang="0">
                  <a:pos x="connsiteX2" y="connsiteY2"/>
                </a:cxn>
              </a:cxnLst>
              <a:rect l="l" t="t" r="r" b="b"/>
              <a:pathLst>
                <a:path w="38621" h="16092">
                  <a:moveTo>
                    <a:pt x="35081" y="14085"/>
                  </a:moveTo>
                  <a:cubicBezTo>
                    <a:pt x="31863" y="9901"/>
                    <a:pt x="27035" y="6683"/>
                    <a:pt x="21242" y="5395"/>
                  </a:cubicBezTo>
                  <a:cubicBezTo>
                    <a:pt x="15449" y="4108"/>
                    <a:pt x="9655" y="5074"/>
                    <a:pt x="4828" y="764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19" name="Freeform: Shape 1289">
              <a:extLst>
                <a:ext uri="{FF2B5EF4-FFF2-40B4-BE49-F238E27FC236}">
                  <a16:creationId xmlns:a16="http://schemas.microsoft.com/office/drawing/2014/main" id="{5801417F-A4DC-4C3C-88B4-0E1974162038}"/>
                </a:ext>
              </a:extLst>
            </p:cNvPr>
            <p:cNvSpPr/>
            <p:nvPr/>
          </p:nvSpPr>
          <p:spPr>
            <a:xfrm>
              <a:off x="4124597" y="3046180"/>
              <a:ext cx="438911" cy="246888"/>
            </a:xfrm>
            <a:custGeom>
              <a:avLst/>
              <a:gdLst>
                <a:gd name="connsiteX0" fmla="*/ 96555 w 154485"/>
                <a:gd name="connsiteY0" fmla="*/ 5745 h 86898"/>
                <a:gd name="connsiteX1" fmla="*/ 149659 w 154485"/>
                <a:gd name="connsiteY1" fmla="*/ 17332 h 86898"/>
                <a:gd name="connsiteX2" fmla="*/ 140970 w 154485"/>
                <a:gd name="connsiteY2" fmla="*/ 58206 h 86898"/>
                <a:gd name="connsiteX3" fmla="*/ 124234 w 154485"/>
                <a:gd name="connsiteY3" fmla="*/ 85241 h 86898"/>
                <a:gd name="connsiteX4" fmla="*/ 85612 w 154485"/>
                <a:gd name="connsiteY4" fmla="*/ 76873 h 86898"/>
                <a:gd name="connsiteX5" fmla="*/ 79497 w 154485"/>
                <a:gd name="connsiteY5" fmla="*/ 38895 h 86898"/>
                <a:gd name="connsiteX6" fmla="*/ 11266 w 154485"/>
                <a:gd name="connsiteY6" fmla="*/ 76873 h 86898"/>
                <a:gd name="connsiteX7" fmla="*/ 4829 w 154485"/>
                <a:gd name="connsiteY7" fmla="*/ 70758 h 86898"/>
                <a:gd name="connsiteX8" fmla="*/ 96555 w 154485"/>
                <a:gd name="connsiteY8" fmla="*/ 5745 h 8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85" h="86898">
                  <a:moveTo>
                    <a:pt x="96555" y="5745"/>
                  </a:moveTo>
                  <a:lnTo>
                    <a:pt x="149659" y="17332"/>
                  </a:lnTo>
                  <a:lnTo>
                    <a:pt x="140970" y="58206"/>
                  </a:lnTo>
                  <a:lnTo>
                    <a:pt x="124234" y="85241"/>
                  </a:lnTo>
                  <a:lnTo>
                    <a:pt x="85612" y="76873"/>
                  </a:lnTo>
                  <a:cubicBezTo>
                    <a:pt x="85612" y="76873"/>
                    <a:pt x="90118" y="45010"/>
                    <a:pt x="79497" y="38895"/>
                  </a:cubicBezTo>
                  <a:cubicBezTo>
                    <a:pt x="65658" y="31171"/>
                    <a:pt x="36048" y="49516"/>
                    <a:pt x="11266" y="76873"/>
                  </a:cubicBezTo>
                  <a:lnTo>
                    <a:pt x="4829" y="70758"/>
                  </a:lnTo>
                  <a:cubicBezTo>
                    <a:pt x="4507" y="70436"/>
                    <a:pt x="50853" y="-4232"/>
                    <a:pt x="96555" y="5745"/>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0" name="Freeform: Shape 1290">
              <a:extLst>
                <a:ext uri="{FF2B5EF4-FFF2-40B4-BE49-F238E27FC236}">
                  <a16:creationId xmlns:a16="http://schemas.microsoft.com/office/drawing/2014/main" id="{A104F33F-BCD5-4848-8327-629DA1BD9B7C}"/>
                </a:ext>
              </a:extLst>
            </p:cNvPr>
            <p:cNvSpPr/>
            <p:nvPr/>
          </p:nvSpPr>
          <p:spPr>
            <a:xfrm>
              <a:off x="4965851"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1" name="Freeform: Shape 1291">
              <a:extLst>
                <a:ext uri="{FF2B5EF4-FFF2-40B4-BE49-F238E27FC236}">
                  <a16:creationId xmlns:a16="http://schemas.microsoft.com/office/drawing/2014/main" id="{B63FCE07-A55F-4F40-ADC2-C3BA1EACF12F}"/>
                </a:ext>
              </a:extLst>
            </p:cNvPr>
            <p:cNvSpPr/>
            <p:nvPr/>
          </p:nvSpPr>
          <p:spPr>
            <a:xfrm>
              <a:off x="4686043" y="3859861"/>
              <a:ext cx="246888" cy="27431"/>
            </a:xfrm>
            <a:custGeom>
              <a:avLst/>
              <a:gdLst>
                <a:gd name="connsiteX0" fmla="*/ 4828 w 86898"/>
                <a:gd name="connsiteY0" fmla="*/ 4828 h 9655"/>
                <a:gd name="connsiteX1" fmla="*/ 83680 w 86898"/>
                <a:gd name="connsiteY1" fmla="*/ 4828 h 9655"/>
              </a:gdLst>
              <a:ahLst/>
              <a:cxnLst>
                <a:cxn ang="0">
                  <a:pos x="connsiteX0" y="connsiteY0"/>
                </a:cxn>
                <a:cxn ang="0">
                  <a:pos x="connsiteX1" y="connsiteY1"/>
                </a:cxn>
              </a:cxnLst>
              <a:rect l="l" t="t" r="r" b="b"/>
              <a:pathLst>
                <a:path w="86898" h="9655">
                  <a:moveTo>
                    <a:pt x="4828" y="4828"/>
                  </a:moveTo>
                  <a:lnTo>
                    <a:pt x="836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2" name="Freeform: Shape 1292">
              <a:extLst>
                <a:ext uri="{FF2B5EF4-FFF2-40B4-BE49-F238E27FC236}">
                  <a16:creationId xmlns:a16="http://schemas.microsoft.com/office/drawing/2014/main" id="{043486E0-78CC-49FE-B681-B98660C8A230}"/>
                </a:ext>
              </a:extLst>
            </p:cNvPr>
            <p:cNvSpPr/>
            <p:nvPr/>
          </p:nvSpPr>
          <p:spPr>
            <a:xfrm>
              <a:off x="3996587" y="3859861"/>
              <a:ext cx="713233" cy="27431"/>
            </a:xfrm>
            <a:custGeom>
              <a:avLst/>
              <a:gdLst>
                <a:gd name="connsiteX0" fmla="*/ 4828 w 251038"/>
                <a:gd name="connsiteY0" fmla="*/ 4828 h 9655"/>
                <a:gd name="connsiteX1" fmla="*/ 247498 w 251038"/>
                <a:gd name="connsiteY1" fmla="*/ 4828 h 9655"/>
              </a:gdLst>
              <a:ahLst/>
              <a:cxnLst>
                <a:cxn ang="0">
                  <a:pos x="connsiteX0" y="connsiteY0"/>
                </a:cxn>
                <a:cxn ang="0">
                  <a:pos x="connsiteX1" y="connsiteY1"/>
                </a:cxn>
              </a:cxnLst>
              <a:rect l="l" t="t" r="r" b="b"/>
              <a:pathLst>
                <a:path w="251038" h="9655">
                  <a:moveTo>
                    <a:pt x="4828" y="4828"/>
                  </a:moveTo>
                  <a:lnTo>
                    <a:pt x="24749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3" name="Freeform: Shape 1293">
              <a:extLst>
                <a:ext uri="{FF2B5EF4-FFF2-40B4-BE49-F238E27FC236}">
                  <a16:creationId xmlns:a16="http://schemas.microsoft.com/office/drawing/2014/main" id="{E034D72E-99CC-4DD6-A5DF-E2C89EB47A1A}"/>
                </a:ext>
              </a:extLst>
            </p:cNvPr>
            <p:cNvSpPr/>
            <p:nvPr/>
          </p:nvSpPr>
          <p:spPr>
            <a:xfrm>
              <a:off x="3853940"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4" name="Freeform: Shape 1294">
              <a:extLst>
                <a:ext uri="{FF2B5EF4-FFF2-40B4-BE49-F238E27FC236}">
                  <a16:creationId xmlns:a16="http://schemas.microsoft.com/office/drawing/2014/main" id="{86D5103E-B239-417E-9651-619FC3FDB884}"/>
                </a:ext>
              </a:extLst>
            </p:cNvPr>
            <p:cNvSpPr/>
            <p:nvPr/>
          </p:nvSpPr>
          <p:spPr>
            <a:xfrm>
              <a:off x="3916118" y="3450210"/>
              <a:ext cx="265176" cy="365761"/>
            </a:xfrm>
            <a:custGeom>
              <a:avLst/>
              <a:gdLst>
                <a:gd name="connsiteX0" fmla="*/ 89795 w 93334"/>
                <a:gd name="connsiteY0" fmla="*/ 126485 h 128737"/>
                <a:gd name="connsiteX1" fmla="*/ 43127 w 93334"/>
                <a:gd name="connsiteY1" fmla="*/ 29288 h 128737"/>
                <a:gd name="connsiteX2" fmla="*/ 4828 w 93334"/>
                <a:gd name="connsiteY2" fmla="*/ 4828 h 128737"/>
              </a:gdLst>
              <a:ahLst/>
              <a:cxnLst>
                <a:cxn ang="0">
                  <a:pos x="connsiteX0" y="connsiteY0"/>
                </a:cxn>
                <a:cxn ang="0">
                  <a:pos x="connsiteX1" y="connsiteY1"/>
                </a:cxn>
                <a:cxn ang="0">
                  <a:pos x="connsiteX2" y="connsiteY2"/>
                </a:cxn>
              </a:cxnLst>
              <a:rect l="l" t="t" r="r" b="b"/>
              <a:pathLst>
                <a:path w="93334" h="128737">
                  <a:moveTo>
                    <a:pt x="89795" y="126485"/>
                  </a:moveTo>
                  <a:lnTo>
                    <a:pt x="43127" y="29288"/>
                  </a:lnTo>
                  <a:cubicBezTo>
                    <a:pt x="27357" y="29288"/>
                    <a:pt x="12230" y="20276"/>
                    <a:pt x="4828" y="4828"/>
                  </a:cubicBez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5" name="Freeform: Shape 1295">
              <a:extLst>
                <a:ext uri="{FF2B5EF4-FFF2-40B4-BE49-F238E27FC236}">
                  <a16:creationId xmlns:a16="http://schemas.microsoft.com/office/drawing/2014/main" id="{AB9C27A1-45F0-4DDF-A843-F22FEAE297CB}"/>
                </a:ext>
              </a:extLst>
            </p:cNvPr>
            <p:cNvSpPr/>
            <p:nvPr/>
          </p:nvSpPr>
          <p:spPr>
            <a:xfrm>
              <a:off x="3904197" y="3276444"/>
              <a:ext cx="338327" cy="429768"/>
            </a:xfrm>
            <a:custGeom>
              <a:avLst/>
              <a:gdLst>
                <a:gd name="connsiteX0" fmla="*/ 9024 w 119082"/>
                <a:gd name="connsiteY0" fmla="*/ 66310 h 151266"/>
                <a:gd name="connsiteX1" fmla="*/ 17714 w 119082"/>
                <a:gd name="connsiteY1" fmla="*/ 17068 h 151266"/>
                <a:gd name="connsiteX2" fmla="*/ 32841 w 119082"/>
                <a:gd name="connsiteY2" fmla="*/ 48609 h 151266"/>
                <a:gd name="connsiteX3" fmla="*/ 57945 w 119082"/>
                <a:gd name="connsiteY3" fmla="*/ 36701 h 151266"/>
                <a:gd name="connsiteX4" fmla="*/ 42818 w 119082"/>
                <a:gd name="connsiteY4" fmla="*/ 5160 h 151266"/>
                <a:gd name="connsiteX5" fmla="*/ 86589 w 119082"/>
                <a:gd name="connsiteY5" fmla="*/ 29298 h 151266"/>
                <a:gd name="connsiteX6" fmla="*/ 81761 w 119082"/>
                <a:gd name="connsiteY6" fmla="*/ 74356 h 151266"/>
                <a:gd name="connsiteX7" fmla="*/ 116520 w 119082"/>
                <a:gd name="connsiteY7" fmla="*/ 146771 h 15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082" h="151266">
                  <a:moveTo>
                    <a:pt x="9024" y="66310"/>
                  </a:moveTo>
                  <a:cubicBezTo>
                    <a:pt x="978" y="49253"/>
                    <a:pt x="4840" y="29620"/>
                    <a:pt x="17714" y="17068"/>
                  </a:cubicBezTo>
                  <a:lnTo>
                    <a:pt x="32841" y="48609"/>
                  </a:lnTo>
                  <a:lnTo>
                    <a:pt x="57945" y="36701"/>
                  </a:lnTo>
                  <a:lnTo>
                    <a:pt x="42818" y="5160"/>
                  </a:lnTo>
                  <a:cubicBezTo>
                    <a:pt x="60519" y="2907"/>
                    <a:pt x="78543" y="12240"/>
                    <a:pt x="86589" y="29298"/>
                  </a:cubicBezTo>
                  <a:cubicBezTo>
                    <a:pt x="93991" y="44425"/>
                    <a:pt x="91416" y="62126"/>
                    <a:pt x="81761" y="74356"/>
                  </a:cubicBezTo>
                  <a:lnTo>
                    <a:pt x="116520" y="146771"/>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6" name="Freeform: Shape 1296">
              <a:extLst>
                <a:ext uri="{FF2B5EF4-FFF2-40B4-BE49-F238E27FC236}">
                  <a16:creationId xmlns:a16="http://schemas.microsoft.com/office/drawing/2014/main" id="{E44E9B24-2C05-4100-8A8D-3B7B1B2C0292}"/>
                </a:ext>
              </a:extLst>
            </p:cNvPr>
            <p:cNvSpPr/>
            <p:nvPr/>
          </p:nvSpPr>
          <p:spPr>
            <a:xfrm>
              <a:off x="4812231" y="3246655"/>
              <a:ext cx="210311" cy="438911"/>
            </a:xfrm>
            <a:custGeom>
              <a:avLst/>
              <a:gdLst>
                <a:gd name="connsiteX0" fmla="*/ 25104 w 74024"/>
                <a:gd name="connsiteY0" fmla="*/ 54266 h 154485"/>
                <a:gd name="connsiteX1" fmla="*/ 24138 w 74024"/>
                <a:gd name="connsiteY1" fmla="*/ 48794 h 154485"/>
                <a:gd name="connsiteX2" fmla="*/ 53426 w 74024"/>
                <a:gd name="connsiteY2" fmla="*/ 7598 h 154485"/>
                <a:gd name="connsiteX3" fmla="*/ 58898 w 74024"/>
                <a:gd name="connsiteY3" fmla="*/ 5023 h 154485"/>
                <a:gd name="connsiteX4" fmla="*/ 67265 w 74024"/>
                <a:gd name="connsiteY4" fmla="*/ 7920 h 154485"/>
                <a:gd name="connsiteX5" fmla="*/ 70162 w 74024"/>
                <a:gd name="connsiteY5" fmla="*/ 13391 h 154485"/>
                <a:gd name="connsiteX6" fmla="*/ 68231 w 74024"/>
                <a:gd name="connsiteY6" fmla="*/ 63599 h 154485"/>
                <a:gd name="connsiteX7" fmla="*/ 64047 w 74024"/>
                <a:gd name="connsiteY7" fmla="*/ 67461 h 154485"/>
                <a:gd name="connsiteX8" fmla="*/ 53426 w 74024"/>
                <a:gd name="connsiteY8" fmla="*/ 68749 h 154485"/>
                <a:gd name="connsiteX9" fmla="*/ 25426 w 74024"/>
                <a:gd name="connsiteY9" fmla="*/ 150497 h 154485"/>
                <a:gd name="connsiteX10" fmla="*/ 4828 w 74024"/>
                <a:gd name="connsiteY10" fmla="*/ 143417 h 154485"/>
                <a:gd name="connsiteX11" fmla="*/ 32828 w 74024"/>
                <a:gd name="connsiteY11" fmla="*/ 61668 h 154485"/>
                <a:gd name="connsiteX12" fmla="*/ 25104 w 74024"/>
                <a:gd name="connsiteY12" fmla="*/ 54266 h 15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024" h="154485">
                  <a:moveTo>
                    <a:pt x="25104" y="54266"/>
                  </a:moveTo>
                  <a:cubicBezTo>
                    <a:pt x="24138" y="53300"/>
                    <a:pt x="23173" y="51047"/>
                    <a:pt x="24138" y="48794"/>
                  </a:cubicBezTo>
                  <a:lnTo>
                    <a:pt x="53426" y="7598"/>
                  </a:lnTo>
                  <a:cubicBezTo>
                    <a:pt x="54392" y="5345"/>
                    <a:pt x="56645" y="4380"/>
                    <a:pt x="58898" y="5023"/>
                  </a:cubicBezTo>
                  <a:lnTo>
                    <a:pt x="67265" y="7920"/>
                  </a:lnTo>
                  <a:cubicBezTo>
                    <a:pt x="69518" y="8564"/>
                    <a:pt x="70806" y="11138"/>
                    <a:pt x="70162" y="13391"/>
                  </a:cubicBezTo>
                  <a:lnTo>
                    <a:pt x="68231" y="63599"/>
                  </a:lnTo>
                  <a:cubicBezTo>
                    <a:pt x="67587" y="66174"/>
                    <a:pt x="65334" y="67461"/>
                    <a:pt x="64047" y="67461"/>
                  </a:cubicBezTo>
                  <a:cubicBezTo>
                    <a:pt x="61472" y="67461"/>
                    <a:pt x="54070" y="66174"/>
                    <a:pt x="53426" y="68749"/>
                  </a:cubicBezTo>
                  <a:lnTo>
                    <a:pt x="25426" y="150497"/>
                  </a:lnTo>
                  <a:lnTo>
                    <a:pt x="4828" y="143417"/>
                  </a:lnTo>
                  <a:lnTo>
                    <a:pt x="32828" y="61668"/>
                  </a:lnTo>
                  <a:cubicBezTo>
                    <a:pt x="33794" y="59093"/>
                    <a:pt x="27035" y="55553"/>
                    <a:pt x="25104" y="5426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7" name="Freeform: Shape 1297">
              <a:extLst>
                <a:ext uri="{FF2B5EF4-FFF2-40B4-BE49-F238E27FC236}">
                  <a16:creationId xmlns:a16="http://schemas.microsoft.com/office/drawing/2014/main" id="{C7C268BF-A930-4321-986D-94CA52B36614}"/>
                </a:ext>
              </a:extLst>
            </p:cNvPr>
            <p:cNvSpPr/>
            <p:nvPr/>
          </p:nvSpPr>
          <p:spPr>
            <a:xfrm>
              <a:off x="4714391" y="3630713"/>
              <a:ext cx="219457" cy="182880"/>
            </a:xfrm>
            <a:custGeom>
              <a:avLst/>
              <a:gdLst>
                <a:gd name="connsiteX0" fmla="*/ 61472 w 77242"/>
                <a:gd name="connsiteY0" fmla="*/ 60700 h 64368"/>
                <a:gd name="connsiteX1" fmla="*/ 73702 w 77242"/>
                <a:gd name="connsiteY1" fmla="*/ 24975 h 64368"/>
                <a:gd name="connsiteX2" fmla="*/ 70806 w 77242"/>
                <a:gd name="connsiteY2" fmla="*/ 19182 h 64368"/>
                <a:gd name="connsiteX3" fmla="*/ 28644 w 77242"/>
                <a:gd name="connsiteY3" fmla="*/ 5021 h 64368"/>
                <a:gd name="connsiteX4" fmla="*/ 22851 w 77242"/>
                <a:gd name="connsiteY4" fmla="*/ 7917 h 64368"/>
                <a:gd name="connsiteX5" fmla="*/ 4828 w 77242"/>
                <a:gd name="connsiteY5" fmla="*/ 61022 h 6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42" h="64368">
                  <a:moveTo>
                    <a:pt x="61472" y="60700"/>
                  </a:moveTo>
                  <a:lnTo>
                    <a:pt x="73702" y="24975"/>
                  </a:lnTo>
                  <a:cubicBezTo>
                    <a:pt x="74668" y="22722"/>
                    <a:pt x="73381" y="20147"/>
                    <a:pt x="70806" y="19182"/>
                  </a:cubicBezTo>
                  <a:lnTo>
                    <a:pt x="28644" y="5021"/>
                  </a:lnTo>
                  <a:cubicBezTo>
                    <a:pt x="26391" y="4377"/>
                    <a:pt x="23816" y="5343"/>
                    <a:pt x="22851" y="7917"/>
                  </a:cubicBezTo>
                  <a:lnTo>
                    <a:pt x="4828" y="6102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28" name="Freeform: Shape 1298">
              <a:extLst>
                <a:ext uri="{FF2B5EF4-FFF2-40B4-BE49-F238E27FC236}">
                  <a16:creationId xmlns:a16="http://schemas.microsoft.com/office/drawing/2014/main" id="{E70DE8B2-1043-479E-BA1E-53DC6A2863D5}"/>
                </a:ext>
              </a:extLst>
            </p:cNvPr>
            <p:cNvSpPr/>
            <p:nvPr/>
          </p:nvSpPr>
          <p:spPr>
            <a:xfrm>
              <a:off x="4592984" y="3105690"/>
              <a:ext cx="128015" cy="155449"/>
            </a:xfrm>
            <a:custGeom>
              <a:avLst/>
              <a:gdLst>
                <a:gd name="connsiteX0" fmla="*/ 13444 w 45058"/>
                <a:gd name="connsiteY0" fmla="*/ 46916 h 54713"/>
                <a:gd name="connsiteX1" fmla="*/ 31467 w 45058"/>
                <a:gd name="connsiteY1" fmla="*/ 50778 h 54713"/>
                <a:gd name="connsiteX2" fmla="*/ 40479 w 45058"/>
                <a:gd name="connsiteY2" fmla="*/ 8938 h 54713"/>
                <a:gd name="connsiteX3" fmla="*/ 22455 w 45058"/>
                <a:gd name="connsiteY3" fmla="*/ 5076 h 54713"/>
                <a:gd name="connsiteX4" fmla="*/ 9582 w 45058"/>
                <a:gd name="connsiteY4" fmla="*/ 13444 h 54713"/>
                <a:gd name="connsiteX5" fmla="*/ 5076 w 45058"/>
                <a:gd name="connsiteY5" fmla="*/ 34042 h 54713"/>
                <a:gd name="connsiteX6" fmla="*/ 13444 w 45058"/>
                <a:gd name="connsiteY6" fmla="*/ 46916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58" h="54713">
                  <a:moveTo>
                    <a:pt x="13444" y="46916"/>
                  </a:moveTo>
                  <a:lnTo>
                    <a:pt x="31467" y="50778"/>
                  </a:lnTo>
                  <a:lnTo>
                    <a:pt x="40479" y="8938"/>
                  </a:lnTo>
                  <a:lnTo>
                    <a:pt x="22455" y="5076"/>
                  </a:lnTo>
                  <a:cubicBezTo>
                    <a:pt x="16662" y="3788"/>
                    <a:pt x="10869" y="7650"/>
                    <a:pt x="9582" y="13444"/>
                  </a:cubicBezTo>
                  <a:lnTo>
                    <a:pt x="5076" y="34042"/>
                  </a:lnTo>
                  <a:cubicBezTo>
                    <a:pt x="3788" y="39835"/>
                    <a:pt x="7651" y="45628"/>
                    <a:pt x="13444" y="4691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329" name="Group 328">
            <a:extLst>
              <a:ext uri="{FF2B5EF4-FFF2-40B4-BE49-F238E27FC236}">
                <a16:creationId xmlns:a16="http://schemas.microsoft.com/office/drawing/2014/main" id="{C7F2B785-5CE2-4DA2-A3C8-65A01D400EEC}"/>
              </a:ext>
            </a:extLst>
          </p:cNvPr>
          <p:cNvGrpSpPr>
            <a:grpSpLocks noChangeAspect="1"/>
          </p:cNvGrpSpPr>
          <p:nvPr/>
        </p:nvGrpSpPr>
        <p:grpSpPr>
          <a:xfrm>
            <a:off x="12105336" y="1970692"/>
            <a:ext cx="312778" cy="265176"/>
            <a:chOff x="1251736" y="3105936"/>
            <a:chExt cx="1189635" cy="1008586"/>
          </a:xfrm>
        </p:grpSpPr>
        <p:sp>
          <p:nvSpPr>
            <p:cNvPr id="330" name="Freeform: Shape 1246">
              <a:extLst>
                <a:ext uri="{FF2B5EF4-FFF2-40B4-BE49-F238E27FC236}">
                  <a16:creationId xmlns:a16="http://schemas.microsoft.com/office/drawing/2014/main" id="{F7F698FC-6A9B-4593-8D49-22FE52A4F376}"/>
                </a:ext>
              </a:extLst>
            </p:cNvPr>
            <p:cNvSpPr/>
            <p:nvPr/>
          </p:nvSpPr>
          <p:spPr>
            <a:xfrm>
              <a:off x="138249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1" name="Freeform: Shape 1247">
              <a:extLst>
                <a:ext uri="{FF2B5EF4-FFF2-40B4-BE49-F238E27FC236}">
                  <a16:creationId xmlns:a16="http://schemas.microsoft.com/office/drawing/2014/main" id="{B8D12663-9E01-4641-805D-69F8815CD62E}"/>
                </a:ext>
              </a:extLst>
            </p:cNvPr>
            <p:cNvSpPr/>
            <p:nvPr/>
          </p:nvSpPr>
          <p:spPr>
            <a:xfrm>
              <a:off x="1622983"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2" name="Freeform: Shape 1248">
              <a:extLst>
                <a:ext uri="{FF2B5EF4-FFF2-40B4-BE49-F238E27FC236}">
                  <a16:creationId xmlns:a16="http://schemas.microsoft.com/office/drawing/2014/main" id="{EF33B310-820D-4975-A1B2-964938A3A982}"/>
                </a:ext>
              </a:extLst>
            </p:cNvPr>
            <p:cNvSpPr/>
            <p:nvPr/>
          </p:nvSpPr>
          <p:spPr>
            <a:xfrm>
              <a:off x="1864384" y="3573196"/>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3" name="Freeform: Shape 1249">
              <a:extLst>
                <a:ext uri="{FF2B5EF4-FFF2-40B4-BE49-F238E27FC236}">
                  <a16:creationId xmlns:a16="http://schemas.microsoft.com/office/drawing/2014/main" id="{CE229D57-3D1E-4CBB-8D8A-D12B4AA5D462}"/>
                </a:ext>
              </a:extLst>
            </p:cNvPr>
            <p:cNvSpPr/>
            <p:nvPr/>
          </p:nvSpPr>
          <p:spPr>
            <a:xfrm>
              <a:off x="2105786" y="3573196"/>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4" name="Freeform: Shape 1250">
              <a:extLst>
                <a:ext uri="{FF2B5EF4-FFF2-40B4-BE49-F238E27FC236}">
                  <a16:creationId xmlns:a16="http://schemas.microsoft.com/office/drawing/2014/main" id="{688F6A85-5202-4A6F-B735-8C33613157C2}"/>
                </a:ext>
              </a:extLst>
            </p:cNvPr>
            <p:cNvSpPr/>
            <p:nvPr/>
          </p:nvSpPr>
          <p:spPr>
            <a:xfrm>
              <a:off x="2037207" y="3180004"/>
              <a:ext cx="283465" cy="27431"/>
            </a:xfrm>
            <a:custGeom>
              <a:avLst/>
              <a:gdLst>
                <a:gd name="connsiteX0" fmla="*/ 94944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4944"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5" name="Freeform: Shape 1251">
              <a:extLst>
                <a:ext uri="{FF2B5EF4-FFF2-40B4-BE49-F238E27FC236}">
                  <a16:creationId xmlns:a16="http://schemas.microsoft.com/office/drawing/2014/main" id="{F96DD8D8-1675-489C-94FD-7F89FB47C4D8}"/>
                </a:ext>
              </a:extLst>
            </p:cNvPr>
            <p:cNvSpPr/>
            <p:nvPr/>
          </p:nvSpPr>
          <p:spPr>
            <a:xfrm>
              <a:off x="1718081" y="3180004"/>
              <a:ext cx="283465" cy="27431"/>
            </a:xfrm>
            <a:custGeom>
              <a:avLst/>
              <a:gdLst>
                <a:gd name="connsiteX0" fmla="*/ 95588 w 99771"/>
                <a:gd name="connsiteY0" fmla="*/ 4828 h 9655"/>
                <a:gd name="connsiteX1" fmla="*/ 4828 w 99771"/>
                <a:gd name="connsiteY1" fmla="*/ 5150 h 9655"/>
              </a:gdLst>
              <a:ahLst/>
              <a:cxnLst>
                <a:cxn ang="0">
                  <a:pos x="connsiteX0" y="connsiteY0"/>
                </a:cxn>
                <a:cxn ang="0">
                  <a:pos x="connsiteX1" y="connsiteY1"/>
                </a:cxn>
              </a:cxnLst>
              <a:rect l="l" t="t" r="r" b="b"/>
              <a:pathLst>
                <a:path w="99771" h="9655">
                  <a:moveTo>
                    <a:pt x="95588" y="4828"/>
                  </a:moveTo>
                  <a:lnTo>
                    <a:pt x="4828" y="5150"/>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6" name="Freeform: Shape 1252">
              <a:extLst>
                <a:ext uri="{FF2B5EF4-FFF2-40B4-BE49-F238E27FC236}">
                  <a16:creationId xmlns:a16="http://schemas.microsoft.com/office/drawing/2014/main" id="{FE73CD9E-2D12-49FF-9B9B-22B9FC5E0AC0}"/>
                </a:ext>
              </a:extLst>
            </p:cNvPr>
            <p:cNvSpPr/>
            <p:nvPr/>
          </p:nvSpPr>
          <p:spPr>
            <a:xfrm>
              <a:off x="1252651" y="3180004"/>
              <a:ext cx="1188720" cy="155449"/>
            </a:xfrm>
            <a:custGeom>
              <a:avLst/>
              <a:gdLst>
                <a:gd name="connsiteX0" fmla="*/ 392650 w 418397"/>
                <a:gd name="connsiteY0" fmla="*/ 4828 h 54713"/>
                <a:gd name="connsiteX1" fmla="*/ 406811 w 418397"/>
                <a:gd name="connsiteY1" fmla="*/ 4828 h 54713"/>
                <a:gd name="connsiteX2" fmla="*/ 415501 w 418397"/>
                <a:gd name="connsiteY2" fmla="*/ 13517 h 54713"/>
                <a:gd name="connsiteX3" fmla="*/ 415501 w 418397"/>
                <a:gd name="connsiteY3" fmla="*/ 50530 h 54713"/>
                <a:gd name="connsiteX4" fmla="*/ 4828 w 418397"/>
                <a:gd name="connsiteY4" fmla="*/ 50851 h 54713"/>
                <a:gd name="connsiteX5" fmla="*/ 4828 w 418397"/>
                <a:gd name="connsiteY5" fmla="*/ 13839 h 54713"/>
                <a:gd name="connsiteX6" fmla="*/ 13517 w 418397"/>
                <a:gd name="connsiteY6" fmla="*/ 5150 h 54713"/>
                <a:gd name="connsiteX7" fmla="*/ 35725 w 418397"/>
                <a:gd name="connsiteY7" fmla="*/ 5150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54713">
                  <a:moveTo>
                    <a:pt x="392650" y="4828"/>
                  </a:moveTo>
                  <a:lnTo>
                    <a:pt x="406811" y="4828"/>
                  </a:lnTo>
                  <a:cubicBezTo>
                    <a:pt x="411639" y="4828"/>
                    <a:pt x="415501" y="8690"/>
                    <a:pt x="415501" y="13517"/>
                  </a:cubicBezTo>
                  <a:lnTo>
                    <a:pt x="415501" y="50530"/>
                  </a:lnTo>
                  <a:lnTo>
                    <a:pt x="4828" y="50851"/>
                  </a:lnTo>
                  <a:lnTo>
                    <a:pt x="4828" y="13839"/>
                  </a:lnTo>
                  <a:cubicBezTo>
                    <a:pt x="4828" y="9012"/>
                    <a:pt x="8690" y="5150"/>
                    <a:pt x="13517" y="5150"/>
                  </a:cubicBezTo>
                  <a:lnTo>
                    <a:pt x="35725" y="5150"/>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7" name="Freeform: Shape 1253">
              <a:extLst>
                <a:ext uri="{FF2B5EF4-FFF2-40B4-BE49-F238E27FC236}">
                  <a16:creationId xmlns:a16="http://schemas.microsoft.com/office/drawing/2014/main" id="{82EFD655-A113-4383-AD26-5DC272634450}"/>
                </a:ext>
              </a:extLst>
            </p:cNvPr>
            <p:cNvSpPr/>
            <p:nvPr/>
          </p:nvSpPr>
          <p:spPr>
            <a:xfrm>
              <a:off x="1400784" y="3180919"/>
              <a:ext cx="283465" cy="27431"/>
            </a:xfrm>
            <a:custGeom>
              <a:avLst/>
              <a:gdLst>
                <a:gd name="connsiteX0" fmla="*/ 95266 w 99771"/>
                <a:gd name="connsiteY0" fmla="*/ 4828 h 9655"/>
                <a:gd name="connsiteX1" fmla="*/ 4828 w 99771"/>
                <a:gd name="connsiteY1" fmla="*/ 4828 h 9655"/>
              </a:gdLst>
              <a:ahLst/>
              <a:cxnLst>
                <a:cxn ang="0">
                  <a:pos x="connsiteX0" y="connsiteY0"/>
                </a:cxn>
                <a:cxn ang="0">
                  <a:pos x="connsiteX1" y="connsiteY1"/>
                </a:cxn>
              </a:cxnLst>
              <a:rect l="l" t="t" r="r" b="b"/>
              <a:pathLst>
                <a:path w="99771" h="9655">
                  <a:moveTo>
                    <a:pt x="95266"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8" name="Freeform: Shape 1254">
              <a:extLst>
                <a:ext uri="{FF2B5EF4-FFF2-40B4-BE49-F238E27FC236}">
                  <a16:creationId xmlns:a16="http://schemas.microsoft.com/office/drawing/2014/main" id="{A8A2A669-2C2A-4530-9205-6CCC7B02D172}"/>
                </a:ext>
              </a:extLst>
            </p:cNvPr>
            <p:cNvSpPr/>
            <p:nvPr/>
          </p:nvSpPr>
          <p:spPr>
            <a:xfrm>
              <a:off x="133951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39" name="Freeform: Shape 1255">
              <a:extLst>
                <a:ext uri="{FF2B5EF4-FFF2-40B4-BE49-F238E27FC236}">
                  <a16:creationId xmlns:a16="http://schemas.microsoft.com/office/drawing/2014/main" id="{76F19EC4-3DD8-4E75-989D-1C29EC173E5C}"/>
                </a:ext>
              </a:extLst>
            </p:cNvPr>
            <p:cNvSpPr/>
            <p:nvPr/>
          </p:nvSpPr>
          <p:spPr>
            <a:xfrm>
              <a:off x="1657730"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0" name="Freeform: Shape 1256">
              <a:extLst>
                <a:ext uri="{FF2B5EF4-FFF2-40B4-BE49-F238E27FC236}">
                  <a16:creationId xmlns:a16="http://schemas.microsoft.com/office/drawing/2014/main" id="{067AFBBD-CB34-4CB6-A3E1-B0196572204E}"/>
                </a:ext>
              </a:extLst>
            </p:cNvPr>
            <p:cNvSpPr/>
            <p:nvPr/>
          </p:nvSpPr>
          <p:spPr>
            <a:xfrm>
              <a:off x="2293238"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1" name="Freeform: Shape 1257">
              <a:extLst>
                <a:ext uri="{FF2B5EF4-FFF2-40B4-BE49-F238E27FC236}">
                  <a16:creationId xmlns:a16="http://schemas.microsoft.com/office/drawing/2014/main" id="{EE0C4A2A-4B8D-4828-88E6-791446F72CEF}"/>
                </a:ext>
              </a:extLst>
            </p:cNvPr>
            <p:cNvSpPr/>
            <p:nvPr/>
          </p:nvSpPr>
          <p:spPr>
            <a:xfrm>
              <a:off x="1975941" y="3105936"/>
              <a:ext cx="27431" cy="164592"/>
            </a:xfrm>
            <a:custGeom>
              <a:avLst/>
              <a:gdLst>
                <a:gd name="connsiteX0" fmla="*/ 4828 w 9655"/>
                <a:gd name="connsiteY0" fmla="*/ 55679 h 57932"/>
                <a:gd name="connsiteX1" fmla="*/ 4828 w 9655"/>
                <a:gd name="connsiteY1" fmla="*/ 4828 h 57932"/>
              </a:gdLst>
              <a:ahLst/>
              <a:cxnLst>
                <a:cxn ang="0">
                  <a:pos x="connsiteX0" y="connsiteY0"/>
                </a:cxn>
                <a:cxn ang="0">
                  <a:pos x="connsiteX1" y="connsiteY1"/>
                </a:cxn>
              </a:cxnLst>
              <a:rect l="l" t="t" r="r" b="b"/>
              <a:pathLst>
                <a:path w="9655" h="57932">
                  <a:moveTo>
                    <a:pt x="4828" y="55679"/>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2" name="Freeform: Shape 1258">
              <a:extLst>
                <a:ext uri="{FF2B5EF4-FFF2-40B4-BE49-F238E27FC236}">
                  <a16:creationId xmlns:a16="http://schemas.microsoft.com/office/drawing/2014/main" id="{7F4090E3-5D23-4ABE-8058-3BDF233A1318}"/>
                </a:ext>
              </a:extLst>
            </p:cNvPr>
            <p:cNvSpPr/>
            <p:nvPr/>
          </p:nvSpPr>
          <p:spPr>
            <a:xfrm>
              <a:off x="138249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3" name="Freeform: Shape 1259">
              <a:extLst>
                <a:ext uri="{FF2B5EF4-FFF2-40B4-BE49-F238E27FC236}">
                  <a16:creationId xmlns:a16="http://schemas.microsoft.com/office/drawing/2014/main" id="{0E1CB03A-BE81-4E60-9ECB-92822041BFFA}"/>
                </a:ext>
              </a:extLst>
            </p:cNvPr>
            <p:cNvSpPr/>
            <p:nvPr/>
          </p:nvSpPr>
          <p:spPr>
            <a:xfrm>
              <a:off x="1622983"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4" name="Freeform: Shape 1260">
              <a:extLst>
                <a:ext uri="{FF2B5EF4-FFF2-40B4-BE49-F238E27FC236}">
                  <a16:creationId xmlns:a16="http://schemas.microsoft.com/office/drawing/2014/main" id="{CA28400B-4229-41F0-B80D-36C90C9EAAC5}"/>
                </a:ext>
              </a:extLst>
            </p:cNvPr>
            <p:cNvSpPr/>
            <p:nvPr/>
          </p:nvSpPr>
          <p:spPr>
            <a:xfrm>
              <a:off x="1864384" y="3759733"/>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5" name="Freeform: Shape 1261">
              <a:extLst>
                <a:ext uri="{FF2B5EF4-FFF2-40B4-BE49-F238E27FC236}">
                  <a16:creationId xmlns:a16="http://schemas.microsoft.com/office/drawing/2014/main" id="{EEFF08E0-0666-4ABC-8DC6-42C73AA2B751}"/>
                </a:ext>
              </a:extLst>
            </p:cNvPr>
            <p:cNvSpPr/>
            <p:nvPr/>
          </p:nvSpPr>
          <p:spPr>
            <a:xfrm>
              <a:off x="2105786" y="3759733"/>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6" name="Freeform: Shape 1262">
              <a:extLst>
                <a:ext uri="{FF2B5EF4-FFF2-40B4-BE49-F238E27FC236}">
                  <a16:creationId xmlns:a16="http://schemas.microsoft.com/office/drawing/2014/main" id="{CD73442D-B471-40DB-ACF2-1F836D44D919}"/>
                </a:ext>
              </a:extLst>
            </p:cNvPr>
            <p:cNvSpPr/>
            <p:nvPr/>
          </p:nvSpPr>
          <p:spPr>
            <a:xfrm>
              <a:off x="1382496" y="3935297"/>
              <a:ext cx="210311" cy="27431"/>
            </a:xfrm>
            <a:custGeom>
              <a:avLst/>
              <a:gdLst>
                <a:gd name="connsiteX0" fmla="*/ 69518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518"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7" name="Freeform: Shape 1263">
              <a:extLst>
                <a:ext uri="{FF2B5EF4-FFF2-40B4-BE49-F238E27FC236}">
                  <a16:creationId xmlns:a16="http://schemas.microsoft.com/office/drawing/2014/main" id="{6C672AAC-9FAC-4D5D-BA49-5B19C4E55BA2}"/>
                </a:ext>
              </a:extLst>
            </p:cNvPr>
            <p:cNvSpPr/>
            <p:nvPr/>
          </p:nvSpPr>
          <p:spPr>
            <a:xfrm>
              <a:off x="1622983"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8" name="Freeform: Shape 1264">
              <a:extLst>
                <a:ext uri="{FF2B5EF4-FFF2-40B4-BE49-F238E27FC236}">
                  <a16:creationId xmlns:a16="http://schemas.microsoft.com/office/drawing/2014/main" id="{F5BF0426-7146-4F00-8BE3-EC14D525F0A8}"/>
                </a:ext>
              </a:extLst>
            </p:cNvPr>
            <p:cNvSpPr/>
            <p:nvPr/>
          </p:nvSpPr>
          <p:spPr>
            <a:xfrm>
              <a:off x="1864384" y="3935297"/>
              <a:ext cx="210311" cy="27431"/>
            </a:xfrm>
            <a:custGeom>
              <a:avLst/>
              <a:gdLst>
                <a:gd name="connsiteX0" fmla="*/ 69840 w 74024"/>
                <a:gd name="connsiteY0" fmla="*/ 4828 h 9655"/>
                <a:gd name="connsiteX1" fmla="*/ 4828 w 74024"/>
                <a:gd name="connsiteY1" fmla="*/ 4828 h 9655"/>
              </a:gdLst>
              <a:ahLst/>
              <a:cxnLst>
                <a:cxn ang="0">
                  <a:pos x="connsiteX0" y="connsiteY0"/>
                </a:cxn>
                <a:cxn ang="0">
                  <a:pos x="connsiteX1" y="connsiteY1"/>
                </a:cxn>
              </a:cxnLst>
              <a:rect l="l" t="t" r="r" b="b"/>
              <a:pathLst>
                <a:path w="74024" h="9655">
                  <a:moveTo>
                    <a:pt x="69840" y="4828"/>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49" name="Freeform: Shape 1265">
              <a:extLst>
                <a:ext uri="{FF2B5EF4-FFF2-40B4-BE49-F238E27FC236}">
                  <a16:creationId xmlns:a16="http://schemas.microsoft.com/office/drawing/2014/main" id="{68B5AA48-0FB8-4A97-AD9C-6B8A5A8D06A5}"/>
                </a:ext>
              </a:extLst>
            </p:cNvPr>
            <p:cNvSpPr/>
            <p:nvPr/>
          </p:nvSpPr>
          <p:spPr>
            <a:xfrm>
              <a:off x="1251736" y="3309850"/>
              <a:ext cx="1188720" cy="804672"/>
            </a:xfrm>
            <a:custGeom>
              <a:avLst/>
              <a:gdLst>
                <a:gd name="connsiteX0" fmla="*/ 5150 w 418397"/>
                <a:gd name="connsiteY0" fmla="*/ 5150 h 283223"/>
                <a:gd name="connsiteX1" fmla="*/ 415823 w 418397"/>
                <a:gd name="connsiteY1" fmla="*/ 4828 h 283223"/>
                <a:gd name="connsiteX2" fmla="*/ 415823 w 418397"/>
                <a:gd name="connsiteY2" fmla="*/ 270671 h 283223"/>
                <a:gd name="connsiteX3" fmla="*/ 407133 w 418397"/>
                <a:gd name="connsiteY3" fmla="*/ 279361 h 283223"/>
                <a:gd name="connsiteX4" fmla="*/ 13517 w 418397"/>
                <a:gd name="connsiteY4" fmla="*/ 279683 h 283223"/>
                <a:gd name="connsiteX5" fmla="*/ 4828 w 418397"/>
                <a:gd name="connsiteY5" fmla="*/ 270993 h 283223"/>
                <a:gd name="connsiteX6" fmla="*/ 4828 w 418397"/>
                <a:gd name="connsiteY6" fmla="*/ 48277 h 283223"/>
                <a:gd name="connsiteX7" fmla="*/ 35725 w 418397"/>
                <a:gd name="connsiteY7" fmla="*/ 48277 h 28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397" h="283223">
                  <a:moveTo>
                    <a:pt x="5150" y="5150"/>
                  </a:moveTo>
                  <a:lnTo>
                    <a:pt x="415823" y="4828"/>
                  </a:lnTo>
                  <a:lnTo>
                    <a:pt x="415823" y="270671"/>
                  </a:lnTo>
                  <a:cubicBezTo>
                    <a:pt x="415823" y="275499"/>
                    <a:pt x="411961" y="279361"/>
                    <a:pt x="407133" y="279361"/>
                  </a:cubicBezTo>
                  <a:lnTo>
                    <a:pt x="13517" y="279683"/>
                  </a:lnTo>
                  <a:cubicBezTo>
                    <a:pt x="8690" y="279683"/>
                    <a:pt x="4828" y="275821"/>
                    <a:pt x="4828" y="270993"/>
                  </a:cubicBezTo>
                  <a:lnTo>
                    <a:pt x="4828" y="48277"/>
                  </a:lnTo>
                  <a:lnTo>
                    <a:pt x="35725" y="48277"/>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50" name="Freeform: Shape 1266">
              <a:extLst>
                <a:ext uri="{FF2B5EF4-FFF2-40B4-BE49-F238E27FC236}">
                  <a16:creationId xmlns:a16="http://schemas.microsoft.com/office/drawing/2014/main" id="{1ECA6C35-2988-4C58-8512-0C83267B1295}"/>
                </a:ext>
              </a:extLst>
            </p:cNvPr>
            <p:cNvSpPr/>
            <p:nvPr/>
          </p:nvSpPr>
          <p:spPr>
            <a:xfrm>
              <a:off x="2131390" y="3867633"/>
              <a:ext cx="164592" cy="164592"/>
            </a:xfrm>
            <a:custGeom>
              <a:avLst/>
              <a:gdLst>
                <a:gd name="connsiteX0" fmla="*/ 4828 w 57932"/>
                <a:gd name="connsiteY0" fmla="*/ 4828 h 57932"/>
                <a:gd name="connsiteX1" fmla="*/ 54070 w 57932"/>
                <a:gd name="connsiteY1" fmla="*/ 54070 h 57932"/>
              </a:gdLst>
              <a:ahLst/>
              <a:cxnLst>
                <a:cxn ang="0">
                  <a:pos x="connsiteX0" y="connsiteY0"/>
                </a:cxn>
                <a:cxn ang="0">
                  <a:pos x="connsiteX1" y="connsiteY1"/>
                </a:cxn>
              </a:cxnLst>
              <a:rect l="l" t="t" r="r" b="b"/>
              <a:pathLst>
                <a:path w="57932" h="57932">
                  <a:moveTo>
                    <a:pt x="4828" y="4828"/>
                  </a:moveTo>
                  <a:lnTo>
                    <a:pt x="54070" y="54070"/>
                  </a:lnTo>
                </a:path>
              </a:pathLst>
            </a:custGeom>
            <a:ln w="12700" cap="flat">
              <a:solidFill>
                <a:schemeClr val="accent2"/>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351" name="Freeform: Shape 1267">
              <a:extLst>
                <a:ext uri="{FF2B5EF4-FFF2-40B4-BE49-F238E27FC236}">
                  <a16:creationId xmlns:a16="http://schemas.microsoft.com/office/drawing/2014/main" id="{E5271941-CA20-4918-B1E6-87B092BF50D0}"/>
                </a:ext>
              </a:extLst>
            </p:cNvPr>
            <p:cNvSpPr/>
            <p:nvPr/>
          </p:nvSpPr>
          <p:spPr>
            <a:xfrm>
              <a:off x="2131390" y="3867633"/>
              <a:ext cx="164592" cy="164592"/>
            </a:xfrm>
            <a:custGeom>
              <a:avLst/>
              <a:gdLst>
                <a:gd name="connsiteX0" fmla="*/ 54070 w 57932"/>
                <a:gd name="connsiteY0" fmla="*/ 4828 h 57932"/>
                <a:gd name="connsiteX1" fmla="*/ 4828 w 57932"/>
                <a:gd name="connsiteY1" fmla="*/ 54392 h 57932"/>
              </a:gdLst>
              <a:ahLst/>
              <a:cxnLst>
                <a:cxn ang="0">
                  <a:pos x="connsiteX0" y="connsiteY0"/>
                </a:cxn>
                <a:cxn ang="0">
                  <a:pos x="connsiteX1" y="connsiteY1"/>
                </a:cxn>
              </a:cxnLst>
              <a:rect l="l" t="t" r="r" b="b"/>
              <a:pathLst>
                <a:path w="57932" h="57932">
                  <a:moveTo>
                    <a:pt x="54070" y="4828"/>
                  </a:moveTo>
                  <a:lnTo>
                    <a:pt x="4828" y="5439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352" name="Group 351">
            <a:extLst>
              <a:ext uri="{FF2B5EF4-FFF2-40B4-BE49-F238E27FC236}">
                <a16:creationId xmlns:a16="http://schemas.microsoft.com/office/drawing/2014/main" id="{075B319B-1267-4656-849E-9FC5AD461B02}"/>
              </a:ext>
            </a:extLst>
          </p:cNvPr>
          <p:cNvGrpSpPr>
            <a:grpSpLocks noChangeAspect="1"/>
          </p:cNvGrpSpPr>
          <p:nvPr/>
        </p:nvGrpSpPr>
        <p:grpSpPr>
          <a:xfrm>
            <a:off x="11450901" y="4536589"/>
            <a:ext cx="1011510" cy="755933"/>
            <a:chOff x="16128616" y="3322519"/>
            <a:chExt cx="562056" cy="420042"/>
          </a:xfrm>
        </p:grpSpPr>
        <p:sp>
          <p:nvSpPr>
            <p:cNvPr id="353" name="Freeform: Shape 642">
              <a:extLst>
                <a:ext uri="{FF2B5EF4-FFF2-40B4-BE49-F238E27FC236}">
                  <a16:creationId xmlns:a16="http://schemas.microsoft.com/office/drawing/2014/main" id="{059DD479-BBE9-433C-8529-AF26B9B8B985}"/>
                </a:ext>
              </a:extLst>
            </p:cNvPr>
            <p:cNvSpPr/>
            <p:nvPr/>
          </p:nvSpPr>
          <p:spPr>
            <a:xfrm>
              <a:off x="16494347" y="3546236"/>
              <a:ext cx="196325" cy="196325"/>
            </a:xfrm>
            <a:custGeom>
              <a:avLst/>
              <a:gdLst>
                <a:gd name="connsiteX0" fmla="*/ 23173 w 196325"/>
                <a:gd name="connsiteY0" fmla="*/ 154164 h 196325"/>
                <a:gd name="connsiteX1" fmla="*/ 27035 w 196325"/>
                <a:gd name="connsiteY1" fmla="*/ 158669 h 196325"/>
                <a:gd name="connsiteX2" fmla="*/ 30897 w 196325"/>
                <a:gd name="connsiteY2" fmla="*/ 163175 h 196325"/>
                <a:gd name="connsiteX3" fmla="*/ 34759 w 196325"/>
                <a:gd name="connsiteY3" fmla="*/ 167681 h 196325"/>
                <a:gd name="connsiteX4" fmla="*/ 60829 w 196325"/>
                <a:gd name="connsiteY4" fmla="*/ 154164 h 196325"/>
                <a:gd name="connsiteX5" fmla="*/ 79496 w 196325"/>
                <a:gd name="connsiteY5" fmla="*/ 163497 h 196325"/>
                <a:gd name="connsiteX6" fmla="*/ 84645 w 196325"/>
                <a:gd name="connsiteY6" fmla="*/ 192463 h 196325"/>
                <a:gd name="connsiteX7" fmla="*/ 90438 w 196325"/>
                <a:gd name="connsiteY7" fmla="*/ 192785 h 196325"/>
                <a:gd name="connsiteX8" fmla="*/ 96231 w 196325"/>
                <a:gd name="connsiteY8" fmla="*/ 193107 h 196325"/>
                <a:gd name="connsiteX9" fmla="*/ 102025 w 196325"/>
                <a:gd name="connsiteY9" fmla="*/ 193429 h 196325"/>
                <a:gd name="connsiteX10" fmla="*/ 111036 w 196325"/>
                <a:gd name="connsiteY10" fmla="*/ 165428 h 196325"/>
                <a:gd name="connsiteX11" fmla="*/ 130669 w 196325"/>
                <a:gd name="connsiteY11" fmla="*/ 158669 h 196325"/>
                <a:gd name="connsiteX12" fmla="*/ 154807 w 196325"/>
                <a:gd name="connsiteY12" fmla="*/ 175405 h 196325"/>
                <a:gd name="connsiteX13" fmla="*/ 159313 w 196325"/>
                <a:gd name="connsiteY13" fmla="*/ 171543 h 196325"/>
                <a:gd name="connsiteX14" fmla="*/ 163819 w 196325"/>
                <a:gd name="connsiteY14" fmla="*/ 167681 h 196325"/>
                <a:gd name="connsiteX15" fmla="*/ 168325 w 196325"/>
                <a:gd name="connsiteY15" fmla="*/ 163819 h 196325"/>
                <a:gd name="connsiteX16" fmla="*/ 154807 w 196325"/>
                <a:gd name="connsiteY16" fmla="*/ 137749 h 196325"/>
                <a:gd name="connsiteX17" fmla="*/ 164141 w 196325"/>
                <a:gd name="connsiteY17" fmla="*/ 119082 h 196325"/>
                <a:gd name="connsiteX18" fmla="*/ 193107 w 196325"/>
                <a:gd name="connsiteY18" fmla="*/ 113933 h 196325"/>
                <a:gd name="connsiteX19" fmla="*/ 193429 w 196325"/>
                <a:gd name="connsiteY19" fmla="*/ 108140 h 196325"/>
                <a:gd name="connsiteX20" fmla="*/ 193750 w 196325"/>
                <a:gd name="connsiteY20" fmla="*/ 102347 h 196325"/>
                <a:gd name="connsiteX21" fmla="*/ 194072 w 196325"/>
                <a:gd name="connsiteY21" fmla="*/ 96553 h 196325"/>
                <a:gd name="connsiteX22" fmla="*/ 166072 w 196325"/>
                <a:gd name="connsiteY22" fmla="*/ 87542 h 196325"/>
                <a:gd name="connsiteX23" fmla="*/ 159313 w 196325"/>
                <a:gd name="connsiteY23" fmla="*/ 67909 h 196325"/>
                <a:gd name="connsiteX24" fmla="*/ 176049 w 196325"/>
                <a:gd name="connsiteY24" fmla="*/ 43771 h 196325"/>
                <a:gd name="connsiteX25" fmla="*/ 172187 w 196325"/>
                <a:gd name="connsiteY25" fmla="*/ 39265 h 196325"/>
                <a:gd name="connsiteX26" fmla="*/ 168325 w 196325"/>
                <a:gd name="connsiteY26" fmla="*/ 34759 h 196325"/>
                <a:gd name="connsiteX27" fmla="*/ 164463 w 196325"/>
                <a:gd name="connsiteY27" fmla="*/ 30253 h 196325"/>
                <a:gd name="connsiteX28" fmla="*/ 138393 w 196325"/>
                <a:gd name="connsiteY28" fmla="*/ 43771 h 196325"/>
                <a:gd name="connsiteX29" fmla="*/ 119726 w 196325"/>
                <a:gd name="connsiteY29" fmla="*/ 34437 h 196325"/>
                <a:gd name="connsiteX30" fmla="*/ 114577 w 196325"/>
                <a:gd name="connsiteY30" fmla="*/ 5793 h 196325"/>
                <a:gd name="connsiteX31" fmla="*/ 108783 w 196325"/>
                <a:gd name="connsiteY31" fmla="*/ 5471 h 196325"/>
                <a:gd name="connsiteX32" fmla="*/ 102990 w 196325"/>
                <a:gd name="connsiteY32" fmla="*/ 5150 h 196325"/>
                <a:gd name="connsiteX33" fmla="*/ 97197 w 196325"/>
                <a:gd name="connsiteY33" fmla="*/ 4828 h 196325"/>
                <a:gd name="connsiteX34" fmla="*/ 88185 w 196325"/>
                <a:gd name="connsiteY34" fmla="*/ 32506 h 196325"/>
                <a:gd name="connsiteX35" fmla="*/ 68231 w 196325"/>
                <a:gd name="connsiteY35" fmla="*/ 39265 h 196325"/>
                <a:gd name="connsiteX36" fmla="*/ 44093 w 196325"/>
                <a:gd name="connsiteY36" fmla="*/ 22529 h 196325"/>
                <a:gd name="connsiteX37" fmla="*/ 39587 w 196325"/>
                <a:gd name="connsiteY37" fmla="*/ 26391 h 196325"/>
                <a:gd name="connsiteX38" fmla="*/ 35081 w 196325"/>
                <a:gd name="connsiteY38" fmla="*/ 30253 h 196325"/>
                <a:gd name="connsiteX39" fmla="*/ 30575 w 196325"/>
                <a:gd name="connsiteY39" fmla="*/ 34116 h 196325"/>
                <a:gd name="connsiteX40" fmla="*/ 43771 w 196325"/>
                <a:gd name="connsiteY40" fmla="*/ 60185 h 196325"/>
                <a:gd name="connsiteX41" fmla="*/ 34437 w 196325"/>
                <a:gd name="connsiteY41" fmla="*/ 79174 h 196325"/>
                <a:gd name="connsiteX42" fmla="*/ 5793 w 196325"/>
                <a:gd name="connsiteY42" fmla="*/ 84323 h 196325"/>
                <a:gd name="connsiteX43" fmla="*/ 5471 w 196325"/>
                <a:gd name="connsiteY43" fmla="*/ 90116 h 196325"/>
                <a:gd name="connsiteX44" fmla="*/ 5150 w 196325"/>
                <a:gd name="connsiteY44" fmla="*/ 95910 h 196325"/>
                <a:gd name="connsiteX45" fmla="*/ 4828 w 196325"/>
                <a:gd name="connsiteY45" fmla="*/ 101703 h 196325"/>
                <a:gd name="connsiteX46" fmla="*/ 32828 w 196325"/>
                <a:gd name="connsiteY46" fmla="*/ 110715 h 196325"/>
                <a:gd name="connsiteX47" fmla="*/ 39587 w 196325"/>
                <a:gd name="connsiteY47" fmla="*/ 130669 h 196325"/>
                <a:gd name="connsiteX48" fmla="*/ 23173 w 196325"/>
                <a:gd name="connsiteY48" fmla="*/ 154164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3173" y="154164"/>
                  </a:moveTo>
                  <a:lnTo>
                    <a:pt x="27035" y="158669"/>
                  </a:lnTo>
                  <a:lnTo>
                    <a:pt x="30897" y="163175"/>
                  </a:lnTo>
                  <a:lnTo>
                    <a:pt x="34759" y="167681"/>
                  </a:lnTo>
                  <a:lnTo>
                    <a:pt x="60829" y="154164"/>
                  </a:lnTo>
                  <a:cubicBezTo>
                    <a:pt x="66622" y="158347"/>
                    <a:pt x="73059" y="161244"/>
                    <a:pt x="79496" y="163497"/>
                  </a:cubicBezTo>
                  <a:lnTo>
                    <a:pt x="84645" y="192463"/>
                  </a:lnTo>
                  <a:lnTo>
                    <a:pt x="90438" y="192785"/>
                  </a:lnTo>
                  <a:lnTo>
                    <a:pt x="96231" y="193107"/>
                  </a:lnTo>
                  <a:lnTo>
                    <a:pt x="102025" y="193429"/>
                  </a:lnTo>
                  <a:lnTo>
                    <a:pt x="111036" y="165428"/>
                  </a:lnTo>
                  <a:cubicBezTo>
                    <a:pt x="117795" y="164141"/>
                    <a:pt x="124554" y="161888"/>
                    <a:pt x="130669" y="158669"/>
                  </a:cubicBezTo>
                  <a:lnTo>
                    <a:pt x="154807" y="175405"/>
                  </a:lnTo>
                  <a:lnTo>
                    <a:pt x="159313" y="171543"/>
                  </a:lnTo>
                  <a:lnTo>
                    <a:pt x="163819" y="167681"/>
                  </a:lnTo>
                  <a:lnTo>
                    <a:pt x="168325" y="163819"/>
                  </a:lnTo>
                  <a:lnTo>
                    <a:pt x="154807" y="137749"/>
                  </a:lnTo>
                  <a:cubicBezTo>
                    <a:pt x="158991" y="131956"/>
                    <a:pt x="161888" y="125841"/>
                    <a:pt x="164141" y="119082"/>
                  </a:cubicBezTo>
                  <a:lnTo>
                    <a:pt x="193107" y="113933"/>
                  </a:lnTo>
                  <a:lnTo>
                    <a:pt x="193429" y="108140"/>
                  </a:lnTo>
                  <a:lnTo>
                    <a:pt x="193750" y="102347"/>
                  </a:lnTo>
                  <a:lnTo>
                    <a:pt x="194072" y="96553"/>
                  </a:lnTo>
                  <a:lnTo>
                    <a:pt x="166072" y="87542"/>
                  </a:lnTo>
                  <a:cubicBezTo>
                    <a:pt x="164784" y="80783"/>
                    <a:pt x="162853" y="74024"/>
                    <a:pt x="159313" y="67909"/>
                  </a:cubicBezTo>
                  <a:lnTo>
                    <a:pt x="176049" y="43771"/>
                  </a:lnTo>
                  <a:lnTo>
                    <a:pt x="172187" y="39265"/>
                  </a:lnTo>
                  <a:lnTo>
                    <a:pt x="168325" y="34759"/>
                  </a:lnTo>
                  <a:lnTo>
                    <a:pt x="164463" y="30253"/>
                  </a:lnTo>
                  <a:lnTo>
                    <a:pt x="138393" y="43771"/>
                  </a:lnTo>
                  <a:cubicBezTo>
                    <a:pt x="132600" y="39587"/>
                    <a:pt x="126163" y="36690"/>
                    <a:pt x="119726" y="34437"/>
                  </a:cubicBezTo>
                  <a:lnTo>
                    <a:pt x="114577" y="5793"/>
                  </a:lnTo>
                  <a:lnTo>
                    <a:pt x="108783" y="5471"/>
                  </a:lnTo>
                  <a:lnTo>
                    <a:pt x="102990" y="5150"/>
                  </a:lnTo>
                  <a:lnTo>
                    <a:pt x="97197" y="4828"/>
                  </a:lnTo>
                  <a:lnTo>
                    <a:pt x="88185" y="32506"/>
                  </a:lnTo>
                  <a:cubicBezTo>
                    <a:pt x="81427" y="33794"/>
                    <a:pt x="74668" y="36047"/>
                    <a:pt x="68231" y="39265"/>
                  </a:cubicBezTo>
                  <a:lnTo>
                    <a:pt x="44093" y="22529"/>
                  </a:lnTo>
                  <a:lnTo>
                    <a:pt x="39587" y="26391"/>
                  </a:lnTo>
                  <a:lnTo>
                    <a:pt x="35081" y="30253"/>
                  </a:lnTo>
                  <a:lnTo>
                    <a:pt x="30575" y="34116"/>
                  </a:lnTo>
                  <a:lnTo>
                    <a:pt x="43771" y="60185"/>
                  </a:lnTo>
                  <a:cubicBezTo>
                    <a:pt x="39587" y="65978"/>
                    <a:pt x="36690" y="72415"/>
                    <a:pt x="34437" y="79174"/>
                  </a:cubicBezTo>
                  <a:lnTo>
                    <a:pt x="5793" y="84323"/>
                  </a:lnTo>
                  <a:lnTo>
                    <a:pt x="5471" y="90116"/>
                  </a:lnTo>
                  <a:lnTo>
                    <a:pt x="5150" y="95910"/>
                  </a:lnTo>
                  <a:lnTo>
                    <a:pt x="4828" y="101703"/>
                  </a:lnTo>
                  <a:lnTo>
                    <a:pt x="32828" y="110715"/>
                  </a:lnTo>
                  <a:cubicBezTo>
                    <a:pt x="34115" y="117473"/>
                    <a:pt x="36368" y="124232"/>
                    <a:pt x="39587" y="130669"/>
                  </a:cubicBezTo>
                  <a:lnTo>
                    <a:pt x="23173" y="154164"/>
                  </a:lnTo>
                  <a:close/>
                </a:path>
              </a:pathLst>
            </a:custGeom>
            <a:noFill/>
            <a:ln w="19050" cap="flat">
              <a:solidFill>
                <a:schemeClr val="tx1"/>
              </a:solidFill>
              <a:prstDash val="solid"/>
              <a:round/>
            </a:ln>
          </p:spPr>
          <p:txBody>
            <a:bodyPr rtlCol="0" anchor="ctr"/>
            <a:lstStyle/>
            <a:p>
              <a:pPr defTabSz="731491">
                <a:defRPr/>
              </a:pPr>
              <a:endParaRPr lang="en-US" sz="3400" dirty="0">
                <a:solidFill>
                  <a:srgbClr val="FFFFFF"/>
                </a:solidFill>
                <a:latin typeface="Amazon Ember"/>
              </a:endParaRPr>
            </a:p>
          </p:txBody>
        </p:sp>
        <p:sp>
          <p:nvSpPr>
            <p:cNvPr id="354" name="Freeform: Shape 643">
              <a:extLst>
                <a:ext uri="{FF2B5EF4-FFF2-40B4-BE49-F238E27FC236}">
                  <a16:creationId xmlns:a16="http://schemas.microsoft.com/office/drawing/2014/main" id="{AEE6B1AF-AFCA-4E90-81CD-E65ECE1E7EA3}"/>
                </a:ext>
              </a:extLst>
            </p:cNvPr>
            <p:cNvSpPr/>
            <p:nvPr/>
          </p:nvSpPr>
          <p:spPr>
            <a:xfrm>
              <a:off x="16551635" y="3602559"/>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9050" cap="flat">
              <a:solidFill>
                <a:srgbClr val="FDC500"/>
              </a:solidFill>
              <a:prstDash val="solid"/>
              <a:round/>
            </a:ln>
          </p:spPr>
          <p:txBody>
            <a:bodyPr rtlCol="0" anchor="ctr"/>
            <a:lstStyle/>
            <a:p>
              <a:pPr defTabSz="731491">
                <a:defRPr/>
              </a:pPr>
              <a:endParaRPr lang="en-US" sz="3400" dirty="0">
                <a:solidFill>
                  <a:srgbClr val="FFFFFF"/>
                </a:solidFill>
                <a:latin typeface="Amazon Ember"/>
              </a:endParaRPr>
            </a:p>
          </p:txBody>
        </p:sp>
        <p:sp>
          <p:nvSpPr>
            <p:cNvPr id="355" name="Freeform: Shape 644">
              <a:extLst>
                <a:ext uri="{FF2B5EF4-FFF2-40B4-BE49-F238E27FC236}">
                  <a16:creationId xmlns:a16="http://schemas.microsoft.com/office/drawing/2014/main" id="{4D8049CD-77BC-4F97-AFC3-06377CF35E47}"/>
                </a:ext>
              </a:extLst>
            </p:cNvPr>
            <p:cNvSpPr/>
            <p:nvPr/>
          </p:nvSpPr>
          <p:spPr>
            <a:xfrm>
              <a:off x="16270343" y="3465453"/>
              <a:ext cx="289660" cy="202762"/>
            </a:xfrm>
            <a:custGeom>
              <a:avLst/>
              <a:gdLst>
                <a:gd name="connsiteX0" fmla="*/ 288051 w 289660"/>
                <a:gd name="connsiteY0" fmla="*/ 93657 h 202762"/>
                <a:gd name="connsiteX1" fmla="*/ 288051 w 289660"/>
                <a:gd name="connsiteY1" fmla="*/ 12552 h 202762"/>
                <a:gd name="connsiteX2" fmla="*/ 280327 w 289660"/>
                <a:gd name="connsiteY2" fmla="*/ 4828 h 202762"/>
                <a:gd name="connsiteX3" fmla="*/ 12552 w 289660"/>
                <a:gd name="connsiteY3" fmla="*/ 4828 h 202762"/>
                <a:gd name="connsiteX4" fmla="*/ 4828 w 289660"/>
                <a:gd name="connsiteY4" fmla="*/ 12552 h 202762"/>
                <a:gd name="connsiteX5" fmla="*/ 4828 w 289660"/>
                <a:gd name="connsiteY5" fmla="*/ 190854 h 202762"/>
                <a:gd name="connsiteX6" fmla="*/ 12552 w 289660"/>
                <a:gd name="connsiteY6" fmla="*/ 198578 h 202762"/>
                <a:gd name="connsiteX7" fmla="*/ 225613 w 289660"/>
                <a:gd name="connsiteY7" fmla="*/ 198578 h 20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60" h="202762">
                  <a:moveTo>
                    <a:pt x="288051" y="93657"/>
                  </a:moveTo>
                  <a:lnTo>
                    <a:pt x="288051" y="12552"/>
                  </a:lnTo>
                  <a:cubicBezTo>
                    <a:pt x="288051" y="8046"/>
                    <a:pt x="284511" y="4828"/>
                    <a:pt x="280327" y="4828"/>
                  </a:cubicBezTo>
                  <a:lnTo>
                    <a:pt x="12552" y="4828"/>
                  </a:lnTo>
                  <a:cubicBezTo>
                    <a:pt x="8046" y="4828"/>
                    <a:pt x="4828" y="8368"/>
                    <a:pt x="4828" y="12552"/>
                  </a:cubicBezTo>
                  <a:lnTo>
                    <a:pt x="4828" y="190854"/>
                  </a:lnTo>
                  <a:cubicBezTo>
                    <a:pt x="4828" y="195360"/>
                    <a:pt x="8368" y="198578"/>
                    <a:pt x="12552" y="198578"/>
                  </a:cubicBezTo>
                  <a:lnTo>
                    <a:pt x="225613" y="198578"/>
                  </a:lnTo>
                </a:path>
              </a:pathLst>
            </a:custGeom>
            <a:noFill/>
            <a:ln w="19050" cap="flat">
              <a:solidFill>
                <a:schemeClr val="tx1"/>
              </a:solidFill>
              <a:prstDash val="solid"/>
              <a:round/>
            </a:ln>
          </p:spPr>
          <p:txBody>
            <a:bodyPr rtlCol="0" anchor="ctr"/>
            <a:lstStyle/>
            <a:p>
              <a:pPr defTabSz="731491">
                <a:defRPr/>
              </a:pPr>
              <a:endParaRPr lang="en-US" sz="3400" dirty="0">
                <a:solidFill>
                  <a:srgbClr val="FFFFFF"/>
                </a:solidFill>
                <a:latin typeface="Amazon Ember"/>
              </a:endParaRPr>
            </a:p>
          </p:txBody>
        </p:sp>
        <p:sp>
          <p:nvSpPr>
            <p:cNvPr id="356" name="Freeform: Shape 645">
              <a:extLst>
                <a:ext uri="{FF2B5EF4-FFF2-40B4-BE49-F238E27FC236}">
                  <a16:creationId xmlns:a16="http://schemas.microsoft.com/office/drawing/2014/main" id="{52B6F6B1-A92F-4897-BAB7-0D99F0D71E0E}"/>
                </a:ext>
              </a:extLst>
            </p:cNvPr>
            <p:cNvSpPr/>
            <p:nvPr/>
          </p:nvSpPr>
          <p:spPr>
            <a:xfrm>
              <a:off x="16215630" y="3682055"/>
              <a:ext cx="296097" cy="35403"/>
            </a:xfrm>
            <a:custGeom>
              <a:avLst/>
              <a:gdLst>
                <a:gd name="connsiteX0" fmla="*/ 291913 w 296096"/>
                <a:gd name="connsiteY0" fmla="*/ 33472 h 35402"/>
                <a:gd name="connsiteX1" fmla="*/ 28000 w 296096"/>
                <a:gd name="connsiteY1" fmla="*/ 33472 h 35402"/>
                <a:gd name="connsiteX2" fmla="*/ 4828 w 296096"/>
                <a:gd name="connsiteY2" fmla="*/ 23495 h 35402"/>
                <a:gd name="connsiteX3" fmla="*/ 4828 w 296096"/>
                <a:gd name="connsiteY3" fmla="*/ 4828 h 35402"/>
                <a:gd name="connsiteX4" fmla="*/ 42483 w 296096"/>
                <a:gd name="connsiteY4" fmla="*/ 4828 h 3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96" h="35402">
                  <a:moveTo>
                    <a:pt x="291913" y="33472"/>
                  </a:moveTo>
                  <a:lnTo>
                    <a:pt x="28000" y="33472"/>
                  </a:lnTo>
                  <a:cubicBezTo>
                    <a:pt x="28000" y="33472"/>
                    <a:pt x="11265" y="33472"/>
                    <a:pt x="4828" y="23495"/>
                  </a:cubicBezTo>
                  <a:lnTo>
                    <a:pt x="4828" y="4828"/>
                  </a:lnTo>
                  <a:lnTo>
                    <a:pt x="42483" y="4828"/>
                  </a:lnTo>
                </a:path>
              </a:pathLst>
            </a:custGeom>
            <a:noFill/>
            <a:ln w="19050" cap="flat">
              <a:solidFill>
                <a:schemeClr val="tx1"/>
              </a:solidFill>
              <a:prstDash val="solid"/>
              <a:round/>
            </a:ln>
          </p:spPr>
          <p:txBody>
            <a:bodyPr rtlCol="0" anchor="ctr"/>
            <a:lstStyle/>
            <a:p>
              <a:pPr defTabSz="731491">
                <a:defRPr/>
              </a:pPr>
              <a:endParaRPr lang="en-US" sz="3400" dirty="0">
                <a:solidFill>
                  <a:srgbClr val="FFFFFF"/>
                </a:solidFill>
                <a:latin typeface="Amazon Ember"/>
              </a:endParaRPr>
            </a:p>
          </p:txBody>
        </p:sp>
        <p:sp>
          <p:nvSpPr>
            <p:cNvPr id="357" name="Freeform: Shape 646">
              <a:extLst>
                <a:ext uri="{FF2B5EF4-FFF2-40B4-BE49-F238E27FC236}">
                  <a16:creationId xmlns:a16="http://schemas.microsoft.com/office/drawing/2014/main" id="{88F58B60-EE84-4AEC-A062-F307ABDA7807}"/>
                </a:ext>
              </a:extLst>
            </p:cNvPr>
            <p:cNvSpPr/>
            <p:nvPr/>
          </p:nvSpPr>
          <p:spPr>
            <a:xfrm>
              <a:off x="16249745" y="3447108"/>
              <a:ext cx="331500" cy="241383"/>
            </a:xfrm>
            <a:custGeom>
              <a:avLst/>
              <a:gdLst>
                <a:gd name="connsiteX0" fmla="*/ 327638 w 331499"/>
                <a:gd name="connsiteY0" fmla="*/ 93335 h 241383"/>
                <a:gd name="connsiteX1" fmla="*/ 327638 w 331499"/>
                <a:gd name="connsiteY1" fmla="*/ 12552 h 241383"/>
                <a:gd name="connsiteX2" fmla="*/ 319913 w 331499"/>
                <a:gd name="connsiteY2" fmla="*/ 4828 h 241383"/>
                <a:gd name="connsiteX3" fmla="*/ 12552 w 331499"/>
                <a:gd name="connsiteY3" fmla="*/ 4828 h 241383"/>
                <a:gd name="connsiteX4" fmla="*/ 4828 w 331499"/>
                <a:gd name="connsiteY4" fmla="*/ 12552 h 241383"/>
                <a:gd name="connsiteX5" fmla="*/ 4828 w 331499"/>
                <a:gd name="connsiteY5" fmla="*/ 232050 h 241383"/>
                <a:gd name="connsiteX6" fmla="*/ 12552 w 331499"/>
                <a:gd name="connsiteY6" fmla="*/ 239774 h 241383"/>
                <a:gd name="connsiteX7" fmla="*/ 255223 w 331499"/>
                <a:gd name="connsiteY7" fmla="*/ 239774 h 24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499" h="241383">
                  <a:moveTo>
                    <a:pt x="327638" y="93335"/>
                  </a:moveTo>
                  <a:lnTo>
                    <a:pt x="327638" y="12552"/>
                  </a:lnTo>
                  <a:cubicBezTo>
                    <a:pt x="327638" y="8046"/>
                    <a:pt x="324097" y="4828"/>
                    <a:pt x="319913" y="4828"/>
                  </a:cubicBezTo>
                  <a:lnTo>
                    <a:pt x="12552" y="4828"/>
                  </a:lnTo>
                  <a:cubicBezTo>
                    <a:pt x="8046" y="4828"/>
                    <a:pt x="4828" y="8368"/>
                    <a:pt x="4828" y="12552"/>
                  </a:cubicBezTo>
                  <a:lnTo>
                    <a:pt x="4828" y="232050"/>
                  </a:lnTo>
                  <a:cubicBezTo>
                    <a:pt x="4828" y="236556"/>
                    <a:pt x="8368" y="239774"/>
                    <a:pt x="12552" y="239774"/>
                  </a:cubicBezTo>
                  <a:lnTo>
                    <a:pt x="255223" y="239774"/>
                  </a:lnTo>
                </a:path>
              </a:pathLst>
            </a:custGeom>
            <a:noFill/>
            <a:ln w="19050" cap="flat">
              <a:solidFill>
                <a:schemeClr val="tx1"/>
              </a:solidFill>
              <a:prstDash val="solid"/>
              <a:round/>
            </a:ln>
          </p:spPr>
          <p:txBody>
            <a:bodyPr rtlCol="0" anchor="ctr"/>
            <a:lstStyle/>
            <a:p>
              <a:pPr defTabSz="731491">
                <a:defRPr/>
              </a:pPr>
              <a:endParaRPr lang="en-US" sz="3400" dirty="0">
                <a:solidFill>
                  <a:srgbClr val="FFFFFF"/>
                </a:solidFill>
                <a:latin typeface="Amazon Ember"/>
              </a:endParaRPr>
            </a:p>
          </p:txBody>
        </p:sp>
        <p:sp>
          <p:nvSpPr>
            <p:cNvPr id="358" name="Freeform: Shape 647">
              <a:extLst>
                <a:ext uri="{FF2B5EF4-FFF2-40B4-BE49-F238E27FC236}">
                  <a16:creationId xmlns:a16="http://schemas.microsoft.com/office/drawing/2014/main" id="{B939B1FD-01A3-4846-86F0-6D6F723E295D}"/>
                </a:ext>
              </a:extLst>
            </p:cNvPr>
            <p:cNvSpPr/>
            <p:nvPr/>
          </p:nvSpPr>
          <p:spPr>
            <a:xfrm>
              <a:off x="16267296" y="3425256"/>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59" name="Freeform: Shape 648">
              <a:extLst>
                <a:ext uri="{FF2B5EF4-FFF2-40B4-BE49-F238E27FC236}">
                  <a16:creationId xmlns:a16="http://schemas.microsoft.com/office/drawing/2014/main" id="{7831C95A-4F05-469B-AC19-B468872F6905}"/>
                </a:ext>
              </a:extLst>
            </p:cNvPr>
            <p:cNvSpPr/>
            <p:nvPr/>
          </p:nvSpPr>
          <p:spPr>
            <a:xfrm>
              <a:off x="16238773" y="3385466"/>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0" name="Freeform: Shape 649">
              <a:extLst>
                <a:ext uri="{FF2B5EF4-FFF2-40B4-BE49-F238E27FC236}">
                  <a16:creationId xmlns:a16="http://schemas.microsoft.com/office/drawing/2014/main" id="{F6DE042D-A597-4BE6-8D74-DC990BD50C02}"/>
                </a:ext>
              </a:extLst>
            </p:cNvPr>
            <p:cNvSpPr/>
            <p:nvPr/>
          </p:nvSpPr>
          <p:spPr>
            <a:xfrm>
              <a:off x="16278276" y="3342270"/>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1" name="Freeform: Shape 650">
              <a:extLst>
                <a:ext uri="{FF2B5EF4-FFF2-40B4-BE49-F238E27FC236}">
                  <a16:creationId xmlns:a16="http://schemas.microsoft.com/office/drawing/2014/main" id="{6A05AA07-3B2B-4516-AE66-CC84C56F056C}"/>
                </a:ext>
              </a:extLst>
            </p:cNvPr>
            <p:cNvSpPr/>
            <p:nvPr/>
          </p:nvSpPr>
          <p:spPr>
            <a:xfrm>
              <a:off x="16128616" y="3322519"/>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2" name="Freeform: Shape 651">
              <a:extLst>
                <a:ext uri="{FF2B5EF4-FFF2-40B4-BE49-F238E27FC236}">
                  <a16:creationId xmlns:a16="http://schemas.microsoft.com/office/drawing/2014/main" id="{18A1F4A9-F842-4C3F-8B6C-86F39088A792}"/>
                </a:ext>
              </a:extLst>
            </p:cNvPr>
            <p:cNvSpPr/>
            <p:nvPr/>
          </p:nvSpPr>
          <p:spPr>
            <a:xfrm>
              <a:off x="16310091" y="3408172"/>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3" name="Freeform: Shape 652">
              <a:extLst>
                <a:ext uri="{FF2B5EF4-FFF2-40B4-BE49-F238E27FC236}">
                  <a16:creationId xmlns:a16="http://schemas.microsoft.com/office/drawing/2014/main" id="{E8FFB9BC-0816-40AB-8C2D-F643D6697AFF}"/>
                </a:ext>
              </a:extLst>
            </p:cNvPr>
            <p:cNvSpPr/>
            <p:nvPr/>
          </p:nvSpPr>
          <p:spPr>
            <a:xfrm>
              <a:off x="16211922" y="3429238"/>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4" name="Freeform: Shape 653">
              <a:extLst>
                <a:ext uri="{FF2B5EF4-FFF2-40B4-BE49-F238E27FC236}">
                  <a16:creationId xmlns:a16="http://schemas.microsoft.com/office/drawing/2014/main" id="{E88BDAA9-9DC7-4096-8531-0E0F18C32840}"/>
                </a:ext>
              </a:extLst>
            </p:cNvPr>
            <p:cNvSpPr/>
            <p:nvPr/>
          </p:nvSpPr>
          <p:spPr>
            <a:xfrm>
              <a:off x="16205476" y="3495108"/>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5" name="Freeform: Shape 654">
              <a:extLst>
                <a:ext uri="{FF2B5EF4-FFF2-40B4-BE49-F238E27FC236}">
                  <a16:creationId xmlns:a16="http://schemas.microsoft.com/office/drawing/2014/main" id="{0833D9A5-2F5F-40FB-AFE2-F35214F75C65}"/>
                </a:ext>
              </a:extLst>
            </p:cNvPr>
            <p:cNvSpPr/>
            <p:nvPr/>
          </p:nvSpPr>
          <p:spPr>
            <a:xfrm>
              <a:off x="16161959" y="3455605"/>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6" name="Freeform: Shape 655">
              <a:extLst>
                <a:ext uri="{FF2B5EF4-FFF2-40B4-BE49-F238E27FC236}">
                  <a16:creationId xmlns:a16="http://schemas.microsoft.com/office/drawing/2014/main" id="{EC5BACF0-841A-4097-9EBA-D77A36ACC5F1}"/>
                </a:ext>
              </a:extLst>
            </p:cNvPr>
            <p:cNvSpPr/>
            <p:nvPr/>
          </p:nvSpPr>
          <p:spPr>
            <a:xfrm>
              <a:off x="16185093" y="3381569"/>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pPr defTabSz="731491">
                <a:defRPr/>
              </a:pPr>
              <a:endParaRPr lang="en-US" sz="3400" dirty="0">
                <a:solidFill>
                  <a:srgbClr val="FF9900"/>
                </a:solidFill>
                <a:latin typeface="Amazon Ember"/>
              </a:endParaRPr>
            </a:p>
          </p:txBody>
        </p:sp>
        <p:sp>
          <p:nvSpPr>
            <p:cNvPr id="367" name="Freeform: Shape 656">
              <a:extLst>
                <a:ext uri="{FF2B5EF4-FFF2-40B4-BE49-F238E27FC236}">
                  <a16:creationId xmlns:a16="http://schemas.microsoft.com/office/drawing/2014/main" id="{910B1FD6-06E0-4413-B7CA-09FE96B79F4A}"/>
                </a:ext>
              </a:extLst>
            </p:cNvPr>
            <p:cNvSpPr/>
            <p:nvPr/>
          </p:nvSpPr>
          <p:spPr>
            <a:xfrm>
              <a:off x="16330367" y="3509707"/>
              <a:ext cx="80461" cy="9655"/>
            </a:xfrm>
            <a:custGeom>
              <a:avLst/>
              <a:gdLst>
                <a:gd name="connsiteX0" fmla="*/ 2414 w 80461"/>
                <a:gd name="connsiteY0" fmla="*/ 2414 h 9655"/>
                <a:gd name="connsiteX1" fmla="*/ 78691 w 80461"/>
                <a:gd name="connsiteY1" fmla="*/ 2414 h 9655"/>
                <a:gd name="connsiteX2" fmla="*/ 78691 w 80461"/>
                <a:gd name="connsiteY2" fmla="*/ 8207 h 9655"/>
                <a:gd name="connsiteX3" fmla="*/ 2414 w 80461"/>
                <a:gd name="connsiteY3" fmla="*/ 8207 h 9655"/>
              </a:gdLst>
              <a:ahLst/>
              <a:cxnLst>
                <a:cxn ang="0">
                  <a:pos x="connsiteX0" y="connsiteY0"/>
                </a:cxn>
                <a:cxn ang="0">
                  <a:pos x="connsiteX1" y="connsiteY1"/>
                </a:cxn>
                <a:cxn ang="0">
                  <a:pos x="connsiteX2" y="connsiteY2"/>
                </a:cxn>
                <a:cxn ang="0">
                  <a:pos x="connsiteX3" y="connsiteY3"/>
                </a:cxn>
              </a:cxnLst>
              <a:rect l="l" t="t" r="r" b="b"/>
              <a:pathLst>
                <a:path w="80461" h="9655">
                  <a:moveTo>
                    <a:pt x="2414" y="2414"/>
                  </a:moveTo>
                  <a:lnTo>
                    <a:pt x="78691" y="2414"/>
                  </a:lnTo>
                  <a:lnTo>
                    <a:pt x="78691"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68" name="Freeform: Shape 657">
              <a:extLst>
                <a:ext uri="{FF2B5EF4-FFF2-40B4-BE49-F238E27FC236}">
                  <a16:creationId xmlns:a16="http://schemas.microsoft.com/office/drawing/2014/main" id="{6E400DE5-5806-492D-A93C-8BE60E4CA4DB}"/>
                </a:ext>
              </a:extLst>
            </p:cNvPr>
            <p:cNvSpPr/>
            <p:nvPr/>
          </p:nvSpPr>
          <p:spPr>
            <a:xfrm>
              <a:off x="16414728" y="3509506"/>
              <a:ext cx="57932" cy="9655"/>
            </a:xfrm>
            <a:custGeom>
              <a:avLst/>
              <a:gdLst>
                <a:gd name="connsiteX0" fmla="*/ 57771 w 57932"/>
                <a:gd name="connsiteY0" fmla="*/ 8207 h 9655"/>
                <a:gd name="connsiteX1" fmla="*/ 2414 w 57932"/>
                <a:gd name="connsiteY1" fmla="*/ 8207 h 9655"/>
                <a:gd name="connsiteX2" fmla="*/ 2414 w 57932"/>
                <a:gd name="connsiteY2" fmla="*/ 2414 h 9655"/>
                <a:gd name="connsiteX3" fmla="*/ 57771 w 57932"/>
                <a:gd name="connsiteY3" fmla="*/ 2414 h 9655"/>
              </a:gdLst>
              <a:ahLst/>
              <a:cxnLst>
                <a:cxn ang="0">
                  <a:pos x="connsiteX0" y="connsiteY0"/>
                </a:cxn>
                <a:cxn ang="0">
                  <a:pos x="connsiteX1" y="connsiteY1"/>
                </a:cxn>
                <a:cxn ang="0">
                  <a:pos x="connsiteX2" y="connsiteY2"/>
                </a:cxn>
                <a:cxn ang="0">
                  <a:pos x="connsiteX3" y="connsiteY3"/>
                </a:cxn>
              </a:cxnLst>
              <a:rect l="l" t="t" r="r" b="b"/>
              <a:pathLst>
                <a:path w="57932" h="9655">
                  <a:moveTo>
                    <a:pt x="57771" y="8207"/>
                  </a:moveTo>
                  <a:lnTo>
                    <a:pt x="2414" y="8207"/>
                  </a:lnTo>
                  <a:lnTo>
                    <a:pt x="2414" y="2414"/>
                  </a:lnTo>
                  <a:lnTo>
                    <a:pt x="57771" y="2414"/>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69" name="Freeform: Shape 658">
              <a:extLst>
                <a:ext uri="{FF2B5EF4-FFF2-40B4-BE49-F238E27FC236}">
                  <a16:creationId xmlns:a16="http://schemas.microsoft.com/office/drawing/2014/main" id="{F809CE46-3213-4B31-B36B-7E65DF2383FE}"/>
                </a:ext>
              </a:extLst>
            </p:cNvPr>
            <p:cNvSpPr/>
            <p:nvPr/>
          </p:nvSpPr>
          <p:spPr>
            <a:xfrm>
              <a:off x="16350322" y="3535776"/>
              <a:ext cx="106209" cy="9655"/>
            </a:xfrm>
            <a:custGeom>
              <a:avLst/>
              <a:gdLst>
                <a:gd name="connsiteX0" fmla="*/ 2414 w 106208"/>
                <a:gd name="connsiteY0" fmla="*/ 2414 h 9655"/>
                <a:gd name="connsiteX1" fmla="*/ 104760 w 106208"/>
                <a:gd name="connsiteY1" fmla="*/ 2414 h 9655"/>
                <a:gd name="connsiteX2" fmla="*/ 104760 w 106208"/>
                <a:gd name="connsiteY2" fmla="*/ 8207 h 9655"/>
                <a:gd name="connsiteX3" fmla="*/ 2414 w 106208"/>
                <a:gd name="connsiteY3" fmla="*/ 8207 h 9655"/>
              </a:gdLst>
              <a:ahLst/>
              <a:cxnLst>
                <a:cxn ang="0">
                  <a:pos x="connsiteX0" y="connsiteY0"/>
                </a:cxn>
                <a:cxn ang="0">
                  <a:pos x="connsiteX1" y="connsiteY1"/>
                </a:cxn>
                <a:cxn ang="0">
                  <a:pos x="connsiteX2" y="connsiteY2"/>
                </a:cxn>
                <a:cxn ang="0">
                  <a:pos x="connsiteX3" y="connsiteY3"/>
                </a:cxn>
              </a:cxnLst>
              <a:rect l="l" t="t" r="r" b="b"/>
              <a:pathLst>
                <a:path w="106208" h="9655">
                  <a:moveTo>
                    <a:pt x="2414" y="2414"/>
                  </a:moveTo>
                  <a:lnTo>
                    <a:pt x="104760" y="2414"/>
                  </a:lnTo>
                  <a:lnTo>
                    <a:pt x="104760"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0" name="Freeform: Shape 659">
              <a:extLst>
                <a:ext uri="{FF2B5EF4-FFF2-40B4-BE49-F238E27FC236}">
                  <a16:creationId xmlns:a16="http://schemas.microsoft.com/office/drawing/2014/main" id="{2FD75703-C986-424F-8F20-476C83C8BC16}"/>
                </a:ext>
              </a:extLst>
            </p:cNvPr>
            <p:cNvSpPr/>
            <p:nvPr/>
          </p:nvSpPr>
          <p:spPr>
            <a:xfrm>
              <a:off x="16494739" y="3536044"/>
              <a:ext cx="35403" cy="9655"/>
            </a:xfrm>
            <a:custGeom>
              <a:avLst/>
              <a:gdLst>
                <a:gd name="connsiteX0" fmla="*/ 33955 w 35402"/>
                <a:gd name="connsiteY0" fmla="*/ 8207 h 9655"/>
                <a:gd name="connsiteX1" fmla="*/ 2414 w 35402"/>
                <a:gd name="connsiteY1" fmla="*/ 8207 h 9655"/>
                <a:gd name="connsiteX2" fmla="*/ 2414 w 35402"/>
                <a:gd name="connsiteY2" fmla="*/ 2414 h 9655"/>
                <a:gd name="connsiteX3" fmla="*/ 33955 w 35402"/>
                <a:gd name="connsiteY3" fmla="*/ 2414 h 9655"/>
              </a:gdLst>
              <a:ahLst/>
              <a:cxnLst>
                <a:cxn ang="0">
                  <a:pos x="connsiteX0" y="connsiteY0"/>
                </a:cxn>
                <a:cxn ang="0">
                  <a:pos x="connsiteX1" y="connsiteY1"/>
                </a:cxn>
                <a:cxn ang="0">
                  <a:pos x="connsiteX2" y="connsiteY2"/>
                </a:cxn>
                <a:cxn ang="0">
                  <a:pos x="connsiteX3" y="connsiteY3"/>
                </a:cxn>
              </a:cxnLst>
              <a:rect l="l" t="t" r="r" b="b"/>
              <a:pathLst>
                <a:path w="35402" h="9655">
                  <a:moveTo>
                    <a:pt x="33955" y="8207"/>
                  </a:moveTo>
                  <a:lnTo>
                    <a:pt x="2414" y="8207"/>
                  </a:lnTo>
                  <a:lnTo>
                    <a:pt x="2414" y="2414"/>
                  </a:lnTo>
                  <a:lnTo>
                    <a:pt x="33955" y="2414"/>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1" name="Freeform: Shape 660">
              <a:extLst>
                <a:ext uri="{FF2B5EF4-FFF2-40B4-BE49-F238E27FC236}">
                  <a16:creationId xmlns:a16="http://schemas.microsoft.com/office/drawing/2014/main" id="{99C0D971-A284-4B83-9346-DA6EEDEB1E5B}"/>
                </a:ext>
              </a:extLst>
            </p:cNvPr>
            <p:cNvSpPr/>
            <p:nvPr/>
          </p:nvSpPr>
          <p:spPr>
            <a:xfrm>
              <a:off x="16457174" y="3535776"/>
              <a:ext cx="35403" cy="9655"/>
            </a:xfrm>
            <a:custGeom>
              <a:avLst/>
              <a:gdLst>
                <a:gd name="connsiteX0" fmla="*/ 2414 w 35402"/>
                <a:gd name="connsiteY0" fmla="*/ 2414 h 9655"/>
                <a:gd name="connsiteX1" fmla="*/ 34598 w 35402"/>
                <a:gd name="connsiteY1" fmla="*/ 2414 h 9655"/>
                <a:gd name="connsiteX2" fmla="*/ 34598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598" y="2414"/>
                  </a:lnTo>
                  <a:lnTo>
                    <a:pt x="34598"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2" name="Freeform: Shape 661">
              <a:extLst>
                <a:ext uri="{FF2B5EF4-FFF2-40B4-BE49-F238E27FC236}">
                  <a16:creationId xmlns:a16="http://schemas.microsoft.com/office/drawing/2014/main" id="{F990DABD-A0FD-4B72-91F2-155685593EA5}"/>
                </a:ext>
              </a:extLst>
            </p:cNvPr>
            <p:cNvSpPr/>
            <p:nvPr/>
          </p:nvSpPr>
          <p:spPr>
            <a:xfrm>
              <a:off x="16384437" y="3562167"/>
              <a:ext cx="93335" cy="9655"/>
            </a:xfrm>
            <a:custGeom>
              <a:avLst/>
              <a:gdLst>
                <a:gd name="connsiteX0" fmla="*/ 2414 w 93334"/>
                <a:gd name="connsiteY0" fmla="*/ 2414 h 9655"/>
                <a:gd name="connsiteX1" fmla="*/ 92208 w 93334"/>
                <a:gd name="connsiteY1" fmla="*/ 2414 h 9655"/>
                <a:gd name="connsiteX2" fmla="*/ 92208 w 93334"/>
                <a:gd name="connsiteY2" fmla="*/ 8207 h 9655"/>
                <a:gd name="connsiteX3" fmla="*/ 2414 w 93334"/>
                <a:gd name="connsiteY3" fmla="*/ 8207 h 9655"/>
              </a:gdLst>
              <a:ahLst/>
              <a:cxnLst>
                <a:cxn ang="0">
                  <a:pos x="connsiteX0" y="connsiteY0"/>
                </a:cxn>
                <a:cxn ang="0">
                  <a:pos x="connsiteX1" y="connsiteY1"/>
                </a:cxn>
                <a:cxn ang="0">
                  <a:pos x="connsiteX2" y="connsiteY2"/>
                </a:cxn>
                <a:cxn ang="0">
                  <a:pos x="connsiteX3" y="connsiteY3"/>
                </a:cxn>
              </a:cxnLst>
              <a:rect l="l" t="t" r="r" b="b"/>
              <a:pathLst>
                <a:path w="93334" h="9655">
                  <a:moveTo>
                    <a:pt x="2414" y="2414"/>
                  </a:moveTo>
                  <a:lnTo>
                    <a:pt x="92208" y="2414"/>
                  </a:lnTo>
                  <a:lnTo>
                    <a:pt x="92208"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3" name="Freeform: Shape 662">
              <a:extLst>
                <a:ext uri="{FF2B5EF4-FFF2-40B4-BE49-F238E27FC236}">
                  <a16:creationId xmlns:a16="http://schemas.microsoft.com/office/drawing/2014/main" id="{32402811-F5D6-4705-8819-7C073EBAF4A0}"/>
                </a:ext>
              </a:extLst>
            </p:cNvPr>
            <p:cNvSpPr/>
            <p:nvPr/>
          </p:nvSpPr>
          <p:spPr>
            <a:xfrm>
              <a:off x="16359778" y="3562258"/>
              <a:ext cx="22529" cy="9655"/>
            </a:xfrm>
            <a:custGeom>
              <a:avLst/>
              <a:gdLst>
                <a:gd name="connsiteX0" fmla="*/ 21081 w 22529"/>
                <a:gd name="connsiteY0" fmla="*/ 8207 h 9655"/>
                <a:gd name="connsiteX1" fmla="*/ 2414 w 22529"/>
                <a:gd name="connsiteY1" fmla="*/ 8207 h 9655"/>
                <a:gd name="connsiteX2" fmla="*/ 2414 w 22529"/>
                <a:gd name="connsiteY2" fmla="*/ 2414 h 9655"/>
                <a:gd name="connsiteX3" fmla="*/ 21081 w 22529"/>
                <a:gd name="connsiteY3" fmla="*/ 2414 h 9655"/>
              </a:gdLst>
              <a:ahLst/>
              <a:cxnLst>
                <a:cxn ang="0">
                  <a:pos x="connsiteX0" y="connsiteY0"/>
                </a:cxn>
                <a:cxn ang="0">
                  <a:pos x="connsiteX1" y="connsiteY1"/>
                </a:cxn>
                <a:cxn ang="0">
                  <a:pos x="connsiteX2" y="connsiteY2"/>
                </a:cxn>
                <a:cxn ang="0">
                  <a:pos x="connsiteX3" y="connsiteY3"/>
                </a:cxn>
              </a:cxnLst>
              <a:rect l="l" t="t" r="r" b="b"/>
              <a:pathLst>
                <a:path w="22529" h="9655">
                  <a:moveTo>
                    <a:pt x="21081" y="8207"/>
                  </a:moveTo>
                  <a:lnTo>
                    <a:pt x="2414" y="8207"/>
                  </a:lnTo>
                  <a:lnTo>
                    <a:pt x="2414" y="2414"/>
                  </a:lnTo>
                  <a:lnTo>
                    <a:pt x="21081" y="2414"/>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4" name="Freeform: Shape 663">
              <a:extLst>
                <a:ext uri="{FF2B5EF4-FFF2-40B4-BE49-F238E27FC236}">
                  <a16:creationId xmlns:a16="http://schemas.microsoft.com/office/drawing/2014/main" id="{7606DB55-4AB9-4F20-83B4-F4A0E7B24250}"/>
                </a:ext>
              </a:extLst>
            </p:cNvPr>
            <p:cNvSpPr/>
            <p:nvPr/>
          </p:nvSpPr>
          <p:spPr>
            <a:xfrm>
              <a:off x="16330367" y="3582444"/>
              <a:ext cx="64369" cy="9655"/>
            </a:xfrm>
            <a:custGeom>
              <a:avLst/>
              <a:gdLst>
                <a:gd name="connsiteX0" fmla="*/ 2414 w 64368"/>
                <a:gd name="connsiteY0" fmla="*/ 2414 h 9655"/>
                <a:gd name="connsiteX1" fmla="*/ 63564 w 64368"/>
                <a:gd name="connsiteY1" fmla="*/ 2414 h 9655"/>
                <a:gd name="connsiteX2" fmla="*/ 63564 w 64368"/>
                <a:gd name="connsiteY2" fmla="*/ 8207 h 9655"/>
                <a:gd name="connsiteX3" fmla="*/ 2414 w 64368"/>
                <a:gd name="connsiteY3" fmla="*/ 8207 h 9655"/>
              </a:gdLst>
              <a:ahLst/>
              <a:cxnLst>
                <a:cxn ang="0">
                  <a:pos x="connsiteX0" y="connsiteY0"/>
                </a:cxn>
                <a:cxn ang="0">
                  <a:pos x="connsiteX1" y="connsiteY1"/>
                </a:cxn>
                <a:cxn ang="0">
                  <a:pos x="connsiteX2" y="connsiteY2"/>
                </a:cxn>
                <a:cxn ang="0">
                  <a:pos x="connsiteX3" y="connsiteY3"/>
                </a:cxn>
              </a:cxnLst>
              <a:rect l="l" t="t" r="r" b="b"/>
              <a:pathLst>
                <a:path w="64368" h="9655">
                  <a:moveTo>
                    <a:pt x="2414" y="2414"/>
                  </a:moveTo>
                  <a:lnTo>
                    <a:pt x="63564" y="2414"/>
                  </a:lnTo>
                  <a:lnTo>
                    <a:pt x="63564"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5" name="Freeform: Shape 664">
              <a:extLst>
                <a:ext uri="{FF2B5EF4-FFF2-40B4-BE49-F238E27FC236}">
                  <a16:creationId xmlns:a16="http://schemas.microsoft.com/office/drawing/2014/main" id="{D8A34843-24F5-4C61-8252-F676F77C615E}"/>
                </a:ext>
              </a:extLst>
            </p:cNvPr>
            <p:cNvSpPr/>
            <p:nvPr/>
          </p:nvSpPr>
          <p:spPr>
            <a:xfrm>
              <a:off x="16396346" y="3582444"/>
              <a:ext cx="25748" cy="9655"/>
            </a:xfrm>
            <a:custGeom>
              <a:avLst/>
              <a:gdLst>
                <a:gd name="connsiteX0" fmla="*/ 2414 w 25747"/>
                <a:gd name="connsiteY0" fmla="*/ 2414 h 9655"/>
                <a:gd name="connsiteX1" fmla="*/ 23334 w 25747"/>
                <a:gd name="connsiteY1" fmla="*/ 2414 h 9655"/>
                <a:gd name="connsiteX2" fmla="*/ 23334 w 25747"/>
                <a:gd name="connsiteY2" fmla="*/ 8207 h 9655"/>
                <a:gd name="connsiteX3" fmla="*/ 2414 w 25747"/>
                <a:gd name="connsiteY3" fmla="*/ 8207 h 9655"/>
              </a:gdLst>
              <a:ahLst/>
              <a:cxnLst>
                <a:cxn ang="0">
                  <a:pos x="connsiteX0" y="connsiteY0"/>
                </a:cxn>
                <a:cxn ang="0">
                  <a:pos x="connsiteX1" y="connsiteY1"/>
                </a:cxn>
                <a:cxn ang="0">
                  <a:pos x="connsiteX2" y="connsiteY2"/>
                </a:cxn>
                <a:cxn ang="0">
                  <a:pos x="connsiteX3" y="connsiteY3"/>
                </a:cxn>
              </a:cxnLst>
              <a:rect l="l" t="t" r="r" b="b"/>
              <a:pathLst>
                <a:path w="25747" h="9655">
                  <a:moveTo>
                    <a:pt x="2414" y="2414"/>
                  </a:moveTo>
                  <a:lnTo>
                    <a:pt x="23334" y="2414"/>
                  </a:lnTo>
                  <a:lnTo>
                    <a:pt x="23334"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6" name="Freeform: Shape 665">
              <a:extLst>
                <a:ext uri="{FF2B5EF4-FFF2-40B4-BE49-F238E27FC236}">
                  <a16:creationId xmlns:a16="http://schemas.microsoft.com/office/drawing/2014/main" id="{1BA0D73D-E2D7-44CB-8F85-6278CD1459DE}"/>
                </a:ext>
              </a:extLst>
            </p:cNvPr>
            <p:cNvSpPr/>
            <p:nvPr/>
          </p:nvSpPr>
          <p:spPr>
            <a:xfrm>
              <a:off x="16423059" y="3582444"/>
              <a:ext cx="86898" cy="9655"/>
            </a:xfrm>
            <a:custGeom>
              <a:avLst/>
              <a:gdLst>
                <a:gd name="connsiteX0" fmla="*/ 2414 w 86898"/>
                <a:gd name="connsiteY0" fmla="*/ 2414 h 9655"/>
                <a:gd name="connsiteX1" fmla="*/ 86093 w 86898"/>
                <a:gd name="connsiteY1" fmla="*/ 2414 h 9655"/>
                <a:gd name="connsiteX2" fmla="*/ 86093 w 86898"/>
                <a:gd name="connsiteY2" fmla="*/ 8207 h 9655"/>
                <a:gd name="connsiteX3" fmla="*/ 2414 w 86898"/>
                <a:gd name="connsiteY3" fmla="*/ 8207 h 9655"/>
              </a:gdLst>
              <a:ahLst/>
              <a:cxnLst>
                <a:cxn ang="0">
                  <a:pos x="connsiteX0" y="connsiteY0"/>
                </a:cxn>
                <a:cxn ang="0">
                  <a:pos x="connsiteX1" y="connsiteY1"/>
                </a:cxn>
                <a:cxn ang="0">
                  <a:pos x="connsiteX2" y="connsiteY2"/>
                </a:cxn>
                <a:cxn ang="0">
                  <a:pos x="connsiteX3" y="connsiteY3"/>
                </a:cxn>
              </a:cxnLst>
              <a:rect l="l" t="t" r="r" b="b"/>
              <a:pathLst>
                <a:path w="86898" h="9655">
                  <a:moveTo>
                    <a:pt x="2414" y="2414"/>
                  </a:moveTo>
                  <a:lnTo>
                    <a:pt x="86093" y="2414"/>
                  </a:lnTo>
                  <a:lnTo>
                    <a:pt x="86093"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7" name="Freeform: Shape 666">
              <a:extLst>
                <a:ext uri="{FF2B5EF4-FFF2-40B4-BE49-F238E27FC236}">
                  <a16:creationId xmlns:a16="http://schemas.microsoft.com/office/drawing/2014/main" id="{14060813-3795-4E6A-B9FD-53E89ABFD4D4}"/>
                </a:ext>
              </a:extLst>
            </p:cNvPr>
            <p:cNvSpPr/>
            <p:nvPr/>
          </p:nvSpPr>
          <p:spPr>
            <a:xfrm>
              <a:off x="16350322" y="3608835"/>
              <a:ext cx="35403" cy="9655"/>
            </a:xfrm>
            <a:custGeom>
              <a:avLst/>
              <a:gdLst>
                <a:gd name="connsiteX0" fmla="*/ 2414 w 35402"/>
                <a:gd name="connsiteY0" fmla="*/ 2414 h 9655"/>
                <a:gd name="connsiteX1" fmla="*/ 34276 w 35402"/>
                <a:gd name="connsiteY1" fmla="*/ 2414 h 9655"/>
                <a:gd name="connsiteX2" fmla="*/ 34276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276" y="2414"/>
                  </a:lnTo>
                  <a:lnTo>
                    <a:pt x="34276" y="8207"/>
                  </a:lnTo>
                  <a:lnTo>
                    <a:pt x="2414" y="8207"/>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8" name="Freeform: Shape 667">
              <a:extLst>
                <a:ext uri="{FF2B5EF4-FFF2-40B4-BE49-F238E27FC236}">
                  <a16:creationId xmlns:a16="http://schemas.microsoft.com/office/drawing/2014/main" id="{5BF76A0C-EF87-4F18-BDA1-F49C7475E8EA}"/>
                </a:ext>
              </a:extLst>
            </p:cNvPr>
            <p:cNvSpPr/>
            <p:nvPr/>
          </p:nvSpPr>
          <p:spPr>
            <a:xfrm>
              <a:off x="16391529" y="3608927"/>
              <a:ext cx="77243" cy="9655"/>
            </a:xfrm>
            <a:custGeom>
              <a:avLst/>
              <a:gdLst>
                <a:gd name="connsiteX0" fmla="*/ 77725 w 77242"/>
                <a:gd name="connsiteY0" fmla="*/ 8207 h 9655"/>
                <a:gd name="connsiteX1" fmla="*/ 2414 w 77242"/>
                <a:gd name="connsiteY1" fmla="*/ 8207 h 9655"/>
                <a:gd name="connsiteX2" fmla="*/ 2414 w 77242"/>
                <a:gd name="connsiteY2" fmla="*/ 2414 h 9655"/>
                <a:gd name="connsiteX3" fmla="*/ 77725 w 77242"/>
                <a:gd name="connsiteY3" fmla="*/ 2414 h 9655"/>
              </a:gdLst>
              <a:ahLst/>
              <a:cxnLst>
                <a:cxn ang="0">
                  <a:pos x="connsiteX0" y="connsiteY0"/>
                </a:cxn>
                <a:cxn ang="0">
                  <a:pos x="connsiteX1" y="connsiteY1"/>
                </a:cxn>
                <a:cxn ang="0">
                  <a:pos x="connsiteX2" y="connsiteY2"/>
                </a:cxn>
                <a:cxn ang="0">
                  <a:pos x="connsiteX3" y="connsiteY3"/>
                </a:cxn>
              </a:cxnLst>
              <a:rect l="l" t="t" r="r" b="b"/>
              <a:pathLst>
                <a:path w="77242" h="9655">
                  <a:moveTo>
                    <a:pt x="77725" y="8207"/>
                  </a:moveTo>
                  <a:lnTo>
                    <a:pt x="2414" y="8207"/>
                  </a:lnTo>
                  <a:lnTo>
                    <a:pt x="2414" y="2414"/>
                  </a:lnTo>
                  <a:lnTo>
                    <a:pt x="77725" y="2414"/>
                  </a:ln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79" name="Freeform: Shape 668">
              <a:extLst>
                <a:ext uri="{FF2B5EF4-FFF2-40B4-BE49-F238E27FC236}">
                  <a16:creationId xmlns:a16="http://schemas.microsoft.com/office/drawing/2014/main" id="{40695288-B007-4EB7-9D7F-8D02323EFC92}"/>
                </a:ext>
              </a:extLst>
            </p:cNvPr>
            <p:cNvSpPr/>
            <p:nvPr/>
          </p:nvSpPr>
          <p:spPr>
            <a:xfrm>
              <a:off x="16303332" y="3491684"/>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0" name="Freeform: Shape 669">
              <a:extLst>
                <a:ext uri="{FF2B5EF4-FFF2-40B4-BE49-F238E27FC236}">
                  <a16:creationId xmlns:a16="http://schemas.microsoft.com/office/drawing/2014/main" id="{C05C0947-67E0-44C1-9506-DFB5C57DBDA7}"/>
                </a:ext>
              </a:extLst>
            </p:cNvPr>
            <p:cNvSpPr/>
            <p:nvPr/>
          </p:nvSpPr>
          <p:spPr>
            <a:xfrm>
              <a:off x="16303332" y="3513891"/>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1" name="Freeform: Shape 670">
              <a:extLst>
                <a:ext uri="{FF2B5EF4-FFF2-40B4-BE49-F238E27FC236}">
                  <a16:creationId xmlns:a16="http://schemas.microsoft.com/office/drawing/2014/main" id="{84ABA399-7664-46E8-A6AE-F8A31004C71B}"/>
                </a:ext>
              </a:extLst>
            </p:cNvPr>
            <p:cNvSpPr/>
            <p:nvPr/>
          </p:nvSpPr>
          <p:spPr>
            <a:xfrm>
              <a:off x="16303332" y="3536098"/>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2" name="Freeform: Shape 671">
              <a:extLst>
                <a:ext uri="{FF2B5EF4-FFF2-40B4-BE49-F238E27FC236}">
                  <a16:creationId xmlns:a16="http://schemas.microsoft.com/office/drawing/2014/main" id="{4A469963-A3C1-42FD-8DC8-2A0522418E0B}"/>
                </a:ext>
              </a:extLst>
            </p:cNvPr>
            <p:cNvSpPr/>
            <p:nvPr/>
          </p:nvSpPr>
          <p:spPr>
            <a:xfrm>
              <a:off x="16303332" y="3558627"/>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3" name="Freeform: Shape 672">
              <a:extLst>
                <a:ext uri="{FF2B5EF4-FFF2-40B4-BE49-F238E27FC236}">
                  <a16:creationId xmlns:a16="http://schemas.microsoft.com/office/drawing/2014/main" id="{BD27B63C-38FC-4CA8-84D1-EDD52F1D005C}"/>
                </a:ext>
              </a:extLst>
            </p:cNvPr>
            <p:cNvSpPr/>
            <p:nvPr/>
          </p:nvSpPr>
          <p:spPr>
            <a:xfrm>
              <a:off x="16303332" y="3580834"/>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4" name="Freeform: Shape 673">
              <a:extLst>
                <a:ext uri="{FF2B5EF4-FFF2-40B4-BE49-F238E27FC236}">
                  <a16:creationId xmlns:a16="http://schemas.microsoft.com/office/drawing/2014/main" id="{EA4BEACB-888A-4D0A-8993-93456BCF44E0}"/>
                </a:ext>
              </a:extLst>
            </p:cNvPr>
            <p:cNvSpPr/>
            <p:nvPr/>
          </p:nvSpPr>
          <p:spPr>
            <a:xfrm>
              <a:off x="16303332" y="3603042"/>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sp>
          <p:nvSpPr>
            <p:cNvPr id="385" name="Freeform: Shape 674">
              <a:extLst>
                <a:ext uri="{FF2B5EF4-FFF2-40B4-BE49-F238E27FC236}">
                  <a16:creationId xmlns:a16="http://schemas.microsoft.com/office/drawing/2014/main" id="{327521A0-A418-4546-92CF-9B06EA58CB10}"/>
                </a:ext>
              </a:extLst>
            </p:cNvPr>
            <p:cNvSpPr/>
            <p:nvPr/>
          </p:nvSpPr>
          <p:spPr>
            <a:xfrm>
              <a:off x="16303332" y="3625249"/>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91">
                <a:defRPr/>
              </a:pPr>
              <a:endParaRPr lang="en-US" sz="3400" dirty="0">
                <a:solidFill>
                  <a:srgbClr val="FFFFFF"/>
                </a:solidFill>
                <a:latin typeface="Amazon Ember"/>
              </a:endParaRPr>
            </a:p>
          </p:txBody>
        </p:sp>
      </p:grpSp>
      <p:sp>
        <p:nvSpPr>
          <p:cNvPr id="386" name="TextBox 385">
            <a:extLst>
              <a:ext uri="{FF2B5EF4-FFF2-40B4-BE49-F238E27FC236}">
                <a16:creationId xmlns:a16="http://schemas.microsoft.com/office/drawing/2014/main" id="{9A3C6F80-AD9B-9B42-BD74-F1B54A5A4C1D}"/>
              </a:ext>
            </a:extLst>
          </p:cNvPr>
          <p:cNvSpPr txBox="1"/>
          <p:nvPr/>
        </p:nvSpPr>
        <p:spPr>
          <a:xfrm>
            <a:off x="1911233" y="5197071"/>
            <a:ext cx="1841896"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Immersion day</a:t>
            </a:r>
          </a:p>
        </p:txBody>
      </p:sp>
      <p:grpSp>
        <p:nvGrpSpPr>
          <p:cNvPr id="387" name="Group 386"/>
          <p:cNvGrpSpPr/>
          <p:nvPr/>
        </p:nvGrpSpPr>
        <p:grpSpPr>
          <a:xfrm>
            <a:off x="4820663" y="3792202"/>
            <a:ext cx="1294300" cy="1796621"/>
            <a:chOff x="3510167" y="3429000"/>
            <a:chExt cx="1078583" cy="1497184"/>
          </a:xfrm>
        </p:grpSpPr>
        <p:sp>
          <p:nvSpPr>
            <p:cNvPr id="388" name="Rounded Rectangle 387">
              <a:extLst>
                <a:ext uri="{FF2B5EF4-FFF2-40B4-BE49-F238E27FC236}">
                  <a16:creationId xmlns:a16="http://schemas.microsoft.com/office/drawing/2014/main" id="{44910735-4894-1B4F-9063-A073AC2ED5FE}"/>
                </a:ext>
              </a:extLst>
            </p:cNvPr>
            <p:cNvSpPr/>
            <p:nvPr/>
          </p:nvSpPr>
          <p:spPr>
            <a:xfrm>
              <a:off x="3510167" y="3429000"/>
              <a:ext cx="1078583" cy="1264743"/>
            </a:xfrm>
            <a:prstGeom prst="roundRect">
              <a:avLst/>
            </a:prstGeom>
            <a:noFill/>
            <a:ln w="9525" cap="flat" cmpd="sng" algn="ctr">
              <a:solidFill>
                <a:srgbClr val="AD4AF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defTabSz="731491">
                <a:defRPr/>
              </a:pPr>
              <a:endParaRPr lang="en-US" sz="2520" dirty="0">
                <a:solidFill>
                  <a:srgbClr val="A166FF"/>
                </a:solidFill>
                <a:latin typeface="Amazon Ember"/>
              </a:endParaRPr>
            </a:p>
          </p:txBody>
        </p:sp>
        <p:sp>
          <p:nvSpPr>
            <p:cNvPr id="389" name="TextBox 388">
              <a:extLst>
                <a:ext uri="{FF2B5EF4-FFF2-40B4-BE49-F238E27FC236}">
                  <a16:creationId xmlns:a16="http://schemas.microsoft.com/office/drawing/2014/main" id="{02E5BB44-44AB-E944-B515-6A1673378DB8}"/>
                </a:ext>
              </a:extLst>
            </p:cNvPr>
            <p:cNvSpPr txBox="1"/>
            <p:nvPr/>
          </p:nvSpPr>
          <p:spPr>
            <a:xfrm>
              <a:off x="3781621" y="4695351"/>
              <a:ext cx="554639" cy="230833"/>
            </a:xfrm>
            <a:prstGeom prst="rect">
              <a:avLst/>
            </a:prstGeom>
            <a:noFill/>
            <a:ln>
              <a:noFill/>
            </a:ln>
          </p:spPr>
          <p:txBody>
            <a:bodyPr wrap="none" rtlCol="0">
              <a:spAutoFit/>
            </a:bodyPr>
            <a:lstStyle/>
            <a:p>
              <a:pPr defTabSz="731491">
                <a:defRPr/>
              </a:pPr>
              <a:r>
                <a:rPr lang="en-US" sz="1200" dirty="0">
                  <a:solidFill>
                    <a:srgbClr val="FFFFFF"/>
                  </a:solidFill>
                  <a:latin typeface="Amazon Ember"/>
                </a:rPr>
                <a:t>People</a:t>
              </a:r>
            </a:p>
          </p:txBody>
        </p:sp>
      </p:grpSp>
      <p:grpSp>
        <p:nvGrpSpPr>
          <p:cNvPr id="390" name="Group 389"/>
          <p:cNvGrpSpPr/>
          <p:nvPr/>
        </p:nvGrpSpPr>
        <p:grpSpPr>
          <a:xfrm>
            <a:off x="6275364" y="3791343"/>
            <a:ext cx="3949361" cy="1797481"/>
            <a:chOff x="4722418" y="3428285"/>
            <a:chExt cx="3291134" cy="1497901"/>
          </a:xfrm>
        </p:grpSpPr>
        <p:sp>
          <p:nvSpPr>
            <p:cNvPr id="391" name="Rounded Rectangle 390">
              <a:extLst>
                <a:ext uri="{FF2B5EF4-FFF2-40B4-BE49-F238E27FC236}">
                  <a16:creationId xmlns:a16="http://schemas.microsoft.com/office/drawing/2014/main" id="{D292A479-3251-3E4F-AC4B-6BA876C388E0}"/>
                </a:ext>
              </a:extLst>
            </p:cNvPr>
            <p:cNvSpPr/>
            <p:nvPr/>
          </p:nvSpPr>
          <p:spPr>
            <a:xfrm>
              <a:off x="4722418" y="3428285"/>
              <a:ext cx="3291134" cy="1264743"/>
            </a:xfrm>
            <a:prstGeom prst="roundRect">
              <a:avLst/>
            </a:prstGeom>
            <a:noFill/>
            <a:ln w="9525" cap="flat" cmpd="sng" algn="ctr">
              <a:solidFill>
                <a:srgbClr val="AD4AF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defTabSz="731491">
                <a:defRPr/>
              </a:pPr>
              <a:endParaRPr lang="en-US" sz="2520" dirty="0">
                <a:solidFill>
                  <a:srgbClr val="A166FF"/>
                </a:solidFill>
                <a:latin typeface="Amazon Ember"/>
              </a:endParaRPr>
            </a:p>
          </p:txBody>
        </p:sp>
        <p:sp>
          <p:nvSpPr>
            <p:cNvPr id="392" name="TextBox 391">
              <a:extLst>
                <a:ext uri="{FF2B5EF4-FFF2-40B4-BE49-F238E27FC236}">
                  <a16:creationId xmlns:a16="http://schemas.microsoft.com/office/drawing/2014/main" id="{E1DC8D5C-A3E6-3049-943B-9103C9A1A173}"/>
                </a:ext>
              </a:extLst>
            </p:cNvPr>
            <p:cNvSpPr txBox="1"/>
            <p:nvPr/>
          </p:nvSpPr>
          <p:spPr>
            <a:xfrm>
              <a:off x="6044470" y="4695353"/>
              <a:ext cx="670857" cy="230833"/>
            </a:xfrm>
            <a:prstGeom prst="rect">
              <a:avLst/>
            </a:prstGeom>
            <a:noFill/>
            <a:ln>
              <a:noFill/>
            </a:ln>
          </p:spPr>
          <p:txBody>
            <a:bodyPr wrap="none" rtlCol="0">
              <a:spAutoFit/>
            </a:bodyPr>
            <a:lstStyle/>
            <a:p>
              <a:pPr defTabSz="731491">
                <a:defRPr/>
              </a:pPr>
              <a:r>
                <a:rPr lang="en-US" sz="1200" dirty="0">
                  <a:solidFill>
                    <a:srgbClr val="FFFFFF"/>
                  </a:solidFill>
                  <a:latin typeface="Amazon Ember"/>
                </a:rPr>
                <a:t>Platform</a:t>
              </a:r>
            </a:p>
          </p:txBody>
        </p:sp>
      </p:grpSp>
      <p:grpSp>
        <p:nvGrpSpPr>
          <p:cNvPr id="393" name="Group 392"/>
          <p:cNvGrpSpPr/>
          <p:nvPr/>
        </p:nvGrpSpPr>
        <p:grpSpPr>
          <a:xfrm>
            <a:off x="4802883" y="1831337"/>
            <a:ext cx="4062058" cy="1845499"/>
            <a:chOff x="3495351" y="1794947"/>
            <a:chExt cx="3385048" cy="1537917"/>
          </a:xfrm>
        </p:grpSpPr>
        <p:sp>
          <p:nvSpPr>
            <p:cNvPr id="394" name="Rounded Rectangle 393">
              <a:extLst>
                <a:ext uri="{FF2B5EF4-FFF2-40B4-BE49-F238E27FC236}">
                  <a16:creationId xmlns:a16="http://schemas.microsoft.com/office/drawing/2014/main" id="{98F365EC-729F-F544-91A7-C934A57A7190}"/>
                </a:ext>
              </a:extLst>
            </p:cNvPr>
            <p:cNvSpPr/>
            <p:nvPr/>
          </p:nvSpPr>
          <p:spPr>
            <a:xfrm>
              <a:off x="3495351" y="2025780"/>
              <a:ext cx="3385048" cy="1307084"/>
            </a:xfrm>
            <a:prstGeom prst="roundRect">
              <a:avLst/>
            </a:prstGeom>
            <a:noFill/>
            <a:ln w="9525" cap="flat" cmpd="sng" algn="ctr">
              <a:solidFill>
                <a:srgbClr val="AD4AF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defTabSz="731491">
                <a:defRPr/>
              </a:pPr>
              <a:endParaRPr lang="en-US" sz="2520" dirty="0">
                <a:solidFill>
                  <a:srgbClr val="A166FF"/>
                </a:solidFill>
                <a:latin typeface="Amazon Ember"/>
              </a:endParaRPr>
            </a:p>
          </p:txBody>
        </p:sp>
        <p:sp>
          <p:nvSpPr>
            <p:cNvPr id="395" name="TextBox 394">
              <a:extLst>
                <a:ext uri="{FF2B5EF4-FFF2-40B4-BE49-F238E27FC236}">
                  <a16:creationId xmlns:a16="http://schemas.microsoft.com/office/drawing/2014/main" id="{9904FCF2-8A27-8B45-9D54-8CB32305CC7A}"/>
                </a:ext>
              </a:extLst>
            </p:cNvPr>
            <p:cNvSpPr txBox="1"/>
            <p:nvPr/>
          </p:nvSpPr>
          <p:spPr>
            <a:xfrm>
              <a:off x="4760750" y="1794947"/>
              <a:ext cx="669521" cy="230833"/>
            </a:xfrm>
            <a:prstGeom prst="rect">
              <a:avLst/>
            </a:prstGeom>
            <a:noFill/>
            <a:ln>
              <a:noFill/>
            </a:ln>
          </p:spPr>
          <p:txBody>
            <a:bodyPr wrap="none" rtlCol="0">
              <a:spAutoFit/>
            </a:bodyPr>
            <a:lstStyle/>
            <a:p>
              <a:pPr defTabSz="731491">
                <a:defRPr/>
              </a:pPr>
              <a:r>
                <a:rPr lang="en-US" sz="1200" dirty="0">
                  <a:solidFill>
                    <a:srgbClr val="FFFFFF"/>
                  </a:solidFill>
                  <a:latin typeface="Amazon Ember"/>
                </a:rPr>
                <a:t>Portfolio</a:t>
              </a:r>
            </a:p>
          </p:txBody>
        </p:sp>
      </p:grpSp>
      <p:grpSp>
        <p:nvGrpSpPr>
          <p:cNvPr id="396" name="Group 395"/>
          <p:cNvGrpSpPr/>
          <p:nvPr/>
        </p:nvGrpSpPr>
        <p:grpSpPr>
          <a:xfrm>
            <a:off x="9011367" y="1836293"/>
            <a:ext cx="1244610" cy="1845499"/>
            <a:chOff x="6996455" y="1794948"/>
            <a:chExt cx="1037175" cy="1537916"/>
          </a:xfrm>
        </p:grpSpPr>
        <p:sp>
          <p:nvSpPr>
            <p:cNvPr id="397" name="Rounded Rectangle 396">
              <a:extLst>
                <a:ext uri="{FF2B5EF4-FFF2-40B4-BE49-F238E27FC236}">
                  <a16:creationId xmlns:a16="http://schemas.microsoft.com/office/drawing/2014/main" id="{36B12DEB-0880-DE44-AE07-E28570C1F3A8}"/>
                </a:ext>
              </a:extLst>
            </p:cNvPr>
            <p:cNvSpPr/>
            <p:nvPr/>
          </p:nvSpPr>
          <p:spPr>
            <a:xfrm>
              <a:off x="6996455" y="2025781"/>
              <a:ext cx="1037175" cy="1307083"/>
            </a:xfrm>
            <a:prstGeom prst="roundRect">
              <a:avLst/>
            </a:prstGeom>
            <a:noFill/>
            <a:ln w="9525" cap="flat" cmpd="sng" algn="ctr">
              <a:solidFill>
                <a:srgbClr val="AD4AF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defTabSz="731491">
                <a:defRPr/>
              </a:pPr>
              <a:endParaRPr lang="en-US" sz="2520" dirty="0">
                <a:solidFill>
                  <a:srgbClr val="A166FF"/>
                </a:solidFill>
                <a:latin typeface="Amazon Ember"/>
              </a:endParaRPr>
            </a:p>
          </p:txBody>
        </p:sp>
        <p:sp>
          <p:nvSpPr>
            <p:cNvPr id="398" name="TextBox 397">
              <a:extLst>
                <a:ext uri="{FF2B5EF4-FFF2-40B4-BE49-F238E27FC236}">
                  <a16:creationId xmlns:a16="http://schemas.microsoft.com/office/drawing/2014/main" id="{9067511C-35FF-2849-83BA-D5CE0B06F2BA}"/>
                </a:ext>
              </a:extLst>
            </p:cNvPr>
            <p:cNvSpPr txBox="1"/>
            <p:nvPr/>
          </p:nvSpPr>
          <p:spPr>
            <a:xfrm>
              <a:off x="7214454" y="1794948"/>
              <a:ext cx="602729" cy="230833"/>
            </a:xfrm>
            <a:prstGeom prst="rect">
              <a:avLst/>
            </a:prstGeom>
            <a:noFill/>
            <a:ln>
              <a:noFill/>
            </a:ln>
          </p:spPr>
          <p:txBody>
            <a:bodyPr wrap="none" rtlCol="0">
              <a:spAutoFit/>
            </a:bodyPr>
            <a:lstStyle/>
            <a:p>
              <a:pPr defTabSz="731491">
                <a:defRPr/>
              </a:pPr>
              <a:r>
                <a:rPr lang="en-US" sz="1200" dirty="0">
                  <a:solidFill>
                    <a:srgbClr val="FFFFFF"/>
                  </a:solidFill>
                  <a:latin typeface="Amazon Ember"/>
                </a:rPr>
                <a:t>Migrate</a:t>
              </a:r>
            </a:p>
          </p:txBody>
        </p:sp>
      </p:grpSp>
      <p:grpSp>
        <p:nvGrpSpPr>
          <p:cNvPr id="399" name="Group 398">
            <a:extLst>
              <a:ext uri="{FF2B5EF4-FFF2-40B4-BE49-F238E27FC236}">
                <a16:creationId xmlns:a16="http://schemas.microsoft.com/office/drawing/2014/main" id="{5616833E-622D-8D4F-B596-7096F1732E68}"/>
              </a:ext>
            </a:extLst>
          </p:cNvPr>
          <p:cNvGrpSpPr>
            <a:grpSpLocks noChangeAspect="1"/>
          </p:cNvGrpSpPr>
          <p:nvPr/>
        </p:nvGrpSpPr>
        <p:grpSpPr>
          <a:xfrm>
            <a:off x="12413478" y="2457445"/>
            <a:ext cx="327769" cy="329184"/>
            <a:chOff x="3853940" y="3046180"/>
            <a:chExt cx="1239926" cy="1245279"/>
          </a:xfrm>
        </p:grpSpPr>
        <p:sp>
          <p:nvSpPr>
            <p:cNvPr id="400" name="Freeform: Shape 1268">
              <a:extLst>
                <a:ext uri="{FF2B5EF4-FFF2-40B4-BE49-F238E27FC236}">
                  <a16:creationId xmlns:a16="http://schemas.microsoft.com/office/drawing/2014/main" id="{3BC40A30-B2ED-8643-B5E4-44DF97635BE8}"/>
                </a:ext>
              </a:extLst>
            </p:cNvPr>
            <p:cNvSpPr/>
            <p:nvPr/>
          </p:nvSpPr>
          <p:spPr>
            <a:xfrm>
              <a:off x="3853940" y="3315794"/>
              <a:ext cx="54865" cy="685799"/>
            </a:xfrm>
            <a:custGeom>
              <a:avLst/>
              <a:gdLst>
                <a:gd name="connsiteX0" fmla="*/ 4828 w 19310"/>
                <a:gd name="connsiteY0" fmla="*/ 238487 h 241383"/>
                <a:gd name="connsiteX1" fmla="*/ 4828 w 19310"/>
                <a:gd name="connsiteY1" fmla="*/ 4828 h 241383"/>
                <a:gd name="connsiteX2" fmla="*/ 16736 w 19310"/>
                <a:gd name="connsiteY2" fmla="*/ 4828 h 241383"/>
              </a:gdLst>
              <a:ahLst/>
              <a:cxnLst>
                <a:cxn ang="0">
                  <a:pos x="connsiteX0" y="connsiteY0"/>
                </a:cxn>
                <a:cxn ang="0">
                  <a:pos x="connsiteX1" y="connsiteY1"/>
                </a:cxn>
                <a:cxn ang="0">
                  <a:pos x="connsiteX2" y="connsiteY2"/>
                </a:cxn>
              </a:cxnLst>
              <a:rect l="l" t="t" r="r" b="b"/>
              <a:pathLst>
                <a:path w="19310" h="241383">
                  <a:moveTo>
                    <a:pt x="4828" y="238487"/>
                  </a:moveTo>
                  <a:lnTo>
                    <a:pt x="4828" y="4828"/>
                  </a:lnTo>
                  <a:lnTo>
                    <a:pt x="16736"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1" name="Freeform: Shape 1269">
              <a:extLst>
                <a:ext uri="{FF2B5EF4-FFF2-40B4-BE49-F238E27FC236}">
                  <a16:creationId xmlns:a16="http://schemas.microsoft.com/office/drawing/2014/main" id="{3E5F1707-5071-C045-AF1D-F39E398BF2C6}"/>
                </a:ext>
              </a:extLst>
            </p:cNvPr>
            <p:cNvSpPr/>
            <p:nvPr/>
          </p:nvSpPr>
          <p:spPr>
            <a:xfrm>
              <a:off x="3853940" y="4024453"/>
              <a:ext cx="27431" cy="128015"/>
            </a:xfrm>
            <a:custGeom>
              <a:avLst/>
              <a:gdLst>
                <a:gd name="connsiteX0" fmla="*/ 4828 w 9655"/>
                <a:gd name="connsiteY0" fmla="*/ 40552 h 45058"/>
                <a:gd name="connsiteX1" fmla="*/ 4828 w 9655"/>
                <a:gd name="connsiteY1" fmla="*/ 4828 h 45058"/>
              </a:gdLst>
              <a:ahLst/>
              <a:cxnLst>
                <a:cxn ang="0">
                  <a:pos x="connsiteX0" y="connsiteY0"/>
                </a:cxn>
                <a:cxn ang="0">
                  <a:pos x="connsiteX1" y="connsiteY1"/>
                </a:cxn>
              </a:cxnLst>
              <a:rect l="l" t="t" r="r" b="b"/>
              <a:pathLst>
                <a:path w="9655" h="45058">
                  <a:moveTo>
                    <a:pt x="4828" y="40552"/>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2" name="Freeform: Shape 1270">
              <a:extLst>
                <a:ext uri="{FF2B5EF4-FFF2-40B4-BE49-F238E27FC236}">
                  <a16:creationId xmlns:a16="http://schemas.microsoft.com/office/drawing/2014/main" id="{9AEC2083-8E76-9B4A-AEBD-3B1F379FF41E}"/>
                </a:ext>
              </a:extLst>
            </p:cNvPr>
            <p:cNvSpPr/>
            <p:nvPr/>
          </p:nvSpPr>
          <p:spPr>
            <a:xfrm>
              <a:off x="3853940" y="3550795"/>
              <a:ext cx="128015" cy="740664"/>
            </a:xfrm>
            <a:custGeom>
              <a:avLst/>
              <a:gdLst>
                <a:gd name="connsiteX0" fmla="*/ 40231 w 45058"/>
                <a:gd name="connsiteY0" fmla="*/ 4828 h 260694"/>
                <a:gd name="connsiteX1" fmla="*/ 40231 w 45058"/>
                <a:gd name="connsiteY1" fmla="*/ 255866 h 260694"/>
                <a:gd name="connsiteX2" fmla="*/ 4828 w 45058"/>
                <a:gd name="connsiteY2" fmla="*/ 255866 h 260694"/>
                <a:gd name="connsiteX3" fmla="*/ 4828 w 45058"/>
                <a:gd name="connsiteY3" fmla="*/ 224004 h 260694"/>
              </a:gdLst>
              <a:ahLst/>
              <a:cxnLst>
                <a:cxn ang="0">
                  <a:pos x="connsiteX0" y="connsiteY0"/>
                </a:cxn>
                <a:cxn ang="0">
                  <a:pos x="connsiteX1" y="connsiteY1"/>
                </a:cxn>
                <a:cxn ang="0">
                  <a:pos x="connsiteX2" y="connsiteY2"/>
                </a:cxn>
                <a:cxn ang="0">
                  <a:pos x="connsiteX3" y="connsiteY3"/>
                </a:cxn>
              </a:cxnLst>
              <a:rect l="l" t="t" r="r" b="b"/>
              <a:pathLst>
                <a:path w="45058" h="260694">
                  <a:moveTo>
                    <a:pt x="40231" y="4828"/>
                  </a:moveTo>
                  <a:lnTo>
                    <a:pt x="40231" y="255866"/>
                  </a:lnTo>
                  <a:lnTo>
                    <a:pt x="4828" y="255866"/>
                  </a:lnTo>
                  <a:lnTo>
                    <a:pt x="4828" y="22400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3" name="Freeform: Shape 1271">
              <a:extLst>
                <a:ext uri="{FF2B5EF4-FFF2-40B4-BE49-F238E27FC236}">
                  <a16:creationId xmlns:a16="http://schemas.microsoft.com/office/drawing/2014/main" id="{645D85F3-00EA-2B40-AEC5-87DF70C00A7A}"/>
                </a:ext>
              </a:extLst>
            </p:cNvPr>
            <p:cNvSpPr/>
            <p:nvPr/>
          </p:nvSpPr>
          <p:spPr>
            <a:xfrm>
              <a:off x="4965851" y="3315794"/>
              <a:ext cx="128015" cy="969264"/>
            </a:xfrm>
            <a:custGeom>
              <a:avLst/>
              <a:gdLst>
                <a:gd name="connsiteX0" fmla="*/ 30575 w 45058"/>
                <a:gd name="connsiteY0" fmla="*/ 4828 h 341155"/>
                <a:gd name="connsiteX1" fmla="*/ 40231 w 45058"/>
                <a:gd name="connsiteY1" fmla="*/ 4828 h 341155"/>
                <a:gd name="connsiteX2" fmla="*/ 40231 w 45058"/>
                <a:gd name="connsiteY2" fmla="*/ 338580 h 341155"/>
                <a:gd name="connsiteX3" fmla="*/ 4828 w 45058"/>
                <a:gd name="connsiteY3" fmla="*/ 338580 h 341155"/>
                <a:gd name="connsiteX4" fmla="*/ 4828 w 45058"/>
                <a:gd name="connsiteY4" fmla="*/ 73702 h 34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58" h="341155">
                  <a:moveTo>
                    <a:pt x="30575" y="4828"/>
                  </a:moveTo>
                  <a:lnTo>
                    <a:pt x="40231" y="4828"/>
                  </a:lnTo>
                  <a:lnTo>
                    <a:pt x="40231" y="338580"/>
                  </a:lnTo>
                  <a:lnTo>
                    <a:pt x="4828" y="338580"/>
                  </a:lnTo>
                  <a:lnTo>
                    <a:pt x="4828" y="7370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4" name="Freeform: Shape 1272">
              <a:extLst>
                <a:ext uri="{FF2B5EF4-FFF2-40B4-BE49-F238E27FC236}">
                  <a16:creationId xmlns:a16="http://schemas.microsoft.com/office/drawing/2014/main" id="{BC7DBCA0-C747-754F-8698-3E744DBCC4C1}"/>
                </a:ext>
              </a:extLst>
            </p:cNvPr>
            <p:cNvSpPr/>
            <p:nvPr/>
          </p:nvSpPr>
          <p:spPr>
            <a:xfrm>
              <a:off x="4812231" y="4222877"/>
              <a:ext cx="137161" cy="27431"/>
            </a:xfrm>
            <a:custGeom>
              <a:avLst/>
              <a:gdLst>
                <a:gd name="connsiteX0" fmla="*/ 4828 w 48276"/>
                <a:gd name="connsiteY0" fmla="*/ 4828 h 9655"/>
                <a:gd name="connsiteX1" fmla="*/ 44736 w 48276"/>
                <a:gd name="connsiteY1" fmla="*/ 4828 h 9655"/>
              </a:gdLst>
              <a:ahLst/>
              <a:cxnLst>
                <a:cxn ang="0">
                  <a:pos x="connsiteX0" y="connsiteY0"/>
                </a:cxn>
                <a:cxn ang="0">
                  <a:pos x="connsiteX1" y="connsiteY1"/>
                </a:cxn>
              </a:cxnLst>
              <a:rect l="l" t="t" r="r" b="b"/>
              <a:pathLst>
                <a:path w="48276" h="9655">
                  <a:moveTo>
                    <a:pt x="4828" y="4828"/>
                  </a:moveTo>
                  <a:lnTo>
                    <a:pt x="4473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5" name="Freeform: Shape 1273">
              <a:extLst>
                <a:ext uri="{FF2B5EF4-FFF2-40B4-BE49-F238E27FC236}">
                  <a16:creationId xmlns:a16="http://schemas.microsoft.com/office/drawing/2014/main" id="{BBA6D75A-D123-4244-B9C0-57E3278DD8AD}"/>
                </a:ext>
              </a:extLst>
            </p:cNvPr>
            <p:cNvSpPr/>
            <p:nvPr/>
          </p:nvSpPr>
          <p:spPr>
            <a:xfrm>
              <a:off x="4641238" y="4222877"/>
              <a:ext cx="137161" cy="27431"/>
            </a:xfrm>
            <a:custGeom>
              <a:avLst/>
              <a:gdLst>
                <a:gd name="connsiteX0" fmla="*/ 4828 w 48276"/>
                <a:gd name="connsiteY0" fmla="*/ 4828 h 9655"/>
                <a:gd name="connsiteX1" fmla="*/ 45380 w 48276"/>
                <a:gd name="connsiteY1" fmla="*/ 4828 h 9655"/>
              </a:gdLst>
              <a:ahLst/>
              <a:cxnLst>
                <a:cxn ang="0">
                  <a:pos x="connsiteX0" y="connsiteY0"/>
                </a:cxn>
                <a:cxn ang="0">
                  <a:pos x="connsiteX1" y="connsiteY1"/>
                </a:cxn>
              </a:cxnLst>
              <a:rect l="l" t="t" r="r" b="b"/>
              <a:pathLst>
                <a:path w="48276" h="9655">
                  <a:moveTo>
                    <a:pt x="4828" y="4828"/>
                  </a:moveTo>
                  <a:lnTo>
                    <a:pt x="453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6" name="Freeform: Shape 1274">
              <a:extLst>
                <a:ext uri="{FF2B5EF4-FFF2-40B4-BE49-F238E27FC236}">
                  <a16:creationId xmlns:a16="http://schemas.microsoft.com/office/drawing/2014/main" id="{2E0F6012-0A49-9B40-A868-F0C80FED2437}"/>
                </a:ext>
              </a:extLst>
            </p:cNvPr>
            <p:cNvSpPr/>
            <p:nvPr/>
          </p:nvSpPr>
          <p:spPr>
            <a:xfrm>
              <a:off x="3994757" y="4222877"/>
              <a:ext cx="630937" cy="27431"/>
            </a:xfrm>
            <a:custGeom>
              <a:avLst/>
              <a:gdLst>
                <a:gd name="connsiteX0" fmla="*/ 4828 w 222072"/>
                <a:gd name="connsiteY0" fmla="*/ 4828 h 9655"/>
                <a:gd name="connsiteX1" fmla="*/ 219176 w 222072"/>
                <a:gd name="connsiteY1" fmla="*/ 4828 h 9655"/>
              </a:gdLst>
              <a:ahLst/>
              <a:cxnLst>
                <a:cxn ang="0">
                  <a:pos x="connsiteX0" y="connsiteY0"/>
                </a:cxn>
                <a:cxn ang="0">
                  <a:pos x="connsiteX1" y="connsiteY1"/>
                </a:cxn>
              </a:cxnLst>
              <a:rect l="l" t="t" r="r" b="b"/>
              <a:pathLst>
                <a:path w="222072" h="9655">
                  <a:moveTo>
                    <a:pt x="4828" y="4828"/>
                  </a:moveTo>
                  <a:lnTo>
                    <a:pt x="21917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7" name="Freeform: Shape 1275">
              <a:extLst>
                <a:ext uri="{FF2B5EF4-FFF2-40B4-BE49-F238E27FC236}">
                  <a16:creationId xmlns:a16="http://schemas.microsoft.com/office/drawing/2014/main" id="{360EEA21-7C60-CF40-AB8D-0C7747613B4A}"/>
                </a:ext>
              </a:extLst>
            </p:cNvPr>
            <p:cNvSpPr/>
            <p:nvPr/>
          </p:nvSpPr>
          <p:spPr>
            <a:xfrm>
              <a:off x="4658612" y="3383458"/>
              <a:ext cx="201169" cy="27431"/>
            </a:xfrm>
            <a:custGeom>
              <a:avLst/>
              <a:gdLst>
                <a:gd name="connsiteX0" fmla="*/ 4828 w 70805"/>
                <a:gd name="connsiteY0" fmla="*/ 4828 h 9655"/>
                <a:gd name="connsiteX1" fmla="*/ 68875 w 70805"/>
                <a:gd name="connsiteY1" fmla="*/ 4828 h 9655"/>
              </a:gdLst>
              <a:ahLst/>
              <a:cxnLst>
                <a:cxn ang="0">
                  <a:pos x="connsiteX0" y="connsiteY0"/>
                </a:cxn>
                <a:cxn ang="0">
                  <a:pos x="connsiteX1" y="connsiteY1"/>
                </a:cxn>
              </a:cxnLst>
              <a:rect l="l" t="t" r="r" b="b"/>
              <a:pathLst>
                <a:path w="70805" h="9655">
                  <a:moveTo>
                    <a:pt x="4828" y="4828"/>
                  </a:moveTo>
                  <a:lnTo>
                    <a:pt x="68875"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8" name="Freeform: Shape 1276">
              <a:extLst>
                <a:ext uri="{FF2B5EF4-FFF2-40B4-BE49-F238E27FC236}">
                  <a16:creationId xmlns:a16="http://schemas.microsoft.com/office/drawing/2014/main" id="{5A85D861-9125-3C45-A88E-FCDEA0684056}"/>
                </a:ext>
              </a:extLst>
            </p:cNvPr>
            <p:cNvSpPr/>
            <p:nvPr/>
          </p:nvSpPr>
          <p:spPr>
            <a:xfrm>
              <a:off x="4172152" y="3383458"/>
              <a:ext cx="146304" cy="27431"/>
            </a:xfrm>
            <a:custGeom>
              <a:avLst/>
              <a:gdLst>
                <a:gd name="connsiteX0" fmla="*/ 4828 w 51495"/>
                <a:gd name="connsiteY0" fmla="*/ 4828 h 9655"/>
                <a:gd name="connsiteX1" fmla="*/ 47311 w 51495"/>
                <a:gd name="connsiteY1" fmla="*/ 4828 h 9655"/>
              </a:gdLst>
              <a:ahLst/>
              <a:cxnLst>
                <a:cxn ang="0">
                  <a:pos x="connsiteX0" y="connsiteY0"/>
                </a:cxn>
                <a:cxn ang="0">
                  <a:pos x="connsiteX1" y="connsiteY1"/>
                </a:cxn>
              </a:cxnLst>
              <a:rect l="l" t="t" r="r" b="b"/>
              <a:pathLst>
                <a:path w="51495" h="9655">
                  <a:moveTo>
                    <a:pt x="4828" y="4828"/>
                  </a:moveTo>
                  <a:lnTo>
                    <a:pt x="4731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09" name="Freeform: Shape 1277">
              <a:extLst>
                <a:ext uri="{FF2B5EF4-FFF2-40B4-BE49-F238E27FC236}">
                  <a16:creationId xmlns:a16="http://schemas.microsoft.com/office/drawing/2014/main" id="{D0F46A9A-D498-ED44-BFA3-A321A4B2638B}"/>
                </a:ext>
              </a:extLst>
            </p:cNvPr>
            <p:cNvSpPr/>
            <p:nvPr/>
          </p:nvSpPr>
          <p:spPr>
            <a:xfrm>
              <a:off x="4666842" y="3463924"/>
              <a:ext cx="201169" cy="27431"/>
            </a:xfrm>
            <a:custGeom>
              <a:avLst/>
              <a:gdLst>
                <a:gd name="connsiteX0" fmla="*/ 4828 w 70805"/>
                <a:gd name="connsiteY0" fmla="*/ 4828 h 9655"/>
                <a:gd name="connsiteX1" fmla="*/ 68231 w 70805"/>
                <a:gd name="connsiteY1" fmla="*/ 4828 h 9655"/>
              </a:gdLst>
              <a:ahLst/>
              <a:cxnLst>
                <a:cxn ang="0">
                  <a:pos x="connsiteX0" y="connsiteY0"/>
                </a:cxn>
                <a:cxn ang="0">
                  <a:pos x="connsiteX1" y="connsiteY1"/>
                </a:cxn>
              </a:cxnLst>
              <a:rect l="l" t="t" r="r" b="b"/>
              <a:pathLst>
                <a:path w="70805" h="9655">
                  <a:moveTo>
                    <a:pt x="4828" y="4828"/>
                  </a:moveTo>
                  <a:lnTo>
                    <a:pt x="68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0" name="Freeform: Shape 1278">
              <a:extLst>
                <a:ext uri="{FF2B5EF4-FFF2-40B4-BE49-F238E27FC236}">
                  <a16:creationId xmlns:a16="http://schemas.microsoft.com/office/drawing/2014/main" id="{AC48F695-5076-EC42-9EB2-984A37EE01C4}"/>
                </a:ext>
              </a:extLst>
            </p:cNvPr>
            <p:cNvSpPr/>
            <p:nvPr/>
          </p:nvSpPr>
          <p:spPr>
            <a:xfrm>
              <a:off x="4441899" y="3463924"/>
              <a:ext cx="54865" cy="27431"/>
            </a:xfrm>
            <a:custGeom>
              <a:avLst/>
              <a:gdLst>
                <a:gd name="connsiteX0" fmla="*/ 4828 w 19310"/>
                <a:gd name="connsiteY0" fmla="*/ 4828 h 9655"/>
                <a:gd name="connsiteX1" fmla="*/ 17058 w 19310"/>
                <a:gd name="connsiteY1" fmla="*/ 4828 h 9655"/>
              </a:gdLst>
              <a:ahLst/>
              <a:cxnLst>
                <a:cxn ang="0">
                  <a:pos x="connsiteX0" y="connsiteY0"/>
                </a:cxn>
                <a:cxn ang="0">
                  <a:pos x="connsiteX1" y="connsiteY1"/>
                </a:cxn>
              </a:cxnLst>
              <a:rect l="l" t="t" r="r" b="b"/>
              <a:pathLst>
                <a:path w="19310" h="9655">
                  <a:moveTo>
                    <a:pt x="4828" y="4828"/>
                  </a:moveTo>
                  <a:lnTo>
                    <a:pt x="1705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1" name="Freeform: Shape 1279">
              <a:extLst>
                <a:ext uri="{FF2B5EF4-FFF2-40B4-BE49-F238E27FC236}">
                  <a16:creationId xmlns:a16="http://schemas.microsoft.com/office/drawing/2014/main" id="{A770B790-6324-324B-B9B6-F982078BF785}"/>
                </a:ext>
              </a:extLst>
            </p:cNvPr>
            <p:cNvSpPr/>
            <p:nvPr/>
          </p:nvSpPr>
          <p:spPr>
            <a:xfrm>
              <a:off x="4161179" y="3463924"/>
              <a:ext cx="146304" cy="27431"/>
            </a:xfrm>
            <a:custGeom>
              <a:avLst/>
              <a:gdLst>
                <a:gd name="connsiteX0" fmla="*/ 4828 w 51495"/>
                <a:gd name="connsiteY0" fmla="*/ 4828 h 9655"/>
                <a:gd name="connsiteX1" fmla="*/ 46667 w 51495"/>
                <a:gd name="connsiteY1" fmla="*/ 4828 h 9655"/>
              </a:gdLst>
              <a:ahLst/>
              <a:cxnLst>
                <a:cxn ang="0">
                  <a:pos x="connsiteX0" y="connsiteY0"/>
                </a:cxn>
                <a:cxn ang="0">
                  <a:pos x="connsiteX1" y="connsiteY1"/>
                </a:cxn>
              </a:cxnLst>
              <a:rect l="l" t="t" r="r" b="b"/>
              <a:pathLst>
                <a:path w="51495" h="9655">
                  <a:moveTo>
                    <a:pt x="4828" y="4828"/>
                  </a:moveTo>
                  <a:lnTo>
                    <a:pt x="46667"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2" name="Freeform: Shape 1280">
              <a:extLst>
                <a:ext uri="{FF2B5EF4-FFF2-40B4-BE49-F238E27FC236}">
                  <a16:creationId xmlns:a16="http://schemas.microsoft.com/office/drawing/2014/main" id="{ECACEEE0-1998-6449-9CEB-4C9B7B25AAF9}"/>
                </a:ext>
              </a:extLst>
            </p:cNvPr>
            <p:cNvSpPr/>
            <p:nvPr/>
          </p:nvSpPr>
          <p:spPr>
            <a:xfrm>
              <a:off x="4509563" y="3473070"/>
              <a:ext cx="73153" cy="27431"/>
            </a:xfrm>
            <a:custGeom>
              <a:avLst/>
              <a:gdLst>
                <a:gd name="connsiteX0" fmla="*/ 23495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495"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3" name="Freeform: Shape 1281">
              <a:extLst>
                <a:ext uri="{FF2B5EF4-FFF2-40B4-BE49-F238E27FC236}">
                  <a16:creationId xmlns:a16="http://schemas.microsoft.com/office/drawing/2014/main" id="{7C234919-66AD-C94C-B312-0AC8F4ECB957}"/>
                </a:ext>
              </a:extLst>
            </p:cNvPr>
            <p:cNvSpPr/>
            <p:nvPr/>
          </p:nvSpPr>
          <p:spPr>
            <a:xfrm>
              <a:off x="4518709" y="3559023"/>
              <a:ext cx="73153" cy="27431"/>
            </a:xfrm>
            <a:custGeom>
              <a:avLst/>
              <a:gdLst>
                <a:gd name="connsiteX0" fmla="*/ 23817 w 25747"/>
                <a:gd name="connsiteY0" fmla="*/ 4828 h 9655"/>
                <a:gd name="connsiteX1" fmla="*/ 4828 w 25747"/>
                <a:gd name="connsiteY1" fmla="*/ 7081 h 9655"/>
              </a:gdLst>
              <a:ahLst/>
              <a:cxnLst>
                <a:cxn ang="0">
                  <a:pos x="connsiteX0" y="connsiteY0"/>
                </a:cxn>
                <a:cxn ang="0">
                  <a:pos x="connsiteX1" y="connsiteY1"/>
                </a:cxn>
              </a:cxnLst>
              <a:rect l="l" t="t" r="r" b="b"/>
              <a:pathLst>
                <a:path w="25747" h="9655">
                  <a:moveTo>
                    <a:pt x="23817" y="4828"/>
                  </a:moveTo>
                  <a:lnTo>
                    <a:pt x="4828" y="7081"/>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4" name="Freeform: Shape 1282">
              <a:extLst>
                <a:ext uri="{FF2B5EF4-FFF2-40B4-BE49-F238E27FC236}">
                  <a16:creationId xmlns:a16="http://schemas.microsoft.com/office/drawing/2014/main" id="{6547E83E-90C1-554C-B704-038E500F3C8B}"/>
                </a:ext>
              </a:extLst>
            </p:cNvPr>
            <p:cNvSpPr/>
            <p:nvPr/>
          </p:nvSpPr>
          <p:spPr>
            <a:xfrm>
              <a:off x="4527852" y="364589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5" name="Freeform: Shape 1283">
              <a:extLst>
                <a:ext uri="{FF2B5EF4-FFF2-40B4-BE49-F238E27FC236}">
                  <a16:creationId xmlns:a16="http://schemas.microsoft.com/office/drawing/2014/main" id="{6EB19281-2C4C-E749-9D8D-20D078FD8D3E}"/>
                </a:ext>
              </a:extLst>
            </p:cNvPr>
            <p:cNvSpPr/>
            <p:nvPr/>
          </p:nvSpPr>
          <p:spPr>
            <a:xfrm>
              <a:off x="4536997" y="373276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6" name="Freeform: Shape 1284">
              <a:extLst>
                <a:ext uri="{FF2B5EF4-FFF2-40B4-BE49-F238E27FC236}">
                  <a16:creationId xmlns:a16="http://schemas.microsoft.com/office/drawing/2014/main" id="{94991869-9C95-8742-B760-28D4AE77E561}"/>
                </a:ext>
              </a:extLst>
            </p:cNvPr>
            <p:cNvSpPr/>
            <p:nvPr/>
          </p:nvSpPr>
          <p:spPr>
            <a:xfrm>
              <a:off x="4494934" y="3356027"/>
              <a:ext cx="210311" cy="457199"/>
            </a:xfrm>
            <a:custGeom>
              <a:avLst/>
              <a:gdLst>
                <a:gd name="connsiteX0" fmla="*/ 20598 w 74024"/>
                <a:gd name="connsiteY0" fmla="*/ 157382 h 160922"/>
                <a:gd name="connsiteX1" fmla="*/ 4828 w 74024"/>
                <a:gd name="connsiteY1" fmla="*/ 9977 h 160922"/>
                <a:gd name="connsiteX2" fmla="*/ 53104 w 74024"/>
                <a:gd name="connsiteY2" fmla="*/ 4828 h 160922"/>
                <a:gd name="connsiteX3" fmla="*/ 69197 w 74024"/>
                <a:gd name="connsiteY3" fmla="*/ 155773 h 160922"/>
              </a:gdLst>
              <a:ahLst/>
              <a:cxnLst>
                <a:cxn ang="0">
                  <a:pos x="connsiteX0" y="connsiteY0"/>
                </a:cxn>
                <a:cxn ang="0">
                  <a:pos x="connsiteX1" y="connsiteY1"/>
                </a:cxn>
                <a:cxn ang="0">
                  <a:pos x="connsiteX2" y="connsiteY2"/>
                </a:cxn>
                <a:cxn ang="0">
                  <a:pos x="connsiteX3" y="connsiteY3"/>
                </a:cxn>
              </a:cxnLst>
              <a:rect l="l" t="t" r="r" b="b"/>
              <a:pathLst>
                <a:path w="74024" h="160922">
                  <a:moveTo>
                    <a:pt x="20598" y="157382"/>
                  </a:moveTo>
                  <a:lnTo>
                    <a:pt x="4828" y="9977"/>
                  </a:lnTo>
                  <a:lnTo>
                    <a:pt x="53104" y="4828"/>
                  </a:lnTo>
                  <a:lnTo>
                    <a:pt x="69197" y="155773"/>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7" name="Freeform: Shape 1285">
              <a:extLst>
                <a:ext uri="{FF2B5EF4-FFF2-40B4-BE49-F238E27FC236}">
                  <a16:creationId xmlns:a16="http://schemas.microsoft.com/office/drawing/2014/main" id="{A3D9B066-2E20-5849-850E-9E875B1D5552}"/>
                </a:ext>
              </a:extLst>
            </p:cNvPr>
            <p:cNvSpPr/>
            <p:nvPr/>
          </p:nvSpPr>
          <p:spPr>
            <a:xfrm>
              <a:off x="4349546" y="3267330"/>
              <a:ext cx="137161" cy="548641"/>
            </a:xfrm>
            <a:custGeom>
              <a:avLst/>
              <a:gdLst>
                <a:gd name="connsiteX0" fmla="*/ 4828 w 48276"/>
                <a:gd name="connsiteY0" fmla="*/ 190854 h 193106"/>
                <a:gd name="connsiteX1" fmla="*/ 45058 w 48276"/>
                <a:gd name="connsiteY1" fmla="*/ 4828 h 193106"/>
              </a:gdLst>
              <a:ahLst/>
              <a:cxnLst>
                <a:cxn ang="0">
                  <a:pos x="connsiteX0" y="connsiteY0"/>
                </a:cxn>
                <a:cxn ang="0">
                  <a:pos x="connsiteX1" y="connsiteY1"/>
                </a:cxn>
              </a:cxnLst>
              <a:rect l="l" t="t" r="r" b="b"/>
              <a:pathLst>
                <a:path w="48276" h="193106">
                  <a:moveTo>
                    <a:pt x="4828" y="190854"/>
                  </a:moveTo>
                  <a:lnTo>
                    <a:pt x="4505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8" name="Freeform: Shape 1286">
              <a:extLst>
                <a:ext uri="{FF2B5EF4-FFF2-40B4-BE49-F238E27FC236}">
                  <a16:creationId xmlns:a16="http://schemas.microsoft.com/office/drawing/2014/main" id="{B5EAE954-93A6-2043-988D-EFBD6FD2353F}"/>
                </a:ext>
              </a:extLst>
            </p:cNvPr>
            <p:cNvSpPr/>
            <p:nvPr/>
          </p:nvSpPr>
          <p:spPr>
            <a:xfrm>
              <a:off x="4236159" y="3246297"/>
              <a:ext cx="137161" cy="566929"/>
            </a:xfrm>
            <a:custGeom>
              <a:avLst/>
              <a:gdLst>
                <a:gd name="connsiteX0" fmla="*/ 46346 w 48276"/>
                <a:gd name="connsiteY0" fmla="*/ 4828 h 199543"/>
                <a:gd name="connsiteX1" fmla="*/ 4828 w 48276"/>
                <a:gd name="connsiteY1" fmla="*/ 196003 h 199543"/>
              </a:gdLst>
              <a:ahLst/>
              <a:cxnLst>
                <a:cxn ang="0">
                  <a:pos x="connsiteX0" y="connsiteY0"/>
                </a:cxn>
                <a:cxn ang="0">
                  <a:pos x="connsiteX1" y="connsiteY1"/>
                </a:cxn>
              </a:cxnLst>
              <a:rect l="l" t="t" r="r" b="b"/>
              <a:pathLst>
                <a:path w="48276" h="199543">
                  <a:moveTo>
                    <a:pt x="46346" y="4828"/>
                  </a:moveTo>
                  <a:lnTo>
                    <a:pt x="4828" y="196003"/>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19" name="Freeform: Shape 1287">
              <a:extLst>
                <a:ext uri="{FF2B5EF4-FFF2-40B4-BE49-F238E27FC236}">
                  <a16:creationId xmlns:a16="http://schemas.microsoft.com/office/drawing/2014/main" id="{E05870F7-E7EA-AE4D-858E-A7F68AFB474B}"/>
                </a:ext>
              </a:extLst>
            </p:cNvPr>
            <p:cNvSpPr/>
            <p:nvPr/>
          </p:nvSpPr>
          <p:spPr>
            <a:xfrm>
              <a:off x="4537912" y="3090851"/>
              <a:ext cx="118873" cy="54865"/>
            </a:xfrm>
            <a:custGeom>
              <a:avLst/>
              <a:gdLst>
                <a:gd name="connsiteX0" fmla="*/ 4828 w 41839"/>
                <a:gd name="connsiteY0" fmla="*/ 4828 h 19310"/>
                <a:gd name="connsiteX1" fmla="*/ 19954 w 41839"/>
                <a:gd name="connsiteY1" fmla="*/ 13839 h 19310"/>
                <a:gd name="connsiteX2" fmla="*/ 37656 w 41839"/>
                <a:gd name="connsiteY2" fmla="*/ 11908 h 19310"/>
              </a:gdLst>
              <a:ahLst/>
              <a:cxnLst>
                <a:cxn ang="0">
                  <a:pos x="connsiteX0" y="connsiteY0"/>
                </a:cxn>
                <a:cxn ang="0">
                  <a:pos x="connsiteX1" y="connsiteY1"/>
                </a:cxn>
                <a:cxn ang="0">
                  <a:pos x="connsiteX2" y="connsiteY2"/>
                </a:cxn>
              </a:cxnLst>
              <a:rect l="l" t="t" r="r" b="b"/>
              <a:pathLst>
                <a:path w="41839" h="19310">
                  <a:moveTo>
                    <a:pt x="4828" y="4828"/>
                  </a:moveTo>
                  <a:cubicBezTo>
                    <a:pt x="8368" y="9012"/>
                    <a:pt x="13839" y="12552"/>
                    <a:pt x="19954" y="13839"/>
                  </a:cubicBezTo>
                  <a:cubicBezTo>
                    <a:pt x="26069" y="15127"/>
                    <a:pt x="32506" y="14483"/>
                    <a:pt x="37656" y="1190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0" name="Freeform: Shape 1288">
              <a:extLst>
                <a:ext uri="{FF2B5EF4-FFF2-40B4-BE49-F238E27FC236}">
                  <a16:creationId xmlns:a16="http://schemas.microsoft.com/office/drawing/2014/main" id="{315436F8-987E-B948-967C-BB537CB078D9}"/>
                </a:ext>
              </a:extLst>
            </p:cNvPr>
            <p:cNvSpPr/>
            <p:nvPr/>
          </p:nvSpPr>
          <p:spPr>
            <a:xfrm>
              <a:off x="4517794" y="3181591"/>
              <a:ext cx="109727" cy="45719"/>
            </a:xfrm>
            <a:custGeom>
              <a:avLst/>
              <a:gdLst>
                <a:gd name="connsiteX0" fmla="*/ 35081 w 38621"/>
                <a:gd name="connsiteY0" fmla="*/ 14085 h 16092"/>
                <a:gd name="connsiteX1" fmla="*/ 21242 w 38621"/>
                <a:gd name="connsiteY1" fmla="*/ 5395 h 16092"/>
                <a:gd name="connsiteX2" fmla="*/ 4828 w 38621"/>
                <a:gd name="connsiteY2" fmla="*/ 7648 h 16092"/>
              </a:gdLst>
              <a:ahLst/>
              <a:cxnLst>
                <a:cxn ang="0">
                  <a:pos x="connsiteX0" y="connsiteY0"/>
                </a:cxn>
                <a:cxn ang="0">
                  <a:pos x="connsiteX1" y="connsiteY1"/>
                </a:cxn>
                <a:cxn ang="0">
                  <a:pos x="connsiteX2" y="connsiteY2"/>
                </a:cxn>
              </a:cxnLst>
              <a:rect l="l" t="t" r="r" b="b"/>
              <a:pathLst>
                <a:path w="38621" h="16092">
                  <a:moveTo>
                    <a:pt x="35081" y="14085"/>
                  </a:moveTo>
                  <a:cubicBezTo>
                    <a:pt x="31863" y="9901"/>
                    <a:pt x="27035" y="6683"/>
                    <a:pt x="21242" y="5395"/>
                  </a:cubicBezTo>
                  <a:cubicBezTo>
                    <a:pt x="15449" y="4108"/>
                    <a:pt x="9655" y="5074"/>
                    <a:pt x="4828" y="764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1" name="Freeform: Shape 1289">
              <a:extLst>
                <a:ext uri="{FF2B5EF4-FFF2-40B4-BE49-F238E27FC236}">
                  <a16:creationId xmlns:a16="http://schemas.microsoft.com/office/drawing/2014/main" id="{04A7437D-FF9C-7341-B13C-807EE65A630D}"/>
                </a:ext>
              </a:extLst>
            </p:cNvPr>
            <p:cNvSpPr/>
            <p:nvPr/>
          </p:nvSpPr>
          <p:spPr>
            <a:xfrm>
              <a:off x="4124597" y="3046180"/>
              <a:ext cx="438911" cy="246888"/>
            </a:xfrm>
            <a:custGeom>
              <a:avLst/>
              <a:gdLst>
                <a:gd name="connsiteX0" fmla="*/ 96555 w 154485"/>
                <a:gd name="connsiteY0" fmla="*/ 5745 h 86898"/>
                <a:gd name="connsiteX1" fmla="*/ 149659 w 154485"/>
                <a:gd name="connsiteY1" fmla="*/ 17332 h 86898"/>
                <a:gd name="connsiteX2" fmla="*/ 140970 w 154485"/>
                <a:gd name="connsiteY2" fmla="*/ 58206 h 86898"/>
                <a:gd name="connsiteX3" fmla="*/ 124234 w 154485"/>
                <a:gd name="connsiteY3" fmla="*/ 85241 h 86898"/>
                <a:gd name="connsiteX4" fmla="*/ 85612 w 154485"/>
                <a:gd name="connsiteY4" fmla="*/ 76873 h 86898"/>
                <a:gd name="connsiteX5" fmla="*/ 79497 w 154485"/>
                <a:gd name="connsiteY5" fmla="*/ 38895 h 86898"/>
                <a:gd name="connsiteX6" fmla="*/ 11266 w 154485"/>
                <a:gd name="connsiteY6" fmla="*/ 76873 h 86898"/>
                <a:gd name="connsiteX7" fmla="*/ 4829 w 154485"/>
                <a:gd name="connsiteY7" fmla="*/ 70758 h 86898"/>
                <a:gd name="connsiteX8" fmla="*/ 96555 w 154485"/>
                <a:gd name="connsiteY8" fmla="*/ 5745 h 8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85" h="86898">
                  <a:moveTo>
                    <a:pt x="96555" y="5745"/>
                  </a:moveTo>
                  <a:lnTo>
                    <a:pt x="149659" y="17332"/>
                  </a:lnTo>
                  <a:lnTo>
                    <a:pt x="140970" y="58206"/>
                  </a:lnTo>
                  <a:lnTo>
                    <a:pt x="124234" y="85241"/>
                  </a:lnTo>
                  <a:lnTo>
                    <a:pt x="85612" y="76873"/>
                  </a:lnTo>
                  <a:cubicBezTo>
                    <a:pt x="85612" y="76873"/>
                    <a:pt x="90118" y="45010"/>
                    <a:pt x="79497" y="38895"/>
                  </a:cubicBezTo>
                  <a:cubicBezTo>
                    <a:pt x="65658" y="31171"/>
                    <a:pt x="36048" y="49516"/>
                    <a:pt x="11266" y="76873"/>
                  </a:cubicBezTo>
                  <a:lnTo>
                    <a:pt x="4829" y="70758"/>
                  </a:lnTo>
                  <a:cubicBezTo>
                    <a:pt x="4507" y="70436"/>
                    <a:pt x="50853" y="-4232"/>
                    <a:pt x="96555" y="5745"/>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2" name="Freeform: Shape 1290">
              <a:extLst>
                <a:ext uri="{FF2B5EF4-FFF2-40B4-BE49-F238E27FC236}">
                  <a16:creationId xmlns:a16="http://schemas.microsoft.com/office/drawing/2014/main" id="{496E9F1D-E925-DC4E-8B41-68B05E46F0B1}"/>
                </a:ext>
              </a:extLst>
            </p:cNvPr>
            <p:cNvSpPr/>
            <p:nvPr/>
          </p:nvSpPr>
          <p:spPr>
            <a:xfrm>
              <a:off x="4965851"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3" name="Freeform: Shape 1291">
              <a:extLst>
                <a:ext uri="{FF2B5EF4-FFF2-40B4-BE49-F238E27FC236}">
                  <a16:creationId xmlns:a16="http://schemas.microsoft.com/office/drawing/2014/main" id="{82388F59-9615-AC42-B6A1-E91529F3E5E9}"/>
                </a:ext>
              </a:extLst>
            </p:cNvPr>
            <p:cNvSpPr/>
            <p:nvPr/>
          </p:nvSpPr>
          <p:spPr>
            <a:xfrm>
              <a:off x="4686043" y="3859861"/>
              <a:ext cx="246888" cy="27431"/>
            </a:xfrm>
            <a:custGeom>
              <a:avLst/>
              <a:gdLst>
                <a:gd name="connsiteX0" fmla="*/ 4828 w 86898"/>
                <a:gd name="connsiteY0" fmla="*/ 4828 h 9655"/>
                <a:gd name="connsiteX1" fmla="*/ 83680 w 86898"/>
                <a:gd name="connsiteY1" fmla="*/ 4828 h 9655"/>
              </a:gdLst>
              <a:ahLst/>
              <a:cxnLst>
                <a:cxn ang="0">
                  <a:pos x="connsiteX0" y="connsiteY0"/>
                </a:cxn>
                <a:cxn ang="0">
                  <a:pos x="connsiteX1" y="connsiteY1"/>
                </a:cxn>
              </a:cxnLst>
              <a:rect l="l" t="t" r="r" b="b"/>
              <a:pathLst>
                <a:path w="86898" h="9655">
                  <a:moveTo>
                    <a:pt x="4828" y="4828"/>
                  </a:moveTo>
                  <a:lnTo>
                    <a:pt x="836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4" name="Freeform: Shape 1292">
              <a:extLst>
                <a:ext uri="{FF2B5EF4-FFF2-40B4-BE49-F238E27FC236}">
                  <a16:creationId xmlns:a16="http://schemas.microsoft.com/office/drawing/2014/main" id="{89A69B48-94E6-C746-9934-44E94DAAAADA}"/>
                </a:ext>
              </a:extLst>
            </p:cNvPr>
            <p:cNvSpPr/>
            <p:nvPr/>
          </p:nvSpPr>
          <p:spPr>
            <a:xfrm>
              <a:off x="3996587" y="3859861"/>
              <a:ext cx="713233" cy="27431"/>
            </a:xfrm>
            <a:custGeom>
              <a:avLst/>
              <a:gdLst>
                <a:gd name="connsiteX0" fmla="*/ 4828 w 251038"/>
                <a:gd name="connsiteY0" fmla="*/ 4828 h 9655"/>
                <a:gd name="connsiteX1" fmla="*/ 247498 w 251038"/>
                <a:gd name="connsiteY1" fmla="*/ 4828 h 9655"/>
              </a:gdLst>
              <a:ahLst/>
              <a:cxnLst>
                <a:cxn ang="0">
                  <a:pos x="connsiteX0" y="connsiteY0"/>
                </a:cxn>
                <a:cxn ang="0">
                  <a:pos x="connsiteX1" y="connsiteY1"/>
                </a:cxn>
              </a:cxnLst>
              <a:rect l="l" t="t" r="r" b="b"/>
              <a:pathLst>
                <a:path w="251038" h="9655">
                  <a:moveTo>
                    <a:pt x="4828" y="4828"/>
                  </a:moveTo>
                  <a:lnTo>
                    <a:pt x="24749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5" name="Freeform: Shape 1293">
              <a:extLst>
                <a:ext uri="{FF2B5EF4-FFF2-40B4-BE49-F238E27FC236}">
                  <a16:creationId xmlns:a16="http://schemas.microsoft.com/office/drawing/2014/main" id="{D8505B2D-FEB1-734B-BFAF-4B9AB700E709}"/>
                </a:ext>
              </a:extLst>
            </p:cNvPr>
            <p:cNvSpPr/>
            <p:nvPr/>
          </p:nvSpPr>
          <p:spPr>
            <a:xfrm>
              <a:off x="3853940"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6" name="Freeform: Shape 1294">
              <a:extLst>
                <a:ext uri="{FF2B5EF4-FFF2-40B4-BE49-F238E27FC236}">
                  <a16:creationId xmlns:a16="http://schemas.microsoft.com/office/drawing/2014/main" id="{8359D6F3-B63B-264E-A863-20E4F099945E}"/>
                </a:ext>
              </a:extLst>
            </p:cNvPr>
            <p:cNvSpPr/>
            <p:nvPr/>
          </p:nvSpPr>
          <p:spPr>
            <a:xfrm>
              <a:off x="3916118" y="3450210"/>
              <a:ext cx="265176" cy="365761"/>
            </a:xfrm>
            <a:custGeom>
              <a:avLst/>
              <a:gdLst>
                <a:gd name="connsiteX0" fmla="*/ 89795 w 93334"/>
                <a:gd name="connsiteY0" fmla="*/ 126485 h 128737"/>
                <a:gd name="connsiteX1" fmla="*/ 43127 w 93334"/>
                <a:gd name="connsiteY1" fmla="*/ 29288 h 128737"/>
                <a:gd name="connsiteX2" fmla="*/ 4828 w 93334"/>
                <a:gd name="connsiteY2" fmla="*/ 4828 h 128737"/>
              </a:gdLst>
              <a:ahLst/>
              <a:cxnLst>
                <a:cxn ang="0">
                  <a:pos x="connsiteX0" y="connsiteY0"/>
                </a:cxn>
                <a:cxn ang="0">
                  <a:pos x="connsiteX1" y="connsiteY1"/>
                </a:cxn>
                <a:cxn ang="0">
                  <a:pos x="connsiteX2" y="connsiteY2"/>
                </a:cxn>
              </a:cxnLst>
              <a:rect l="l" t="t" r="r" b="b"/>
              <a:pathLst>
                <a:path w="93334" h="128737">
                  <a:moveTo>
                    <a:pt x="89795" y="126485"/>
                  </a:moveTo>
                  <a:lnTo>
                    <a:pt x="43127" y="29288"/>
                  </a:lnTo>
                  <a:cubicBezTo>
                    <a:pt x="27357" y="29288"/>
                    <a:pt x="12230" y="20276"/>
                    <a:pt x="4828" y="4828"/>
                  </a:cubicBez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7" name="Freeform: Shape 1295">
              <a:extLst>
                <a:ext uri="{FF2B5EF4-FFF2-40B4-BE49-F238E27FC236}">
                  <a16:creationId xmlns:a16="http://schemas.microsoft.com/office/drawing/2014/main" id="{5BC46F4E-FE56-4C43-872F-1D9939F5C5B6}"/>
                </a:ext>
              </a:extLst>
            </p:cNvPr>
            <p:cNvSpPr/>
            <p:nvPr/>
          </p:nvSpPr>
          <p:spPr>
            <a:xfrm>
              <a:off x="3904197" y="3276444"/>
              <a:ext cx="338327" cy="429768"/>
            </a:xfrm>
            <a:custGeom>
              <a:avLst/>
              <a:gdLst>
                <a:gd name="connsiteX0" fmla="*/ 9024 w 119082"/>
                <a:gd name="connsiteY0" fmla="*/ 66310 h 151266"/>
                <a:gd name="connsiteX1" fmla="*/ 17714 w 119082"/>
                <a:gd name="connsiteY1" fmla="*/ 17068 h 151266"/>
                <a:gd name="connsiteX2" fmla="*/ 32841 w 119082"/>
                <a:gd name="connsiteY2" fmla="*/ 48609 h 151266"/>
                <a:gd name="connsiteX3" fmla="*/ 57945 w 119082"/>
                <a:gd name="connsiteY3" fmla="*/ 36701 h 151266"/>
                <a:gd name="connsiteX4" fmla="*/ 42818 w 119082"/>
                <a:gd name="connsiteY4" fmla="*/ 5160 h 151266"/>
                <a:gd name="connsiteX5" fmla="*/ 86589 w 119082"/>
                <a:gd name="connsiteY5" fmla="*/ 29298 h 151266"/>
                <a:gd name="connsiteX6" fmla="*/ 81761 w 119082"/>
                <a:gd name="connsiteY6" fmla="*/ 74356 h 151266"/>
                <a:gd name="connsiteX7" fmla="*/ 116520 w 119082"/>
                <a:gd name="connsiteY7" fmla="*/ 146771 h 15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082" h="151266">
                  <a:moveTo>
                    <a:pt x="9024" y="66310"/>
                  </a:moveTo>
                  <a:cubicBezTo>
                    <a:pt x="978" y="49253"/>
                    <a:pt x="4840" y="29620"/>
                    <a:pt x="17714" y="17068"/>
                  </a:cubicBezTo>
                  <a:lnTo>
                    <a:pt x="32841" y="48609"/>
                  </a:lnTo>
                  <a:lnTo>
                    <a:pt x="57945" y="36701"/>
                  </a:lnTo>
                  <a:lnTo>
                    <a:pt x="42818" y="5160"/>
                  </a:lnTo>
                  <a:cubicBezTo>
                    <a:pt x="60519" y="2907"/>
                    <a:pt x="78543" y="12240"/>
                    <a:pt x="86589" y="29298"/>
                  </a:cubicBezTo>
                  <a:cubicBezTo>
                    <a:pt x="93991" y="44425"/>
                    <a:pt x="91416" y="62126"/>
                    <a:pt x="81761" y="74356"/>
                  </a:cubicBezTo>
                  <a:lnTo>
                    <a:pt x="116520" y="146771"/>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8" name="Freeform: Shape 1296">
              <a:extLst>
                <a:ext uri="{FF2B5EF4-FFF2-40B4-BE49-F238E27FC236}">
                  <a16:creationId xmlns:a16="http://schemas.microsoft.com/office/drawing/2014/main" id="{8FCE65BF-D318-EF40-89D0-6D0AF7DC504E}"/>
                </a:ext>
              </a:extLst>
            </p:cNvPr>
            <p:cNvSpPr/>
            <p:nvPr/>
          </p:nvSpPr>
          <p:spPr>
            <a:xfrm>
              <a:off x="4812231" y="3246655"/>
              <a:ext cx="210311" cy="438911"/>
            </a:xfrm>
            <a:custGeom>
              <a:avLst/>
              <a:gdLst>
                <a:gd name="connsiteX0" fmla="*/ 25104 w 74024"/>
                <a:gd name="connsiteY0" fmla="*/ 54266 h 154485"/>
                <a:gd name="connsiteX1" fmla="*/ 24138 w 74024"/>
                <a:gd name="connsiteY1" fmla="*/ 48794 h 154485"/>
                <a:gd name="connsiteX2" fmla="*/ 53426 w 74024"/>
                <a:gd name="connsiteY2" fmla="*/ 7598 h 154485"/>
                <a:gd name="connsiteX3" fmla="*/ 58898 w 74024"/>
                <a:gd name="connsiteY3" fmla="*/ 5023 h 154485"/>
                <a:gd name="connsiteX4" fmla="*/ 67265 w 74024"/>
                <a:gd name="connsiteY4" fmla="*/ 7920 h 154485"/>
                <a:gd name="connsiteX5" fmla="*/ 70162 w 74024"/>
                <a:gd name="connsiteY5" fmla="*/ 13391 h 154485"/>
                <a:gd name="connsiteX6" fmla="*/ 68231 w 74024"/>
                <a:gd name="connsiteY6" fmla="*/ 63599 h 154485"/>
                <a:gd name="connsiteX7" fmla="*/ 64047 w 74024"/>
                <a:gd name="connsiteY7" fmla="*/ 67461 h 154485"/>
                <a:gd name="connsiteX8" fmla="*/ 53426 w 74024"/>
                <a:gd name="connsiteY8" fmla="*/ 68749 h 154485"/>
                <a:gd name="connsiteX9" fmla="*/ 25426 w 74024"/>
                <a:gd name="connsiteY9" fmla="*/ 150497 h 154485"/>
                <a:gd name="connsiteX10" fmla="*/ 4828 w 74024"/>
                <a:gd name="connsiteY10" fmla="*/ 143417 h 154485"/>
                <a:gd name="connsiteX11" fmla="*/ 32828 w 74024"/>
                <a:gd name="connsiteY11" fmla="*/ 61668 h 154485"/>
                <a:gd name="connsiteX12" fmla="*/ 25104 w 74024"/>
                <a:gd name="connsiteY12" fmla="*/ 54266 h 15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024" h="154485">
                  <a:moveTo>
                    <a:pt x="25104" y="54266"/>
                  </a:moveTo>
                  <a:cubicBezTo>
                    <a:pt x="24138" y="53300"/>
                    <a:pt x="23173" y="51047"/>
                    <a:pt x="24138" y="48794"/>
                  </a:cubicBezTo>
                  <a:lnTo>
                    <a:pt x="53426" y="7598"/>
                  </a:lnTo>
                  <a:cubicBezTo>
                    <a:pt x="54392" y="5345"/>
                    <a:pt x="56645" y="4380"/>
                    <a:pt x="58898" y="5023"/>
                  </a:cubicBezTo>
                  <a:lnTo>
                    <a:pt x="67265" y="7920"/>
                  </a:lnTo>
                  <a:cubicBezTo>
                    <a:pt x="69518" y="8564"/>
                    <a:pt x="70806" y="11138"/>
                    <a:pt x="70162" y="13391"/>
                  </a:cubicBezTo>
                  <a:lnTo>
                    <a:pt x="68231" y="63599"/>
                  </a:lnTo>
                  <a:cubicBezTo>
                    <a:pt x="67587" y="66174"/>
                    <a:pt x="65334" y="67461"/>
                    <a:pt x="64047" y="67461"/>
                  </a:cubicBezTo>
                  <a:cubicBezTo>
                    <a:pt x="61472" y="67461"/>
                    <a:pt x="54070" y="66174"/>
                    <a:pt x="53426" y="68749"/>
                  </a:cubicBezTo>
                  <a:lnTo>
                    <a:pt x="25426" y="150497"/>
                  </a:lnTo>
                  <a:lnTo>
                    <a:pt x="4828" y="143417"/>
                  </a:lnTo>
                  <a:lnTo>
                    <a:pt x="32828" y="61668"/>
                  </a:lnTo>
                  <a:cubicBezTo>
                    <a:pt x="33794" y="59093"/>
                    <a:pt x="27035" y="55553"/>
                    <a:pt x="25104" y="5426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29" name="Freeform: Shape 1297">
              <a:extLst>
                <a:ext uri="{FF2B5EF4-FFF2-40B4-BE49-F238E27FC236}">
                  <a16:creationId xmlns:a16="http://schemas.microsoft.com/office/drawing/2014/main" id="{56238A50-0DA6-8143-9C97-2F6D60F2EB1C}"/>
                </a:ext>
              </a:extLst>
            </p:cNvPr>
            <p:cNvSpPr/>
            <p:nvPr/>
          </p:nvSpPr>
          <p:spPr>
            <a:xfrm>
              <a:off x="4714391" y="3630713"/>
              <a:ext cx="219457" cy="182880"/>
            </a:xfrm>
            <a:custGeom>
              <a:avLst/>
              <a:gdLst>
                <a:gd name="connsiteX0" fmla="*/ 61472 w 77242"/>
                <a:gd name="connsiteY0" fmla="*/ 60700 h 64368"/>
                <a:gd name="connsiteX1" fmla="*/ 73702 w 77242"/>
                <a:gd name="connsiteY1" fmla="*/ 24975 h 64368"/>
                <a:gd name="connsiteX2" fmla="*/ 70806 w 77242"/>
                <a:gd name="connsiteY2" fmla="*/ 19182 h 64368"/>
                <a:gd name="connsiteX3" fmla="*/ 28644 w 77242"/>
                <a:gd name="connsiteY3" fmla="*/ 5021 h 64368"/>
                <a:gd name="connsiteX4" fmla="*/ 22851 w 77242"/>
                <a:gd name="connsiteY4" fmla="*/ 7917 h 64368"/>
                <a:gd name="connsiteX5" fmla="*/ 4828 w 77242"/>
                <a:gd name="connsiteY5" fmla="*/ 61022 h 6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42" h="64368">
                  <a:moveTo>
                    <a:pt x="61472" y="60700"/>
                  </a:moveTo>
                  <a:lnTo>
                    <a:pt x="73702" y="24975"/>
                  </a:lnTo>
                  <a:cubicBezTo>
                    <a:pt x="74668" y="22722"/>
                    <a:pt x="73381" y="20147"/>
                    <a:pt x="70806" y="19182"/>
                  </a:cubicBezTo>
                  <a:lnTo>
                    <a:pt x="28644" y="5021"/>
                  </a:lnTo>
                  <a:cubicBezTo>
                    <a:pt x="26391" y="4377"/>
                    <a:pt x="23816" y="5343"/>
                    <a:pt x="22851" y="7917"/>
                  </a:cubicBezTo>
                  <a:lnTo>
                    <a:pt x="4828" y="6102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0" name="Freeform: Shape 1298">
              <a:extLst>
                <a:ext uri="{FF2B5EF4-FFF2-40B4-BE49-F238E27FC236}">
                  <a16:creationId xmlns:a16="http://schemas.microsoft.com/office/drawing/2014/main" id="{2985CEDE-5E60-E443-BC9D-1E4C885DE43B}"/>
                </a:ext>
              </a:extLst>
            </p:cNvPr>
            <p:cNvSpPr/>
            <p:nvPr/>
          </p:nvSpPr>
          <p:spPr>
            <a:xfrm>
              <a:off x="4592984" y="3105690"/>
              <a:ext cx="128015" cy="155449"/>
            </a:xfrm>
            <a:custGeom>
              <a:avLst/>
              <a:gdLst>
                <a:gd name="connsiteX0" fmla="*/ 13444 w 45058"/>
                <a:gd name="connsiteY0" fmla="*/ 46916 h 54713"/>
                <a:gd name="connsiteX1" fmla="*/ 31467 w 45058"/>
                <a:gd name="connsiteY1" fmla="*/ 50778 h 54713"/>
                <a:gd name="connsiteX2" fmla="*/ 40479 w 45058"/>
                <a:gd name="connsiteY2" fmla="*/ 8938 h 54713"/>
                <a:gd name="connsiteX3" fmla="*/ 22455 w 45058"/>
                <a:gd name="connsiteY3" fmla="*/ 5076 h 54713"/>
                <a:gd name="connsiteX4" fmla="*/ 9582 w 45058"/>
                <a:gd name="connsiteY4" fmla="*/ 13444 h 54713"/>
                <a:gd name="connsiteX5" fmla="*/ 5076 w 45058"/>
                <a:gd name="connsiteY5" fmla="*/ 34042 h 54713"/>
                <a:gd name="connsiteX6" fmla="*/ 13444 w 45058"/>
                <a:gd name="connsiteY6" fmla="*/ 46916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58" h="54713">
                  <a:moveTo>
                    <a:pt x="13444" y="46916"/>
                  </a:moveTo>
                  <a:lnTo>
                    <a:pt x="31467" y="50778"/>
                  </a:lnTo>
                  <a:lnTo>
                    <a:pt x="40479" y="8938"/>
                  </a:lnTo>
                  <a:lnTo>
                    <a:pt x="22455" y="5076"/>
                  </a:lnTo>
                  <a:cubicBezTo>
                    <a:pt x="16662" y="3788"/>
                    <a:pt x="10869" y="7650"/>
                    <a:pt x="9582" y="13444"/>
                  </a:cubicBezTo>
                  <a:lnTo>
                    <a:pt x="5076" y="34042"/>
                  </a:lnTo>
                  <a:cubicBezTo>
                    <a:pt x="3788" y="39835"/>
                    <a:pt x="7651" y="45628"/>
                    <a:pt x="13444" y="4691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431" name="Group 430">
            <a:extLst>
              <a:ext uri="{FF2B5EF4-FFF2-40B4-BE49-F238E27FC236}">
                <a16:creationId xmlns:a16="http://schemas.microsoft.com/office/drawing/2014/main" id="{21F46EC5-72AC-BE41-B63A-8ECD0A519291}"/>
              </a:ext>
            </a:extLst>
          </p:cNvPr>
          <p:cNvGrpSpPr>
            <a:grpSpLocks noChangeAspect="1"/>
          </p:cNvGrpSpPr>
          <p:nvPr/>
        </p:nvGrpSpPr>
        <p:grpSpPr>
          <a:xfrm>
            <a:off x="12237414" y="2940359"/>
            <a:ext cx="327769" cy="329184"/>
            <a:chOff x="3853940" y="3046180"/>
            <a:chExt cx="1239926" cy="1245279"/>
          </a:xfrm>
        </p:grpSpPr>
        <p:sp>
          <p:nvSpPr>
            <p:cNvPr id="432" name="Freeform: Shape 1268">
              <a:extLst>
                <a:ext uri="{FF2B5EF4-FFF2-40B4-BE49-F238E27FC236}">
                  <a16:creationId xmlns:a16="http://schemas.microsoft.com/office/drawing/2014/main" id="{9B0EFDD2-13E9-B944-A00F-CF184731C59B}"/>
                </a:ext>
              </a:extLst>
            </p:cNvPr>
            <p:cNvSpPr/>
            <p:nvPr/>
          </p:nvSpPr>
          <p:spPr>
            <a:xfrm>
              <a:off x="3853940" y="3315794"/>
              <a:ext cx="54865" cy="685799"/>
            </a:xfrm>
            <a:custGeom>
              <a:avLst/>
              <a:gdLst>
                <a:gd name="connsiteX0" fmla="*/ 4828 w 19310"/>
                <a:gd name="connsiteY0" fmla="*/ 238487 h 241383"/>
                <a:gd name="connsiteX1" fmla="*/ 4828 w 19310"/>
                <a:gd name="connsiteY1" fmla="*/ 4828 h 241383"/>
                <a:gd name="connsiteX2" fmla="*/ 16736 w 19310"/>
                <a:gd name="connsiteY2" fmla="*/ 4828 h 241383"/>
              </a:gdLst>
              <a:ahLst/>
              <a:cxnLst>
                <a:cxn ang="0">
                  <a:pos x="connsiteX0" y="connsiteY0"/>
                </a:cxn>
                <a:cxn ang="0">
                  <a:pos x="connsiteX1" y="connsiteY1"/>
                </a:cxn>
                <a:cxn ang="0">
                  <a:pos x="connsiteX2" y="connsiteY2"/>
                </a:cxn>
              </a:cxnLst>
              <a:rect l="l" t="t" r="r" b="b"/>
              <a:pathLst>
                <a:path w="19310" h="241383">
                  <a:moveTo>
                    <a:pt x="4828" y="238487"/>
                  </a:moveTo>
                  <a:lnTo>
                    <a:pt x="4828" y="4828"/>
                  </a:lnTo>
                  <a:lnTo>
                    <a:pt x="16736"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3" name="Freeform: Shape 1269">
              <a:extLst>
                <a:ext uri="{FF2B5EF4-FFF2-40B4-BE49-F238E27FC236}">
                  <a16:creationId xmlns:a16="http://schemas.microsoft.com/office/drawing/2014/main" id="{1A3789A4-E034-1F4C-BA92-16C388E29156}"/>
                </a:ext>
              </a:extLst>
            </p:cNvPr>
            <p:cNvSpPr/>
            <p:nvPr/>
          </p:nvSpPr>
          <p:spPr>
            <a:xfrm>
              <a:off x="3853940" y="4024453"/>
              <a:ext cx="27431" cy="128015"/>
            </a:xfrm>
            <a:custGeom>
              <a:avLst/>
              <a:gdLst>
                <a:gd name="connsiteX0" fmla="*/ 4828 w 9655"/>
                <a:gd name="connsiteY0" fmla="*/ 40552 h 45058"/>
                <a:gd name="connsiteX1" fmla="*/ 4828 w 9655"/>
                <a:gd name="connsiteY1" fmla="*/ 4828 h 45058"/>
              </a:gdLst>
              <a:ahLst/>
              <a:cxnLst>
                <a:cxn ang="0">
                  <a:pos x="connsiteX0" y="connsiteY0"/>
                </a:cxn>
                <a:cxn ang="0">
                  <a:pos x="connsiteX1" y="connsiteY1"/>
                </a:cxn>
              </a:cxnLst>
              <a:rect l="l" t="t" r="r" b="b"/>
              <a:pathLst>
                <a:path w="9655" h="45058">
                  <a:moveTo>
                    <a:pt x="4828" y="40552"/>
                  </a:moveTo>
                  <a:lnTo>
                    <a:pt x="482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4" name="Freeform: Shape 1270">
              <a:extLst>
                <a:ext uri="{FF2B5EF4-FFF2-40B4-BE49-F238E27FC236}">
                  <a16:creationId xmlns:a16="http://schemas.microsoft.com/office/drawing/2014/main" id="{DC4971C1-4829-FD49-9B52-C28618BA1983}"/>
                </a:ext>
              </a:extLst>
            </p:cNvPr>
            <p:cNvSpPr/>
            <p:nvPr/>
          </p:nvSpPr>
          <p:spPr>
            <a:xfrm>
              <a:off x="3853940" y="3550795"/>
              <a:ext cx="128015" cy="740664"/>
            </a:xfrm>
            <a:custGeom>
              <a:avLst/>
              <a:gdLst>
                <a:gd name="connsiteX0" fmla="*/ 40231 w 45058"/>
                <a:gd name="connsiteY0" fmla="*/ 4828 h 260694"/>
                <a:gd name="connsiteX1" fmla="*/ 40231 w 45058"/>
                <a:gd name="connsiteY1" fmla="*/ 255866 h 260694"/>
                <a:gd name="connsiteX2" fmla="*/ 4828 w 45058"/>
                <a:gd name="connsiteY2" fmla="*/ 255866 h 260694"/>
                <a:gd name="connsiteX3" fmla="*/ 4828 w 45058"/>
                <a:gd name="connsiteY3" fmla="*/ 224004 h 260694"/>
              </a:gdLst>
              <a:ahLst/>
              <a:cxnLst>
                <a:cxn ang="0">
                  <a:pos x="connsiteX0" y="connsiteY0"/>
                </a:cxn>
                <a:cxn ang="0">
                  <a:pos x="connsiteX1" y="connsiteY1"/>
                </a:cxn>
                <a:cxn ang="0">
                  <a:pos x="connsiteX2" y="connsiteY2"/>
                </a:cxn>
                <a:cxn ang="0">
                  <a:pos x="connsiteX3" y="connsiteY3"/>
                </a:cxn>
              </a:cxnLst>
              <a:rect l="l" t="t" r="r" b="b"/>
              <a:pathLst>
                <a:path w="45058" h="260694">
                  <a:moveTo>
                    <a:pt x="40231" y="4828"/>
                  </a:moveTo>
                  <a:lnTo>
                    <a:pt x="40231" y="255866"/>
                  </a:lnTo>
                  <a:lnTo>
                    <a:pt x="4828" y="255866"/>
                  </a:lnTo>
                  <a:lnTo>
                    <a:pt x="4828" y="22400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5" name="Freeform: Shape 1271">
              <a:extLst>
                <a:ext uri="{FF2B5EF4-FFF2-40B4-BE49-F238E27FC236}">
                  <a16:creationId xmlns:a16="http://schemas.microsoft.com/office/drawing/2014/main" id="{D10BAE43-64C9-1749-8165-8BEB17A171E6}"/>
                </a:ext>
              </a:extLst>
            </p:cNvPr>
            <p:cNvSpPr/>
            <p:nvPr/>
          </p:nvSpPr>
          <p:spPr>
            <a:xfrm>
              <a:off x="4965851" y="3315794"/>
              <a:ext cx="128015" cy="969264"/>
            </a:xfrm>
            <a:custGeom>
              <a:avLst/>
              <a:gdLst>
                <a:gd name="connsiteX0" fmla="*/ 30575 w 45058"/>
                <a:gd name="connsiteY0" fmla="*/ 4828 h 341155"/>
                <a:gd name="connsiteX1" fmla="*/ 40231 w 45058"/>
                <a:gd name="connsiteY1" fmla="*/ 4828 h 341155"/>
                <a:gd name="connsiteX2" fmla="*/ 40231 w 45058"/>
                <a:gd name="connsiteY2" fmla="*/ 338580 h 341155"/>
                <a:gd name="connsiteX3" fmla="*/ 4828 w 45058"/>
                <a:gd name="connsiteY3" fmla="*/ 338580 h 341155"/>
                <a:gd name="connsiteX4" fmla="*/ 4828 w 45058"/>
                <a:gd name="connsiteY4" fmla="*/ 73702 h 34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58" h="341155">
                  <a:moveTo>
                    <a:pt x="30575" y="4828"/>
                  </a:moveTo>
                  <a:lnTo>
                    <a:pt x="40231" y="4828"/>
                  </a:lnTo>
                  <a:lnTo>
                    <a:pt x="40231" y="338580"/>
                  </a:lnTo>
                  <a:lnTo>
                    <a:pt x="4828" y="338580"/>
                  </a:lnTo>
                  <a:lnTo>
                    <a:pt x="4828" y="7370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6" name="Freeform: Shape 1272">
              <a:extLst>
                <a:ext uri="{FF2B5EF4-FFF2-40B4-BE49-F238E27FC236}">
                  <a16:creationId xmlns:a16="http://schemas.microsoft.com/office/drawing/2014/main" id="{5FD0D8F3-3718-A442-A7A5-9B6E0AFD3C6F}"/>
                </a:ext>
              </a:extLst>
            </p:cNvPr>
            <p:cNvSpPr/>
            <p:nvPr/>
          </p:nvSpPr>
          <p:spPr>
            <a:xfrm>
              <a:off x="4812231" y="4222877"/>
              <a:ext cx="137161" cy="27431"/>
            </a:xfrm>
            <a:custGeom>
              <a:avLst/>
              <a:gdLst>
                <a:gd name="connsiteX0" fmla="*/ 4828 w 48276"/>
                <a:gd name="connsiteY0" fmla="*/ 4828 h 9655"/>
                <a:gd name="connsiteX1" fmla="*/ 44736 w 48276"/>
                <a:gd name="connsiteY1" fmla="*/ 4828 h 9655"/>
              </a:gdLst>
              <a:ahLst/>
              <a:cxnLst>
                <a:cxn ang="0">
                  <a:pos x="connsiteX0" y="connsiteY0"/>
                </a:cxn>
                <a:cxn ang="0">
                  <a:pos x="connsiteX1" y="connsiteY1"/>
                </a:cxn>
              </a:cxnLst>
              <a:rect l="l" t="t" r="r" b="b"/>
              <a:pathLst>
                <a:path w="48276" h="9655">
                  <a:moveTo>
                    <a:pt x="4828" y="4828"/>
                  </a:moveTo>
                  <a:lnTo>
                    <a:pt x="4473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7" name="Freeform: Shape 1273">
              <a:extLst>
                <a:ext uri="{FF2B5EF4-FFF2-40B4-BE49-F238E27FC236}">
                  <a16:creationId xmlns:a16="http://schemas.microsoft.com/office/drawing/2014/main" id="{E50DFC21-AE31-FF4F-8E8C-C4390174485B}"/>
                </a:ext>
              </a:extLst>
            </p:cNvPr>
            <p:cNvSpPr/>
            <p:nvPr/>
          </p:nvSpPr>
          <p:spPr>
            <a:xfrm>
              <a:off x="4641238" y="4222877"/>
              <a:ext cx="137161" cy="27431"/>
            </a:xfrm>
            <a:custGeom>
              <a:avLst/>
              <a:gdLst>
                <a:gd name="connsiteX0" fmla="*/ 4828 w 48276"/>
                <a:gd name="connsiteY0" fmla="*/ 4828 h 9655"/>
                <a:gd name="connsiteX1" fmla="*/ 45380 w 48276"/>
                <a:gd name="connsiteY1" fmla="*/ 4828 h 9655"/>
              </a:gdLst>
              <a:ahLst/>
              <a:cxnLst>
                <a:cxn ang="0">
                  <a:pos x="connsiteX0" y="connsiteY0"/>
                </a:cxn>
                <a:cxn ang="0">
                  <a:pos x="connsiteX1" y="connsiteY1"/>
                </a:cxn>
              </a:cxnLst>
              <a:rect l="l" t="t" r="r" b="b"/>
              <a:pathLst>
                <a:path w="48276" h="9655">
                  <a:moveTo>
                    <a:pt x="4828" y="4828"/>
                  </a:moveTo>
                  <a:lnTo>
                    <a:pt x="453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8" name="Freeform: Shape 1274">
              <a:extLst>
                <a:ext uri="{FF2B5EF4-FFF2-40B4-BE49-F238E27FC236}">
                  <a16:creationId xmlns:a16="http://schemas.microsoft.com/office/drawing/2014/main" id="{EC67CAE5-2056-394A-964E-EE5B58629A93}"/>
                </a:ext>
              </a:extLst>
            </p:cNvPr>
            <p:cNvSpPr/>
            <p:nvPr/>
          </p:nvSpPr>
          <p:spPr>
            <a:xfrm>
              <a:off x="3994757" y="4222877"/>
              <a:ext cx="630937" cy="27431"/>
            </a:xfrm>
            <a:custGeom>
              <a:avLst/>
              <a:gdLst>
                <a:gd name="connsiteX0" fmla="*/ 4828 w 222072"/>
                <a:gd name="connsiteY0" fmla="*/ 4828 h 9655"/>
                <a:gd name="connsiteX1" fmla="*/ 219176 w 222072"/>
                <a:gd name="connsiteY1" fmla="*/ 4828 h 9655"/>
              </a:gdLst>
              <a:ahLst/>
              <a:cxnLst>
                <a:cxn ang="0">
                  <a:pos x="connsiteX0" y="connsiteY0"/>
                </a:cxn>
                <a:cxn ang="0">
                  <a:pos x="connsiteX1" y="connsiteY1"/>
                </a:cxn>
              </a:cxnLst>
              <a:rect l="l" t="t" r="r" b="b"/>
              <a:pathLst>
                <a:path w="222072" h="9655">
                  <a:moveTo>
                    <a:pt x="4828" y="4828"/>
                  </a:moveTo>
                  <a:lnTo>
                    <a:pt x="219176"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39" name="Freeform: Shape 1275">
              <a:extLst>
                <a:ext uri="{FF2B5EF4-FFF2-40B4-BE49-F238E27FC236}">
                  <a16:creationId xmlns:a16="http://schemas.microsoft.com/office/drawing/2014/main" id="{66FACF87-1E1B-0746-8B1E-A5D9AA2C5DDF}"/>
                </a:ext>
              </a:extLst>
            </p:cNvPr>
            <p:cNvSpPr/>
            <p:nvPr/>
          </p:nvSpPr>
          <p:spPr>
            <a:xfrm>
              <a:off x="4658612" y="3383458"/>
              <a:ext cx="201169" cy="27431"/>
            </a:xfrm>
            <a:custGeom>
              <a:avLst/>
              <a:gdLst>
                <a:gd name="connsiteX0" fmla="*/ 4828 w 70805"/>
                <a:gd name="connsiteY0" fmla="*/ 4828 h 9655"/>
                <a:gd name="connsiteX1" fmla="*/ 68875 w 70805"/>
                <a:gd name="connsiteY1" fmla="*/ 4828 h 9655"/>
              </a:gdLst>
              <a:ahLst/>
              <a:cxnLst>
                <a:cxn ang="0">
                  <a:pos x="connsiteX0" y="connsiteY0"/>
                </a:cxn>
                <a:cxn ang="0">
                  <a:pos x="connsiteX1" y="connsiteY1"/>
                </a:cxn>
              </a:cxnLst>
              <a:rect l="l" t="t" r="r" b="b"/>
              <a:pathLst>
                <a:path w="70805" h="9655">
                  <a:moveTo>
                    <a:pt x="4828" y="4828"/>
                  </a:moveTo>
                  <a:lnTo>
                    <a:pt x="68875"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0" name="Freeform: Shape 1276">
              <a:extLst>
                <a:ext uri="{FF2B5EF4-FFF2-40B4-BE49-F238E27FC236}">
                  <a16:creationId xmlns:a16="http://schemas.microsoft.com/office/drawing/2014/main" id="{3F94C4B6-B1BD-3A4C-8C56-43AB1DFEA12F}"/>
                </a:ext>
              </a:extLst>
            </p:cNvPr>
            <p:cNvSpPr/>
            <p:nvPr/>
          </p:nvSpPr>
          <p:spPr>
            <a:xfrm>
              <a:off x="4172152" y="3383458"/>
              <a:ext cx="146304" cy="27431"/>
            </a:xfrm>
            <a:custGeom>
              <a:avLst/>
              <a:gdLst>
                <a:gd name="connsiteX0" fmla="*/ 4828 w 51495"/>
                <a:gd name="connsiteY0" fmla="*/ 4828 h 9655"/>
                <a:gd name="connsiteX1" fmla="*/ 47311 w 51495"/>
                <a:gd name="connsiteY1" fmla="*/ 4828 h 9655"/>
              </a:gdLst>
              <a:ahLst/>
              <a:cxnLst>
                <a:cxn ang="0">
                  <a:pos x="connsiteX0" y="connsiteY0"/>
                </a:cxn>
                <a:cxn ang="0">
                  <a:pos x="connsiteX1" y="connsiteY1"/>
                </a:cxn>
              </a:cxnLst>
              <a:rect l="l" t="t" r="r" b="b"/>
              <a:pathLst>
                <a:path w="51495" h="9655">
                  <a:moveTo>
                    <a:pt x="4828" y="4828"/>
                  </a:moveTo>
                  <a:lnTo>
                    <a:pt x="4731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1" name="Freeform: Shape 1277">
              <a:extLst>
                <a:ext uri="{FF2B5EF4-FFF2-40B4-BE49-F238E27FC236}">
                  <a16:creationId xmlns:a16="http://schemas.microsoft.com/office/drawing/2014/main" id="{6A12E9BF-6E3D-B244-BF4F-52A806FCF85C}"/>
                </a:ext>
              </a:extLst>
            </p:cNvPr>
            <p:cNvSpPr/>
            <p:nvPr/>
          </p:nvSpPr>
          <p:spPr>
            <a:xfrm>
              <a:off x="4666842" y="3463924"/>
              <a:ext cx="201169" cy="27431"/>
            </a:xfrm>
            <a:custGeom>
              <a:avLst/>
              <a:gdLst>
                <a:gd name="connsiteX0" fmla="*/ 4828 w 70805"/>
                <a:gd name="connsiteY0" fmla="*/ 4828 h 9655"/>
                <a:gd name="connsiteX1" fmla="*/ 68231 w 70805"/>
                <a:gd name="connsiteY1" fmla="*/ 4828 h 9655"/>
              </a:gdLst>
              <a:ahLst/>
              <a:cxnLst>
                <a:cxn ang="0">
                  <a:pos x="connsiteX0" y="connsiteY0"/>
                </a:cxn>
                <a:cxn ang="0">
                  <a:pos x="connsiteX1" y="connsiteY1"/>
                </a:cxn>
              </a:cxnLst>
              <a:rect l="l" t="t" r="r" b="b"/>
              <a:pathLst>
                <a:path w="70805" h="9655">
                  <a:moveTo>
                    <a:pt x="4828" y="4828"/>
                  </a:moveTo>
                  <a:lnTo>
                    <a:pt x="68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2" name="Freeform: Shape 1278">
              <a:extLst>
                <a:ext uri="{FF2B5EF4-FFF2-40B4-BE49-F238E27FC236}">
                  <a16:creationId xmlns:a16="http://schemas.microsoft.com/office/drawing/2014/main" id="{7B2FD604-4B7B-3D43-9228-1A7FD2607A04}"/>
                </a:ext>
              </a:extLst>
            </p:cNvPr>
            <p:cNvSpPr/>
            <p:nvPr/>
          </p:nvSpPr>
          <p:spPr>
            <a:xfrm>
              <a:off x="4441899" y="3463924"/>
              <a:ext cx="54865" cy="27431"/>
            </a:xfrm>
            <a:custGeom>
              <a:avLst/>
              <a:gdLst>
                <a:gd name="connsiteX0" fmla="*/ 4828 w 19310"/>
                <a:gd name="connsiteY0" fmla="*/ 4828 h 9655"/>
                <a:gd name="connsiteX1" fmla="*/ 17058 w 19310"/>
                <a:gd name="connsiteY1" fmla="*/ 4828 h 9655"/>
              </a:gdLst>
              <a:ahLst/>
              <a:cxnLst>
                <a:cxn ang="0">
                  <a:pos x="connsiteX0" y="connsiteY0"/>
                </a:cxn>
                <a:cxn ang="0">
                  <a:pos x="connsiteX1" y="connsiteY1"/>
                </a:cxn>
              </a:cxnLst>
              <a:rect l="l" t="t" r="r" b="b"/>
              <a:pathLst>
                <a:path w="19310" h="9655">
                  <a:moveTo>
                    <a:pt x="4828" y="4828"/>
                  </a:moveTo>
                  <a:lnTo>
                    <a:pt x="1705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3" name="Freeform: Shape 1279">
              <a:extLst>
                <a:ext uri="{FF2B5EF4-FFF2-40B4-BE49-F238E27FC236}">
                  <a16:creationId xmlns:a16="http://schemas.microsoft.com/office/drawing/2014/main" id="{C87C00C9-D7DD-0449-B635-D038AF85E590}"/>
                </a:ext>
              </a:extLst>
            </p:cNvPr>
            <p:cNvSpPr/>
            <p:nvPr/>
          </p:nvSpPr>
          <p:spPr>
            <a:xfrm>
              <a:off x="4161179" y="3463924"/>
              <a:ext cx="146304" cy="27431"/>
            </a:xfrm>
            <a:custGeom>
              <a:avLst/>
              <a:gdLst>
                <a:gd name="connsiteX0" fmla="*/ 4828 w 51495"/>
                <a:gd name="connsiteY0" fmla="*/ 4828 h 9655"/>
                <a:gd name="connsiteX1" fmla="*/ 46667 w 51495"/>
                <a:gd name="connsiteY1" fmla="*/ 4828 h 9655"/>
              </a:gdLst>
              <a:ahLst/>
              <a:cxnLst>
                <a:cxn ang="0">
                  <a:pos x="connsiteX0" y="connsiteY0"/>
                </a:cxn>
                <a:cxn ang="0">
                  <a:pos x="connsiteX1" y="connsiteY1"/>
                </a:cxn>
              </a:cxnLst>
              <a:rect l="l" t="t" r="r" b="b"/>
              <a:pathLst>
                <a:path w="51495" h="9655">
                  <a:moveTo>
                    <a:pt x="4828" y="4828"/>
                  </a:moveTo>
                  <a:lnTo>
                    <a:pt x="46667"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4" name="Freeform: Shape 1280">
              <a:extLst>
                <a:ext uri="{FF2B5EF4-FFF2-40B4-BE49-F238E27FC236}">
                  <a16:creationId xmlns:a16="http://schemas.microsoft.com/office/drawing/2014/main" id="{9AE199B9-43EA-A540-9C97-CCA89385E605}"/>
                </a:ext>
              </a:extLst>
            </p:cNvPr>
            <p:cNvSpPr/>
            <p:nvPr/>
          </p:nvSpPr>
          <p:spPr>
            <a:xfrm>
              <a:off x="4509563" y="3473070"/>
              <a:ext cx="73153" cy="27431"/>
            </a:xfrm>
            <a:custGeom>
              <a:avLst/>
              <a:gdLst>
                <a:gd name="connsiteX0" fmla="*/ 23495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495"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5" name="Freeform: Shape 1281">
              <a:extLst>
                <a:ext uri="{FF2B5EF4-FFF2-40B4-BE49-F238E27FC236}">
                  <a16:creationId xmlns:a16="http://schemas.microsoft.com/office/drawing/2014/main" id="{7FE9A2B5-8D9D-7C4B-B2E7-545956A52407}"/>
                </a:ext>
              </a:extLst>
            </p:cNvPr>
            <p:cNvSpPr/>
            <p:nvPr/>
          </p:nvSpPr>
          <p:spPr>
            <a:xfrm>
              <a:off x="4518709" y="3559023"/>
              <a:ext cx="73153" cy="27431"/>
            </a:xfrm>
            <a:custGeom>
              <a:avLst/>
              <a:gdLst>
                <a:gd name="connsiteX0" fmla="*/ 23817 w 25747"/>
                <a:gd name="connsiteY0" fmla="*/ 4828 h 9655"/>
                <a:gd name="connsiteX1" fmla="*/ 4828 w 25747"/>
                <a:gd name="connsiteY1" fmla="*/ 7081 h 9655"/>
              </a:gdLst>
              <a:ahLst/>
              <a:cxnLst>
                <a:cxn ang="0">
                  <a:pos x="connsiteX0" y="connsiteY0"/>
                </a:cxn>
                <a:cxn ang="0">
                  <a:pos x="connsiteX1" y="connsiteY1"/>
                </a:cxn>
              </a:cxnLst>
              <a:rect l="l" t="t" r="r" b="b"/>
              <a:pathLst>
                <a:path w="25747" h="9655">
                  <a:moveTo>
                    <a:pt x="23817" y="4828"/>
                  </a:moveTo>
                  <a:lnTo>
                    <a:pt x="4828" y="7081"/>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6" name="Freeform: Shape 1282">
              <a:extLst>
                <a:ext uri="{FF2B5EF4-FFF2-40B4-BE49-F238E27FC236}">
                  <a16:creationId xmlns:a16="http://schemas.microsoft.com/office/drawing/2014/main" id="{AA4D9B05-9504-464D-8ED2-69C1E477658E}"/>
                </a:ext>
              </a:extLst>
            </p:cNvPr>
            <p:cNvSpPr/>
            <p:nvPr/>
          </p:nvSpPr>
          <p:spPr>
            <a:xfrm>
              <a:off x="4527852" y="364589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7" name="Freeform: Shape 1283">
              <a:extLst>
                <a:ext uri="{FF2B5EF4-FFF2-40B4-BE49-F238E27FC236}">
                  <a16:creationId xmlns:a16="http://schemas.microsoft.com/office/drawing/2014/main" id="{C9F9952B-1B82-EE47-A5CB-78581AAE1B3D}"/>
                </a:ext>
              </a:extLst>
            </p:cNvPr>
            <p:cNvSpPr/>
            <p:nvPr/>
          </p:nvSpPr>
          <p:spPr>
            <a:xfrm>
              <a:off x="4536997" y="3732760"/>
              <a:ext cx="73153" cy="27431"/>
            </a:xfrm>
            <a:custGeom>
              <a:avLst/>
              <a:gdLst>
                <a:gd name="connsiteX0" fmla="*/ 23817 w 25747"/>
                <a:gd name="connsiteY0" fmla="*/ 4828 h 9655"/>
                <a:gd name="connsiteX1" fmla="*/ 4828 w 25747"/>
                <a:gd name="connsiteY1" fmla="*/ 6759 h 9655"/>
              </a:gdLst>
              <a:ahLst/>
              <a:cxnLst>
                <a:cxn ang="0">
                  <a:pos x="connsiteX0" y="connsiteY0"/>
                </a:cxn>
                <a:cxn ang="0">
                  <a:pos x="connsiteX1" y="connsiteY1"/>
                </a:cxn>
              </a:cxnLst>
              <a:rect l="l" t="t" r="r" b="b"/>
              <a:pathLst>
                <a:path w="25747" h="9655">
                  <a:moveTo>
                    <a:pt x="23817" y="4828"/>
                  </a:moveTo>
                  <a:lnTo>
                    <a:pt x="4828" y="6759"/>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8" name="Freeform: Shape 1284">
              <a:extLst>
                <a:ext uri="{FF2B5EF4-FFF2-40B4-BE49-F238E27FC236}">
                  <a16:creationId xmlns:a16="http://schemas.microsoft.com/office/drawing/2014/main" id="{73735CFA-AC7E-E74A-9A86-6EB5158A707C}"/>
                </a:ext>
              </a:extLst>
            </p:cNvPr>
            <p:cNvSpPr/>
            <p:nvPr/>
          </p:nvSpPr>
          <p:spPr>
            <a:xfrm>
              <a:off x="4494934" y="3356027"/>
              <a:ext cx="210311" cy="457199"/>
            </a:xfrm>
            <a:custGeom>
              <a:avLst/>
              <a:gdLst>
                <a:gd name="connsiteX0" fmla="*/ 20598 w 74024"/>
                <a:gd name="connsiteY0" fmla="*/ 157382 h 160922"/>
                <a:gd name="connsiteX1" fmla="*/ 4828 w 74024"/>
                <a:gd name="connsiteY1" fmla="*/ 9977 h 160922"/>
                <a:gd name="connsiteX2" fmla="*/ 53104 w 74024"/>
                <a:gd name="connsiteY2" fmla="*/ 4828 h 160922"/>
                <a:gd name="connsiteX3" fmla="*/ 69197 w 74024"/>
                <a:gd name="connsiteY3" fmla="*/ 155773 h 160922"/>
              </a:gdLst>
              <a:ahLst/>
              <a:cxnLst>
                <a:cxn ang="0">
                  <a:pos x="connsiteX0" y="connsiteY0"/>
                </a:cxn>
                <a:cxn ang="0">
                  <a:pos x="connsiteX1" y="connsiteY1"/>
                </a:cxn>
                <a:cxn ang="0">
                  <a:pos x="connsiteX2" y="connsiteY2"/>
                </a:cxn>
                <a:cxn ang="0">
                  <a:pos x="connsiteX3" y="connsiteY3"/>
                </a:cxn>
              </a:cxnLst>
              <a:rect l="l" t="t" r="r" b="b"/>
              <a:pathLst>
                <a:path w="74024" h="160922">
                  <a:moveTo>
                    <a:pt x="20598" y="157382"/>
                  </a:moveTo>
                  <a:lnTo>
                    <a:pt x="4828" y="9977"/>
                  </a:lnTo>
                  <a:lnTo>
                    <a:pt x="53104" y="4828"/>
                  </a:lnTo>
                  <a:lnTo>
                    <a:pt x="69197" y="155773"/>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49" name="Freeform: Shape 1285">
              <a:extLst>
                <a:ext uri="{FF2B5EF4-FFF2-40B4-BE49-F238E27FC236}">
                  <a16:creationId xmlns:a16="http://schemas.microsoft.com/office/drawing/2014/main" id="{75C2013B-CCEF-104E-AEDA-1586D8141B73}"/>
                </a:ext>
              </a:extLst>
            </p:cNvPr>
            <p:cNvSpPr/>
            <p:nvPr/>
          </p:nvSpPr>
          <p:spPr>
            <a:xfrm>
              <a:off x="4349546" y="3267330"/>
              <a:ext cx="137161" cy="548641"/>
            </a:xfrm>
            <a:custGeom>
              <a:avLst/>
              <a:gdLst>
                <a:gd name="connsiteX0" fmla="*/ 4828 w 48276"/>
                <a:gd name="connsiteY0" fmla="*/ 190854 h 193106"/>
                <a:gd name="connsiteX1" fmla="*/ 45058 w 48276"/>
                <a:gd name="connsiteY1" fmla="*/ 4828 h 193106"/>
              </a:gdLst>
              <a:ahLst/>
              <a:cxnLst>
                <a:cxn ang="0">
                  <a:pos x="connsiteX0" y="connsiteY0"/>
                </a:cxn>
                <a:cxn ang="0">
                  <a:pos x="connsiteX1" y="connsiteY1"/>
                </a:cxn>
              </a:cxnLst>
              <a:rect l="l" t="t" r="r" b="b"/>
              <a:pathLst>
                <a:path w="48276" h="193106">
                  <a:moveTo>
                    <a:pt x="4828" y="190854"/>
                  </a:moveTo>
                  <a:lnTo>
                    <a:pt x="4505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0" name="Freeform: Shape 1286">
              <a:extLst>
                <a:ext uri="{FF2B5EF4-FFF2-40B4-BE49-F238E27FC236}">
                  <a16:creationId xmlns:a16="http://schemas.microsoft.com/office/drawing/2014/main" id="{843A1C5A-F3A7-C844-BF19-0BE9FF1433B8}"/>
                </a:ext>
              </a:extLst>
            </p:cNvPr>
            <p:cNvSpPr/>
            <p:nvPr/>
          </p:nvSpPr>
          <p:spPr>
            <a:xfrm>
              <a:off x="4236159" y="3246297"/>
              <a:ext cx="137161" cy="566929"/>
            </a:xfrm>
            <a:custGeom>
              <a:avLst/>
              <a:gdLst>
                <a:gd name="connsiteX0" fmla="*/ 46346 w 48276"/>
                <a:gd name="connsiteY0" fmla="*/ 4828 h 199543"/>
                <a:gd name="connsiteX1" fmla="*/ 4828 w 48276"/>
                <a:gd name="connsiteY1" fmla="*/ 196003 h 199543"/>
              </a:gdLst>
              <a:ahLst/>
              <a:cxnLst>
                <a:cxn ang="0">
                  <a:pos x="connsiteX0" y="connsiteY0"/>
                </a:cxn>
                <a:cxn ang="0">
                  <a:pos x="connsiteX1" y="connsiteY1"/>
                </a:cxn>
              </a:cxnLst>
              <a:rect l="l" t="t" r="r" b="b"/>
              <a:pathLst>
                <a:path w="48276" h="199543">
                  <a:moveTo>
                    <a:pt x="46346" y="4828"/>
                  </a:moveTo>
                  <a:lnTo>
                    <a:pt x="4828" y="196003"/>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1" name="Freeform: Shape 1287">
              <a:extLst>
                <a:ext uri="{FF2B5EF4-FFF2-40B4-BE49-F238E27FC236}">
                  <a16:creationId xmlns:a16="http://schemas.microsoft.com/office/drawing/2014/main" id="{3E6C4FEE-CD8A-5B49-BF27-6AD5E1118C06}"/>
                </a:ext>
              </a:extLst>
            </p:cNvPr>
            <p:cNvSpPr/>
            <p:nvPr/>
          </p:nvSpPr>
          <p:spPr>
            <a:xfrm>
              <a:off x="4537912" y="3090851"/>
              <a:ext cx="118873" cy="54865"/>
            </a:xfrm>
            <a:custGeom>
              <a:avLst/>
              <a:gdLst>
                <a:gd name="connsiteX0" fmla="*/ 4828 w 41839"/>
                <a:gd name="connsiteY0" fmla="*/ 4828 h 19310"/>
                <a:gd name="connsiteX1" fmla="*/ 19954 w 41839"/>
                <a:gd name="connsiteY1" fmla="*/ 13839 h 19310"/>
                <a:gd name="connsiteX2" fmla="*/ 37656 w 41839"/>
                <a:gd name="connsiteY2" fmla="*/ 11908 h 19310"/>
              </a:gdLst>
              <a:ahLst/>
              <a:cxnLst>
                <a:cxn ang="0">
                  <a:pos x="connsiteX0" y="connsiteY0"/>
                </a:cxn>
                <a:cxn ang="0">
                  <a:pos x="connsiteX1" y="connsiteY1"/>
                </a:cxn>
                <a:cxn ang="0">
                  <a:pos x="connsiteX2" y="connsiteY2"/>
                </a:cxn>
              </a:cxnLst>
              <a:rect l="l" t="t" r="r" b="b"/>
              <a:pathLst>
                <a:path w="41839" h="19310">
                  <a:moveTo>
                    <a:pt x="4828" y="4828"/>
                  </a:moveTo>
                  <a:cubicBezTo>
                    <a:pt x="8368" y="9012"/>
                    <a:pt x="13839" y="12552"/>
                    <a:pt x="19954" y="13839"/>
                  </a:cubicBezTo>
                  <a:cubicBezTo>
                    <a:pt x="26069" y="15127"/>
                    <a:pt x="32506" y="14483"/>
                    <a:pt x="37656" y="1190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2" name="Freeform: Shape 1288">
              <a:extLst>
                <a:ext uri="{FF2B5EF4-FFF2-40B4-BE49-F238E27FC236}">
                  <a16:creationId xmlns:a16="http://schemas.microsoft.com/office/drawing/2014/main" id="{A2DCF3DB-E67F-2440-B0E7-702F7F30AC35}"/>
                </a:ext>
              </a:extLst>
            </p:cNvPr>
            <p:cNvSpPr/>
            <p:nvPr/>
          </p:nvSpPr>
          <p:spPr>
            <a:xfrm>
              <a:off x="4517794" y="3181591"/>
              <a:ext cx="109727" cy="45719"/>
            </a:xfrm>
            <a:custGeom>
              <a:avLst/>
              <a:gdLst>
                <a:gd name="connsiteX0" fmla="*/ 35081 w 38621"/>
                <a:gd name="connsiteY0" fmla="*/ 14085 h 16092"/>
                <a:gd name="connsiteX1" fmla="*/ 21242 w 38621"/>
                <a:gd name="connsiteY1" fmla="*/ 5395 h 16092"/>
                <a:gd name="connsiteX2" fmla="*/ 4828 w 38621"/>
                <a:gd name="connsiteY2" fmla="*/ 7648 h 16092"/>
              </a:gdLst>
              <a:ahLst/>
              <a:cxnLst>
                <a:cxn ang="0">
                  <a:pos x="connsiteX0" y="connsiteY0"/>
                </a:cxn>
                <a:cxn ang="0">
                  <a:pos x="connsiteX1" y="connsiteY1"/>
                </a:cxn>
                <a:cxn ang="0">
                  <a:pos x="connsiteX2" y="connsiteY2"/>
                </a:cxn>
              </a:cxnLst>
              <a:rect l="l" t="t" r="r" b="b"/>
              <a:pathLst>
                <a:path w="38621" h="16092">
                  <a:moveTo>
                    <a:pt x="35081" y="14085"/>
                  </a:moveTo>
                  <a:cubicBezTo>
                    <a:pt x="31863" y="9901"/>
                    <a:pt x="27035" y="6683"/>
                    <a:pt x="21242" y="5395"/>
                  </a:cubicBezTo>
                  <a:cubicBezTo>
                    <a:pt x="15449" y="4108"/>
                    <a:pt x="9655" y="5074"/>
                    <a:pt x="4828" y="7648"/>
                  </a:cubicBez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3" name="Freeform: Shape 1289">
              <a:extLst>
                <a:ext uri="{FF2B5EF4-FFF2-40B4-BE49-F238E27FC236}">
                  <a16:creationId xmlns:a16="http://schemas.microsoft.com/office/drawing/2014/main" id="{7931B43C-5DD4-B740-9CF0-646F4A34B01F}"/>
                </a:ext>
              </a:extLst>
            </p:cNvPr>
            <p:cNvSpPr/>
            <p:nvPr/>
          </p:nvSpPr>
          <p:spPr>
            <a:xfrm>
              <a:off x="4124597" y="3046180"/>
              <a:ext cx="438911" cy="246888"/>
            </a:xfrm>
            <a:custGeom>
              <a:avLst/>
              <a:gdLst>
                <a:gd name="connsiteX0" fmla="*/ 96555 w 154485"/>
                <a:gd name="connsiteY0" fmla="*/ 5745 h 86898"/>
                <a:gd name="connsiteX1" fmla="*/ 149659 w 154485"/>
                <a:gd name="connsiteY1" fmla="*/ 17332 h 86898"/>
                <a:gd name="connsiteX2" fmla="*/ 140970 w 154485"/>
                <a:gd name="connsiteY2" fmla="*/ 58206 h 86898"/>
                <a:gd name="connsiteX3" fmla="*/ 124234 w 154485"/>
                <a:gd name="connsiteY3" fmla="*/ 85241 h 86898"/>
                <a:gd name="connsiteX4" fmla="*/ 85612 w 154485"/>
                <a:gd name="connsiteY4" fmla="*/ 76873 h 86898"/>
                <a:gd name="connsiteX5" fmla="*/ 79497 w 154485"/>
                <a:gd name="connsiteY5" fmla="*/ 38895 h 86898"/>
                <a:gd name="connsiteX6" fmla="*/ 11266 w 154485"/>
                <a:gd name="connsiteY6" fmla="*/ 76873 h 86898"/>
                <a:gd name="connsiteX7" fmla="*/ 4829 w 154485"/>
                <a:gd name="connsiteY7" fmla="*/ 70758 h 86898"/>
                <a:gd name="connsiteX8" fmla="*/ 96555 w 154485"/>
                <a:gd name="connsiteY8" fmla="*/ 5745 h 8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85" h="86898">
                  <a:moveTo>
                    <a:pt x="96555" y="5745"/>
                  </a:moveTo>
                  <a:lnTo>
                    <a:pt x="149659" y="17332"/>
                  </a:lnTo>
                  <a:lnTo>
                    <a:pt x="140970" y="58206"/>
                  </a:lnTo>
                  <a:lnTo>
                    <a:pt x="124234" y="85241"/>
                  </a:lnTo>
                  <a:lnTo>
                    <a:pt x="85612" y="76873"/>
                  </a:lnTo>
                  <a:cubicBezTo>
                    <a:pt x="85612" y="76873"/>
                    <a:pt x="90118" y="45010"/>
                    <a:pt x="79497" y="38895"/>
                  </a:cubicBezTo>
                  <a:cubicBezTo>
                    <a:pt x="65658" y="31171"/>
                    <a:pt x="36048" y="49516"/>
                    <a:pt x="11266" y="76873"/>
                  </a:cubicBezTo>
                  <a:lnTo>
                    <a:pt x="4829" y="70758"/>
                  </a:lnTo>
                  <a:cubicBezTo>
                    <a:pt x="4507" y="70436"/>
                    <a:pt x="50853" y="-4232"/>
                    <a:pt x="96555" y="5745"/>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4" name="Freeform: Shape 1290">
              <a:extLst>
                <a:ext uri="{FF2B5EF4-FFF2-40B4-BE49-F238E27FC236}">
                  <a16:creationId xmlns:a16="http://schemas.microsoft.com/office/drawing/2014/main" id="{928BFCD3-C2ED-254A-8876-CA0DF031B623}"/>
                </a:ext>
              </a:extLst>
            </p:cNvPr>
            <p:cNvSpPr/>
            <p:nvPr/>
          </p:nvSpPr>
          <p:spPr>
            <a:xfrm>
              <a:off x="4965851"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5" name="Freeform: Shape 1291">
              <a:extLst>
                <a:ext uri="{FF2B5EF4-FFF2-40B4-BE49-F238E27FC236}">
                  <a16:creationId xmlns:a16="http://schemas.microsoft.com/office/drawing/2014/main" id="{A89BBD0F-D0A3-9E40-942C-5C2B21EDECB9}"/>
                </a:ext>
              </a:extLst>
            </p:cNvPr>
            <p:cNvSpPr/>
            <p:nvPr/>
          </p:nvSpPr>
          <p:spPr>
            <a:xfrm>
              <a:off x="4686043" y="3859861"/>
              <a:ext cx="246888" cy="27431"/>
            </a:xfrm>
            <a:custGeom>
              <a:avLst/>
              <a:gdLst>
                <a:gd name="connsiteX0" fmla="*/ 4828 w 86898"/>
                <a:gd name="connsiteY0" fmla="*/ 4828 h 9655"/>
                <a:gd name="connsiteX1" fmla="*/ 83680 w 86898"/>
                <a:gd name="connsiteY1" fmla="*/ 4828 h 9655"/>
              </a:gdLst>
              <a:ahLst/>
              <a:cxnLst>
                <a:cxn ang="0">
                  <a:pos x="connsiteX0" y="connsiteY0"/>
                </a:cxn>
                <a:cxn ang="0">
                  <a:pos x="connsiteX1" y="connsiteY1"/>
                </a:cxn>
              </a:cxnLst>
              <a:rect l="l" t="t" r="r" b="b"/>
              <a:pathLst>
                <a:path w="86898" h="9655">
                  <a:moveTo>
                    <a:pt x="4828" y="4828"/>
                  </a:moveTo>
                  <a:lnTo>
                    <a:pt x="83680"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6" name="Freeform: Shape 1292">
              <a:extLst>
                <a:ext uri="{FF2B5EF4-FFF2-40B4-BE49-F238E27FC236}">
                  <a16:creationId xmlns:a16="http://schemas.microsoft.com/office/drawing/2014/main" id="{9D82729F-6259-B641-A197-682813DC1E91}"/>
                </a:ext>
              </a:extLst>
            </p:cNvPr>
            <p:cNvSpPr/>
            <p:nvPr/>
          </p:nvSpPr>
          <p:spPr>
            <a:xfrm>
              <a:off x="3996587" y="3859861"/>
              <a:ext cx="713233" cy="27431"/>
            </a:xfrm>
            <a:custGeom>
              <a:avLst/>
              <a:gdLst>
                <a:gd name="connsiteX0" fmla="*/ 4828 w 251038"/>
                <a:gd name="connsiteY0" fmla="*/ 4828 h 9655"/>
                <a:gd name="connsiteX1" fmla="*/ 247498 w 251038"/>
                <a:gd name="connsiteY1" fmla="*/ 4828 h 9655"/>
              </a:gdLst>
              <a:ahLst/>
              <a:cxnLst>
                <a:cxn ang="0">
                  <a:pos x="connsiteX0" y="connsiteY0"/>
                </a:cxn>
                <a:cxn ang="0">
                  <a:pos x="connsiteX1" y="connsiteY1"/>
                </a:cxn>
              </a:cxnLst>
              <a:rect l="l" t="t" r="r" b="b"/>
              <a:pathLst>
                <a:path w="251038" h="9655">
                  <a:moveTo>
                    <a:pt x="4828" y="4828"/>
                  </a:moveTo>
                  <a:lnTo>
                    <a:pt x="247498"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7" name="Freeform: Shape 1293">
              <a:extLst>
                <a:ext uri="{FF2B5EF4-FFF2-40B4-BE49-F238E27FC236}">
                  <a16:creationId xmlns:a16="http://schemas.microsoft.com/office/drawing/2014/main" id="{BF51F48B-FD9C-7D48-8C94-3DF6CF4C4040}"/>
                </a:ext>
              </a:extLst>
            </p:cNvPr>
            <p:cNvSpPr/>
            <p:nvPr/>
          </p:nvSpPr>
          <p:spPr>
            <a:xfrm>
              <a:off x="3853940" y="3859861"/>
              <a:ext cx="128015" cy="27431"/>
            </a:xfrm>
            <a:custGeom>
              <a:avLst/>
              <a:gdLst>
                <a:gd name="connsiteX0" fmla="*/ 4828 w 45058"/>
                <a:gd name="connsiteY0" fmla="*/ 4828 h 9655"/>
                <a:gd name="connsiteX1" fmla="*/ 40231 w 45058"/>
                <a:gd name="connsiteY1" fmla="*/ 4828 h 9655"/>
              </a:gdLst>
              <a:ahLst/>
              <a:cxnLst>
                <a:cxn ang="0">
                  <a:pos x="connsiteX0" y="connsiteY0"/>
                </a:cxn>
                <a:cxn ang="0">
                  <a:pos x="connsiteX1" y="connsiteY1"/>
                </a:cxn>
              </a:cxnLst>
              <a:rect l="l" t="t" r="r" b="b"/>
              <a:pathLst>
                <a:path w="45058" h="9655">
                  <a:moveTo>
                    <a:pt x="4828" y="4828"/>
                  </a:moveTo>
                  <a:lnTo>
                    <a:pt x="40231" y="4828"/>
                  </a:lnTo>
                </a:path>
              </a:pathLst>
            </a:custGeom>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8" name="Freeform: Shape 1294">
              <a:extLst>
                <a:ext uri="{FF2B5EF4-FFF2-40B4-BE49-F238E27FC236}">
                  <a16:creationId xmlns:a16="http://schemas.microsoft.com/office/drawing/2014/main" id="{6168E68A-3AE5-0844-A0ED-D01136026A6D}"/>
                </a:ext>
              </a:extLst>
            </p:cNvPr>
            <p:cNvSpPr/>
            <p:nvPr/>
          </p:nvSpPr>
          <p:spPr>
            <a:xfrm>
              <a:off x="3916118" y="3450210"/>
              <a:ext cx="265176" cy="365761"/>
            </a:xfrm>
            <a:custGeom>
              <a:avLst/>
              <a:gdLst>
                <a:gd name="connsiteX0" fmla="*/ 89795 w 93334"/>
                <a:gd name="connsiteY0" fmla="*/ 126485 h 128737"/>
                <a:gd name="connsiteX1" fmla="*/ 43127 w 93334"/>
                <a:gd name="connsiteY1" fmla="*/ 29288 h 128737"/>
                <a:gd name="connsiteX2" fmla="*/ 4828 w 93334"/>
                <a:gd name="connsiteY2" fmla="*/ 4828 h 128737"/>
              </a:gdLst>
              <a:ahLst/>
              <a:cxnLst>
                <a:cxn ang="0">
                  <a:pos x="connsiteX0" y="connsiteY0"/>
                </a:cxn>
                <a:cxn ang="0">
                  <a:pos x="connsiteX1" y="connsiteY1"/>
                </a:cxn>
                <a:cxn ang="0">
                  <a:pos x="connsiteX2" y="connsiteY2"/>
                </a:cxn>
              </a:cxnLst>
              <a:rect l="l" t="t" r="r" b="b"/>
              <a:pathLst>
                <a:path w="93334" h="128737">
                  <a:moveTo>
                    <a:pt x="89795" y="126485"/>
                  </a:moveTo>
                  <a:lnTo>
                    <a:pt x="43127" y="29288"/>
                  </a:lnTo>
                  <a:cubicBezTo>
                    <a:pt x="27357" y="29288"/>
                    <a:pt x="12230" y="20276"/>
                    <a:pt x="4828" y="4828"/>
                  </a:cubicBez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59" name="Freeform: Shape 1295">
              <a:extLst>
                <a:ext uri="{FF2B5EF4-FFF2-40B4-BE49-F238E27FC236}">
                  <a16:creationId xmlns:a16="http://schemas.microsoft.com/office/drawing/2014/main" id="{3018A346-D422-F34E-B6AB-624F3F1FCEC4}"/>
                </a:ext>
              </a:extLst>
            </p:cNvPr>
            <p:cNvSpPr/>
            <p:nvPr/>
          </p:nvSpPr>
          <p:spPr>
            <a:xfrm>
              <a:off x="3904197" y="3276444"/>
              <a:ext cx="338327" cy="429768"/>
            </a:xfrm>
            <a:custGeom>
              <a:avLst/>
              <a:gdLst>
                <a:gd name="connsiteX0" fmla="*/ 9024 w 119082"/>
                <a:gd name="connsiteY0" fmla="*/ 66310 h 151266"/>
                <a:gd name="connsiteX1" fmla="*/ 17714 w 119082"/>
                <a:gd name="connsiteY1" fmla="*/ 17068 h 151266"/>
                <a:gd name="connsiteX2" fmla="*/ 32841 w 119082"/>
                <a:gd name="connsiteY2" fmla="*/ 48609 h 151266"/>
                <a:gd name="connsiteX3" fmla="*/ 57945 w 119082"/>
                <a:gd name="connsiteY3" fmla="*/ 36701 h 151266"/>
                <a:gd name="connsiteX4" fmla="*/ 42818 w 119082"/>
                <a:gd name="connsiteY4" fmla="*/ 5160 h 151266"/>
                <a:gd name="connsiteX5" fmla="*/ 86589 w 119082"/>
                <a:gd name="connsiteY5" fmla="*/ 29298 h 151266"/>
                <a:gd name="connsiteX6" fmla="*/ 81761 w 119082"/>
                <a:gd name="connsiteY6" fmla="*/ 74356 h 151266"/>
                <a:gd name="connsiteX7" fmla="*/ 116520 w 119082"/>
                <a:gd name="connsiteY7" fmla="*/ 146771 h 15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082" h="151266">
                  <a:moveTo>
                    <a:pt x="9024" y="66310"/>
                  </a:moveTo>
                  <a:cubicBezTo>
                    <a:pt x="978" y="49253"/>
                    <a:pt x="4840" y="29620"/>
                    <a:pt x="17714" y="17068"/>
                  </a:cubicBezTo>
                  <a:lnTo>
                    <a:pt x="32841" y="48609"/>
                  </a:lnTo>
                  <a:lnTo>
                    <a:pt x="57945" y="36701"/>
                  </a:lnTo>
                  <a:lnTo>
                    <a:pt x="42818" y="5160"/>
                  </a:lnTo>
                  <a:cubicBezTo>
                    <a:pt x="60519" y="2907"/>
                    <a:pt x="78543" y="12240"/>
                    <a:pt x="86589" y="29298"/>
                  </a:cubicBezTo>
                  <a:cubicBezTo>
                    <a:pt x="93991" y="44425"/>
                    <a:pt x="91416" y="62126"/>
                    <a:pt x="81761" y="74356"/>
                  </a:cubicBezTo>
                  <a:lnTo>
                    <a:pt x="116520" y="146771"/>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0" name="Freeform: Shape 1296">
              <a:extLst>
                <a:ext uri="{FF2B5EF4-FFF2-40B4-BE49-F238E27FC236}">
                  <a16:creationId xmlns:a16="http://schemas.microsoft.com/office/drawing/2014/main" id="{428FB295-BD0D-9247-8BDD-2F6914C6309C}"/>
                </a:ext>
              </a:extLst>
            </p:cNvPr>
            <p:cNvSpPr/>
            <p:nvPr/>
          </p:nvSpPr>
          <p:spPr>
            <a:xfrm>
              <a:off x="4812231" y="3246655"/>
              <a:ext cx="210311" cy="438911"/>
            </a:xfrm>
            <a:custGeom>
              <a:avLst/>
              <a:gdLst>
                <a:gd name="connsiteX0" fmla="*/ 25104 w 74024"/>
                <a:gd name="connsiteY0" fmla="*/ 54266 h 154485"/>
                <a:gd name="connsiteX1" fmla="*/ 24138 w 74024"/>
                <a:gd name="connsiteY1" fmla="*/ 48794 h 154485"/>
                <a:gd name="connsiteX2" fmla="*/ 53426 w 74024"/>
                <a:gd name="connsiteY2" fmla="*/ 7598 h 154485"/>
                <a:gd name="connsiteX3" fmla="*/ 58898 w 74024"/>
                <a:gd name="connsiteY3" fmla="*/ 5023 h 154485"/>
                <a:gd name="connsiteX4" fmla="*/ 67265 w 74024"/>
                <a:gd name="connsiteY4" fmla="*/ 7920 h 154485"/>
                <a:gd name="connsiteX5" fmla="*/ 70162 w 74024"/>
                <a:gd name="connsiteY5" fmla="*/ 13391 h 154485"/>
                <a:gd name="connsiteX6" fmla="*/ 68231 w 74024"/>
                <a:gd name="connsiteY6" fmla="*/ 63599 h 154485"/>
                <a:gd name="connsiteX7" fmla="*/ 64047 w 74024"/>
                <a:gd name="connsiteY7" fmla="*/ 67461 h 154485"/>
                <a:gd name="connsiteX8" fmla="*/ 53426 w 74024"/>
                <a:gd name="connsiteY8" fmla="*/ 68749 h 154485"/>
                <a:gd name="connsiteX9" fmla="*/ 25426 w 74024"/>
                <a:gd name="connsiteY9" fmla="*/ 150497 h 154485"/>
                <a:gd name="connsiteX10" fmla="*/ 4828 w 74024"/>
                <a:gd name="connsiteY10" fmla="*/ 143417 h 154485"/>
                <a:gd name="connsiteX11" fmla="*/ 32828 w 74024"/>
                <a:gd name="connsiteY11" fmla="*/ 61668 h 154485"/>
                <a:gd name="connsiteX12" fmla="*/ 25104 w 74024"/>
                <a:gd name="connsiteY12" fmla="*/ 54266 h 15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024" h="154485">
                  <a:moveTo>
                    <a:pt x="25104" y="54266"/>
                  </a:moveTo>
                  <a:cubicBezTo>
                    <a:pt x="24138" y="53300"/>
                    <a:pt x="23173" y="51047"/>
                    <a:pt x="24138" y="48794"/>
                  </a:cubicBezTo>
                  <a:lnTo>
                    <a:pt x="53426" y="7598"/>
                  </a:lnTo>
                  <a:cubicBezTo>
                    <a:pt x="54392" y="5345"/>
                    <a:pt x="56645" y="4380"/>
                    <a:pt x="58898" y="5023"/>
                  </a:cubicBezTo>
                  <a:lnTo>
                    <a:pt x="67265" y="7920"/>
                  </a:lnTo>
                  <a:cubicBezTo>
                    <a:pt x="69518" y="8564"/>
                    <a:pt x="70806" y="11138"/>
                    <a:pt x="70162" y="13391"/>
                  </a:cubicBezTo>
                  <a:lnTo>
                    <a:pt x="68231" y="63599"/>
                  </a:lnTo>
                  <a:cubicBezTo>
                    <a:pt x="67587" y="66174"/>
                    <a:pt x="65334" y="67461"/>
                    <a:pt x="64047" y="67461"/>
                  </a:cubicBezTo>
                  <a:cubicBezTo>
                    <a:pt x="61472" y="67461"/>
                    <a:pt x="54070" y="66174"/>
                    <a:pt x="53426" y="68749"/>
                  </a:cubicBezTo>
                  <a:lnTo>
                    <a:pt x="25426" y="150497"/>
                  </a:lnTo>
                  <a:lnTo>
                    <a:pt x="4828" y="143417"/>
                  </a:lnTo>
                  <a:lnTo>
                    <a:pt x="32828" y="61668"/>
                  </a:lnTo>
                  <a:cubicBezTo>
                    <a:pt x="33794" y="59093"/>
                    <a:pt x="27035" y="55553"/>
                    <a:pt x="25104" y="5426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1" name="Freeform: Shape 1297">
              <a:extLst>
                <a:ext uri="{FF2B5EF4-FFF2-40B4-BE49-F238E27FC236}">
                  <a16:creationId xmlns:a16="http://schemas.microsoft.com/office/drawing/2014/main" id="{3E9855C7-BAD0-C64D-9F7C-C6A603A8B9DF}"/>
                </a:ext>
              </a:extLst>
            </p:cNvPr>
            <p:cNvSpPr/>
            <p:nvPr/>
          </p:nvSpPr>
          <p:spPr>
            <a:xfrm>
              <a:off x="4714391" y="3630713"/>
              <a:ext cx="219457" cy="182880"/>
            </a:xfrm>
            <a:custGeom>
              <a:avLst/>
              <a:gdLst>
                <a:gd name="connsiteX0" fmla="*/ 61472 w 77242"/>
                <a:gd name="connsiteY0" fmla="*/ 60700 h 64368"/>
                <a:gd name="connsiteX1" fmla="*/ 73702 w 77242"/>
                <a:gd name="connsiteY1" fmla="*/ 24975 h 64368"/>
                <a:gd name="connsiteX2" fmla="*/ 70806 w 77242"/>
                <a:gd name="connsiteY2" fmla="*/ 19182 h 64368"/>
                <a:gd name="connsiteX3" fmla="*/ 28644 w 77242"/>
                <a:gd name="connsiteY3" fmla="*/ 5021 h 64368"/>
                <a:gd name="connsiteX4" fmla="*/ 22851 w 77242"/>
                <a:gd name="connsiteY4" fmla="*/ 7917 h 64368"/>
                <a:gd name="connsiteX5" fmla="*/ 4828 w 77242"/>
                <a:gd name="connsiteY5" fmla="*/ 61022 h 6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42" h="64368">
                  <a:moveTo>
                    <a:pt x="61472" y="60700"/>
                  </a:moveTo>
                  <a:lnTo>
                    <a:pt x="73702" y="24975"/>
                  </a:lnTo>
                  <a:cubicBezTo>
                    <a:pt x="74668" y="22722"/>
                    <a:pt x="73381" y="20147"/>
                    <a:pt x="70806" y="19182"/>
                  </a:cubicBezTo>
                  <a:lnTo>
                    <a:pt x="28644" y="5021"/>
                  </a:lnTo>
                  <a:cubicBezTo>
                    <a:pt x="26391" y="4377"/>
                    <a:pt x="23816" y="5343"/>
                    <a:pt x="22851" y="7917"/>
                  </a:cubicBezTo>
                  <a:lnTo>
                    <a:pt x="4828" y="61022"/>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2" name="Freeform: Shape 1298">
              <a:extLst>
                <a:ext uri="{FF2B5EF4-FFF2-40B4-BE49-F238E27FC236}">
                  <a16:creationId xmlns:a16="http://schemas.microsoft.com/office/drawing/2014/main" id="{92B5E4F2-59F0-2E45-9B27-ADFDD6EF2801}"/>
                </a:ext>
              </a:extLst>
            </p:cNvPr>
            <p:cNvSpPr/>
            <p:nvPr/>
          </p:nvSpPr>
          <p:spPr>
            <a:xfrm>
              <a:off x="4592984" y="3105690"/>
              <a:ext cx="128015" cy="155449"/>
            </a:xfrm>
            <a:custGeom>
              <a:avLst/>
              <a:gdLst>
                <a:gd name="connsiteX0" fmla="*/ 13444 w 45058"/>
                <a:gd name="connsiteY0" fmla="*/ 46916 h 54713"/>
                <a:gd name="connsiteX1" fmla="*/ 31467 w 45058"/>
                <a:gd name="connsiteY1" fmla="*/ 50778 h 54713"/>
                <a:gd name="connsiteX2" fmla="*/ 40479 w 45058"/>
                <a:gd name="connsiteY2" fmla="*/ 8938 h 54713"/>
                <a:gd name="connsiteX3" fmla="*/ 22455 w 45058"/>
                <a:gd name="connsiteY3" fmla="*/ 5076 h 54713"/>
                <a:gd name="connsiteX4" fmla="*/ 9582 w 45058"/>
                <a:gd name="connsiteY4" fmla="*/ 13444 h 54713"/>
                <a:gd name="connsiteX5" fmla="*/ 5076 w 45058"/>
                <a:gd name="connsiteY5" fmla="*/ 34042 h 54713"/>
                <a:gd name="connsiteX6" fmla="*/ 13444 w 45058"/>
                <a:gd name="connsiteY6" fmla="*/ 46916 h 5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58" h="54713">
                  <a:moveTo>
                    <a:pt x="13444" y="46916"/>
                  </a:moveTo>
                  <a:lnTo>
                    <a:pt x="31467" y="50778"/>
                  </a:lnTo>
                  <a:lnTo>
                    <a:pt x="40479" y="8938"/>
                  </a:lnTo>
                  <a:lnTo>
                    <a:pt x="22455" y="5076"/>
                  </a:lnTo>
                  <a:cubicBezTo>
                    <a:pt x="16662" y="3788"/>
                    <a:pt x="10869" y="7650"/>
                    <a:pt x="9582" y="13444"/>
                  </a:cubicBezTo>
                  <a:lnTo>
                    <a:pt x="5076" y="34042"/>
                  </a:lnTo>
                  <a:cubicBezTo>
                    <a:pt x="3788" y="39835"/>
                    <a:pt x="7651" y="45628"/>
                    <a:pt x="13444" y="46916"/>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463" name="Group 462">
            <a:extLst>
              <a:ext uri="{FF2B5EF4-FFF2-40B4-BE49-F238E27FC236}">
                <a16:creationId xmlns:a16="http://schemas.microsoft.com/office/drawing/2014/main" id="{BB016566-A0AF-CF4F-86ED-7CFE7642D3A3}"/>
              </a:ext>
            </a:extLst>
          </p:cNvPr>
          <p:cNvGrpSpPr/>
          <p:nvPr/>
        </p:nvGrpSpPr>
        <p:grpSpPr>
          <a:xfrm>
            <a:off x="12883577" y="2465739"/>
            <a:ext cx="404028" cy="322423"/>
            <a:chOff x="6630539" y="5287514"/>
            <a:chExt cx="1865762" cy="1488919"/>
          </a:xfrm>
        </p:grpSpPr>
        <p:sp>
          <p:nvSpPr>
            <p:cNvPr id="464" name="Freeform: Shape 1339">
              <a:extLst>
                <a:ext uri="{FF2B5EF4-FFF2-40B4-BE49-F238E27FC236}">
                  <a16:creationId xmlns:a16="http://schemas.microsoft.com/office/drawing/2014/main" id="{E5B2A1C5-E05E-C848-BD08-BE4D2F04428F}"/>
                </a:ext>
              </a:extLst>
            </p:cNvPr>
            <p:cNvSpPr/>
            <p:nvPr/>
          </p:nvSpPr>
          <p:spPr>
            <a:xfrm>
              <a:off x="7750331" y="6186674"/>
              <a:ext cx="589759" cy="589759"/>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5" name="Freeform: Shape 1340">
              <a:extLst>
                <a:ext uri="{FF2B5EF4-FFF2-40B4-BE49-F238E27FC236}">
                  <a16:creationId xmlns:a16="http://schemas.microsoft.com/office/drawing/2014/main" id="{1553C22C-3112-F649-8345-0A6DCA453297}"/>
                </a:ext>
              </a:extLst>
            </p:cNvPr>
            <p:cNvSpPr/>
            <p:nvPr/>
          </p:nvSpPr>
          <p:spPr>
            <a:xfrm>
              <a:off x="7919525" y="6357802"/>
              <a:ext cx="251374" cy="25137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6" name="Freeform: Shape 1341">
              <a:extLst>
                <a:ext uri="{FF2B5EF4-FFF2-40B4-BE49-F238E27FC236}">
                  <a16:creationId xmlns:a16="http://schemas.microsoft.com/office/drawing/2014/main" id="{C3C39E09-F1F0-E64B-A6CF-B1B0EF4EA163}"/>
                </a:ext>
              </a:extLst>
            </p:cNvPr>
            <p:cNvSpPr/>
            <p:nvPr/>
          </p:nvSpPr>
          <p:spPr>
            <a:xfrm>
              <a:off x="7997836" y="6436114"/>
              <a:ext cx="96681" cy="96681"/>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7" name="Freeform: Shape 1342">
              <a:extLst>
                <a:ext uri="{FF2B5EF4-FFF2-40B4-BE49-F238E27FC236}">
                  <a16:creationId xmlns:a16="http://schemas.microsoft.com/office/drawing/2014/main" id="{6E5CB30B-D4C2-EB42-9D67-6B933C7EC118}"/>
                </a:ext>
              </a:extLst>
            </p:cNvPr>
            <p:cNvSpPr/>
            <p:nvPr/>
          </p:nvSpPr>
          <p:spPr>
            <a:xfrm>
              <a:off x="6630539" y="5548499"/>
              <a:ext cx="1119001" cy="1119001"/>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8" name="Freeform: Shape 1343">
              <a:extLst>
                <a:ext uri="{FF2B5EF4-FFF2-40B4-BE49-F238E27FC236}">
                  <a16:creationId xmlns:a16="http://schemas.microsoft.com/office/drawing/2014/main" id="{AB455742-B0FF-8940-A0A2-CBB7DF7CEBDF}"/>
                </a:ext>
              </a:extLst>
            </p:cNvPr>
            <p:cNvSpPr/>
            <p:nvPr/>
          </p:nvSpPr>
          <p:spPr>
            <a:xfrm>
              <a:off x="6951565" y="5873196"/>
              <a:ext cx="476954" cy="47695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69" name="Freeform: Shape 1344">
              <a:extLst>
                <a:ext uri="{FF2B5EF4-FFF2-40B4-BE49-F238E27FC236}">
                  <a16:creationId xmlns:a16="http://schemas.microsoft.com/office/drawing/2014/main" id="{E9509166-3423-C94C-9874-BA8B054F3BBD}"/>
                </a:ext>
              </a:extLst>
            </p:cNvPr>
            <p:cNvSpPr/>
            <p:nvPr/>
          </p:nvSpPr>
          <p:spPr>
            <a:xfrm>
              <a:off x="7100152" y="6021782"/>
              <a:ext cx="183440" cy="183440"/>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0" name="Freeform: Shape 1345">
              <a:extLst>
                <a:ext uri="{FF2B5EF4-FFF2-40B4-BE49-F238E27FC236}">
                  <a16:creationId xmlns:a16="http://schemas.microsoft.com/office/drawing/2014/main" id="{A80EE555-A818-2447-AC4E-7B3868717C72}"/>
                </a:ext>
              </a:extLst>
            </p:cNvPr>
            <p:cNvSpPr/>
            <p:nvPr/>
          </p:nvSpPr>
          <p:spPr>
            <a:xfrm>
              <a:off x="7702707" y="5287514"/>
              <a:ext cx="793594" cy="793594"/>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1" name="Freeform: Shape 1346">
              <a:extLst>
                <a:ext uri="{FF2B5EF4-FFF2-40B4-BE49-F238E27FC236}">
                  <a16:creationId xmlns:a16="http://schemas.microsoft.com/office/drawing/2014/main" id="{AD05B13A-E1FC-064D-A478-9908A157B6EA}"/>
                </a:ext>
              </a:extLst>
            </p:cNvPr>
            <p:cNvSpPr/>
            <p:nvPr/>
          </p:nvSpPr>
          <p:spPr>
            <a:xfrm>
              <a:off x="7930378" y="5517789"/>
              <a:ext cx="338255" cy="338255"/>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2" name="Freeform: Shape 1347">
              <a:extLst>
                <a:ext uri="{FF2B5EF4-FFF2-40B4-BE49-F238E27FC236}">
                  <a16:creationId xmlns:a16="http://schemas.microsoft.com/office/drawing/2014/main" id="{5D52A571-1D33-8B41-80A3-E1A49FE37631}"/>
                </a:ext>
              </a:extLst>
            </p:cNvPr>
            <p:cNvSpPr/>
            <p:nvPr/>
          </p:nvSpPr>
          <p:spPr>
            <a:xfrm>
              <a:off x="8035756" y="5623166"/>
              <a:ext cx="130096" cy="130096"/>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473" name="Group 472">
            <a:extLst>
              <a:ext uri="{FF2B5EF4-FFF2-40B4-BE49-F238E27FC236}">
                <a16:creationId xmlns:a16="http://schemas.microsoft.com/office/drawing/2014/main" id="{552BA697-1866-554D-80B1-B0A9C5587CFB}"/>
              </a:ext>
            </a:extLst>
          </p:cNvPr>
          <p:cNvGrpSpPr/>
          <p:nvPr/>
        </p:nvGrpSpPr>
        <p:grpSpPr>
          <a:xfrm>
            <a:off x="12703074" y="2953182"/>
            <a:ext cx="404028" cy="322423"/>
            <a:chOff x="6630539" y="5287514"/>
            <a:chExt cx="1865762" cy="1488919"/>
          </a:xfrm>
        </p:grpSpPr>
        <p:sp>
          <p:nvSpPr>
            <p:cNvPr id="474" name="Freeform: Shape 1339">
              <a:extLst>
                <a:ext uri="{FF2B5EF4-FFF2-40B4-BE49-F238E27FC236}">
                  <a16:creationId xmlns:a16="http://schemas.microsoft.com/office/drawing/2014/main" id="{5C64262E-A49C-FA49-B684-2ACD4C2AB4C0}"/>
                </a:ext>
              </a:extLst>
            </p:cNvPr>
            <p:cNvSpPr/>
            <p:nvPr/>
          </p:nvSpPr>
          <p:spPr>
            <a:xfrm>
              <a:off x="7750331" y="6186674"/>
              <a:ext cx="589759" cy="589759"/>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5" name="Freeform: Shape 1340">
              <a:extLst>
                <a:ext uri="{FF2B5EF4-FFF2-40B4-BE49-F238E27FC236}">
                  <a16:creationId xmlns:a16="http://schemas.microsoft.com/office/drawing/2014/main" id="{F8D395C5-A9D5-B44A-A18C-C3DDA4A85C1C}"/>
                </a:ext>
              </a:extLst>
            </p:cNvPr>
            <p:cNvSpPr/>
            <p:nvPr/>
          </p:nvSpPr>
          <p:spPr>
            <a:xfrm>
              <a:off x="7919525" y="6357802"/>
              <a:ext cx="251374" cy="25137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6" name="Freeform: Shape 1341">
              <a:extLst>
                <a:ext uri="{FF2B5EF4-FFF2-40B4-BE49-F238E27FC236}">
                  <a16:creationId xmlns:a16="http://schemas.microsoft.com/office/drawing/2014/main" id="{E4740715-748D-7740-BE0B-C44FC8542950}"/>
                </a:ext>
              </a:extLst>
            </p:cNvPr>
            <p:cNvSpPr/>
            <p:nvPr/>
          </p:nvSpPr>
          <p:spPr>
            <a:xfrm>
              <a:off x="7997836" y="6436114"/>
              <a:ext cx="96681" cy="96681"/>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7" name="Freeform: Shape 1342">
              <a:extLst>
                <a:ext uri="{FF2B5EF4-FFF2-40B4-BE49-F238E27FC236}">
                  <a16:creationId xmlns:a16="http://schemas.microsoft.com/office/drawing/2014/main" id="{0D8F925B-C847-0749-B9FA-D5EFD1B3753F}"/>
                </a:ext>
              </a:extLst>
            </p:cNvPr>
            <p:cNvSpPr/>
            <p:nvPr/>
          </p:nvSpPr>
          <p:spPr>
            <a:xfrm>
              <a:off x="6630539" y="5548499"/>
              <a:ext cx="1119001" cy="1119001"/>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8" name="Freeform: Shape 1343">
              <a:extLst>
                <a:ext uri="{FF2B5EF4-FFF2-40B4-BE49-F238E27FC236}">
                  <a16:creationId xmlns:a16="http://schemas.microsoft.com/office/drawing/2014/main" id="{B071980C-9D4C-9E4B-91B5-059BF6B894E1}"/>
                </a:ext>
              </a:extLst>
            </p:cNvPr>
            <p:cNvSpPr/>
            <p:nvPr/>
          </p:nvSpPr>
          <p:spPr>
            <a:xfrm>
              <a:off x="6951565" y="5873196"/>
              <a:ext cx="476954" cy="476954"/>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79" name="Freeform: Shape 1344">
              <a:extLst>
                <a:ext uri="{FF2B5EF4-FFF2-40B4-BE49-F238E27FC236}">
                  <a16:creationId xmlns:a16="http://schemas.microsoft.com/office/drawing/2014/main" id="{EA9AB675-C772-D848-8F23-BD848220A1B8}"/>
                </a:ext>
              </a:extLst>
            </p:cNvPr>
            <p:cNvSpPr/>
            <p:nvPr/>
          </p:nvSpPr>
          <p:spPr>
            <a:xfrm>
              <a:off x="7100152" y="6021782"/>
              <a:ext cx="183440" cy="183440"/>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80" name="Freeform: Shape 1345">
              <a:extLst>
                <a:ext uri="{FF2B5EF4-FFF2-40B4-BE49-F238E27FC236}">
                  <a16:creationId xmlns:a16="http://schemas.microsoft.com/office/drawing/2014/main" id="{B8252212-2909-8A4D-8B83-371233A3670D}"/>
                </a:ext>
              </a:extLst>
            </p:cNvPr>
            <p:cNvSpPr/>
            <p:nvPr/>
          </p:nvSpPr>
          <p:spPr>
            <a:xfrm>
              <a:off x="7702707" y="5287514"/>
              <a:ext cx="793594" cy="793594"/>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81" name="Freeform: Shape 1346">
              <a:extLst>
                <a:ext uri="{FF2B5EF4-FFF2-40B4-BE49-F238E27FC236}">
                  <a16:creationId xmlns:a16="http://schemas.microsoft.com/office/drawing/2014/main" id="{F32F7F3F-B4BB-B647-9A7D-E3ABBE4BDD38}"/>
                </a:ext>
              </a:extLst>
            </p:cNvPr>
            <p:cNvSpPr/>
            <p:nvPr/>
          </p:nvSpPr>
          <p:spPr>
            <a:xfrm>
              <a:off x="7930378" y="5517789"/>
              <a:ext cx="338255" cy="338255"/>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82" name="Freeform: Shape 1347">
              <a:extLst>
                <a:ext uri="{FF2B5EF4-FFF2-40B4-BE49-F238E27FC236}">
                  <a16:creationId xmlns:a16="http://schemas.microsoft.com/office/drawing/2014/main" id="{436BBC98-55E9-3946-B4BB-94AF2E9DD9F4}"/>
                </a:ext>
              </a:extLst>
            </p:cNvPr>
            <p:cNvSpPr/>
            <p:nvPr/>
          </p:nvSpPr>
          <p:spPr>
            <a:xfrm>
              <a:off x="8035756" y="5623166"/>
              <a:ext cx="130096" cy="130096"/>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483" name="Group 482">
            <a:extLst>
              <a:ext uri="{FF2B5EF4-FFF2-40B4-BE49-F238E27FC236}">
                <a16:creationId xmlns:a16="http://schemas.microsoft.com/office/drawing/2014/main" id="{CA4A4C00-EC11-EE4E-8561-43164810DDA6}"/>
              </a:ext>
            </a:extLst>
          </p:cNvPr>
          <p:cNvGrpSpPr/>
          <p:nvPr/>
        </p:nvGrpSpPr>
        <p:grpSpPr>
          <a:xfrm>
            <a:off x="13392557" y="2443729"/>
            <a:ext cx="462784" cy="356616"/>
            <a:chOff x="13914391" y="3271480"/>
            <a:chExt cx="462784" cy="356616"/>
          </a:xfrm>
        </p:grpSpPr>
        <p:grpSp>
          <p:nvGrpSpPr>
            <p:cNvPr id="484" name="Group 483">
              <a:extLst>
                <a:ext uri="{FF2B5EF4-FFF2-40B4-BE49-F238E27FC236}">
                  <a16:creationId xmlns:a16="http://schemas.microsoft.com/office/drawing/2014/main" id="{BD8C2721-5281-1844-BBEF-77ED5C6D654F}"/>
                </a:ext>
              </a:extLst>
            </p:cNvPr>
            <p:cNvGrpSpPr/>
            <p:nvPr/>
          </p:nvGrpSpPr>
          <p:grpSpPr>
            <a:xfrm>
              <a:off x="13914391" y="3271480"/>
              <a:ext cx="334784" cy="292114"/>
              <a:chOff x="8648967" y="2983833"/>
              <a:chExt cx="1285975" cy="1122070"/>
            </a:xfrm>
          </p:grpSpPr>
          <p:sp>
            <p:nvSpPr>
              <p:cNvPr id="512" name="Freeform: Shape 1327">
                <a:extLst>
                  <a:ext uri="{FF2B5EF4-FFF2-40B4-BE49-F238E27FC236}">
                    <a16:creationId xmlns:a16="http://schemas.microsoft.com/office/drawing/2014/main" id="{B70E45B4-69DE-EC43-B3D2-0BEA7C11A969}"/>
                  </a:ext>
                </a:extLst>
              </p:cNvPr>
              <p:cNvSpPr/>
              <p:nvPr/>
            </p:nvSpPr>
            <p:spPr>
              <a:xfrm>
                <a:off x="9051631" y="3389926"/>
                <a:ext cx="822960" cy="576072"/>
              </a:xfrm>
              <a:custGeom>
                <a:avLst/>
                <a:gdLst>
                  <a:gd name="connsiteX0" fmla="*/ 288051 w 289660"/>
                  <a:gd name="connsiteY0" fmla="*/ 93657 h 202762"/>
                  <a:gd name="connsiteX1" fmla="*/ 288051 w 289660"/>
                  <a:gd name="connsiteY1" fmla="*/ 12552 h 202762"/>
                  <a:gd name="connsiteX2" fmla="*/ 280327 w 289660"/>
                  <a:gd name="connsiteY2" fmla="*/ 4828 h 202762"/>
                  <a:gd name="connsiteX3" fmla="*/ 12552 w 289660"/>
                  <a:gd name="connsiteY3" fmla="*/ 4828 h 202762"/>
                  <a:gd name="connsiteX4" fmla="*/ 4828 w 289660"/>
                  <a:gd name="connsiteY4" fmla="*/ 12552 h 202762"/>
                  <a:gd name="connsiteX5" fmla="*/ 4828 w 289660"/>
                  <a:gd name="connsiteY5" fmla="*/ 190854 h 202762"/>
                  <a:gd name="connsiteX6" fmla="*/ 12552 w 289660"/>
                  <a:gd name="connsiteY6" fmla="*/ 198578 h 202762"/>
                  <a:gd name="connsiteX7" fmla="*/ 225613 w 289660"/>
                  <a:gd name="connsiteY7" fmla="*/ 198578 h 20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60" h="202762">
                    <a:moveTo>
                      <a:pt x="288051" y="93657"/>
                    </a:moveTo>
                    <a:lnTo>
                      <a:pt x="288051" y="12552"/>
                    </a:lnTo>
                    <a:cubicBezTo>
                      <a:pt x="288051" y="8046"/>
                      <a:pt x="284511" y="4828"/>
                      <a:pt x="280327" y="4828"/>
                    </a:cubicBezTo>
                    <a:lnTo>
                      <a:pt x="12552" y="4828"/>
                    </a:lnTo>
                    <a:cubicBezTo>
                      <a:pt x="8046" y="4828"/>
                      <a:pt x="4828" y="8368"/>
                      <a:pt x="4828" y="12552"/>
                    </a:cubicBezTo>
                    <a:lnTo>
                      <a:pt x="4828" y="190854"/>
                    </a:lnTo>
                    <a:cubicBezTo>
                      <a:pt x="4828" y="195360"/>
                      <a:pt x="8368" y="198578"/>
                      <a:pt x="12552" y="198578"/>
                    </a:cubicBezTo>
                    <a:lnTo>
                      <a:pt x="225613" y="19857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3" name="Freeform: Shape 1328">
                <a:extLst>
                  <a:ext uri="{FF2B5EF4-FFF2-40B4-BE49-F238E27FC236}">
                    <a16:creationId xmlns:a16="http://schemas.microsoft.com/office/drawing/2014/main" id="{15847ADD-6073-B54C-8629-333EF1EF322A}"/>
                  </a:ext>
                </a:extLst>
              </p:cNvPr>
              <p:cNvSpPr/>
              <p:nvPr/>
            </p:nvSpPr>
            <p:spPr>
              <a:xfrm>
                <a:off x="8896185" y="4005319"/>
                <a:ext cx="841248" cy="100584"/>
              </a:xfrm>
              <a:custGeom>
                <a:avLst/>
                <a:gdLst>
                  <a:gd name="connsiteX0" fmla="*/ 291913 w 296096"/>
                  <a:gd name="connsiteY0" fmla="*/ 33472 h 35402"/>
                  <a:gd name="connsiteX1" fmla="*/ 28000 w 296096"/>
                  <a:gd name="connsiteY1" fmla="*/ 33472 h 35402"/>
                  <a:gd name="connsiteX2" fmla="*/ 4828 w 296096"/>
                  <a:gd name="connsiteY2" fmla="*/ 23495 h 35402"/>
                  <a:gd name="connsiteX3" fmla="*/ 4828 w 296096"/>
                  <a:gd name="connsiteY3" fmla="*/ 4828 h 35402"/>
                  <a:gd name="connsiteX4" fmla="*/ 42483 w 296096"/>
                  <a:gd name="connsiteY4" fmla="*/ 4828 h 3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96" h="35402">
                    <a:moveTo>
                      <a:pt x="291913" y="33472"/>
                    </a:moveTo>
                    <a:lnTo>
                      <a:pt x="28000" y="33472"/>
                    </a:lnTo>
                    <a:cubicBezTo>
                      <a:pt x="28000" y="33472"/>
                      <a:pt x="11265" y="33472"/>
                      <a:pt x="4828" y="23495"/>
                    </a:cubicBezTo>
                    <a:lnTo>
                      <a:pt x="4828" y="4828"/>
                    </a:lnTo>
                    <a:lnTo>
                      <a:pt x="42483"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4" name="Freeform: Shape 1329">
                <a:extLst>
                  <a:ext uri="{FF2B5EF4-FFF2-40B4-BE49-F238E27FC236}">
                    <a16:creationId xmlns:a16="http://schemas.microsoft.com/office/drawing/2014/main" id="{91427DD6-0AFB-EB48-BF72-87865E0A0117}"/>
                  </a:ext>
                </a:extLst>
              </p:cNvPr>
              <p:cNvSpPr/>
              <p:nvPr/>
            </p:nvSpPr>
            <p:spPr>
              <a:xfrm>
                <a:off x="8993109" y="3337806"/>
                <a:ext cx="941833" cy="685799"/>
              </a:xfrm>
              <a:custGeom>
                <a:avLst/>
                <a:gdLst>
                  <a:gd name="connsiteX0" fmla="*/ 327638 w 331499"/>
                  <a:gd name="connsiteY0" fmla="*/ 93335 h 241383"/>
                  <a:gd name="connsiteX1" fmla="*/ 327638 w 331499"/>
                  <a:gd name="connsiteY1" fmla="*/ 12552 h 241383"/>
                  <a:gd name="connsiteX2" fmla="*/ 319913 w 331499"/>
                  <a:gd name="connsiteY2" fmla="*/ 4828 h 241383"/>
                  <a:gd name="connsiteX3" fmla="*/ 12552 w 331499"/>
                  <a:gd name="connsiteY3" fmla="*/ 4828 h 241383"/>
                  <a:gd name="connsiteX4" fmla="*/ 4828 w 331499"/>
                  <a:gd name="connsiteY4" fmla="*/ 12552 h 241383"/>
                  <a:gd name="connsiteX5" fmla="*/ 4828 w 331499"/>
                  <a:gd name="connsiteY5" fmla="*/ 232050 h 241383"/>
                  <a:gd name="connsiteX6" fmla="*/ 12552 w 331499"/>
                  <a:gd name="connsiteY6" fmla="*/ 239774 h 241383"/>
                  <a:gd name="connsiteX7" fmla="*/ 255223 w 331499"/>
                  <a:gd name="connsiteY7" fmla="*/ 239774 h 24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499" h="241383">
                    <a:moveTo>
                      <a:pt x="327638" y="93335"/>
                    </a:moveTo>
                    <a:lnTo>
                      <a:pt x="327638" y="12552"/>
                    </a:lnTo>
                    <a:cubicBezTo>
                      <a:pt x="327638" y="8046"/>
                      <a:pt x="324097" y="4828"/>
                      <a:pt x="319913" y="4828"/>
                    </a:cubicBezTo>
                    <a:lnTo>
                      <a:pt x="12552" y="4828"/>
                    </a:lnTo>
                    <a:cubicBezTo>
                      <a:pt x="8046" y="4828"/>
                      <a:pt x="4828" y="8368"/>
                      <a:pt x="4828" y="12552"/>
                    </a:cubicBezTo>
                    <a:lnTo>
                      <a:pt x="4828" y="232050"/>
                    </a:lnTo>
                    <a:cubicBezTo>
                      <a:pt x="4828" y="236556"/>
                      <a:pt x="8368" y="239774"/>
                      <a:pt x="12552" y="239774"/>
                    </a:cubicBezTo>
                    <a:lnTo>
                      <a:pt x="255223" y="23977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5" name="Freeform: Shape 1330">
                <a:extLst>
                  <a:ext uri="{FF2B5EF4-FFF2-40B4-BE49-F238E27FC236}">
                    <a16:creationId xmlns:a16="http://schemas.microsoft.com/office/drawing/2014/main" id="{EA556FFF-AD00-434B-8068-0122DBE4195B}"/>
                  </a:ext>
                </a:extLst>
              </p:cNvPr>
              <p:cNvSpPr/>
              <p:nvPr/>
            </p:nvSpPr>
            <p:spPr>
              <a:xfrm>
                <a:off x="9042974" y="327572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6" name="Freeform: Shape 1331">
                <a:extLst>
                  <a:ext uri="{FF2B5EF4-FFF2-40B4-BE49-F238E27FC236}">
                    <a16:creationId xmlns:a16="http://schemas.microsoft.com/office/drawing/2014/main" id="{E5EB4DFB-A161-1A43-A178-E1623D03A169}"/>
                  </a:ext>
                </a:extLst>
              </p:cNvPr>
              <p:cNvSpPr/>
              <p:nvPr/>
            </p:nvSpPr>
            <p:spPr>
              <a:xfrm>
                <a:off x="8961937" y="316267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7" name="Freeform: Shape 1332">
                <a:extLst>
                  <a:ext uri="{FF2B5EF4-FFF2-40B4-BE49-F238E27FC236}">
                    <a16:creationId xmlns:a16="http://schemas.microsoft.com/office/drawing/2014/main" id="{02EF1140-2A78-1C40-8DD9-14388C153FE3}"/>
                  </a:ext>
                </a:extLst>
              </p:cNvPr>
              <p:cNvSpPr/>
              <p:nvPr/>
            </p:nvSpPr>
            <p:spPr>
              <a:xfrm>
                <a:off x="9074170" y="3039948"/>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8" name="Freeform: Shape 1333">
                <a:extLst>
                  <a:ext uri="{FF2B5EF4-FFF2-40B4-BE49-F238E27FC236}">
                    <a16:creationId xmlns:a16="http://schemas.microsoft.com/office/drawing/2014/main" id="{CE1ACF35-8559-574C-983C-9A836EE8ECC7}"/>
                  </a:ext>
                </a:extLst>
              </p:cNvPr>
              <p:cNvSpPr/>
              <p:nvPr/>
            </p:nvSpPr>
            <p:spPr>
              <a:xfrm>
                <a:off x="8648967" y="298383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19" name="Freeform: Shape 1334">
                <a:extLst>
                  <a:ext uri="{FF2B5EF4-FFF2-40B4-BE49-F238E27FC236}">
                    <a16:creationId xmlns:a16="http://schemas.microsoft.com/office/drawing/2014/main" id="{762B666B-4093-6044-A2C7-C06CFDCCDDFB}"/>
                  </a:ext>
                </a:extLst>
              </p:cNvPr>
              <p:cNvSpPr/>
              <p:nvPr/>
            </p:nvSpPr>
            <p:spPr>
              <a:xfrm>
                <a:off x="9164560" y="3227184"/>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20" name="Freeform: Shape 1335">
                <a:extLst>
                  <a:ext uri="{FF2B5EF4-FFF2-40B4-BE49-F238E27FC236}">
                    <a16:creationId xmlns:a16="http://schemas.microsoft.com/office/drawing/2014/main" id="{32A96B3A-C25B-3747-ABA6-80771F16A4F8}"/>
                  </a:ext>
                </a:extLst>
              </p:cNvPr>
              <p:cNvSpPr/>
              <p:nvPr/>
            </p:nvSpPr>
            <p:spPr>
              <a:xfrm>
                <a:off x="8885650" y="3287035"/>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21" name="Freeform: Shape 1336">
                <a:extLst>
                  <a:ext uri="{FF2B5EF4-FFF2-40B4-BE49-F238E27FC236}">
                    <a16:creationId xmlns:a16="http://schemas.microsoft.com/office/drawing/2014/main" id="{1360F71C-94C2-914A-A594-60D168981796}"/>
                  </a:ext>
                </a:extLst>
              </p:cNvPr>
              <p:cNvSpPr/>
              <p:nvPr/>
            </p:nvSpPr>
            <p:spPr>
              <a:xfrm>
                <a:off x="8867336" y="3474179"/>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22" name="Freeform: Shape 1337">
                <a:extLst>
                  <a:ext uri="{FF2B5EF4-FFF2-40B4-BE49-F238E27FC236}">
                    <a16:creationId xmlns:a16="http://schemas.microsoft.com/office/drawing/2014/main" id="{C4FA88ED-2B87-5D41-B797-3D7CB3377A91}"/>
                  </a:ext>
                </a:extLst>
              </p:cNvPr>
              <p:cNvSpPr/>
              <p:nvPr/>
            </p:nvSpPr>
            <p:spPr>
              <a:xfrm>
                <a:off x="8743699" y="3361947"/>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23" name="Freeform: Shape 1338">
                <a:extLst>
                  <a:ext uri="{FF2B5EF4-FFF2-40B4-BE49-F238E27FC236}">
                    <a16:creationId xmlns:a16="http://schemas.microsoft.com/office/drawing/2014/main" id="{FF281969-CE2A-5341-9377-FA980749987B}"/>
                  </a:ext>
                </a:extLst>
              </p:cNvPr>
              <p:cNvSpPr/>
              <p:nvPr/>
            </p:nvSpPr>
            <p:spPr>
              <a:xfrm>
                <a:off x="8809425" y="315160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485" name="Group 484">
              <a:extLst>
                <a:ext uri="{FF2B5EF4-FFF2-40B4-BE49-F238E27FC236}">
                  <a16:creationId xmlns:a16="http://schemas.microsoft.com/office/drawing/2014/main" id="{962F7140-E120-8D4B-A546-05E135FB07D0}"/>
                </a:ext>
              </a:extLst>
            </p:cNvPr>
            <p:cNvGrpSpPr/>
            <p:nvPr/>
          </p:nvGrpSpPr>
          <p:grpSpPr>
            <a:xfrm>
              <a:off x="14043618" y="3396602"/>
              <a:ext cx="167758" cy="108313"/>
              <a:chOff x="9145357" y="3464451"/>
              <a:chExt cx="644395" cy="416052"/>
            </a:xfrm>
          </p:grpSpPr>
          <p:sp>
            <p:nvSpPr>
              <p:cNvPr id="493" name="Freeform: Shape 1308">
                <a:extLst>
                  <a:ext uri="{FF2B5EF4-FFF2-40B4-BE49-F238E27FC236}">
                    <a16:creationId xmlns:a16="http://schemas.microsoft.com/office/drawing/2014/main" id="{E5F00873-914A-3948-A80E-F3BCE4179E29}"/>
                  </a:ext>
                </a:extLst>
              </p:cNvPr>
              <p:cNvSpPr/>
              <p:nvPr/>
            </p:nvSpPr>
            <p:spPr>
              <a:xfrm>
                <a:off x="9222167" y="3515657"/>
                <a:ext cx="228600" cy="27431"/>
              </a:xfrm>
              <a:custGeom>
                <a:avLst/>
                <a:gdLst>
                  <a:gd name="connsiteX0" fmla="*/ 2414 w 80461"/>
                  <a:gd name="connsiteY0" fmla="*/ 2414 h 9655"/>
                  <a:gd name="connsiteX1" fmla="*/ 78691 w 80461"/>
                  <a:gd name="connsiteY1" fmla="*/ 2414 h 9655"/>
                  <a:gd name="connsiteX2" fmla="*/ 78691 w 80461"/>
                  <a:gd name="connsiteY2" fmla="*/ 8207 h 9655"/>
                  <a:gd name="connsiteX3" fmla="*/ 2414 w 80461"/>
                  <a:gd name="connsiteY3" fmla="*/ 8207 h 9655"/>
                </a:gdLst>
                <a:ahLst/>
                <a:cxnLst>
                  <a:cxn ang="0">
                    <a:pos x="connsiteX0" y="connsiteY0"/>
                  </a:cxn>
                  <a:cxn ang="0">
                    <a:pos x="connsiteX1" y="connsiteY1"/>
                  </a:cxn>
                  <a:cxn ang="0">
                    <a:pos x="connsiteX2" y="connsiteY2"/>
                  </a:cxn>
                  <a:cxn ang="0">
                    <a:pos x="connsiteX3" y="connsiteY3"/>
                  </a:cxn>
                </a:cxnLst>
                <a:rect l="l" t="t" r="r" b="b"/>
                <a:pathLst>
                  <a:path w="80461" h="9655">
                    <a:moveTo>
                      <a:pt x="2414" y="2414"/>
                    </a:moveTo>
                    <a:lnTo>
                      <a:pt x="78691" y="2414"/>
                    </a:lnTo>
                    <a:lnTo>
                      <a:pt x="78691"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4" name="Freeform: Shape 1309">
                <a:extLst>
                  <a:ext uri="{FF2B5EF4-FFF2-40B4-BE49-F238E27FC236}">
                    <a16:creationId xmlns:a16="http://schemas.microsoft.com/office/drawing/2014/main" id="{A3C601EC-FF0B-4947-92D6-4FD63EDF8982}"/>
                  </a:ext>
                </a:extLst>
              </p:cNvPr>
              <p:cNvSpPr/>
              <p:nvPr/>
            </p:nvSpPr>
            <p:spPr>
              <a:xfrm>
                <a:off x="9461847" y="3515086"/>
                <a:ext cx="164592" cy="27431"/>
              </a:xfrm>
              <a:custGeom>
                <a:avLst/>
                <a:gdLst>
                  <a:gd name="connsiteX0" fmla="*/ 57771 w 57932"/>
                  <a:gd name="connsiteY0" fmla="*/ 8207 h 9655"/>
                  <a:gd name="connsiteX1" fmla="*/ 2414 w 57932"/>
                  <a:gd name="connsiteY1" fmla="*/ 8207 h 9655"/>
                  <a:gd name="connsiteX2" fmla="*/ 2414 w 57932"/>
                  <a:gd name="connsiteY2" fmla="*/ 2414 h 9655"/>
                  <a:gd name="connsiteX3" fmla="*/ 57771 w 57932"/>
                  <a:gd name="connsiteY3" fmla="*/ 2414 h 9655"/>
                </a:gdLst>
                <a:ahLst/>
                <a:cxnLst>
                  <a:cxn ang="0">
                    <a:pos x="connsiteX0" y="connsiteY0"/>
                  </a:cxn>
                  <a:cxn ang="0">
                    <a:pos x="connsiteX1" y="connsiteY1"/>
                  </a:cxn>
                  <a:cxn ang="0">
                    <a:pos x="connsiteX2" y="connsiteY2"/>
                  </a:cxn>
                  <a:cxn ang="0">
                    <a:pos x="connsiteX3" y="connsiteY3"/>
                  </a:cxn>
                </a:cxnLst>
                <a:rect l="l" t="t" r="r" b="b"/>
                <a:pathLst>
                  <a:path w="57932" h="9655">
                    <a:moveTo>
                      <a:pt x="57771" y="8207"/>
                    </a:moveTo>
                    <a:lnTo>
                      <a:pt x="2414" y="8207"/>
                    </a:lnTo>
                    <a:lnTo>
                      <a:pt x="2414" y="2414"/>
                    </a:lnTo>
                    <a:lnTo>
                      <a:pt x="5777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5" name="Freeform: Shape 1310">
                <a:extLst>
                  <a:ext uri="{FF2B5EF4-FFF2-40B4-BE49-F238E27FC236}">
                    <a16:creationId xmlns:a16="http://schemas.microsoft.com/office/drawing/2014/main" id="{9923A4EC-EB36-3145-9C0A-EBC474912BE6}"/>
                  </a:ext>
                </a:extLst>
              </p:cNvPr>
              <p:cNvSpPr/>
              <p:nvPr/>
            </p:nvSpPr>
            <p:spPr>
              <a:xfrm>
                <a:off x="9278861" y="3589722"/>
                <a:ext cx="301753" cy="27431"/>
              </a:xfrm>
              <a:custGeom>
                <a:avLst/>
                <a:gdLst>
                  <a:gd name="connsiteX0" fmla="*/ 2414 w 106208"/>
                  <a:gd name="connsiteY0" fmla="*/ 2414 h 9655"/>
                  <a:gd name="connsiteX1" fmla="*/ 104760 w 106208"/>
                  <a:gd name="connsiteY1" fmla="*/ 2414 h 9655"/>
                  <a:gd name="connsiteX2" fmla="*/ 104760 w 106208"/>
                  <a:gd name="connsiteY2" fmla="*/ 8207 h 9655"/>
                  <a:gd name="connsiteX3" fmla="*/ 2414 w 106208"/>
                  <a:gd name="connsiteY3" fmla="*/ 8207 h 9655"/>
                </a:gdLst>
                <a:ahLst/>
                <a:cxnLst>
                  <a:cxn ang="0">
                    <a:pos x="connsiteX0" y="connsiteY0"/>
                  </a:cxn>
                  <a:cxn ang="0">
                    <a:pos x="connsiteX1" y="connsiteY1"/>
                  </a:cxn>
                  <a:cxn ang="0">
                    <a:pos x="connsiteX2" y="connsiteY2"/>
                  </a:cxn>
                  <a:cxn ang="0">
                    <a:pos x="connsiteX3" y="connsiteY3"/>
                  </a:cxn>
                </a:cxnLst>
                <a:rect l="l" t="t" r="r" b="b"/>
                <a:pathLst>
                  <a:path w="106208" h="9655">
                    <a:moveTo>
                      <a:pt x="2414" y="2414"/>
                    </a:moveTo>
                    <a:lnTo>
                      <a:pt x="104760" y="2414"/>
                    </a:lnTo>
                    <a:lnTo>
                      <a:pt x="104760"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6" name="Freeform: Shape 1311">
                <a:extLst>
                  <a:ext uri="{FF2B5EF4-FFF2-40B4-BE49-F238E27FC236}">
                    <a16:creationId xmlns:a16="http://schemas.microsoft.com/office/drawing/2014/main" id="{0C68325A-F37C-0847-8C05-A9CA5BFC443A}"/>
                  </a:ext>
                </a:extLst>
              </p:cNvPr>
              <p:cNvSpPr/>
              <p:nvPr/>
            </p:nvSpPr>
            <p:spPr>
              <a:xfrm>
                <a:off x="9689168" y="3590484"/>
                <a:ext cx="100584" cy="27431"/>
              </a:xfrm>
              <a:custGeom>
                <a:avLst/>
                <a:gdLst>
                  <a:gd name="connsiteX0" fmla="*/ 33955 w 35402"/>
                  <a:gd name="connsiteY0" fmla="*/ 8207 h 9655"/>
                  <a:gd name="connsiteX1" fmla="*/ 2414 w 35402"/>
                  <a:gd name="connsiteY1" fmla="*/ 8207 h 9655"/>
                  <a:gd name="connsiteX2" fmla="*/ 2414 w 35402"/>
                  <a:gd name="connsiteY2" fmla="*/ 2414 h 9655"/>
                  <a:gd name="connsiteX3" fmla="*/ 33955 w 35402"/>
                  <a:gd name="connsiteY3" fmla="*/ 2414 h 9655"/>
                </a:gdLst>
                <a:ahLst/>
                <a:cxnLst>
                  <a:cxn ang="0">
                    <a:pos x="connsiteX0" y="connsiteY0"/>
                  </a:cxn>
                  <a:cxn ang="0">
                    <a:pos x="connsiteX1" y="connsiteY1"/>
                  </a:cxn>
                  <a:cxn ang="0">
                    <a:pos x="connsiteX2" y="connsiteY2"/>
                  </a:cxn>
                  <a:cxn ang="0">
                    <a:pos x="connsiteX3" y="connsiteY3"/>
                  </a:cxn>
                </a:cxnLst>
                <a:rect l="l" t="t" r="r" b="b"/>
                <a:pathLst>
                  <a:path w="35402" h="9655">
                    <a:moveTo>
                      <a:pt x="33955" y="8207"/>
                    </a:moveTo>
                    <a:lnTo>
                      <a:pt x="2414" y="8207"/>
                    </a:lnTo>
                    <a:lnTo>
                      <a:pt x="2414" y="2414"/>
                    </a:lnTo>
                    <a:lnTo>
                      <a:pt x="3395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7" name="Freeform: Shape 1312">
                <a:extLst>
                  <a:ext uri="{FF2B5EF4-FFF2-40B4-BE49-F238E27FC236}">
                    <a16:creationId xmlns:a16="http://schemas.microsoft.com/office/drawing/2014/main" id="{7C47BF71-349E-C747-807C-1F0B81FFA91D}"/>
                  </a:ext>
                </a:extLst>
              </p:cNvPr>
              <p:cNvSpPr/>
              <p:nvPr/>
            </p:nvSpPr>
            <p:spPr>
              <a:xfrm>
                <a:off x="9582441" y="3589722"/>
                <a:ext cx="100584" cy="27431"/>
              </a:xfrm>
              <a:custGeom>
                <a:avLst/>
                <a:gdLst>
                  <a:gd name="connsiteX0" fmla="*/ 2414 w 35402"/>
                  <a:gd name="connsiteY0" fmla="*/ 2414 h 9655"/>
                  <a:gd name="connsiteX1" fmla="*/ 34598 w 35402"/>
                  <a:gd name="connsiteY1" fmla="*/ 2414 h 9655"/>
                  <a:gd name="connsiteX2" fmla="*/ 34598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598" y="2414"/>
                    </a:lnTo>
                    <a:lnTo>
                      <a:pt x="3459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8" name="Freeform: Shape 1313">
                <a:extLst>
                  <a:ext uri="{FF2B5EF4-FFF2-40B4-BE49-F238E27FC236}">
                    <a16:creationId xmlns:a16="http://schemas.microsoft.com/office/drawing/2014/main" id="{8E5039C0-CA6B-3B47-B74B-3D3EFCDAE9F5}"/>
                  </a:ext>
                </a:extLst>
              </p:cNvPr>
              <p:cNvSpPr/>
              <p:nvPr/>
            </p:nvSpPr>
            <p:spPr>
              <a:xfrm>
                <a:off x="9375786" y="3664702"/>
                <a:ext cx="265176" cy="27431"/>
              </a:xfrm>
              <a:custGeom>
                <a:avLst/>
                <a:gdLst>
                  <a:gd name="connsiteX0" fmla="*/ 2414 w 93334"/>
                  <a:gd name="connsiteY0" fmla="*/ 2414 h 9655"/>
                  <a:gd name="connsiteX1" fmla="*/ 92208 w 93334"/>
                  <a:gd name="connsiteY1" fmla="*/ 2414 h 9655"/>
                  <a:gd name="connsiteX2" fmla="*/ 92208 w 93334"/>
                  <a:gd name="connsiteY2" fmla="*/ 8207 h 9655"/>
                  <a:gd name="connsiteX3" fmla="*/ 2414 w 93334"/>
                  <a:gd name="connsiteY3" fmla="*/ 8207 h 9655"/>
                </a:gdLst>
                <a:ahLst/>
                <a:cxnLst>
                  <a:cxn ang="0">
                    <a:pos x="connsiteX0" y="connsiteY0"/>
                  </a:cxn>
                  <a:cxn ang="0">
                    <a:pos x="connsiteX1" y="connsiteY1"/>
                  </a:cxn>
                  <a:cxn ang="0">
                    <a:pos x="connsiteX2" y="connsiteY2"/>
                  </a:cxn>
                  <a:cxn ang="0">
                    <a:pos x="connsiteX3" y="connsiteY3"/>
                  </a:cxn>
                </a:cxnLst>
                <a:rect l="l" t="t" r="r" b="b"/>
                <a:pathLst>
                  <a:path w="93334" h="9655">
                    <a:moveTo>
                      <a:pt x="2414" y="2414"/>
                    </a:moveTo>
                    <a:lnTo>
                      <a:pt x="92208" y="2414"/>
                    </a:lnTo>
                    <a:lnTo>
                      <a:pt x="9220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499" name="Freeform: Shape 1314">
                <a:extLst>
                  <a:ext uri="{FF2B5EF4-FFF2-40B4-BE49-F238E27FC236}">
                    <a16:creationId xmlns:a16="http://schemas.microsoft.com/office/drawing/2014/main" id="{3EFFCF96-C587-A740-B8DB-6F1F14B2F3A9}"/>
                  </a:ext>
                </a:extLst>
              </p:cNvPr>
              <p:cNvSpPr/>
              <p:nvPr/>
            </p:nvSpPr>
            <p:spPr>
              <a:xfrm>
                <a:off x="9305727" y="3664961"/>
                <a:ext cx="64008" cy="27431"/>
              </a:xfrm>
              <a:custGeom>
                <a:avLst/>
                <a:gdLst>
                  <a:gd name="connsiteX0" fmla="*/ 21081 w 22529"/>
                  <a:gd name="connsiteY0" fmla="*/ 8207 h 9655"/>
                  <a:gd name="connsiteX1" fmla="*/ 2414 w 22529"/>
                  <a:gd name="connsiteY1" fmla="*/ 8207 h 9655"/>
                  <a:gd name="connsiteX2" fmla="*/ 2414 w 22529"/>
                  <a:gd name="connsiteY2" fmla="*/ 2414 h 9655"/>
                  <a:gd name="connsiteX3" fmla="*/ 21081 w 22529"/>
                  <a:gd name="connsiteY3" fmla="*/ 2414 h 9655"/>
                </a:gdLst>
                <a:ahLst/>
                <a:cxnLst>
                  <a:cxn ang="0">
                    <a:pos x="connsiteX0" y="connsiteY0"/>
                  </a:cxn>
                  <a:cxn ang="0">
                    <a:pos x="connsiteX1" y="connsiteY1"/>
                  </a:cxn>
                  <a:cxn ang="0">
                    <a:pos x="connsiteX2" y="connsiteY2"/>
                  </a:cxn>
                  <a:cxn ang="0">
                    <a:pos x="connsiteX3" y="connsiteY3"/>
                  </a:cxn>
                </a:cxnLst>
                <a:rect l="l" t="t" r="r" b="b"/>
                <a:pathLst>
                  <a:path w="22529" h="9655">
                    <a:moveTo>
                      <a:pt x="21081" y="8207"/>
                    </a:moveTo>
                    <a:lnTo>
                      <a:pt x="2414" y="8207"/>
                    </a:lnTo>
                    <a:lnTo>
                      <a:pt x="2414" y="2414"/>
                    </a:lnTo>
                    <a:lnTo>
                      <a:pt x="2108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0" name="Freeform: Shape 1315">
                <a:extLst>
                  <a:ext uri="{FF2B5EF4-FFF2-40B4-BE49-F238E27FC236}">
                    <a16:creationId xmlns:a16="http://schemas.microsoft.com/office/drawing/2014/main" id="{8D16E41B-EF2D-604A-8F72-58C69964049B}"/>
                  </a:ext>
                </a:extLst>
              </p:cNvPr>
              <p:cNvSpPr/>
              <p:nvPr/>
            </p:nvSpPr>
            <p:spPr>
              <a:xfrm>
                <a:off x="9222167" y="3722312"/>
                <a:ext cx="182880" cy="27431"/>
              </a:xfrm>
              <a:custGeom>
                <a:avLst/>
                <a:gdLst>
                  <a:gd name="connsiteX0" fmla="*/ 2414 w 64368"/>
                  <a:gd name="connsiteY0" fmla="*/ 2414 h 9655"/>
                  <a:gd name="connsiteX1" fmla="*/ 63564 w 64368"/>
                  <a:gd name="connsiteY1" fmla="*/ 2414 h 9655"/>
                  <a:gd name="connsiteX2" fmla="*/ 63564 w 64368"/>
                  <a:gd name="connsiteY2" fmla="*/ 8207 h 9655"/>
                  <a:gd name="connsiteX3" fmla="*/ 2414 w 64368"/>
                  <a:gd name="connsiteY3" fmla="*/ 8207 h 9655"/>
                </a:gdLst>
                <a:ahLst/>
                <a:cxnLst>
                  <a:cxn ang="0">
                    <a:pos x="connsiteX0" y="connsiteY0"/>
                  </a:cxn>
                  <a:cxn ang="0">
                    <a:pos x="connsiteX1" y="connsiteY1"/>
                  </a:cxn>
                  <a:cxn ang="0">
                    <a:pos x="connsiteX2" y="connsiteY2"/>
                  </a:cxn>
                  <a:cxn ang="0">
                    <a:pos x="connsiteX3" y="connsiteY3"/>
                  </a:cxn>
                </a:cxnLst>
                <a:rect l="l" t="t" r="r" b="b"/>
                <a:pathLst>
                  <a:path w="64368" h="9655">
                    <a:moveTo>
                      <a:pt x="2414" y="2414"/>
                    </a:moveTo>
                    <a:lnTo>
                      <a:pt x="63564" y="2414"/>
                    </a:lnTo>
                    <a:lnTo>
                      <a:pt x="6356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1" name="Freeform: Shape 1316">
                <a:extLst>
                  <a:ext uri="{FF2B5EF4-FFF2-40B4-BE49-F238E27FC236}">
                    <a16:creationId xmlns:a16="http://schemas.microsoft.com/office/drawing/2014/main" id="{5CC8916A-14CF-2747-8234-B02E8514E56D}"/>
                  </a:ext>
                </a:extLst>
              </p:cNvPr>
              <p:cNvSpPr/>
              <p:nvPr/>
            </p:nvSpPr>
            <p:spPr>
              <a:xfrm>
                <a:off x="9409621" y="3722312"/>
                <a:ext cx="73153" cy="27431"/>
              </a:xfrm>
              <a:custGeom>
                <a:avLst/>
                <a:gdLst>
                  <a:gd name="connsiteX0" fmla="*/ 2414 w 25747"/>
                  <a:gd name="connsiteY0" fmla="*/ 2414 h 9655"/>
                  <a:gd name="connsiteX1" fmla="*/ 23334 w 25747"/>
                  <a:gd name="connsiteY1" fmla="*/ 2414 h 9655"/>
                  <a:gd name="connsiteX2" fmla="*/ 23334 w 25747"/>
                  <a:gd name="connsiteY2" fmla="*/ 8207 h 9655"/>
                  <a:gd name="connsiteX3" fmla="*/ 2414 w 25747"/>
                  <a:gd name="connsiteY3" fmla="*/ 8207 h 9655"/>
                </a:gdLst>
                <a:ahLst/>
                <a:cxnLst>
                  <a:cxn ang="0">
                    <a:pos x="connsiteX0" y="connsiteY0"/>
                  </a:cxn>
                  <a:cxn ang="0">
                    <a:pos x="connsiteX1" y="connsiteY1"/>
                  </a:cxn>
                  <a:cxn ang="0">
                    <a:pos x="connsiteX2" y="connsiteY2"/>
                  </a:cxn>
                  <a:cxn ang="0">
                    <a:pos x="connsiteX3" y="connsiteY3"/>
                  </a:cxn>
                </a:cxnLst>
                <a:rect l="l" t="t" r="r" b="b"/>
                <a:pathLst>
                  <a:path w="25747" h="9655">
                    <a:moveTo>
                      <a:pt x="2414" y="2414"/>
                    </a:moveTo>
                    <a:lnTo>
                      <a:pt x="23334" y="2414"/>
                    </a:lnTo>
                    <a:lnTo>
                      <a:pt x="2333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2" name="Freeform: Shape 1317">
                <a:extLst>
                  <a:ext uri="{FF2B5EF4-FFF2-40B4-BE49-F238E27FC236}">
                    <a16:creationId xmlns:a16="http://schemas.microsoft.com/office/drawing/2014/main" id="{AD3482CC-22E1-EA4C-8103-D1A6CF70137A}"/>
                  </a:ext>
                </a:extLst>
              </p:cNvPr>
              <p:cNvSpPr/>
              <p:nvPr/>
            </p:nvSpPr>
            <p:spPr>
              <a:xfrm>
                <a:off x="9485516" y="3722312"/>
                <a:ext cx="246888" cy="27431"/>
              </a:xfrm>
              <a:custGeom>
                <a:avLst/>
                <a:gdLst>
                  <a:gd name="connsiteX0" fmla="*/ 2414 w 86898"/>
                  <a:gd name="connsiteY0" fmla="*/ 2414 h 9655"/>
                  <a:gd name="connsiteX1" fmla="*/ 86093 w 86898"/>
                  <a:gd name="connsiteY1" fmla="*/ 2414 h 9655"/>
                  <a:gd name="connsiteX2" fmla="*/ 86093 w 86898"/>
                  <a:gd name="connsiteY2" fmla="*/ 8207 h 9655"/>
                  <a:gd name="connsiteX3" fmla="*/ 2414 w 86898"/>
                  <a:gd name="connsiteY3" fmla="*/ 8207 h 9655"/>
                </a:gdLst>
                <a:ahLst/>
                <a:cxnLst>
                  <a:cxn ang="0">
                    <a:pos x="connsiteX0" y="connsiteY0"/>
                  </a:cxn>
                  <a:cxn ang="0">
                    <a:pos x="connsiteX1" y="connsiteY1"/>
                  </a:cxn>
                  <a:cxn ang="0">
                    <a:pos x="connsiteX2" y="connsiteY2"/>
                  </a:cxn>
                  <a:cxn ang="0">
                    <a:pos x="connsiteX3" y="connsiteY3"/>
                  </a:cxn>
                </a:cxnLst>
                <a:rect l="l" t="t" r="r" b="b"/>
                <a:pathLst>
                  <a:path w="86898" h="9655">
                    <a:moveTo>
                      <a:pt x="2414" y="2414"/>
                    </a:moveTo>
                    <a:lnTo>
                      <a:pt x="86093" y="2414"/>
                    </a:lnTo>
                    <a:lnTo>
                      <a:pt x="86093"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3" name="Freeform: Shape 1318">
                <a:extLst>
                  <a:ext uri="{FF2B5EF4-FFF2-40B4-BE49-F238E27FC236}">
                    <a16:creationId xmlns:a16="http://schemas.microsoft.com/office/drawing/2014/main" id="{CA5F187C-A1EF-BE4A-B3A6-2597E7E66EC3}"/>
                  </a:ext>
                </a:extLst>
              </p:cNvPr>
              <p:cNvSpPr/>
              <p:nvPr/>
            </p:nvSpPr>
            <p:spPr>
              <a:xfrm>
                <a:off x="9278861" y="3797292"/>
                <a:ext cx="100584" cy="27431"/>
              </a:xfrm>
              <a:custGeom>
                <a:avLst/>
                <a:gdLst>
                  <a:gd name="connsiteX0" fmla="*/ 2414 w 35402"/>
                  <a:gd name="connsiteY0" fmla="*/ 2414 h 9655"/>
                  <a:gd name="connsiteX1" fmla="*/ 34276 w 35402"/>
                  <a:gd name="connsiteY1" fmla="*/ 2414 h 9655"/>
                  <a:gd name="connsiteX2" fmla="*/ 34276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276" y="2414"/>
                    </a:lnTo>
                    <a:lnTo>
                      <a:pt x="34276"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4" name="Freeform: Shape 1319">
                <a:extLst>
                  <a:ext uri="{FF2B5EF4-FFF2-40B4-BE49-F238E27FC236}">
                    <a16:creationId xmlns:a16="http://schemas.microsoft.com/office/drawing/2014/main" id="{A3CE8477-09DF-1E41-AD2B-26543189F216}"/>
                  </a:ext>
                </a:extLst>
              </p:cNvPr>
              <p:cNvSpPr/>
              <p:nvPr/>
            </p:nvSpPr>
            <p:spPr>
              <a:xfrm>
                <a:off x="9395935" y="3797553"/>
                <a:ext cx="219457" cy="27431"/>
              </a:xfrm>
              <a:custGeom>
                <a:avLst/>
                <a:gdLst>
                  <a:gd name="connsiteX0" fmla="*/ 77725 w 77242"/>
                  <a:gd name="connsiteY0" fmla="*/ 8207 h 9655"/>
                  <a:gd name="connsiteX1" fmla="*/ 2414 w 77242"/>
                  <a:gd name="connsiteY1" fmla="*/ 8207 h 9655"/>
                  <a:gd name="connsiteX2" fmla="*/ 2414 w 77242"/>
                  <a:gd name="connsiteY2" fmla="*/ 2414 h 9655"/>
                  <a:gd name="connsiteX3" fmla="*/ 77725 w 77242"/>
                  <a:gd name="connsiteY3" fmla="*/ 2414 h 9655"/>
                </a:gdLst>
                <a:ahLst/>
                <a:cxnLst>
                  <a:cxn ang="0">
                    <a:pos x="connsiteX0" y="connsiteY0"/>
                  </a:cxn>
                  <a:cxn ang="0">
                    <a:pos x="connsiteX1" y="connsiteY1"/>
                  </a:cxn>
                  <a:cxn ang="0">
                    <a:pos x="connsiteX2" y="connsiteY2"/>
                  </a:cxn>
                  <a:cxn ang="0">
                    <a:pos x="connsiteX3" y="connsiteY3"/>
                  </a:cxn>
                </a:cxnLst>
                <a:rect l="l" t="t" r="r" b="b"/>
                <a:pathLst>
                  <a:path w="77242" h="9655">
                    <a:moveTo>
                      <a:pt x="77725" y="8207"/>
                    </a:moveTo>
                    <a:lnTo>
                      <a:pt x="2414" y="8207"/>
                    </a:lnTo>
                    <a:lnTo>
                      <a:pt x="2414" y="2414"/>
                    </a:lnTo>
                    <a:lnTo>
                      <a:pt x="7772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5" name="Freeform: Shape 1320">
                <a:extLst>
                  <a:ext uri="{FF2B5EF4-FFF2-40B4-BE49-F238E27FC236}">
                    <a16:creationId xmlns:a16="http://schemas.microsoft.com/office/drawing/2014/main" id="{D208B838-1760-364C-AB58-1AC00F39E54A}"/>
                  </a:ext>
                </a:extLst>
              </p:cNvPr>
              <p:cNvSpPr/>
              <p:nvPr/>
            </p:nvSpPr>
            <p:spPr>
              <a:xfrm>
                <a:off x="9145357" y="3464451"/>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6" name="Freeform: Shape 1321">
                <a:extLst>
                  <a:ext uri="{FF2B5EF4-FFF2-40B4-BE49-F238E27FC236}">
                    <a16:creationId xmlns:a16="http://schemas.microsoft.com/office/drawing/2014/main" id="{3D2272DC-1B83-E74A-8BD4-82E95CD4E11C}"/>
                  </a:ext>
                </a:extLst>
              </p:cNvPr>
              <p:cNvSpPr/>
              <p:nvPr/>
            </p:nvSpPr>
            <p:spPr>
              <a:xfrm>
                <a:off x="9145357" y="3527544"/>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7" name="Freeform: Shape 1322">
                <a:extLst>
                  <a:ext uri="{FF2B5EF4-FFF2-40B4-BE49-F238E27FC236}">
                    <a16:creationId xmlns:a16="http://schemas.microsoft.com/office/drawing/2014/main" id="{7D4951CA-57F3-C341-841A-75E04BE8C133}"/>
                  </a:ext>
                </a:extLst>
              </p:cNvPr>
              <p:cNvSpPr/>
              <p:nvPr/>
            </p:nvSpPr>
            <p:spPr>
              <a:xfrm>
                <a:off x="9145357" y="3590637"/>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8" name="Freeform: Shape 1323">
                <a:extLst>
                  <a:ext uri="{FF2B5EF4-FFF2-40B4-BE49-F238E27FC236}">
                    <a16:creationId xmlns:a16="http://schemas.microsoft.com/office/drawing/2014/main" id="{B9BC4B19-C3F1-B34A-9264-81D29388BA96}"/>
                  </a:ext>
                </a:extLst>
              </p:cNvPr>
              <p:cNvSpPr/>
              <p:nvPr/>
            </p:nvSpPr>
            <p:spPr>
              <a:xfrm>
                <a:off x="9145357" y="3654645"/>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09" name="Freeform: Shape 1324">
                <a:extLst>
                  <a:ext uri="{FF2B5EF4-FFF2-40B4-BE49-F238E27FC236}">
                    <a16:creationId xmlns:a16="http://schemas.microsoft.com/office/drawing/2014/main" id="{CF1D8925-D1B2-DE49-9915-5BEE0569DF15}"/>
                  </a:ext>
                </a:extLst>
              </p:cNvPr>
              <p:cNvSpPr/>
              <p:nvPr/>
            </p:nvSpPr>
            <p:spPr>
              <a:xfrm>
                <a:off x="9145357" y="3717738"/>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10" name="Freeform: Shape 1325">
                <a:extLst>
                  <a:ext uri="{FF2B5EF4-FFF2-40B4-BE49-F238E27FC236}">
                    <a16:creationId xmlns:a16="http://schemas.microsoft.com/office/drawing/2014/main" id="{118B462C-6FE1-1845-BF91-E7BBB4096EC5}"/>
                  </a:ext>
                </a:extLst>
              </p:cNvPr>
              <p:cNvSpPr/>
              <p:nvPr/>
            </p:nvSpPr>
            <p:spPr>
              <a:xfrm>
                <a:off x="9145357" y="3780833"/>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11" name="Freeform: Shape 1326">
                <a:extLst>
                  <a:ext uri="{FF2B5EF4-FFF2-40B4-BE49-F238E27FC236}">
                    <a16:creationId xmlns:a16="http://schemas.microsoft.com/office/drawing/2014/main" id="{37D2534F-AE36-8848-809B-4508856F5DBE}"/>
                  </a:ext>
                </a:extLst>
              </p:cNvPr>
              <p:cNvSpPr/>
              <p:nvPr/>
            </p:nvSpPr>
            <p:spPr>
              <a:xfrm>
                <a:off x="9145357" y="3843926"/>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grpSp>
        <p:grpSp>
          <p:nvGrpSpPr>
            <p:cNvPr id="486" name="Group 485">
              <a:extLst>
                <a:ext uri="{FF2B5EF4-FFF2-40B4-BE49-F238E27FC236}">
                  <a16:creationId xmlns:a16="http://schemas.microsoft.com/office/drawing/2014/main" id="{7B3BC54E-2046-1F48-A586-4D12886F2940}"/>
                </a:ext>
              </a:extLst>
            </p:cNvPr>
            <p:cNvGrpSpPr/>
            <p:nvPr/>
          </p:nvGrpSpPr>
          <p:grpSpPr>
            <a:xfrm>
              <a:off x="14184160" y="3439575"/>
              <a:ext cx="193015" cy="188521"/>
              <a:chOff x="8848997" y="6359275"/>
              <a:chExt cx="785468" cy="767180"/>
            </a:xfrm>
          </p:grpSpPr>
          <p:sp>
            <p:nvSpPr>
              <p:cNvPr id="487" name="Freeform: Shape 1302">
                <a:extLst>
                  <a:ext uri="{FF2B5EF4-FFF2-40B4-BE49-F238E27FC236}">
                    <a16:creationId xmlns:a16="http://schemas.microsoft.com/office/drawing/2014/main" id="{8B7C3BB1-AE3F-2A44-85AA-1EEAFE4D2DD3}"/>
                  </a:ext>
                </a:extLst>
              </p:cNvPr>
              <p:cNvSpPr/>
              <p:nvPr/>
            </p:nvSpPr>
            <p:spPr>
              <a:xfrm>
                <a:off x="8998045" y="6725948"/>
                <a:ext cx="265176" cy="27431"/>
              </a:xfrm>
              <a:custGeom>
                <a:avLst/>
                <a:gdLst>
                  <a:gd name="connsiteX0" fmla="*/ 4828 w 93334"/>
                  <a:gd name="connsiteY0" fmla="*/ 4828 h 9655"/>
                  <a:gd name="connsiteX1" fmla="*/ 91404 w 93334"/>
                  <a:gd name="connsiteY1" fmla="*/ 4828 h 9655"/>
                </a:gdLst>
                <a:ahLst/>
                <a:cxnLst>
                  <a:cxn ang="0">
                    <a:pos x="connsiteX0" y="connsiteY0"/>
                  </a:cxn>
                  <a:cxn ang="0">
                    <a:pos x="connsiteX1" y="connsiteY1"/>
                  </a:cxn>
                </a:cxnLst>
                <a:rect l="l" t="t" r="r" b="b"/>
                <a:pathLst>
                  <a:path w="93334" h="9655">
                    <a:moveTo>
                      <a:pt x="4828" y="4828"/>
                    </a:moveTo>
                    <a:lnTo>
                      <a:pt x="91404"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88" name="Freeform: Shape 1303">
                <a:extLst>
                  <a:ext uri="{FF2B5EF4-FFF2-40B4-BE49-F238E27FC236}">
                    <a16:creationId xmlns:a16="http://schemas.microsoft.com/office/drawing/2014/main" id="{C710D795-B5E0-874D-A005-D686E7A8CD3B}"/>
                  </a:ext>
                </a:extLst>
              </p:cNvPr>
              <p:cNvSpPr/>
              <p:nvPr/>
            </p:nvSpPr>
            <p:spPr>
              <a:xfrm>
                <a:off x="8951411" y="6639080"/>
                <a:ext cx="182880" cy="27431"/>
              </a:xfrm>
              <a:custGeom>
                <a:avLst/>
                <a:gdLst>
                  <a:gd name="connsiteX0" fmla="*/ 4828 w 64368"/>
                  <a:gd name="connsiteY0" fmla="*/ 4828 h 9655"/>
                  <a:gd name="connsiteX1" fmla="*/ 62116 w 64368"/>
                  <a:gd name="connsiteY1" fmla="*/ 4828 h 9655"/>
                </a:gdLst>
                <a:ahLst/>
                <a:cxnLst>
                  <a:cxn ang="0">
                    <a:pos x="connsiteX0" y="connsiteY0"/>
                  </a:cxn>
                  <a:cxn ang="0">
                    <a:pos x="connsiteX1" y="connsiteY1"/>
                  </a:cxn>
                </a:cxnLst>
                <a:rect l="l" t="t" r="r" b="b"/>
                <a:pathLst>
                  <a:path w="64368" h="9655">
                    <a:moveTo>
                      <a:pt x="4828" y="4828"/>
                    </a:moveTo>
                    <a:lnTo>
                      <a:pt x="62116"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89" name="Freeform: Shape 1304">
                <a:extLst>
                  <a:ext uri="{FF2B5EF4-FFF2-40B4-BE49-F238E27FC236}">
                    <a16:creationId xmlns:a16="http://schemas.microsoft.com/office/drawing/2014/main" id="{3E6BF537-1614-2F49-A92F-171F3A44367B}"/>
                  </a:ext>
                </a:extLst>
              </p:cNvPr>
              <p:cNvSpPr/>
              <p:nvPr/>
            </p:nvSpPr>
            <p:spPr>
              <a:xfrm>
                <a:off x="9150750" y="6639080"/>
                <a:ext cx="91439" cy="27431"/>
              </a:xfrm>
              <a:custGeom>
                <a:avLst/>
                <a:gdLst>
                  <a:gd name="connsiteX0" fmla="*/ 4828 w 32184"/>
                  <a:gd name="connsiteY0" fmla="*/ 4828 h 9655"/>
                  <a:gd name="connsiteX1" fmla="*/ 29288 w 32184"/>
                  <a:gd name="connsiteY1" fmla="*/ 4828 h 9655"/>
                </a:gdLst>
                <a:ahLst/>
                <a:cxnLst>
                  <a:cxn ang="0">
                    <a:pos x="connsiteX0" y="connsiteY0"/>
                  </a:cxn>
                  <a:cxn ang="0">
                    <a:pos x="connsiteX1" y="connsiteY1"/>
                  </a:cxn>
                </a:cxnLst>
                <a:rect l="l" t="t" r="r" b="b"/>
                <a:pathLst>
                  <a:path w="32184" h="9655">
                    <a:moveTo>
                      <a:pt x="4828" y="4828"/>
                    </a:moveTo>
                    <a:lnTo>
                      <a:pt x="2928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90" name="Freeform: Shape 1305">
                <a:extLst>
                  <a:ext uri="{FF2B5EF4-FFF2-40B4-BE49-F238E27FC236}">
                    <a16:creationId xmlns:a16="http://schemas.microsoft.com/office/drawing/2014/main" id="{26A6ADFD-4E25-154A-90DE-A4F63948FA38}"/>
                  </a:ext>
                </a:extLst>
              </p:cNvPr>
              <p:cNvSpPr/>
              <p:nvPr/>
            </p:nvSpPr>
            <p:spPr>
              <a:xfrm>
                <a:off x="9056566" y="6553128"/>
                <a:ext cx="256031" cy="27431"/>
              </a:xfrm>
              <a:custGeom>
                <a:avLst/>
                <a:gdLst>
                  <a:gd name="connsiteX0" fmla="*/ 4828 w 90116"/>
                  <a:gd name="connsiteY0" fmla="*/ 4828 h 9655"/>
                  <a:gd name="connsiteX1" fmla="*/ 86898 w 90116"/>
                  <a:gd name="connsiteY1" fmla="*/ 4828 h 9655"/>
                </a:gdLst>
                <a:ahLst/>
                <a:cxnLst>
                  <a:cxn ang="0">
                    <a:pos x="connsiteX0" y="connsiteY0"/>
                  </a:cxn>
                  <a:cxn ang="0">
                    <a:pos x="connsiteX1" y="connsiteY1"/>
                  </a:cxn>
                </a:cxnLst>
                <a:rect l="l" t="t" r="r" b="b"/>
                <a:pathLst>
                  <a:path w="90116" h="9655">
                    <a:moveTo>
                      <a:pt x="4828" y="4828"/>
                    </a:moveTo>
                    <a:lnTo>
                      <a:pt x="8689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91" name="Freeform: Shape 1306">
                <a:extLst>
                  <a:ext uri="{FF2B5EF4-FFF2-40B4-BE49-F238E27FC236}">
                    <a16:creationId xmlns:a16="http://schemas.microsoft.com/office/drawing/2014/main" id="{343F44DC-1813-9D4E-BA39-74B433831701}"/>
                  </a:ext>
                </a:extLst>
              </p:cNvPr>
              <p:cNvSpPr/>
              <p:nvPr/>
            </p:nvSpPr>
            <p:spPr>
              <a:xfrm>
                <a:off x="8848997" y="6359275"/>
                <a:ext cx="585214" cy="576072"/>
              </a:xfrm>
              <a:custGeom>
                <a:avLst/>
                <a:gdLst>
                  <a:gd name="connsiteX0" fmla="*/ 201153 w 205980"/>
                  <a:gd name="connsiteY0" fmla="*/ 102990 h 202762"/>
                  <a:gd name="connsiteX1" fmla="*/ 102990 w 205980"/>
                  <a:gd name="connsiteY1" fmla="*/ 201153 h 202762"/>
                  <a:gd name="connsiteX2" fmla="*/ 4828 w 205980"/>
                  <a:gd name="connsiteY2" fmla="*/ 102990 h 202762"/>
                  <a:gd name="connsiteX3" fmla="*/ 102990 w 205980"/>
                  <a:gd name="connsiteY3" fmla="*/ 4828 h 202762"/>
                  <a:gd name="connsiteX4" fmla="*/ 201153 w 205980"/>
                  <a:gd name="connsiteY4" fmla="*/ 102990 h 202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980" h="202762">
                    <a:moveTo>
                      <a:pt x="201153" y="102990"/>
                    </a:moveTo>
                    <a:cubicBezTo>
                      <a:pt x="201153" y="157204"/>
                      <a:pt x="157204" y="201153"/>
                      <a:pt x="102990" y="201153"/>
                    </a:cubicBezTo>
                    <a:cubicBezTo>
                      <a:pt x="48777" y="201153"/>
                      <a:pt x="4828" y="157204"/>
                      <a:pt x="4828" y="102990"/>
                    </a:cubicBezTo>
                    <a:cubicBezTo>
                      <a:pt x="4828" y="48777"/>
                      <a:pt x="48777" y="4828"/>
                      <a:pt x="102990" y="4828"/>
                    </a:cubicBezTo>
                    <a:cubicBezTo>
                      <a:pt x="157204" y="4828"/>
                      <a:pt x="201153" y="48777"/>
                      <a:pt x="201153" y="102990"/>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492" name="Freeform: Shape 1307">
                <a:extLst>
                  <a:ext uri="{FF2B5EF4-FFF2-40B4-BE49-F238E27FC236}">
                    <a16:creationId xmlns:a16="http://schemas.microsoft.com/office/drawing/2014/main" id="{C640428B-9E98-1C41-9C54-A2B8104D0252}"/>
                  </a:ext>
                </a:extLst>
              </p:cNvPr>
              <p:cNvSpPr/>
              <p:nvPr/>
            </p:nvSpPr>
            <p:spPr>
              <a:xfrm>
                <a:off x="9277850" y="6769840"/>
                <a:ext cx="356615" cy="356615"/>
              </a:xfrm>
              <a:custGeom>
                <a:avLst/>
                <a:gdLst>
                  <a:gd name="connsiteX0" fmla="*/ 39909 w 125519"/>
                  <a:gd name="connsiteY0" fmla="*/ 4828 h 125519"/>
                  <a:gd name="connsiteX1" fmla="*/ 114255 w 125519"/>
                  <a:gd name="connsiteY1" fmla="*/ 79496 h 125519"/>
                  <a:gd name="connsiteX2" fmla="*/ 113611 w 125519"/>
                  <a:gd name="connsiteY2" fmla="*/ 114898 h 125519"/>
                  <a:gd name="connsiteX3" fmla="*/ 113611 w 125519"/>
                  <a:gd name="connsiteY3" fmla="*/ 114898 h 125519"/>
                  <a:gd name="connsiteX4" fmla="*/ 78208 w 125519"/>
                  <a:gd name="connsiteY4" fmla="*/ 115542 h 125519"/>
                  <a:gd name="connsiteX5" fmla="*/ 4828 w 125519"/>
                  <a:gd name="connsiteY5" fmla="*/ 42162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19" h="125519">
                    <a:moveTo>
                      <a:pt x="39909" y="4828"/>
                    </a:moveTo>
                    <a:lnTo>
                      <a:pt x="114255" y="79496"/>
                    </a:lnTo>
                    <a:cubicBezTo>
                      <a:pt x="123910" y="89151"/>
                      <a:pt x="123588" y="104921"/>
                      <a:pt x="113611" y="114898"/>
                    </a:cubicBezTo>
                    <a:lnTo>
                      <a:pt x="113611" y="114898"/>
                    </a:lnTo>
                    <a:cubicBezTo>
                      <a:pt x="103634" y="124876"/>
                      <a:pt x="87864" y="125197"/>
                      <a:pt x="78208" y="115542"/>
                    </a:cubicBezTo>
                    <a:lnTo>
                      <a:pt x="4828" y="4216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grpSp>
        <p:nvGrpSpPr>
          <p:cNvPr id="524" name="Group 523">
            <a:extLst>
              <a:ext uri="{FF2B5EF4-FFF2-40B4-BE49-F238E27FC236}">
                <a16:creationId xmlns:a16="http://schemas.microsoft.com/office/drawing/2014/main" id="{6DE714A1-B90A-EA40-8F08-ABA42DC7E9F7}"/>
              </a:ext>
            </a:extLst>
          </p:cNvPr>
          <p:cNvGrpSpPr/>
          <p:nvPr/>
        </p:nvGrpSpPr>
        <p:grpSpPr>
          <a:xfrm>
            <a:off x="13198478" y="2935706"/>
            <a:ext cx="462784" cy="356616"/>
            <a:chOff x="13914391" y="3271480"/>
            <a:chExt cx="462784" cy="356616"/>
          </a:xfrm>
        </p:grpSpPr>
        <p:grpSp>
          <p:nvGrpSpPr>
            <p:cNvPr id="525" name="Group 524">
              <a:extLst>
                <a:ext uri="{FF2B5EF4-FFF2-40B4-BE49-F238E27FC236}">
                  <a16:creationId xmlns:a16="http://schemas.microsoft.com/office/drawing/2014/main" id="{9A8DA376-536B-7648-83F9-7FE27A6AB4C0}"/>
                </a:ext>
              </a:extLst>
            </p:cNvPr>
            <p:cNvGrpSpPr/>
            <p:nvPr/>
          </p:nvGrpSpPr>
          <p:grpSpPr>
            <a:xfrm>
              <a:off x="13914391" y="3271480"/>
              <a:ext cx="334784" cy="292114"/>
              <a:chOff x="8648967" y="2983833"/>
              <a:chExt cx="1285975" cy="1122070"/>
            </a:xfrm>
          </p:grpSpPr>
          <p:sp>
            <p:nvSpPr>
              <p:cNvPr id="553" name="Freeform: Shape 1327">
                <a:extLst>
                  <a:ext uri="{FF2B5EF4-FFF2-40B4-BE49-F238E27FC236}">
                    <a16:creationId xmlns:a16="http://schemas.microsoft.com/office/drawing/2014/main" id="{237C4F38-18DC-1649-98B5-DA1415610CDC}"/>
                  </a:ext>
                </a:extLst>
              </p:cNvPr>
              <p:cNvSpPr/>
              <p:nvPr/>
            </p:nvSpPr>
            <p:spPr>
              <a:xfrm>
                <a:off x="9051631" y="3389926"/>
                <a:ext cx="822960" cy="576072"/>
              </a:xfrm>
              <a:custGeom>
                <a:avLst/>
                <a:gdLst>
                  <a:gd name="connsiteX0" fmla="*/ 288051 w 289660"/>
                  <a:gd name="connsiteY0" fmla="*/ 93657 h 202762"/>
                  <a:gd name="connsiteX1" fmla="*/ 288051 w 289660"/>
                  <a:gd name="connsiteY1" fmla="*/ 12552 h 202762"/>
                  <a:gd name="connsiteX2" fmla="*/ 280327 w 289660"/>
                  <a:gd name="connsiteY2" fmla="*/ 4828 h 202762"/>
                  <a:gd name="connsiteX3" fmla="*/ 12552 w 289660"/>
                  <a:gd name="connsiteY3" fmla="*/ 4828 h 202762"/>
                  <a:gd name="connsiteX4" fmla="*/ 4828 w 289660"/>
                  <a:gd name="connsiteY4" fmla="*/ 12552 h 202762"/>
                  <a:gd name="connsiteX5" fmla="*/ 4828 w 289660"/>
                  <a:gd name="connsiteY5" fmla="*/ 190854 h 202762"/>
                  <a:gd name="connsiteX6" fmla="*/ 12552 w 289660"/>
                  <a:gd name="connsiteY6" fmla="*/ 198578 h 202762"/>
                  <a:gd name="connsiteX7" fmla="*/ 225613 w 289660"/>
                  <a:gd name="connsiteY7" fmla="*/ 198578 h 20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60" h="202762">
                    <a:moveTo>
                      <a:pt x="288051" y="93657"/>
                    </a:moveTo>
                    <a:lnTo>
                      <a:pt x="288051" y="12552"/>
                    </a:lnTo>
                    <a:cubicBezTo>
                      <a:pt x="288051" y="8046"/>
                      <a:pt x="284511" y="4828"/>
                      <a:pt x="280327" y="4828"/>
                    </a:cubicBezTo>
                    <a:lnTo>
                      <a:pt x="12552" y="4828"/>
                    </a:lnTo>
                    <a:cubicBezTo>
                      <a:pt x="8046" y="4828"/>
                      <a:pt x="4828" y="8368"/>
                      <a:pt x="4828" y="12552"/>
                    </a:cubicBezTo>
                    <a:lnTo>
                      <a:pt x="4828" y="190854"/>
                    </a:lnTo>
                    <a:cubicBezTo>
                      <a:pt x="4828" y="195360"/>
                      <a:pt x="8368" y="198578"/>
                      <a:pt x="12552" y="198578"/>
                    </a:cubicBezTo>
                    <a:lnTo>
                      <a:pt x="225613" y="19857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4" name="Freeform: Shape 1328">
                <a:extLst>
                  <a:ext uri="{FF2B5EF4-FFF2-40B4-BE49-F238E27FC236}">
                    <a16:creationId xmlns:a16="http://schemas.microsoft.com/office/drawing/2014/main" id="{D9EDAD6B-EDC2-C240-B073-2CD286D8B92F}"/>
                  </a:ext>
                </a:extLst>
              </p:cNvPr>
              <p:cNvSpPr/>
              <p:nvPr/>
            </p:nvSpPr>
            <p:spPr>
              <a:xfrm>
                <a:off x="8896185" y="4005319"/>
                <a:ext cx="841248" cy="100584"/>
              </a:xfrm>
              <a:custGeom>
                <a:avLst/>
                <a:gdLst>
                  <a:gd name="connsiteX0" fmla="*/ 291913 w 296096"/>
                  <a:gd name="connsiteY0" fmla="*/ 33472 h 35402"/>
                  <a:gd name="connsiteX1" fmla="*/ 28000 w 296096"/>
                  <a:gd name="connsiteY1" fmla="*/ 33472 h 35402"/>
                  <a:gd name="connsiteX2" fmla="*/ 4828 w 296096"/>
                  <a:gd name="connsiteY2" fmla="*/ 23495 h 35402"/>
                  <a:gd name="connsiteX3" fmla="*/ 4828 w 296096"/>
                  <a:gd name="connsiteY3" fmla="*/ 4828 h 35402"/>
                  <a:gd name="connsiteX4" fmla="*/ 42483 w 296096"/>
                  <a:gd name="connsiteY4" fmla="*/ 4828 h 3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96" h="35402">
                    <a:moveTo>
                      <a:pt x="291913" y="33472"/>
                    </a:moveTo>
                    <a:lnTo>
                      <a:pt x="28000" y="33472"/>
                    </a:lnTo>
                    <a:cubicBezTo>
                      <a:pt x="28000" y="33472"/>
                      <a:pt x="11265" y="33472"/>
                      <a:pt x="4828" y="23495"/>
                    </a:cubicBezTo>
                    <a:lnTo>
                      <a:pt x="4828" y="4828"/>
                    </a:lnTo>
                    <a:lnTo>
                      <a:pt x="42483" y="4828"/>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5" name="Freeform: Shape 1329">
                <a:extLst>
                  <a:ext uri="{FF2B5EF4-FFF2-40B4-BE49-F238E27FC236}">
                    <a16:creationId xmlns:a16="http://schemas.microsoft.com/office/drawing/2014/main" id="{70F46895-FB37-4C4F-BC38-FA04E9302BD0}"/>
                  </a:ext>
                </a:extLst>
              </p:cNvPr>
              <p:cNvSpPr/>
              <p:nvPr/>
            </p:nvSpPr>
            <p:spPr>
              <a:xfrm>
                <a:off x="8993109" y="3337806"/>
                <a:ext cx="941833" cy="685799"/>
              </a:xfrm>
              <a:custGeom>
                <a:avLst/>
                <a:gdLst>
                  <a:gd name="connsiteX0" fmla="*/ 327638 w 331499"/>
                  <a:gd name="connsiteY0" fmla="*/ 93335 h 241383"/>
                  <a:gd name="connsiteX1" fmla="*/ 327638 w 331499"/>
                  <a:gd name="connsiteY1" fmla="*/ 12552 h 241383"/>
                  <a:gd name="connsiteX2" fmla="*/ 319913 w 331499"/>
                  <a:gd name="connsiteY2" fmla="*/ 4828 h 241383"/>
                  <a:gd name="connsiteX3" fmla="*/ 12552 w 331499"/>
                  <a:gd name="connsiteY3" fmla="*/ 4828 h 241383"/>
                  <a:gd name="connsiteX4" fmla="*/ 4828 w 331499"/>
                  <a:gd name="connsiteY4" fmla="*/ 12552 h 241383"/>
                  <a:gd name="connsiteX5" fmla="*/ 4828 w 331499"/>
                  <a:gd name="connsiteY5" fmla="*/ 232050 h 241383"/>
                  <a:gd name="connsiteX6" fmla="*/ 12552 w 331499"/>
                  <a:gd name="connsiteY6" fmla="*/ 239774 h 241383"/>
                  <a:gd name="connsiteX7" fmla="*/ 255223 w 331499"/>
                  <a:gd name="connsiteY7" fmla="*/ 239774 h 24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499" h="241383">
                    <a:moveTo>
                      <a:pt x="327638" y="93335"/>
                    </a:moveTo>
                    <a:lnTo>
                      <a:pt x="327638" y="12552"/>
                    </a:lnTo>
                    <a:cubicBezTo>
                      <a:pt x="327638" y="8046"/>
                      <a:pt x="324097" y="4828"/>
                      <a:pt x="319913" y="4828"/>
                    </a:cubicBezTo>
                    <a:lnTo>
                      <a:pt x="12552" y="4828"/>
                    </a:lnTo>
                    <a:cubicBezTo>
                      <a:pt x="8046" y="4828"/>
                      <a:pt x="4828" y="8368"/>
                      <a:pt x="4828" y="12552"/>
                    </a:cubicBezTo>
                    <a:lnTo>
                      <a:pt x="4828" y="232050"/>
                    </a:lnTo>
                    <a:cubicBezTo>
                      <a:pt x="4828" y="236556"/>
                      <a:pt x="8368" y="239774"/>
                      <a:pt x="12552" y="239774"/>
                    </a:cubicBezTo>
                    <a:lnTo>
                      <a:pt x="255223" y="239774"/>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6" name="Freeform: Shape 1330">
                <a:extLst>
                  <a:ext uri="{FF2B5EF4-FFF2-40B4-BE49-F238E27FC236}">
                    <a16:creationId xmlns:a16="http://schemas.microsoft.com/office/drawing/2014/main" id="{C3773AB4-61C4-264E-979E-68AA427D65F3}"/>
                  </a:ext>
                </a:extLst>
              </p:cNvPr>
              <p:cNvSpPr/>
              <p:nvPr/>
            </p:nvSpPr>
            <p:spPr>
              <a:xfrm>
                <a:off x="9042974" y="327572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7" name="Freeform: Shape 1331">
                <a:extLst>
                  <a:ext uri="{FF2B5EF4-FFF2-40B4-BE49-F238E27FC236}">
                    <a16:creationId xmlns:a16="http://schemas.microsoft.com/office/drawing/2014/main" id="{C3A9780A-5E18-3841-A4AE-A7C24AB82491}"/>
                  </a:ext>
                </a:extLst>
              </p:cNvPr>
              <p:cNvSpPr/>
              <p:nvPr/>
            </p:nvSpPr>
            <p:spPr>
              <a:xfrm>
                <a:off x="8961937" y="316267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8" name="Freeform: Shape 1332">
                <a:extLst>
                  <a:ext uri="{FF2B5EF4-FFF2-40B4-BE49-F238E27FC236}">
                    <a16:creationId xmlns:a16="http://schemas.microsoft.com/office/drawing/2014/main" id="{CE3CC4C5-3664-E749-B3D9-AD26EF4B1C42}"/>
                  </a:ext>
                </a:extLst>
              </p:cNvPr>
              <p:cNvSpPr/>
              <p:nvPr/>
            </p:nvSpPr>
            <p:spPr>
              <a:xfrm>
                <a:off x="9074170" y="3039948"/>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59" name="Freeform: Shape 1333">
                <a:extLst>
                  <a:ext uri="{FF2B5EF4-FFF2-40B4-BE49-F238E27FC236}">
                    <a16:creationId xmlns:a16="http://schemas.microsoft.com/office/drawing/2014/main" id="{C88D6198-1C2C-FE47-B9C1-AD6A31FE45D7}"/>
                  </a:ext>
                </a:extLst>
              </p:cNvPr>
              <p:cNvSpPr/>
              <p:nvPr/>
            </p:nvSpPr>
            <p:spPr>
              <a:xfrm>
                <a:off x="8648967" y="2983833"/>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0" name="Freeform: Shape 1334">
                <a:extLst>
                  <a:ext uri="{FF2B5EF4-FFF2-40B4-BE49-F238E27FC236}">
                    <a16:creationId xmlns:a16="http://schemas.microsoft.com/office/drawing/2014/main" id="{A12720DB-5CD5-3444-81EF-A1E249FAE195}"/>
                  </a:ext>
                </a:extLst>
              </p:cNvPr>
              <p:cNvSpPr/>
              <p:nvPr/>
            </p:nvSpPr>
            <p:spPr>
              <a:xfrm>
                <a:off x="9164560" y="3227184"/>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1" name="Freeform: Shape 1335">
                <a:extLst>
                  <a:ext uri="{FF2B5EF4-FFF2-40B4-BE49-F238E27FC236}">
                    <a16:creationId xmlns:a16="http://schemas.microsoft.com/office/drawing/2014/main" id="{399202F9-D213-9544-9395-5770D52F97C8}"/>
                  </a:ext>
                </a:extLst>
              </p:cNvPr>
              <p:cNvSpPr/>
              <p:nvPr/>
            </p:nvSpPr>
            <p:spPr>
              <a:xfrm>
                <a:off x="8885650" y="3287035"/>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2" name="Freeform: Shape 1336">
                <a:extLst>
                  <a:ext uri="{FF2B5EF4-FFF2-40B4-BE49-F238E27FC236}">
                    <a16:creationId xmlns:a16="http://schemas.microsoft.com/office/drawing/2014/main" id="{09D904E0-4339-304D-9ED2-61EA861988CB}"/>
                  </a:ext>
                </a:extLst>
              </p:cNvPr>
              <p:cNvSpPr/>
              <p:nvPr/>
            </p:nvSpPr>
            <p:spPr>
              <a:xfrm>
                <a:off x="8867336" y="3474179"/>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3" name="Freeform: Shape 1337">
                <a:extLst>
                  <a:ext uri="{FF2B5EF4-FFF2-40B4-BE49-F238E27FC236}">
                    <a16:creationId xmlns:a16="http://schemas.microsoft.com/office/drawing/2014/main" id="{B285F500-AF57-BE48-B47A-2E2400588F4F}"/>
                  </a:ext>
                </a:extLst>
              </p:cNvPr>
              <p:cNvSpPr/>
              <p:nvPr/>
            </p:nvSpPr>
            <p:spPr>
              <a:xfrm>
                <a:off x="8743699" y="3361947"/>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64" name="Freeform: Shape 1338">
                <a:extLst>
                  <a:ext uri="{FF2B5EF4-FFF2-40B4-BE49-F238E27FC236}">
                    <a16:creationId xmlns:a16="http://schemas.microsoft.com/office/drawing/2014/main" id="{2DFA53FC-E067-7641-BE60-C05ED8C6DCCD}"/>
                  </a:ext>
                </a:extLst>
              </p:cNvPr>
              <p:cNvSpPr/>
              <p:nvPr/>
            </p:nvSpPr>
            <p:spPr>
              <a:xfrm>
                <a:off x="8809425" y="3151601"/>
                <a:ext cx="82296" cy="8229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nvGrpSpPr>
            <p:cNvPr id="526" name="Group 525">
              <a:extLst>
                <a:ext uri="{FF2B5EF4-FFF2-40B4-BE49-F238E27FC236}">
                  <a16:creationId xmlns:a16="http://schemas.microsoft.com/office/drawing/2014/main" id="{73B71D38-04EC-AF47-B432-E3E9E1E7C69B}"/>
                </a:ext>
              </a:extLst>
            </p:cNvPr>
            <p:cNvGrpSpPr/>
            <p:nvPr/>
          </p:nvGrpSpPr>
          <p:grpSpPr>
            <a:xfrm>
              <a:off x="14043618" y="3396602"/>
              <a:ext cx="167758" cy="108313"/>
              <a:chOff x="9145357" y="3464451"/>
              <a:chExt cx="644395" cy="416052"/>
            </a:xfrm>
          </p:grpSpPr>
          <p:sp>
            <p:nvSpPr>
              <p:cNvPr id="534" name="Freeform: Shape 1308">
                <a:extLst>
                  <a:ext uri="{FF2B5EF4-FFF2-40B4-BE49-F238E27FC236}">
                    <a16:creationId xmlns:a16="http://schemas.microsoft.com/office/drawing/2014/main" id="{B764D0B5-903B-BE45-AA31-E07331181C45}"/>
                  </a:ext>
                </a:extLst>
              </p:cNvPr>
              <p:cNvSpPr/>
              <p:nvPr/>
            </p:nvSpPr>
            <p:spPr>
              <a:xfrm>
                <a:off x="9222167" y="3515657"/>
                <a:ext cx="228600" cy="27431"/>
              </a:xfrm>
              <a:custGeom>
                <a:avLst/>
                <a:gdLst>
                  <a:gd name="connsiteX0" fmla="*/ 2414 w 80461"/>
                  <a:gd name="connsiteY0" fmla="*/ 2414 h 9655"/>
                  <a:gd name="connsiteX1" fmla="*/ 78691 w 80461"/>
                  <a:gd name="connsiteY1" fmla="*/ 2414 h 9655"/>
                  <a:gd name="connsiteX2" fmla="*/ 78691 w 80461"/>
                  <a:gd name="connsiteY2" fmla="*/ 8207 h 9655"/>
                  <a:gd name="connsiteX3" fmla="*/ 2414 w 80461"/>
                  <a:gd name="connsiteY3" fmla="*/ 8207 h 9655"/>
                </a:gdLst>
                <a:ahLst/>
                <a:cxnLst>
                  <a:cxn ang="0">
                    <a:pos x="connsiteX0" y="connsiteY0"/>
                  </a:cxn>
                  <a:cxn ang="0">
                    <a:pos x="connsiteX1" y="connsiteY1"/>
                  </a:cxn>
                  <a:cxn ang="0">
                    <a:pos x="connsiteX2" y="connsiteY2"/>
                  </a:cxn>
                  <a:cxn ang="0">
                    <a:pos x="connsiteX3" y="connsiteY3"/>
                  </a:cxn>
                </a:cxnLst>
                <a:rect l="l" t="t" r="r" b="b"/>
                <a:pathLst>
                  <a:path w="80461" h="9655">
                    <a:moveTo>
                      <a:pt x="2414" y="2414"/>
                    </a:moveTo>
                    <a:lnTo>
                      <a:pt x="78691" y="2414"/>
                    </a:lnTo>
                    <a:lnTo>
                      <a:pt x="78691"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35" name="Freeform: Shape 1309">
                <a:extLst>
                  <a:ext uri="{FF2B5EF4-FFF2-40B4-BE49-F238E27FC236}">
                    <a16:creationId xmlns:a16="http://schemas.microsoft.com/office/drawing/2014/main" id="{7DD00A08-6565-A64F-A8FF-74BB67CEC1D2}"/>
                  </a:ext>
                </a:extLst>
              </p:cNvPr>
              <p:cNvSpPr/>
              <p:nvPr/>
            </p:nvSpPr>
            <p:spPr>
              <a:xfrm>
                <a:off x="9461847" y="3515086"/>
                <a:ext cx="164592" cy="27431"/>
              </a:xfrm>
              <a:custGeom>
                <a:avLst/>
                <a:gdLst>
                  <a:gd name="connsiteX0" fmla="*/ 57771 w 57932"/>
                  <a:gd name="connsiteY0" fmla="*/ 8207 h 9655"/>
                  <a:gd name="connsiteX1" fmla="*/ 2414 w 57932"/>
                  <a:gd name="connsiteY1" fmla="*/ 8207 h 9655"/>
                  <a:gd name="connsiteX2" fmla="*/ 2414 w 57932"/>
                  <a:gd name="connsiteY2" fmla="*/ 2414 h 9655"/>
                  <a:gd name="connsiteX3" fmla="*/ 57771 w 57932"/>
                  <a:gd name="connsiteY3" fmla="*/ 2414 h 9655"/>
                </a:gdLst>
                <a:ahLst/>
                <a:cxnLst>
                  <a:cxn ang="0">
                    <a:pos x="connsiteX0" y="connsiteY0"/>
                  </a:cxn>
                  <a:cxn ang="0">
                    <a:pos x="connsiteX1" y="connsiteY1"/>
                  </a:cxn>
                  <a:cxn ang="0">
                    <a:pos x="connsiteX2" y="connsiteY2"/>
                  </a:cxn>
                  <a:cxn ang="0">
                    <a:pos x="connsiteX3" y="connsiteY3"/>
                  </a:cxn>
                </a:cxnLst>
                <a:rect l="l" t="t" r="r" b="b"/>
                <a:pathLst>
                  <a:path w="57932" h="9655">
                    <a:moveTo>
                      <a:pt x="57771" y="8207"/>
                    </a:moveTo>
                    <a:lnTo>
                      <a:pt x="2414" y="8207"/>
                    </a:lnTo>
                    <a:lnTo>
                      <a:pt x="2414" y="2414"/>
                    </a:lnTo>
                    <a:lnTo>
                      <a:pt x="5777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36" name="Freeform: Shape 1310">
                <a:extLst>
                  <a:ext uri="{FF2B5EF4-FFF2-40B4-BE49-F238E27FC236}">
                    <a16:creationId xmlns:a16="http://schemas.microsoft.com/office/drawing/2014/main" id="{34484CDE-0D12-3A43-BB21-FD5355BCF02C}"/>
                  </a:ext>
                </a:extLst>
              </p:cNvPr>
              <p:cNvSpPr/>
              <p:nvPr/>
            </p:nvSpPr>
            <p:spPr>
              <a:xfrm>
                <a:off x="9278861" y="3589722"/>
                <a:ext cx="301753" cy="27431"/>
              </a:xfrm>
              <a:custGeom>
                <a:avLst/>
                <a:gdLst>
                  <a:gd name="connsiteX0" fmla="*/ 2414 w 106208"/>
                  <a:gd name="connsiteY0" fmla="*/ 2414 h 9655"/>
                  <a:gd name="connsiteX1" fmla="*/ 104760 w 106208"/>
                  <a:gd name="connsiteY1" fmla="*/ 2414 h 9655"/>
                  <a:gd name="connsiteX2" fmla="*/ 104760 w 106208"/>
                  <a:gd name="connsiteY2" fmla="*/ 8207 h 9655"/>
                  <a:gd name="connsiteX3" fmla="*/ 2414 w 106208"/>
                  <a:gd name="connsiteY3" fmla="*/ 8207 h 9655"/>
                </a:gdLst>
                <a:ahLst/>
                <a:cxnLst>
                  <a:cxn ang="0">
                    <a:pos x="connsiteX0" y="connsiteY0"/>
                  </a:cxn>
                  <a:cxn ang="0">
                    <a:pos x="connsiteX1" y="connsiteY1"/>
                  </a:cxn>
                  <a:cxn ang="0">
                    <a:pos x="connsiteX2" y="connsiteY2"/>
                  </a:cxn>
                  <a:cxn ang="0">
                    <a:pos x="connsiteX3" y="connsiteY3"/>
                  </a:cxn>
                </a:cxnLst>
                <a:rect l="l" t="t" r="r" b="b"/>
                <a:pathLst>
                  <a:path w="106208" h="9655">
                    <a:moveTo>
                      <a:pt x="2414" y="2414"/>
                    </a:moveTo>
                    <a:lnTo>
                      <a:pt x="104760" y="2414"/>
                    </a:lnTo>
                    <a:lnTo>
                      <a:pt x="104760"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37" name="Freeform: Shape 1311">
                <a:extLst>
                  <a:ext uri="{FF2B5EF4-FFF2-40B4-BE49-F238E27FC236}">
                    <a16:creationId xmlns:a16="http://schemas.microsoft.com/office/drawing/2014/main" id="{E5221EE7-9596-1547-BF4B-EA62BF0E7C11}"/>
                  </a:ext>
                </a:extLst>
              </p:cNvPr>
              <p:cNvSpPr/>
              <p:nvPr/>
            </p:nvSpPr>
            <p:spPr>
              <a:xfrm>
                <a:off x="9689168" y="3590484"/>
                <a:ext cx="100584" cy="27431"/>
              </a:xfrm>
              <a:custGeom>
                <a:avLst/>
                <a:gdLst>
                  <a:gd name="connsiteX0" fmla="*/ 33955 w 35402"/>
                  <a:gd name="connsiteY0" fmla="*/ 8207 h 9655"/>
                  <a:gd name="connsiteX1" fmla="*/ 2414 w 35402"/>
                  <a:gd name="connsiteY1" fmla="*/ 8207 h 9655"/>
                  <a:gd name="connsiteX2" fmla="*/ 2414 w 35402"/>
                  <a:gd name="connsiteY2" fmla="*/ 2414 h 9655"/>
                  <a:gd name="connsiteX3" fmla="*/ 33955 w 35402"/>
                  <a:gd name="connsiteY3" fmla="*/ 2414 h 9655"/>
                </a:gdLst>
                <a:ahLst/>
                <a:cxnLst>
                  <a:cxn ang="0">
                    <a:pos x="connsiteX0" y="connsiteY0"/>
                  </a:cxn>
                  <a:cxn ang="0">
                    <a:pos x="connsiteX1" y="connsiteY1"/>
                  </a:cxn>
                  <a:cxn ang="0">
                    <a:pos x="connsiteX2" y="connsiteY2"/>
                  </a:cxn>
                  <a:cxn ang="0">
                    <a:pos x="connsiteX3" y="connsiteY3"/>
                  </a:cxn>
                </a:cxnLst>
                <a:rect l="l" t="t" r="r" b="b"/>
                <a:pathLst>
                  <a:path w="35402" h="9655">
                    <a:moveTo>
                      <a:pt x="33955" y="8207"/>
                    </a:moveTo>
                    <a:lnTo>
                      <a:pt x="2414" y="8207"/>
                    </a:lnTo>
                    <a:lnTo>
                      <a:pt x="2414" y="2414"/>
                    </a:lnTo>
                    <a:lnTo>
                      <a:pt x="3395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38" name="Freeform: Shape 1312">
                <a:extLst>
                  <a:ext uri="{FF2B5EF4-FFF2-40B4-BE49-F238E27FC236}">
                    <a16:creationId xmlns:a16="http://schemas.microsoft.com/office/drawing/2014/main" id="{07EB8EB3-750E-9945-AFD0-BCA047C0BFDF}"/>
                  </a:ext>
                </a:extLst>
              </p:cNvPr>
              <p:cNvSpPr/>
              <p:nvPr/>
            </p:nvSpPr>
            <p:spPr>
              <a:xfrm>
                <a:off x="9582441" y="3589722"/>
                <a:ext cx="100584" cy="27431"/>
              </a:xfrm>
              <a:custGeom>
                <a:avLst/>
                <a:gdLst>
                  <a:gd name="connsiteX0" fmla="*/ 2414 w 35402"/>
                  <a:gd name="connsiteY0" fmla="*/ 2414 h 9655"/>
                  <a:gd name="connsiteX1" fmla="*/ 34598 w 35402"/>
                  <a:gd name="connsiteY1" fmla="*/ 2414 h 9655"/>
                  <a:gd name="connsiteX2" fmla="*/ 34598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598" y="2414"/>
                    </a:lnTo>
                    <a:lnTo>
                      <a:pt x="3459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39" name="Freeform: Shape 1313">
                <a:extLst>
                  <a:ext uri="{FF2B5EF4-FFF2-40B4-BE49-F238E27FC236}">
                    <a16:creationId xmlns:a16="http://schemas.microsoft.com/office/drawing/2014/main" id="{C2DAEFCC-2B65-404B-9C1A-954007F3CFAB}"/>
                  </a:ext>
                </a:extLst>
              </p:cNvPr>
              <p:cNvSpPr/>
              <p:nvPr/>
            </p:nvSpPr>
            <p:spPr>
              <a:xfrm>
                <a:off x="9375786" y="3664702"/>
                <a:ext cx="265176" cy="27431"/>
              </a:xfrm>
              <a:custGeom>
                <a:avLst/>
                <a:gdLst>
                  <a:gd name="connsiteX0" fmla="*/ 2414 w 93334"/>
                  <a:gd name="connsiteY0" fmla="*/ 2414 h 9655"/>
                  <a:gd name="connsiteX1" fmla="*/ 92208 w 93334"/>
                  <a:gd name="connsiteY1" fmla="*/ 2414 h 9655"/>
                  <a:gd name="connsiteX2" fmla="*/ 92208 w 93334"/>
                  <a:gd name="connsiteY2" fmla="*/ 8207 h 9655"/>
                  <a:gd name="connsiteX3" fmla="*/ 2414 w 93334"/>
                  <a:gd name="connsiteY3" fmla="*/ 8207 h 9655"/>
                </a:gdLst>
                <a:ahLst/>
                <a:cxnLst>
                  <a:cxn ang="0">
                    <a:pos x="connsiteX0" y="connsiteY0"/>
                  </a:cxn>
                  <a:cxn ang="0">
                    <a:pos x="connsiteX1" y="connsiteY1"/>
                  </a:cxn>
                  <a:cxn ang="0">
                    <a:pos x="connsiteX2" y="connsiteY2"/>
                  </a:cxn>
                  <a:cxn ang="0">
                    <a:pos x="connsiteX3" y="connsiteY3"/>
                  </a:cxn>
                </a:cxnLst>
                <a:rect l="l" t="t" r="r" b="b"/>
                <a:pathLst>
                  <a:path w="93334" h="9655">
                    <a:moveTo>
                      <a:pt x="2414" y="2414"/>
                    </a:moveTo>
                    <a:lnTo>
                      <a:pt x="92208" y="2414"/>
                    </a:lnTo>
                    <a:lnTo>
                      <a:pt x="92208"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0" name="Freeform: Shape 1314">
                <a:extLst>
                  <a:ext uri="{FF2B5EF4-FFF2-40B4-BE49-F238E27FC236}">
                    <a16:creationId xmlns:a16="http://schemas.microsoft.com/office/drawing/2014/main" id="{46F77E9D-A2A0-D848-B46D-2970ABFE3E63}"/>
                  </a:ext>
                </a:extLst>
              </p:cNvPr>
              <p:cNvSpPr/>
              <p:nvPr/>
            </p:nvSpPr>
            <p:spPr>
              <a:xfrm>
                <a:off x="9305727" y="3664961"/>
                <a:ext cx="64008" cy="27431"/>
              </a:xfrm>
              <a:custGeom>
                <a:avLst/>
                <a:gdLst>
                  <a:gd name="connsiteX0" fmla="*/ 21081 w 22529"/>
                  <a:gd name="connsiteY0" fmla="*/ 8207 h 9655"/>
                  <a:gd name="connsiteX1" fmla="*/ 2414 w 22529"/>
                  <a:gd name="connsiteY1" fmla="*/ 8207 h 9655"/>
                  <a:gd name="connsiteX2" fmla="*/ 2414 w 22529"/>
                  <a:gd name="connsiteY2" fmla="*/ 2414 h 9655"/>
                  <a:gd name="connsiteX3" fmla="*/ 21081 w 22529"/>
                  <a:gd name="connsiteY3" fmla="*/ 2414 h 9655"/>
                </a:gdLst>
                <a:ahLst/>
                <a:cxnLst>
                  <a:cxn ang="0">
                    <a:pos x="connsiteX0" y="connsiteY0"/>
                  </a:cxn>
                  <a:cxn ang="0">
                    <a:pos x="connsiteX1" y="connsiteY1"/>
                  </a:cxn>
                  <a:cxn ang="0">
                    <a:pos x="connsiteX2" y="connsiteY2"/>
                  </a:cxn>
                  <a:cxn ang="0">
                    <a:pos x="connsiteX3" y="connsiteY3"/>
                  </a:cxn>
                </a:cxnLst>
                <a:rect l="l" t="t" r="r" b="b"/>
                <a:pathLst>
                  <a:path w="22529" h="9655">
                    <a:moveTo>
                      <a:pt x="21081" y="8207"/>
                    </a:moveTo>
                    <a:lnTo>
                      <a:pt x="2414" y="8207"/>
                    </a:lnTo>
                    <a:lnTo>
                      <a:pt x="2414" y="2414"/>
                    </a:lnTo>
                    <a:lnTo>
                      <a:pt x="21081"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1" name="Freeform: Shape 1315">
                <a:extLst>
                  <a:ext uri="{FF2B5EF4-FFF2-40B4-BE49-F238E27FC236}">
                    <a16:creationId xmlns:a16="http://schemas.microsoft.com/office/drawing/2014/main" id="{B004C2D8-23C1-D94D-BE19-5506085B53B8}"/>
                  </a:ext>
                </a:extLst>
              </p:cNvPr>
              <p:cNvSpPr/>
              <p:nvPr/>
            </p:nvSpPr>
            <p:spPr>
              <a:xfrm>
                <a:off x="9222167" y="3722312"/>
                <a:ext cx="182880" cy="27431"/>
              </a:xfrm>
              <a:custGeom>
                <a:avLst/>
                <a:gdLst>
                  <a:gd name="connsiteX0" fmla="*/ 2414 w 64368"/>
                  <a:gd name="connsiteY0" fmla="*/ 2414 h 9655"/>
                  <a:gd name="connsiteX1" fmla="*/ 63564 w 64368"/>
                  <a:gd name="connsiteY1" fmla="*/ 2414 h 9655"/>
                  <a:gd name="connsiteX2" fmla="*/ 63564 w 64368"/>
                  <a:gd name="connsiteY2" fmla="*/ 8207 h 9655"/>
                  <a:gd name="connsiteX3" fmla="*/ 2414 w 64368"/>
                  <a:gd name="connsiteY3" fmla="*/ 8207 h 9655"/>
                </a:gdLst>
                <a:ahLst/>
                <a:cxnLst>
                  <a:cxn ang="0">
                    <a:pos x="connsiteX0" y="connsiteY0"/>
                  </a:cxn>
                  <a:cxn ang="0">
                    <a:pos x="connsiteX1" y="connsiteY1"/>
                  </a:cxn>
                  <a:cxn ang="0">
                    <a:pos x="connsiteX2" y="connsiteY2"/>
                  </a:cxn>
                  <a:cxn ang="0">
                    <a:pos x="connsiteX3" y="connsiteY3"/>
                  </a:cxn>
                </a:cxnLst>
                <a:rect l="l" t="t" r="r" b="b"/>
                <a:pathLst>
                  <a:path w="64368" h="9655">
                    <a:moveTo>
                      <a:pt x="2414" y="2414"/>
                    </a:moveTo>
                    <a:lnTo>
                      <a:pt x="63564" y="2414"/>
                    </a:lnTo>
                    <a:lnTo>
                      <a:pt x="6356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2" name="Freeform: Shape 1316">
                <a:extLst>
                  <a:ext uri="{FF2B5EF4-FFF2-40B4-BE49-F238E27FC236}">
                    <a16:creationId xmlns:a16="http://schemas.microsoft.com/office/drawing/2014/main" id="{B686FECB-487E-B346-895B-42286E9901B4}"/>
                  </a:ext>
                </a:extLst>
              </p:cNvPr>
              <p:cNvSpPr/>
              <p:nvPr/>
            </p:nvSpPr>
            <p:spPr>
              <a:xfrm>
                <a:off x="9409621" y="3722312"/>
                <a:ext cx="73153" cy="27431"/>
              </a:xfrm>
              <a:custGeom>
                <a:avLst/>
                <a:gdLst>
                  <a:gd name="connsiteX0" fmla="*/ 2414 w 25747"/>
                  <a:gd name="connsiteY0" fmla="*/ 2414 h 9655"/>
                  <a:gd name="connsiteX1" fmla="*/ 23334 w 25747"/>
                  <a:gd name="connsiteY1" fmla="*/ 2414 h 9655"/>
                  <a:gd name="connsiteX2" fmla="*/ 23334 w 25747"/>
                  <a:gd name="connsiteY2" fmla="*/ 8207 h 9655"/>
                  <a:gd name="connsiteX3" fmla="*/ 2414 w 25747"/>
                  <a:gd name="connsiteY3" fmla="*/ 8207 h 9655"/>
                </a:gdLst>
                <a:ahLst/>
                <a:cxnLst>
                  <a:cxn ang="0">
                    <a:pos x="connsiteX0" y="connsiteY0"/>
                  </a:cxn>
                  <a:cxn ang="0">
                    <a:pos x="connsiteX1" y="connsiteY1"/>
                  </a:cxn>
                  <a:cxn ang="0">
                    <a:pos x="connsiteX2" y="connsiteY2"/>
                  </a:cxn>
                  <a:cxn ang="0">
                    <a:pos x="connsiteX3" y="connsiteY3"/>
                  </a:cxn>
                </a:cxnLst>
                <a:rect l="l" t="t" r="r" b="b"/>
                <a:pathLst>
                  <a:path w="25747" h="9655">
                    <a:moveTo>
                      <a:pt x="2414" y="2414"/>
                    </a:moveTo>
                    <a:lnTo>
                      <a:pt x="23334" y="2414"/>
                    </a:lnTo>
                    <a:lnTo>
                      <a:pt x="23334"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3" name="Freeform: Shape 1317">
                <a:extLst>
                  <a:ext uri="{FF2B5EF4-FFF2-40B4-BE49-F238E27FC236}">
                    <a16:creationId xmlns:a16="http://schemas.microsoft.com/office/drawing/2014/main" id="{5BEB3CC3-A00C-1940-BED3-D679AC277829}"/>
                  </a:ext>
                </a:extLst>
              </p:cNvPr>
              <p:cNvSpPr/>
              <p:nvPr/>
            </p:nvSpPr>
            <p:spPr>
              <a:xfrm>
                <a:off x="9485516" y="3722312"/>
                <a:ext cx="246888" cy="27431"/>
              </a:xfrm>
              <a:custGeom>
                <a:avLst/>
                <a:gdLst>
                  <a:gd name="connsiteX0" fmla="*/ 2414 w 86898"/>
                  <a:gd name="connsiteY0" fmla="*/ 2414 h 9655"/>
                  <a:gd name="connsiteX1" fmla="*/ 86093 w 86898"/>
                  <a:gd name="connsiteY1" fmla="*/ 2414 h 9655"/>
                  <a:gd name="connsiteX2" fmla="*/ 86093 w 86898"/>
                  <a:gd name="connsiteY2" fmla="*/ 8207 h 9655"/>
                  <a:gd name="connsiteX3" fmla="*/ 2414 w 86898"/>
                  <a:gd name="connsiteY3" fmla="*/ 8207 h 9655"/>
                </a:gdLst>
                <a:ahLst/>
                <a:cxnLst>
                  <a:cxn ang="0">
                    <a:pos x="connsiteX0" y="connsiteY0"/>
                  </a:cxn>
                  <a:cxn ang="0">
                    <a:pos x="connsiteX1" y="connsiteY1"/>
                  </a:cxn>
                  <a:cxn ang="0">
                    <a:pos x="connsiteX2" y="connsiteY2"/>
                  </a:cxn>
                  <a:cxn ang="0">
                    <a:pos x="connsiteX3" y="connsiteY3"/>
                  </a:cxn>
                </a:cxnLst>
                <a:rect l="l" t="t" r="r" b="b"/>
                <a:pathLst>
                  <a:path w="86898" h="9655">
                    <a:moveTo>
                      <a:pt x="2414" y="2414"/>
                    </a:moveTo>
                    <a:lnTo>
                      <a:pt x="86093" y="2414"/>
                    </a:lnTo>
                    <a:lnTo>
                      <a:pt x="86093"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4" name="Freeform: Shape 1318">
                <a:extLst>
                  <a:ext uri="{FF2B5EF4-FFF2-40B4-BE49-F238E27FC236}">
                    <a16:creationId xmlns:a16="http://schemas.microsoft.com/office/drawing/2014/main" id="{F11B15FE-05E1-1449-8F87-6568F40A40C4}"/>
                  </a:ext>
                </a:extLst>
              </p:cNvPr>
              <p:cNvSpPr/>
              <p:nvPr/>
            </p:nvSpPr>
            <p:spPr>
              <a:xfrm>
                <a:off x="9278861" y="3797292"/>
                <a:ext cx="100584" cy="27431"/>
              </a:xfrm>
              <a:custGeom>
                <a:avLst/>
                <a:gdLst>
                  <a:gd name="connsiteX0" fmla="*/ 2414 w 35402"/>
                  <a:gd name="connsiteY0" fmla="*/ 2414 h 9655"/>
                  <a:gd name="connsiteX1" fmla="*/ 34276 w 35402"/>
                  <a:gd name="connsiteY1" fmla="*/ 2414 h 9655"/>
                  <a:gd name="connsiteX2" fmla="*/ 34276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276" y="2414"/>
                    </a:lnTo>
                    <a:lnTo>
                      <a:pt x="34276" y="8207"/>
                    </a:lnTo>
                    <a:lnTo>
                      <a:pt x="2414" y="8207"/>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5" name="Freeform: Shape 1319">
                <a:extLst>
                  <a:ext uri="{FF2B5EF4-FFF2-40B4-BE49-F238E27FC236}">
                    <a16:creationId xmlns:a16="http://schemas.microsoft.com/office/drawing/2014/main" id="{96E12588-7D46-5D4D-9D2D-03128F830596}"/>
                  </a:ext>
                </a:extLst>
              </p:cNvPr>
              <p:cNvSpPr/>
              <p:nvPr/>
            </p:nvSpPr>
            <p:spPr>
              <a:xfrm>
                <a:off x="9395935" y="3797553"/>
                <a:ext cx="219457" cy="27431"/>
              </a:xfrm>
              <a:custGeom>
                <a:avLst/>
                <a:gdLst>
                  <a:gd name="connsiteX0" fmla="*/ 77725 w 77242"/>
                  <a:gd name="connsiteY0" fmla="*/ 8207 h 9655"/>
                  <a:gd name="connsiteX1" fmla="*/ 2414 w 77242"/>
                  <a:gd name="connsiteY1" fmla="*/ 8207 h 9655"/>
                  <a:gd name="connsiteX2" fmla="*/ 2414 w 77242"/>
                  <a:gd name="connsiteY2" fmla="*/ 2414 h 9655"/>
                  <a:gd name="connsiteX3" fmla="*/ 77725 w 77242"/>
                  <a:gd name="connsiteY3" fmla="*/ 2414 h 9655"/>
                </a:gdLst>
                <a:ahLst/>
                <a:cxnLst>
                  <a:cxn ang="0">
                    <a:pos x="connsiteX0" y="connsiteY0"/>
                  </a:cxn>
                  <a:cxn ang="0">
                    <a:pos x="connsiteX1" y="connsiteY1"/>
                  </a:cxn>
                  <a:cxn ang="0">
                    <a:pos x="connsiteX2" y="connsiteY2"/>
                  </a:cxn>
                  <a:cxn ang="0">
                    <a:pos x="connsiteX3" y="connsiteY3"/>
                  </a:cxn>
                </a:cxnLst>
                <a:rect l="l" t="t" r="r" b="b"/>
                <a:pathLst>
                  <a:path w="77242" h="9655">
                    <a:moveTo>
                      <a:pt x="77725" y="8207"/>
                    </a:moveTo>
                    <a:lnTo>
                      <a:pt x="2414" y="8207"/>
                    </a:lnTo>
                    <a:lnTo>
                      <a:pt x="2414" y="2414"/>
                    </a:lnTo>
                    <a:lnTo>
                      <a:pt x="77725" y="2414"/>
                    </a:ln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6" name="Freeform: Shape 1320">
                <a:extLst>
                  <a:ext uri="{FF2B5EF4-FFF2-40B4-BE49-F238E27FC236}">
                    <a16:creationId xmlns:a16="http://schemas.microsoft.com/office/drawing/2014/main" id="{F663E21D-0FF3-4549-815D-47682C82DDB7}"/>
                  </a:ext>
                </a:extLst>
              </p:cNvPr>
              <p:cNvSpPr/>
              <p:nvPr/>
            </p:nvSpPr>
            <p:spPr>
              <a:xfrm>
                <a:off x="9145357" y="3464451"/>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7" name="Freeform: Shape 1321">
                <a:extLst>
                  <a:ext uri="{FF2B5EF4-FFF2-40B4-BE49-F238E27FC236}">
                    <a16:creationId xmlns:a16="http://schemas.microsoft.com/office/drawing/2014/main" id="{B7E6F606-5B9D-CC47-9745-54ACC32FBC8C}"/>
                  </a:ext>
                </a:extLst>
              </p:cNvPr>
              <p:cNvSpPr/>
              <p:nvPr/>
            </p:nvSpPr>
            <p:spPr>
              <a:xfrm>
                <a:off x="9145357" y="3527544"/>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8" name="Freeform: Shape 1322">
                <a:extLst>
                  <a:ext uri="{FF2B5EF4-FFF2-40B4-BE49-F238E27FC236}">
                    <a16:creationId xmlns:a16="http://schemas.microsoft.com/office/drawing/2014/main" id="{62BD8F4E-AE0B-1E41-9139-120DEDF1A50B}"/>
                  </a:ext>
                </a:extLst>
              </p:cNvPr>
              <p:cNvSpPr/>
              <p:nvPr/>
            </p:nvSpPr>
            <p:spPr>
              <a:xfrm>
                <a:off x="9145357" y="3590637"/>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49" name="Freeform: Shape 1323">
                <a:extLst>
                  <a:ext uri="{FF2B5EF4-FFF2-40B4-BE49-F238E27FC236}">
                    <a16:creationId xmlns:a16="http://schemas.microsoft.com/office/drawing/2014/main" id="{13252D49-F3AE-4F41-930A-9BFC2D5769CD}"/>
                  </a:ext>
                </a:extLst>
              </p:cNvPr>
              <p:cNvSpPr/>
              <p:nvPr/>
            </p:nvSpPr>
            <p:spPr>
              <a:xfrm>
                <a:off x="9145357" y="3654645"/>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50" name="Freeform: Shape 1324">
                <a:extLst>
                  <a:ext uri="{FF2B5EF4-FFF2-40B4-BE49-F238E27FC236}">
                    <a16:creationId xmlns:a16="http://schemas.microsoft.com/office/drawing/2014/main" id="{72D089E6-3FCD-1447-BAFC-299049FAC6B7}"/>
                  </a:ext>
                </a:extLst>
              </p:cNvPr>
              <p:cNvSpPr/>
              <p:nvPr/>
            </p:nvSpPr>
            <p:spPr>
              <a:xfrm>
                <a:off x="9145357" y="3717738"/>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51" name="Freeform: Shape 1325">
                <a:extLst>
                  <a:ext uri="{FF2B5EF4-FFF2-40B4-BE49-F238E27FC236}">
                    <a16:creationId xmlns:a16="http://schemas.microsoft.com/office/drawing/2014/main" id="{029B0ED9-3AD4-9D47-98F9-FF8F25E33A45}"/>
                  </a:ext>
                </a:extLst>
              </p:cNvPr>
              <p:cNvSpPr/>
              <p:nvPr/>
            </p:nvSpPr>
            <p:spPr>
              <a:xfrm>
                <a:off x="9145357" y="3780833"/>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sp>
            <p:nvSpPr>
              <p:cNvPr id="552" name="Freeform: Shape 1326">
                <a:extLst>
                  <a:ext uri="{FF2B5EF4-FFF2-40B4-BE49-F238E27FC236}">
                    <a16:creationId xmlns:a16="http://schemas.microsoft.com/office/drawing/2014/main" id="{5DFFA689-781D-244B-B12E-666261510038}"/>
                  </a:ext>
                </a:extLst>
              </p:cNvPr>
              <p:cNvSpPr/>
              <p:nvPr/>
            </p:nvSpPr>
            <p:spPr>
              <a:xfrm>
                <a:off x="9145357" y="3843926"/>
                <a:ext cx="36577" cy="36577"/>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pPr defTabSz="731474">
                  <a:defRPr/>
                </a:pPr>
                <a:endParaRPr lang="en-US" sz="1800" dirty="0">
                  <a:solidFill>
                    <a:srgbClr val="FFFFFF"/>
                  </a:solidFill>
                  <a:latin typeface="Amazon Ember"/>
                </a:endParaRPr>
              </a:p>
            </p:txBody>
          </p:sp>
        </p:grpSp>
        <p:grpSp>
          <p:nvGrpSpPr>
            <p:cNvPr id="527" name="Group 526">
              <a:extLst>
                <a:ext uri="{FF2B5EF4-FFF2-40B4-BE49-F238E27FC236}">
                  <a16:creationId xmlns:a16="http://schemas.microsoft.com/office/drawing/2014/main" id="{668627AC-D0C8-5F40-AC2D-3BE91EAFC8B1}"/>
                </a:ext>
              </a:extLst>
            </p:cNvPr>
            <p:cNvGrpSpPr/>
            <p:nvPr/>
          </p:nvGrpSpPr>
          <p:grpSpPr>
            <a:xfrm>
              <a:off x="14184160" y="3439575"/>
              <a:ext cx="193015" cy="188521"/>
              <a:chOff x="8848997" y="6359275"/>
              <a:chExt cx="785468" cy="767180"/>
            </a:xfrm>
          </p:grpSpPr>
          <p:sp>
            <p:nvSpPr>
              <p:cNvPr id="528" name="Freeform: Shape 1302">
                <a:extLst>
                  <a:ext uri="{FF2B5EF4-FFF2-40B4-BE49-F238E27FC236}">
                    <a16:creationId xmlns:a16="http://schemas.microsoft.com/office/drawing/2014/main" id="{466229F0-2BF4-C643-B463-6A0AD774537C}"/>
                  </a:ext>
                </a:extLst>
              </p:cNvPr>
              <p:cNvSpPr/>
              <p:nvPr/>
            </p:nvSpPr>
            <p:spPr>
              <a:xfrm>
                <a:off x="8998045" y="6725948"/>
                <a:ext cx="265176" cy="27431"/>
              </a:xfrm>
              <a:custGeom>
                <a:avLst/>
                <a:gdLst>
                  <a:gd name="connsiteX0" fmla="*/ 4828 w 93334"/>
                  <a:gd name="connsiteY0" fmla="*/ 4828 h 9655"/>
                  <a:gd name="connsiteX1" fmla="*/ 91404 w 93334"/>
                  <a:gd name="connsiteY1" fmla="*/ 4828 h 9655"/>
                </a:gdLst>
                <a:ahLst/>
                <a:cxnLst>
                  <a:cxn ang="0">
                    <a:pos x="connsiteX0" y="connsiteY0"/>
                  </a:cxn>
                  <a:cxn ang="0">
                    <a:pos x="connsiteX1" y="connsiteY1"/>
                  </a:cxn>
                </a:cxnLst>
                <a:rect l="l" t="t" r="r" b="b"/>
                <a:pathLst>
                  <a:path w="93334" h="9655">
                    <a:moveTo>
                      <a:pt x="4828" y="4828"/>
                    </a:moveTo>
                    <a:lnTo>
                      <a:pt x="91404"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29" name="Freeform: Shape 1303">
                <a:extLst>
                  <a:ext uri="{FF2B5EF4-FFF2-40B4-BE49-F238E27FC236}">
                    <a16:creationId xmlns:a16="http://schemas.microsoft.com/office/drawing/2014/main" id="{073B7DFE-EBF6-6847-B7EE-3373A4924676}"/>
                  </a:ext>
                </a:extLst>
              </p:cNvPr>
              <p:cNvSpPr/>
              <p:nvPr/>
            </p:nvSpPr>
            <p:spPr>
              <a:xfrm>
                <a:off x="8951411" y="6639080"/>
                <a:ext cx="182880" cy="27431"/>
              </a:xfrm>
              <a:custGeom>
                <a:avLst/>
                <a:gdLst>
                  <a:gd name="connsiteX0" fmla="*/ 4828 w 64368"/>
                  <a:gd name="connsiteY0" fmla="*/ 4828 h 9655"/>
                  <a:gd name="connsiteX1" fmla="*/ 62116 w 64368"/>
                  <a:gd name="connsiteY1" fmla="*/ 4828 h 9655"/>
                </a:gdLst>
                <a:ahLst/>
                <a:cxnLst>
                  <a:cxn ang="0">
                    <a:pos x="connsiteX0" y="connsiteY0"/>
                  </a:cxn>
                  <a:cxn ang="0">
                    <a:pos x="connsiteX1" y="connsiteY1"/>
                  </a:cxn>
                </a:cxnLst>
                <a:rect l="l" t="t" r="r" b="b"/>
                <a:pathLst>
                  <a:path w="64368" h="9655">
                    <a:moveTo>
                      <a:pt x="4828" y="4828"/>
                    </a:moveTo>
                    <a:lnTo>
                      <a:pt x="62116"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30" name="Freeform: Shape 1304">
                <a:extLst>
                  <a:ext uri="{FF2B5EF4-FFF2-40B4-BE49-F238E27FC236}">
                    <a16:creationId xmlns:a16="http://schemas.microsoft.com/office/drawing/2014/main" id="{C5B740B9-1EF9-CF4E-9739-1D43268920ED}"/>
                  </a:ext>
                </a:extLst>
              </p:cNvPr>
              <p:cNvSpPr/>
              <p:nvPr/>
            </p:nvSpPr>
            <p:spPr>
              <a:xfrm>
                <a:off x="9150750" y="6639080"/>
                <a:ext cx="91439" cy="27431"/>
              </a:xfrm>
              <a:custGeom>
                <a:avLst/>
                <a:gdLst>
                  <a:gd name="connsiteX0" fmla="*/ 4828 w 32184"/>
                  <a:gd name="connsiteY0" fmla="*/ 4828 h 9655"/>
                  <a:gd name="connsiteX1" fmla="*/ 29288 w 32184"/>
                  <a:gd name="connsiteY1" fmla="*/ 4828 h 9655"/>
                </a:gdLst>
                <a:ahLst/>
                <a:cxnLst>
                  <a:cxn ang="0">
                    <a:pos x="connsiteX0" y="connsiteY0"/>
                  </a:cxn>
                  <a:cxn ang="0">
                    <a:pos x="connsiteX1" y="connsiteY1"/>
                  </a:cxn>
                </a:cxnLst>
                <a:rect l="l" t="t" r="r" b="b"/>
                <a:pathLst>
                  <a:path w="32184" h="9655">
                    <a:moveTo>
                      <a:pt x="4828" y="4828"/>
                    </a:moveTo>
                    <a:lnTo>
                      <a:pt x="2928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31" name="Freeform: Shape 1305">
                <a:extLst>
                  <a:ext uri="{FF2B5EF4-FFF2-40B4-BE49-F238E27FC236}">
                    <a16:creationId xmlns:a16="http://schemas.microsoft.com/office/drawing/2014/main" id="{792C03A9-47FD-A34D-A9FD-D720AB9F2D4F}"/>
                  </a:ext>
                </a:extLst>
              </p:cNvPr>
              <p:cNvSpPr/>
              <p:nvPr/>
            </p:nvSpPr>
            <p:spPr>
              <a:xfrm>
                <a:off x="9056566" y="6553128"/>
                <a:ext cx="256031" cy="27431"/>
              </a:xfrm>
              <a:custGeom>
                <a:avLst/>
                <a:gdLst>
                  <a:gd name="connsiteX0" fmla="*/ 4828 w 90116"/>
                  <a:gd name="connsiteY0" fmla="*/ 4828 h 9655"/>
                  <a:gd name="connsiteX1" fmla="*/ 86898 w 90116"/>
                  <a:gd name="connsiteY1" fmla="*/ 4828 h 9655"/>
                </a:gdLst>
                <a:ahLst/>
                <a:cxnLst>
                  <a:cxn ang="0">
                    <a:pos x="connsiteX0" y="connsiteY0"/>
                  </a:cxn>
                  <a:cxn ang="0">
                    <a:pos x="connsiteX1" y="connsiteY1"/>
                  </a:cxn>
                </a:cxnLst>
                <a:rect l="l" t="t" r="r" b="b"/>
                <a:pathLst>
                  <a:path w="90116" h="9655">
                    <a:moveTo>
                      <a:pt x="4828" y="4828"/>
                    </a:moveTo>
                    <a:lnTo>
                      <a:pt x="86898" y="4828"/>
                    </a:lnTo>
                  </a:path>
                </a:pathLst>
              </a:custGeom>
              <a:ln w="12700" cap="flat">
                <a:solidFill>
                  <a:srgbClr val="FDC5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32" name="Freeform: Shape 1306">
                <a:extLst>
                  <a:ext uri="{FF2B5EF4-FFF2-40B4-BE49-F238E27FC236}">
                    <a16:creationId xmlns:a16="http://schemas.microsoft.com/office/drawing/2014/main" id="{1BF42053-7BA9-2348-9920-AE6791360BAE}"/>
                  </a:ext>
                </a:extLst>
              </p:cNvPr>
              <p:cNvSpPr/>
              <p:nvPr/>
            </p:nvSpPr>
            <p:spPr>
              <a:xfrm>
                <a:off x="8848997" y="6359275"/>
                <a:ext cx="585214" cy="576072"/>
              </a:xfrm>
              <a:custGeom>
                <a:avLst/>
                <a:gdLst>
                  <a:gd name="connsiteX0" fmla="*/ 201153 w 205980"/>
                  <a:gd name="connsiteY0" fmla="*/ 102990 h 202762"/>
                  <a:gd name="connsiteX1" fmla="*/ 102990 w 205980"/>
                  <a:gd name="connsiteY1" fmla="*/ 201153 h 202762"/>
                  <a:gd name="connsiteX2" fmla="*/ 4828 w 205980"/>
                  <a:gd name="connsiteY2" fmla="*/ 102990 h 202762"/>
                  <a:gd name="connsiteX3" fmla="*/ 102990 w 205980"/>
                  <a:gd name="connsiteY3" fmla="*/ 4828 h 202762"/>
                  <a:gd name="connsiteX4" fmla="*/ 201153 w 205980"/>
                  <a:gd name="connsiteY4" fmla="*/ 102990 h 202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980" h="202762">
                    <a:moveTo>
                      <a:pt x="201153" y="102990"/>
                    </a:moveTo>
                    <a:cubicBezTo>
                      <a:pt x="201153" y="157204"/>
                      <a:pt x="157204" y="201153"/>
                      <a:pt x="102990" y="201153"/>
                    </a:cubicBezTo>
                    <a:cubicBezTo>
                      <a:pt x="48777" y="201153"/>
                      <a:pt x="4828" y="157204"/>
                      <a:pt x="4828" y="102990"/>
                    </a:cubicBezTo>
                    <a:cubicBezTo>
                      <a:pt x="4828" y="48777"/>
                      <a:pt x="48777" y="4828"/>
                      <a:pt x="102990" y="4828"/>
                    </a:cubicBezTo>
                    <a:cubicBezTo>
                      <a:pt x="157204" y="4828"/>
                      <a:pt x="201153" y="48777"/>
                      <a:pt x="201153" y="102990"/>
                    </a:cubicBezTo>
                    <a:close/>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533" name="Freeform: Shape 1307">
                <a:extLst>
                  <a:ext uri="{FF2B5EF4-FFF2-40B4-BE49-F238E27FC236}">
                    <a16:creationId xmlns:a16="http://schemas.microsoft.com/office/drawing/2014/main" id="{D6B078B1-EAFA-614F-A18E-05E74062AA7A}"/>
                  </a:ext>
                </a:extLst>
              </p:cNvPr>
              <p:cNvSpPr/>
              <p:nvPr/>
            </p:nvSpPr>
            <p:spPr>
              <a:xfrm>
                <a:off x="9277850" y="6769840"/>
                <a:ext cx="356615" cy="356615"/>
              </a:xfrm>
              <a:custGeom>
                <a:avLst/>
                <a:gdLst>
                  <a:gd name="connsiteX0" fmla="*/ 39909 w 125519"/>
                  <a:gd name="connsiteY0" fmla="*/ 4828 h 125519"/>
                  <a:gd name="connsiteX1" fmla="*/ 114255 w 125519"/>
                  <a:gd name="connsiteY1" fmla="*/ 79496 h 125519"/>
                  <a:gd name="connsiteX2" fmla="*/ 113611 w 125519"/>
                  <a:gd name="connsiteY2" fmla="*/ 114898 h 125519"/>
                  <a:gd name="connsiteX3" fmla="*/ 113611 w 125519"/>
                  <a:gd name="connsiteY3" fmla="*/ 114898 h 125519"/>
                  <a:gd name="connsiteX4" fmla="*/ 78208 w 125519"/>
                  <a:gd name="connsiteY4" fmla="*/ 115542 h 125519"/>
                  <a:gd name="connsiteX5" fmla="*/ 4828 w 125519"/>
                  <a:gd name="connsiteY5" fmla="*/ 42162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19" h="125519">
                    <a:moveTo>
                      <a:pt x="39909" y="4828"/>
                    </a:moveTo>
                    <a:lnTo>
                      <a:pt x="114255" y="79496"/>
                    </a:lnTo>
                    <a:cubicBezTo>
                      <a:pt x="123910" y="89151"/>
                      <a:pt x="123588" y="104921"/>
                      <a:pt x="113611" y="114898"/>
                    </a:cubicBezTo>
                    <a:lnTo>
                      <a:pt x="113611" y="114898"/>
                    </a:lnTo>
                    <a:cubicBezTo>
                      <a:pt x="103634" y="124876"/>
                      <a:pt x="87864" y="125197"/>
                      <a:pt x="78208" y="115542"/>
                    </a:cubicBezTo>
                    <a:lnTo>
                      <a:pt x="4828" y="42162"/>
                    </a:lnTo>
                  </a:path>
                </a:pathLst>
              </a:custGeom>
              <a:noFill/>
              <a:ln w="12700" cap="flat">
                <a:solidFill>
                  <a:schemeClr val="tx1"/>
                </a:solidFill>
                <a:prstDash val="solid"/>
                <a:round/>
              </a:ln>
            </p:spPr>
            <p:txBody>
              <a:bodyPr rtlCol="0" anchor="ctr"/>
              <a:lstStyle/>
              <a:p>
                <a:pPr defTabSz="731474">
                  <a:defRPr/>
                </a:pPr>
                <a:endParaRPr lang="en-US" sz="1800" dirty="0">
                  <a:solidFill>
                    <a:srgbClr val="FFFFFF"/>
                  </a:solidFill>
                  <a:latin typeface="Amazon Ember"/>
                </a:endParaRPr>
              </a:p>
            </p:txBody>
          </p:sp>
        </p:grpSp>
      </p:grpSp>
      <p:sp>
        <p:nvSpPr>
          <p:cNvPr id="565" name="Rectangle 564">
            <a:extLst>
              <a:ext uri="{FF2B5EF4-FFF2-40B4-BE49-F238E27FC236}">
                <a16:creationId xmlns:a16="http://schemas.microsoft.com/office/drawing/2014/main" id="{7F4D849F-FEFC-AD4E-8E1E-4F57D1A0BE45}"/>
              </a:ext>
            </a:extLst>
          </p:cNvPr>
          <p:cNvSpPr/>
          <p:nvPr/>
        </p:nvSpPr>
        <p:spPr>
          <a:xfrm>
            <a:off x="0" y="6756301"/>
            <a:ext cx="14667628" cy="548186"/>
          </a:xfrm>
          <a:prstGeom prst="rect">
            <a:avLst/>
          </a:prstGeom>
          <a:solidFill>
            <a:srgbClr val="FDC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002D43"/>
              </a:solidFill>
              <a:highlight>
                <a:srgbClr val="FF9900"/>
              </a:highlight>
              <a:latin typeface="Amazon Ember"/>
            </a:endParaRPr>
          </a:p>
        </p:txBody>
      </p:sp>
      <p:sp>
        <p:nvSpPr>
          <p:cNvPr id="566" name="Rectangle 565">
            <a:extLst>
              <a:ext uri="{FF2B5EF4-FFF2-40B4-BE49-F238E27FC236}">
                <a16:creationId xmlns:a16="http://schemas.microsoft.com/office/drawing/2014/main" id="{43726FDA-FE3A-E242-ADF9-2EBDD4B5C50F}"/>
              </a:ext>
            </a:extLst>
          </p:cNvPr>
          <p:cNvSpPr/>
          <p:nvPr/>
        </p:nvSpPr>
        <p:spPr>
          <a:xfrm>
            <a:off x="508870" y="6778836"/>
            <a:ext cx="13848768" cy="461665"/>
          </a:xfrm>
          <a:prstGeom prst="rect">
            <a:avLst/>
          </a:prstGeom>
          <a:ln>
            <a:noFill/>
          </a:ln>
        </p:spPr>
        <p:txBody>
          <a:bodyPr wrap="square">
            <a:spAutoFit/>
          </a:bodyPr>
          <a:lstStyle/>
          <a:p>
            <a:pPr algn="ctr" defTabSz="731491">
              <a:defRPr/>
            </a:pPr>
            <a:r>
              <a:rPr lang="en-US" sz="2400" b="1" dirty="0">
                <a:solidFill>
                  <a:srgbClr val="002D43"/>
                </a:solidFill>
                <a:latin typeface="Amazon Ember"/>
              </a:rPr>
              <a:t>Using a proven framework greatly increases your odds of success and speed to market</a:t>
            </a:r>
          </a:p>
        </p:txBody>
      </p:sp>
      <p:grpSp>
        <p:nvGrpSpPr>
          <p:cNvPr id="567" name="Group 566">
            <a:extLst>
              <a:ext uri="{FF2B5EF4-FFF2-40B4-BE49-F238E27FC236}">
                <a16:creationId xmlns:a16="http://schemas.microsoft.com/office/drawing/2014/main" id="{B73403CE-E743-124E-8A87-2B56F9B4C47E}"/>
              </a:ext>
            </a:extLst>
          </p:cNvPr>
          <p:cNvGrpSpPr/>
          <p:nvPr/>
        </p:nvGrpSpPr>
        <p:grpSpPr>
          <a:xfrm>
            <a:off x="1544482" y="2817910"/>
            <a:ext cx="1112123" cy="1112123"/>
            <a:chOff x="1912629" y="3417968"/>
            <a:chExt cx="1112123" cy="1112123"/>
          </a:xfrm>
        </p:grpSpPr>
        <p:pic>
          <p:nvPicPr>
            <p:cNvPr id="568" name="Graphic 791">
              <a:extLst>
                <a:ext uri="{FF2B5EF4-FFF2-40B4-BE49-F238E27FC236}">
                  <a16:creationId xmlns:a16="http://schemas.microsoft.com/office/drawing/2014/main" id="{1911927B-89D1-BF4E-B832-4FBDCB3723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2629" y="3417968"/>
              <a:ext cx="1112123" cy="1112123"/>
            </a:xfrm>
            <a:prstGeom prst="rect">
              <a:avLst/>
            </a:prstGeom>
          </p:spPr>
        </p:pic>
        <p:sp>
          <p:nvSpPr>
            <p:cNvPr id="569" name="Rectangle 568">
              <a:extLst>
                <a:ext uri="{FF2B5EF4-FFF2-40B4-BE49-F238E27FC236}">
                  <a16:creationId xmlns:a16="http://schemas.microsoft.com/office/drawing/2014/main" id="{A0B203AB-CEFF-0349-9D30-883CC9A88DA5}"/>
                </a:ext>
              </a:extLst>
            </p:cNvPr>
            <p:cNvSpPr/>
            <p:nvPr/>
          </p:nvSpPr>
          <p:spPr>
            <a:xfrm>
              <a:off x="2178618" y="360537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0" name="Rectangle 569">
              <a:extLst>
                <a:ext uri="{FF2B5EF4-FFF2-40B4-BE49-F238E27FC236}">
                  <a16:creationId xmlns:a16="http://schemas.microsoft.com/office/drawing/2014/main" id="{0EF4CA60-426C-BD40-97EF-E92D970213E5}"/>
                </a:ext>
              </a:extLst>
            </p:cNvPr>
            <p:cNvSpPr/>
            <p:nvPr/>
          </p:nvSpPr>
          <p:spPr>
            <a:xfrm>
              <a:off x="2283393" y="3710151"/>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1" name="Rectangle 570">
              <a:extLst>
                <a:ext uri="{FF2B5EF4-FFF2-40B4-BE49-F238E27FC236}">
                  <a16:creationId xmlns:a16="http://schemas.microsoft.com/office/drawing/2014/main" id="{D29F84F2-15A2-BE40-A2E3-BC3DD2EC3C70}"/>
                </a:ext>
              </a:extLst>
            </p:cNvPr>
            <p:cNvSpPr/>
            <p:nvPr/>
          </p:nvSpPr>
          <p:spPr>
            <a:xfrm>
              <a:off x="2378643" y="3722851"/>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2" name="Rectangle 571">
              <a:extLst>
                <a:ext uri="{FF2B5EF4-FFF2-40B4-BE49-F238E27FC236}">
                  <a16:creationId xmlns:a16="http://schemas.microsoft.com/office/drawing/2014/main" id="{080E4FA6-F3E2-4F4D-ABAE-5F23303E210B}"/>
                </a:ext>
              </a:extLst>
            </p:cNvPr>
            <p:cNvSpPr/>
            <p:nvPr/>
          </p:nvSpPr>
          <p:spPr>
            <a:xfrm>
              <a:off x="2448493" y="364347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3" name="Rectangle 572">
              <a:extLst>
                <a:ext uri="{FF2B5EF4-FFF2-40B4-BE49-F238E27FC236}">
                  <a16:creationId xmlns:a16="http://schemas.microsoft.com/office/drawing/2014/main" id="{EBB3BCD8-3CF0-D043-9DF0-2A79F9A4185C}"/>
                </a:ext>
              </a:extLst>
            </p:cNvPr>
            <p:cNvSpPr/>
            <p:nvPr/>
          </p:nvSpPr>
          <p:spPr>
            <a:xfrm>
              <a:off x="2504464" y="3765305"/>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4" name="Rectangle 573">
              <a:extLst>
                <a:ext uri="{FF2B5EF4-FFF2-40B4-BE49-F238E27FC236}">
                  <a16:creationId xmlns:a16="http://schemas.microsoft.com/office/drawing/2014/main" id="{670733AC-2FAA-A948-90B2-B1E354E8962E}"/>
                </a:ext>
              </a:extLst>
            </p:cNvPr>
            <p:cNvSpPr/>
            <p:nvPr/>
          </p:nvSpPr>
          <p:spPr>
            <a:xfrm>
              <a:off x="2425089" y="3788347"/>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5" name="Rectangle 574">
              <a:extLst>
                <a:ext uri="{FF2B5EF4-FFF2-40B4-BE49-F238E27FC236}">
                  <a16:creationId xmlns:a16="http://schemas.microsoft.com/office/drawing/2014/main" id="{61089911-AB82-5445-96AB-FCB74C1F4142}"/>
                </a:ext>
              </a:extLst>
            </p:cNvPr>
            <p:cNvSpPr/>
            <p:nvPr/>
          </p:nvSpPr>
          <p:spPr>
            <a:xfrm>
              <a:off x="2331018" y="380222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6" name="Rectangle 575">
              <a:extLst>
                <a:ext uri="{FF2B5EF4-FFF2-40B4-BE49-F238E27FC236}">
                  <a16:creationId xmlns:a16="http://schemas.microsoft.com/office/drawing/2014/main" id="{88D6D54A-11F9-4748-AC70-D50958493F37}"/>
                </a:ext>
              </a:extLst>
            </p:cNvPr>
            <p:cNvSpPr/>
            <p:nvPr/>
          </p:nvSpPr>
          <p:spPr>
            <a:xfrm>
              <a:off x="2240849" y="3850653"/>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77" name="Rectangle 576">
              <a:extLst>
                <a:ext uri="{FF2B5EF4-FFF2-40B4-BE49-F238E27FC236}">
                  <a16:creationId xmlns:a16="http://schemas.microsoft.com/office/drawing/2014/main" id="{22452B97-7001-4B4E-88A2-E4A98CD1A16B}"/>
                </a:ext>
              </a:extLst>
            </p:cNvPr>
            <p:cNvSpPr/>
            <p:nvPr/>
          </p:nvSpPr>
          <p:spPr>
            <a:xfrm>
              <a:off x="2317049" y="3920503"/>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grpSp>
      <p:sp>
        <p:nvSpPr>
          <p:cNvPr id="578" name="TextBox 577">
            <a:extLst>
              <a:ext uri="{FF2B5EF4-FFF2-40B4-BE49-F238E27FC236}">
                <a16:creationId xmlns:a16="http://schemas.microsoft.com/office/drawing/2014/main" id="{EFD62FB7-A068-BD46-9902-F299E77E6910}"/>
              </a:ext>
            </a:extLst>
          </p:cNvPr>
          <p:cNvSpPr txBox="1"/>
          <p:nvPr/>
        </p:nvSpPr>
        <p:spPr>
          <a:xfrm>
            <a:off x="3526467" y="3858179"/>
            <a:ext cx="1263805"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Accelerators</a:t>
            </a:r>
          </a:p>
        </p:txBody>
      </p:sp>
      <p:pic>
        <p:nvPicPr>
          <p:cNvPr id="579" name="Graphic 826">
            <a:extLst>
              <a:ext uri="{FF2B5EF4-FFF2-40B4-BE49-F238E27FC236}">
                <a16:creationId xmlns:a16="http://schemas.microsoft.com/office/drawing/2014/main" id="{88611E6D-4F61-3446-B724-D0BAD3E96E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28089" y="2929526"/>
            <a:ext cx="1052063" cy="1052063"/>
          </a:xfrm>
          <a:prstGeom prst="rect">
            <a:avLst/>
          </a:prstGeom>
        </p:spPr>
      </p:pic>
      <p:cxnSp>
        <p:nvCxnSpPr>
          <p:cNvPr id="580" name="Straight Connector 579"/>
          <p:cNvCxnSpPr/>
          <p:nvPr/>
        </p:nvCxnSpPr>
        <p:spPr>
          <a:xfrm>
            <a:off x="4036972" y="2307969"/>
            <a:ext cx="0" cy="61869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1" name="Straight Connector 580"/>
          <p:cNvCxnSpPr/>
          <p:nvPr/>
        </p:nvCxnSpPr>
        <p:spPr>
          <a:xfrm>
            <a:off x="4036972" y="4282897"/>
            <a:ext cx="0" cy="1126775"/>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2" name="Straight Connector 581"/>
          <p:cNvCxnSpPr/>
          <p:nvPr/>
        </p:nvCxnSpPr>
        <p:spPr>
          <a:xfrm>
            <a:off x="4301269" y="2307969"/>
            <a:ext cx="0" cy="618691"/>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3" name="Straight Connector 582"/>
          <p:cNvCxnSpPr/>
          <p:nvPr/>
        </p:nvCxnSpPr>
        <p:spPr>
          <a:xfrm>
            <a:off x="4301269" y="4280162"/>
            <a:ext cx="0" cy="1126775"/>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4" name="Straight Connector 583"/>
          <p:cNvCxnSpPr/>
          <p:nvPr/>
        </p:nvCxnSpPr>
        <p:spPr>
          <a:xfrm flipV="1">
            <a:off x="4018318" y="5459010"/>
            <a:ext cx="161020" cy="54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5" name="Straight Connector 584"/>
          <p:cNvCxnSpPr/>
          <p:nvPr/>
        </p:nvCxnSpPr>
        <p:spPr>
          <a:xfrm flipV="1">
            <a:off x="4231757" y="5456042"/>
            <a:ext cx="167040" cy="299"/>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6" name="Straight Connector 585"/>
          <p:cNvCxnSpPr/>
          <p:nvPr/>
        </p:nvCxnSpPr>
        <p:spPr>
          <a:xfrm flipV="1">
            <a:off x="4015476" y="2257399"/>
            <a:ext cx="161020" cy="54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7" name="Straight Connector 586"/>
          <p:cNvCxnSpPr/>
          <p:nvPr/>
        </p:nvCxnSpPr>
        <p:spPr>
          <a:xfrm flipV="1">
            <a:off x="4218801" y="2255942"/>
            <a:ext cx="168710" cy="299"/>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sp>
        <p:nvSpPr>
          <p:cNvPr id="588" name="Right Arrow 587"/>
          <p:cNvSpPr/>
          <p:nvPr/>
        </p:nvSpPr>
        <p:spPr>
          <a:xfrm>
            <a:off x="3964203" y="1923952"/>
            <a:ext cx="509804" cy="233908"/>
          </a:xfrm>
          <a:prstGeom prst="rightArrow">
            <a:avLst/>
          </a:prstGeom>
          <a:gradFill flip="none" rotWithShape="1">
            <a:gsLst>
              <a:gs pos="23000">
                <a:srgbClr val="CC66FF"/>
              </a:gs>
              <a:gs pos="100000">
                <a:schemeClr val="accent1">
                  <a:lumMod val="85000"/>
                  <a:lumOff val="15000"/>
                </a:schemeClr>
              </a:gs>
              <a:gs pos="100000">
                <a:schemeClr val="accent1">
                  <a:lumMod val="30000"/>
                  <a:lumOff val="70000"/>
                </a:scheme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589" name="Title 1">
            <a:extLst>
              <a:ext uri="{FF2B5EF4-FFF2-40B4-BE49-F238E27FC236}">
                <a16:creationId xmlns:a16="http://schemas.microsoft.com/office/drawing/2014/main" id="{2DB504CE-8113-5549-8606-25E1BA2097EA}"/>
              </a:ext>
            </a:extLst>
          </p:cNvPr>
          <p:cNvSpPr txBox="1">
            <a:spLocks/>
          </p:cNvSpPr>
          <p:nvPr/>
        </p:nvSpPr>
        <p:spPr>
          <a:xfrm>
            <a:off x="340739" y="232977"/>
            <a:ext cx="13510260" cy="873186"/>
          </a:xfrm>
          <a:prstGeom prst="rect">
            <a:avLst/>
          </a:prstGeom>
        </p:spPr>
        <p:txBody>
          <a:bodyPr vert="horz" lIns="91440" tIns="45720" rIns="91440" bIns="45720" rtlCol="0" anchor="t">
            <a:noAutofit/>
          </a:bodyPr>
          <a:lstStyle>
            <a:lvl1pPr algn="l" defTabSz="731520" rtl="0" eaLnBrk="1" latinLnBrk="0" hangingPunct="1">
              <a:spcBef>
                <a:spcPct val="0"/>
              </a:spcBef>
              <a:buNone/>
              <a:defRPr sz="3800" b="1" i="0" kern="1200">
                <a:solidFill>
                  <a:schemeClr val="tx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latin typeface="+mn-lt"/>
              </a:rPr>
              <a:t>Migration Framework</a:t>
            </a:r>
          </a:p>
        </p:txBody>
      </p:sp>
    </p:spTree>
    <p:extLst>
      <p:ext uri="{BB962C8B-B14F-4D97-AF65-F5344CB8AC3E}">
        <p14:creationId xmlns:p14="http://schemas.microsoft.com/office/powerpoint/2010/main" val="91048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500"/>
                                        <p:tgtEl>
                                          <p:spTgt spid="393"/>
                                        </p:tgtEl>
                                      </p:cBhvr>
                                    </p:animEffect>
                                  </p:childTnLst>
                                </p:cTn>
                              </p:par>
                              <p:par>
                                <p:cTn id="8" presetID="10" presetClass="entr" presetSubtype="0" fill="hold" nodeType="withEffect">
                                  <p:stCondLst>
                                    <p:cond delay="0"/>
                                  </p:stCondLst>
                                  <p:childTnLst>
                                    <p:set>
                                      <p:cBhvr>
                                        <p:cTn id="9" dur="1" fill="hold">
                                          <p:stCondLst>
                                            <p:cond delay="0"/>
                                          </p:stCondLst>
                                        </p:cTn>
                                        <p:tgtEl>
                                          <p:spTgt spid="396"/>
                                        </p:tgtEl>
                                        <p:attrNameLst>
                                          <p:attrName>style.visibility</p:attrName>
                                        </p:attrNameLst>
                                      </p:cBhvr>
                                      <p:to>
                                        <p:strVal val="visible"/>
                                      </p:to>
                                    </p:set>
                                    <p:animEffect transition="in" filter="fade">
                                      <p:cBhvr>
                                        <p:cTn id="10" dur="500"/>
                                        <p:tgtEl>
                                          <p:spTgt spid="396"/>
                                        </p:tgtEl>
                                      </p:cBhvr>
                                    </p:animEffect>
                                  </p:childTnLst>
                                </p:cTn>
                              </p:par>
                              <p:par>
                                <p:cTn id="11" presetID="10" presetClass="entr" presetSubtype="0" fill="hold" nodeType="withEffect">
                                  <p:stCondLst>
                                    <p:cond delay="0"/>
                                  </p:stCondLst>
                                  <p:childTnLst>
                                    <p:set>
                                      <p:cBhvr>
                                        <p:cTn id="12" dur="1" fill="hold">
                                          <p:stCondLst>
                                            <p:cond delay="0"/>
                                          </p:stCondLst>
                                        </p:cTn>
                                        <p:tgtEl>
                                          <p:spTgt spid="387"/>
                                        </p:tgtEl>
                                        <p:attrNameLst>
                                          <p:attrName>style.visibility</p:attrName>
                                        </p:attrNameLst>
                                      </p:cBhvr>
                                      <p:to>
                                        <p:strVal val="visible"/>
                                      </p:to>
                                    </p:set>
                                    <p:animEffect transition="in" filter="fade">
                                      <p:cBhvr>
                                        <p:cTn id="13" dur="500"/>
                                        <p:tgtEl>
                                          <p:spTgt spid="387"/>
                                        </p:tgtEl>
                                      </p:cBhvr>
                                    </p:animEffect>
                                  </p:childTnLst>
                                </p:cTn>
                              </p:par>
                              <p:par>
                                <p:cTn id="14" presetID="10" presetClass="entr" presetSubtype="0" fill="hold" nodeType="withEffect">
                                  <p:stCondLst>
                                    <p:cond delay="0"/>
                                  </p:stCondLst>
                                  <p:childTnLst>
                                    <p:set>
                                      <p:cBhvr>
                                        <p:cTn id="15" dur="1" fill="hold">
                                          <p:stCondLst>
                                            <p:cond delay="0"/>
                                          </p:stCondLst>
                                        </p:cTn>
                                        <p:tgtEl>
                                          <p:spTgt spid="390"/>
                                        </p:tgtEl>
                                        <p:attrNameLst>
                                          <p:attrName>style.visibility</p:attrName>
                                        </p:attrNameLst>
                                      </p:cBhvr>
                                      <p:to>
                                        <p:strVal val="visible"/>
                                      </p:to>
                                    </p:set>
                                    <p:animEffect transition="in" filter="fade">
                                      <p:cBhvr>
                                        <p:cTn id="16" dur="500"/>
                                        <p:tgtEl>
                                          <p:spTgt spid="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entagon 4">
            <a:extLst>
              <a:ext uri="{FF2B5EF4-FFF2-40B4-BE49-F238E27FC236}">
                <a16:creationId xmlns:a16="http://schemas.microsoft.com/office/drawing/2014/main" id="{BF12EB5C-2AD3-4A52-B82F-E0AD7FE49C15}"/>
              </a:ext>
            </a:extLst>
          </p:cNvPr>
          <p:cNvSpPr/>
          <p:nvPr/>
        </p:nvSpPr>
        <p:spPr>
          <a:xfrm>
            <a:off x="340740" y="1087544"/>
            <a:ext cx="3949459" cy="562890"/>
          </a:xfrm>
          <a:prstGeom prst="homePlate">
            <a:avLst/>
          </a:prstGeom>
          <a:solidFill>
            <a:schemeClr val="accent1"/>
          </a:solidFill>
          <a:ln>
            <a:solidFill>
              <a:schemeClr val="accent1"/>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none" rtlCol="0" anchor="ctr"/>
          <a:lstStyle/>
          <a:p>
            <a:pPr algn="ctr" defTabSz="1173409">
              <a:lnSpc>
                <a:spcPct val="90000"/>
              </a:lnSpc>
              <a:spcAft>
                <a:spcPct val="35000"/>
              </a:spcAft>
              <a:defRPr/>
            </a:pPr>
            <a:r>
              <a:rPr lang="en-US" sz="2000" b="1" dirty="0">
                <a:solidFill>
                  <a:srgbClr val="FFFFFF"/>
                </a:solidFill>
                <a:latin typeface="Amazon Ember"/>
                <a:ea typeface="Amazon Ember" charset="0"/>
                <a:cs typeface="Amazon Ember" charset="0"/>
              </a:rPr>
              <a:t>Assess</a:t>
            </a:r>
          </a:p>
        </p:txBody>
      </p:sp>
      <p:grpSp>
        <p:nvGrpSpPr>
          <p:cNvPr id="61" name="Group 60">
            <a:extLst>
              <a:ext uri="{FF2B5EF4-FFF2-40B4-BE49-F238E27FC236}">
                <a16:creationId xmlns:a16="http://schemas.microsoft.com/office/drawing/2014/main" id="{38259ED5-FE63-47FB-9F8F-FC605E5209C9}"/>
              </a:ext>
            </a:extLst>
          </p:cNvPr>
          <p:cNvGrpSpPr/>
          <p:nvPr/>
        </p:nvGrpSpPr>
        <p:grpSpPr>
          <a:xfrm>
            <a:off x="340743" y="5707503"/>
            <a:ext cx="3878058" cy="423260"/>
            <a:chOff x="578398" y="6478445"/>
            <a:chExt cx="3444109" cy="423260"/>
          </a:xfrm>
        </p:grpSpPr>
        <p:cxnSp>
          <p:nvCxnSpPr>
            <p:cNvPr id="62" name="Straight Connector 61">
              <a:extLst>
                <a:ext uri="{FF2B5EF4-FFF2-40B4-BE49-F238E27FC236}">
                  <a16:creationId xmlns:a16="http://schemas.microsoft.com/office/drawing/2014/main" id="{3C06840C-008B-43C0-80CD-0CB4B34A394D}"/>
                </a:ext>
              </a:extLst>
            </p:cNvPr>
            <p:cNvCxnSpPr/>
            <p:nvPr/>
          </p:nvCxnSpPr>
          <p:spPr>
            <a:xfrm rot="16200000">
              <a:off x="2300453" y="4756390"/>
              <a:ext cx="0" cy="344410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65BF824-8F41-4F59-86F2-534D8C3AD72D}"/>
                </a:ext>
              </a:extLst>
            </p:cNvPr>
            <p:cNvCxnSpPr/>
            <p:nvPr/>
          </p:nvCxnSpPr>
          <p:spPr>
            <a:xfrm rot="16200000" flipH="1">
              <a:off x="2088824" y="6690075"/>
              <a:ext cx="423260" cy="0"/>
            </a:xfrm>
            <a:prstGeom prst="straightConnector1">
              <a:avLst/>
            </a:prstGeom>
            <a:ln w="19050">
              <a:solidFill>
                <a:schemeClr val="accent1"/>
              </a:solidFill>
              <a:headEnd type="none"/>
              <a:tailEnd type="arrow" w="lg" len="med"/>
            </a:ln>
          </p:spPr>
          <p:style>
            <a:lnRef idx="1">
              <a:schemeClr val="accent1"/>
            </a:lnRef>
            <a:fillRef idx="0">
              <a:schemeClr val="accent1"/>
            </a:fillRef>
            <a:effectRef idx="0">
              <a:schemeClr val="accent1"/>
            </a:effectRef>
            <a:fontRef idx="minor">
              <a:schemeClr val="tx1"/>
            </a:fontRef>
          </p:style>
        </p:cxnSp>
      </p:grpSp>
      <p:sp>
        <p:nvSpPr>
          <p:cNvPr id="64" name="TextBox 63">
            <a:extLst>
              <a:ext uri="{FF2B5EF4-FFF2-40B4-BE49-F238E27FC236}">
                <a16:creationId xmlns:a16="http://schemas.microsoft.com/office/drawing/2014/main" id="{6D7A03C0-4C0A-441D-BFD6-FA8504C044D5}"/>
              </a:ext>
            </a:extLst>
          </p:cNvPr>
          <p:cNvSpPr txBox="1"/>
          <p:nvPr/>
        </p:nvSpPr>
        <p:spPr>
          <a:xfrm>
            <a:off x="577915" y="6248580"/>
            <a:ext cx="3026790" cy="369332"/>
          </a:xfrm>
          <a:prstGeom prst="rect">
            <a:avLst/>
          </a:prstGeom>
          <a:noFill/>
        </p:spPr>
        <p:txBody>
          <a:bodyPr wrap="none" rtlCol="0">
            <a:spAutoFit/>
          </a:bodyPr>
          <a:lstStyle/>
          <a:p>
            <a:pPr algn="ctr" defTabSz="731474">
              <a:lnSpc>
                <a:spcPct val="90000"/>
              </a:lnSpc>
              <a:spcAft>
                <a:spcPts val="1800"/>
              </a:spcAft>
              <a:defRPr/>
            </a:pPr>
            <a:r>
              <a:rPr lang="en-US" sz="2000" dirty="0">
                <a:solidFill>
                  <a:srgbClr val="FF9900"/>
                </a:solidFill>
                <a:latin typeface="Amazon Ember"/>
              </a:rPr>
              <a:t>Create a case for change</a:t>
            </a:r>
          </a:p>
        </p:txBody>
      </p:sp>
      <p:sp>
        <p:nvSpPr>
          <p:cNvPr id="565" name="Rectangle 564">
            <a:extLst>
              <a:ext uri="{FF2B5EF4-FFF2-40B4-BE49-F238E27FC236}">
                <a16:creationId xmlns:a16="http://schemas.microsoft.com/office/drawing/2014/main" id="{7F4D849F-FEFC-AD4E-8E1E-4F57D1A0BE45}"/>
              </a:ext>
            </a:extLst>
          </p:cNvPr>
          <p:cNvSpPr/>
          <p:nvPr/>
        </p:nvSpPr>
        <p:spPr>
          <a:xfrm>
            <a:off x="0" y="6756301"/>
            <a:ext cx="14667628" cy="548186"/>
          </a:xfrm>
          <a:prstGeom prst="rect">
            <a:avLst/>
          </a:prstGeom>
          <a:solidFill>
            <a:srgbClr val="FDC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002D43"/>
              </a:solidFill>
              <a:highlight>
                <a:srgbClr val="FF9900"/>
              </a:highlight>
              <a:latin typeface="Amazon Ember"/>
            </a:endParaRPr>
          </a:p>
        </p:txBody>
      </p:sp>
      <p:sp>
        <p:nvSpPr>
          <p:cNvPr id="566" name="Rectangle 565">
            <a:extLst>
              <a:ext uri="{FF2B5EF4-FFF2-40B4-BE49-F238E27FC236}">
                <a16:creationId xmlns:a16="http://schemas.microsoft.com/office/drawing/2014/main" id="{43726FDA-FE3A-E242-ADF9-2EBDD4B5C50F}"/>
              </a:ext>
            </a:extLst>
          </p:cNvPr>
          <p:cNvSpPr/>
          <p:nvPr/>
        </p:nvSpPr>
        <p:spPr>
          <a:xfrm>
            <a:off x="0" y="6778836"/>
            <a:ext cx="14630400" cy="461665"/>
          </a:xfrm>
          <a:prstGeom prst="rect">
            <a:avLst/>
          </a:prstGeom>
          <a:ln>
            <a:noFill/>
          </a:ln>
        </p:spPr>
        <p:txBody>
          <a:bodyPr wrap="square">
            <a:spAutoFit/>
          </a:bodyPr>
          <a:lstStyle/>
          <a:p>
            <a:pPr algn="ctr" defTabSz="731491">
              <a:defRPr/>
            </a:pPr>
            <a:r>
              <a:rPr lang="en-US" sz="2400" b="1" dirty="0">
                <a:solidFill>
                  <a:srgbClr val="002D43"/>
                </a:solidFill>
                <a:latin typeface="Amazon Ember"/>
              </a:rPr>
              <a:t>Building momentum with a compelling Business Case and a capability Assessment to address gaps</a:t>
            </a:r>
          </a:p>
        </p:txBody>
      </p:sp>
      <p:sp>
        <p:nvSpPr>
          <p:cNvPr id="578" name="TextBox 577">
            <a:extLst>
              <a:ext uri="{FF2B5EF4-FFF2-40B4-BE49-F238E27FC236}">
                <a16:creationId xmlns:a16="http://schemas.microsoft.com/office/drawing/2014/main" id="{EFD62FB7-A068-BD46-9902-F299E77E6910}"/>
              </a:ext>
            </a:extLst>
          </p:cNvPr>
          <p:cNvSpPr txBox="1"/>
          <p:nvPr/>
        </p:nvSpPr>
        <p:spPr>
          <a:xfrm>
            <a:off x="3526467" y="3858179"/>
            <a:ext cx="1263805"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Accelerators</a:t>
            </a:r>
          </a:p>
        </p:txBody>
      </p:sp>
      <p:pic>
        <p:nvPicPr>
          <p:cNvPr id="579" name="Graphic 826">
            <a:extLst>
              <a:ext uri="{FF2B5EF4-FFF2-40B4-BE49-F238E27FC236}">
                <a16:creationId xmlns:a16="http://schemas.microsoft.com/office/drawing/2014/main" id="{88611E6D-4F61-3446-B724-D0BAD3E96E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28089" y="2929526"/>
            <a:ext cx="1052063" cy="1052063"/>
          </a:xfrm>
          <a:prstGeom prst="rect">
            <a:avLst/>
          </a:prstGeom>
        </p:spPr>
      </p:pic>
      <p:cxnSp>
        <p:nvCxnSpPr>
          <p:cNvPr id="580" name="Straight Connector 579"/>
          <p:cNvCxnSpPr/>
          <p:nvPr/>
        </p:nvCxnSpPr>
        <p:spPr>
          <a:xfrm>
            <a:off x="4036972" y="2307969"/>
            <a:ext cx="0" cy="61869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1" name="Straight Connector 580"/>
          <p:cNvCxnSpPr/>
          <p:nvPr/>
        </p:nvCxnSpPr>
        <p:spPr>
          <a:xfrm>
            <a:off x="4036972" y="4282897"/>
            <a:ext cx="0" cy="1126775"/>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2" name="Straight Connector 581"/>
          <p:cNvCxnSpPr/>
          <p:nvPr/>
        </p:nvCxnSpPr>
        <p:spPr>
          <a:xfrm>
            <a:off x="4301269" y="2307969"/>
            <a:ext cx="0" cy="618691"/>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3" name="Straight Connector 582"/>
          <p:cNvCxnSpPr/>
          <p:nvPr/>
        </p:nvCxnSpPr>
        <p:spPr>
          <a:xfrm>
            <a:off x="4301269" y="4280162"/>
            <a:ext cx="0" cy="1126775"/>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4" name="Straight Connector 583"/>
          <p:cNvCxnSpPr/>
          <p:nvPr/>
        </p:nvCxnSpPr>
        <p:spPr>
          <a:xfrm flipV="1">
            <a:off x="4018318" y="5459010"/>
            <a:ext cx="161020" cy="54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5" name="Straight Connector 584"/>
          <p:cNvCxnSpPr/>
          <p:nvPr/>
        </p:nvCxnSpPr>
        <p:spPr>
          <a:xfrm flipV="1">
            <a:off x="4231757" y="5456042"/>
            <a:ext cx="167040" cy="299"/>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cxnSp>
        <p:nvCxnSpPr>
          <p:cNvPr id="586" name="Straight Connector 585"/>
          <p:cNvCxnSpPr/>
          <p:nvPr/>
        </p:nvCxnSpPr>
        <p:spPr>
          <a:xfrm flipV="1">
            <a:off x="4015476" y="2257399"/>
            <a:ext cx="161020" cy="54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87" name="Straight Connector 586"/>
          <p:cNvCxnSpPr/>
          <p:nvPr/>
        </p:nvCxnSpPr>
        <p:spPr>
          <a:xfrm flipV="1">
            <a:off x="4218801" y="2255942"/>
            <a:ext cx="168710" cy="299"/>
          </a:xfrm>
          <a:prstGeom prst="line">
            <a:avLst/>
          </a:prstGeom>
          <a:ln>
            <a:solidFill>
              <a:srgbClr val="AD4AF8"/>
            </a:solidFill>
            <a:prstDash val="dash"/>
          </a:ln>
        </p:spPr>
        <p:style>
          <a:lnRef idx="2">
            <a:schemeClr val="accent1"/>
          </a:lnRef>
          <a:fillRef idx="0">
            <a:schemeClr val="accent1"/>
          </a:fillRef>
          <a:effectRef idx="1">
            <a:schemeClr val="accent1"/>
          </a:effectRef>
          <a:fontRef idx="minor">
            <a:schemeClr val="tx1"/>
          </a:fontRef>
        </p:style>
      </p:cxnSp>
      <p:sp>
        <p:nvSpPr>
          <p:cNvPr id="589" name="Title 1">
            <a:extLst>
              <a:ext uri="{FF2B5EF4-FFF2-40B4-BE49-F238E27FC236}">
                <a16:creationId xmlns:a16="http://schemas.microsoft.com/office/drawing/2014/main" id="{2DB504CE-8113-5549-8606-25E1BA2097EA}"/>
              </a:ext>
            </a:extLst>
          </p:cNvPr>
          <p:cNvSpPr txBox="1">
            <a:spLocks/>
          </p:cNvSpPr>
          <p:nvPr/>
        </p:nvSpPr>
        <p:spPr>
          <a:xfrm>
            <a:off x="340739" y="232977"/>
            <a:ext cx="13510260" cy="873186"/>
          </a:xfrm>
          <a:prstGeom prst="rect">
            <a:avLst/>
          </a:prstGeom>
        </p:spPr>
        <p:txBody>
          <a:bodyPr vert="horz" lIns="91440" tIns="45720" rIns="91440" bIns="45720" rtlCol="0" anchor="t">
            <a:noAutofit/>
          </a:bodyPr>
          <a:lstStyle>
            <a:lvl1pPr algn="l" defTabSz="731520" rtl="0" eaLnBrk="1" latinLnBrk="0" hangingPunct="1">
              <a:spcBef>
                <a:spcPct val="0"/>
              </a:spcBef>
              <a:buNone/>
              <a:defRPr sz="3800" b="1" i="0" kern="1200">
                <a:solidFill>
                  <a:schemeClr val="tx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pPr defTabSz="731491">
              <a:defRPr/>
            </a:pPr>
            <a:r>
              <a:rPr lang="en-US" dirty="0">
                <a:solidFill>
                  <a:srgbClr val="FFFFFF"/>
                </a:solidFill>
                <a:latin typeface="Amazon Ember"/>
              </a:rPr>
              <a:t>Migration Framework – Assess Phase </a:t>
            </a:r>
          </a:p>
        </p:txBody>
      </p:sp>
      <p:sp>
        <p:nvSpPr>
          <p:cNvPr id="592" name="Right Arrow 591">
            <a:extLst>
              <a:ext uri="{FF2B5EF4-FFF2-40B4-BE49-F238E27FC236}">
                <a16:creationId xmlns:a16="http://schemas.microsoft.com/office/drawing/2014/main" id="{466C888C-8232-7D4B-B811-B3F248558023}"/>
              </a:ext>
            </a:extLst>
          </p:cNvPr>
          <p:cNvSpPr/>
          <p:nvPr/>
        </p:nvSpPr>
        <p:spPr>
          <a:xfrm>
            <a:off x="3964203" y="1923952"/>
            <a:ext cx="509804" cy="233908"/>
          </a:xfrm>
          <a:prstGeom prst="rightArrow">
            <a:avLst/>
          </a:prstGeom>
          <a:gradFill flip="none" rotWithShape="1">
            <a:gsLst>
              <a:gs pos="23000">
                <a:srgbClr val="A166FF"/>
              </a:gs>
              <a:gs pos="100000">
                <a:schemeClr val="accent1">
                  <a:lumMod val="85000"/>
                  <a:lumOff val="15000"/>
                </a:schemeClr>
              </a:gs>
              <a:gs pos="100000">
                <a:schemeClr val="accent1">
                  <a:lumMod val="30000"/>
                  <a:lumOff val="70000"/>
                </a:scheme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2" name="TextBox 1">
            <a:extLst>
              <a:ext uri="{FF2B5EF4-FFF2-40B4-BE49-F238E27FC236}">
                <a16:creationId xmlns:a16="http://schemas.microsoft.com/office/drawing/2014/main" id="{E156E258-0097-FC4B-9A31-B2976A5A6D54}"/>
              </a:ext>
            </a:extLst>
          </p:cNvPr>
          <p:cNvSpPr txBox="1"/>
          <p:nvPr/>
        </p:nvSpPr>
        <p:spPr>
          <a:xfrm>
            <a:off x="5297845" y="1350070"/>
            <a:ext cx="9398592" cy="5632311"/>
          </a:xfrm>
          <a:prstGeom prst="rect">
            <a:avLst/>
          </a:prstGeom>
          <a:noFill/>
        </p:spPr>
        <p:txBody>
          <a:bodyPr wrap="square" rtlCol="0">
            <a:spAutoFit/>
          </a:bodyPr>
          <a:lstStyle/>
          <a:p>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Creating a Case For Change</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Establishing Data Requirements and Collecting Data</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Evaluating potential third-party license cost savings</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Developing a compelling business Case</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Aligning on an understanding of the capabilities required</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Establishing a Roadmap for the activities to come</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Agreeing to a Prioritized List of Actions</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Gaining organizational commitment to the journey ahead</a:t>
            </a:r>
          </a:p>
          <a:p>
            <a:pPr marL="457182" indent="-457182">
              <a:buFont typeface="Arial" panose="020B0604020202020204" pitchFamily="34" charset="0"/>
              <a:buChar char="•"/>
            </a:pPr>
            <a:r>
              <a:rPr lang="en-US" sz="2400" dirty="0">
                <a:latin typeface="Amazon Ember" panose="020B0603020204020204" pitchFamily="34" charset="0"/>
                <a:ea typeface="Amazon Ember" panose="020B0603020204020204" pitchFamily="34" charset="0"/>
                <a:cs typeface="Amazon Ember" panose="020B0603020204020204" pitchFamily="34" charset="0"/>
              </a:rPr>
              <a:t>Taking the first step</a:t>
            </a:r>
          </a:p>
          <a:p>
            <a:pPr marL="457182" indent="-457182">
              <a:buFont typeface="Arial" panose="020B0604020202020204" pitchFamily="34" charset="0"/>
              <a:buChar cha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AWS Migration Evaluator</a:t>
            </a:r>
          </a:p>
          <a:p>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AWS Migration Readiness Assessment</a:t>
            </a:r>
          </a:p>
          <a:p>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AWS Optimization and License Assessment</a:t>
            </a:r>
          </a:p>
          <a:p>
            <a:endPar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a:p>
            <a:pPr marL="457182" indent="-457182">
              <a:buFont typeface="Arial" panose="020B0604020202020204" pitchFamily="34" charset="0"/>
              <a:buChar cha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2" name="TextBox 71">
            <a:extLst>
              <a:ext uri="{FF2B5EF4-FFF2-40B4-BE49-F238E27FC236}">
                <a16:creationId xmlns:a16="http://schemas.microsoft.com/office/drawing/2014/main" id="{C087AC9A-72DF-4A3E-8F0E-6F0261F19DC7}"/>
              </a:ext>
            </a:extLst>
          </p:cNvPr>
          <p:cNvSpPr txBox="1"/>
          <p:nvPr/>
        </p:nvSpPr>
        <p:spPr>
          <a:xfrm>
            <a:off x="519815" y="2536600"/>
            <a:ext cx="1600517"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Rapid discovery</a:t>
            </a:r>
          </a:p>
        </p:txBody>
      </p:sp>
      <p:sp>
        <p:nvSpPr>
          <p:cNvPr id="73" name="TextBox 72">
            <a:extLst>
              <a:ext uri="{FF2B5EF4-FFF2-40B4-BE49-F238E27FC236}">
                <a16:creationId xmlns:a16="http://schemas.microsoft.com/office/drawing/2014/main" id="{2D004665-8CA8-4AC1-B50B-FD72DF4F94DC}"/>
              </a:ext>
            </a:extLst>
          </p:cNvPr>
          <p:cNvSpPr txBox="1"/>
          <p:nvPr/>
        </p:nvSpPr>
        <p:spPr>
          <a:xfrm>
            <a:off x="2070227" y="2532059"/>
            <a:ext cx="1600517"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Business Case</a:t>
            </a:r>
          </a:p>
        </p:txBody>
      </p:sp>
      <p:grpSp>
        <p:nvGrpSpPr>
          <p:cNvPr id="74" name="Group 73">
            <a:extLst>
              <a:ext uri="{FF2B5EF4-FFF2-40B4-BE49-F238E27FC236}">
                <a16:creationId xmlns:a16="http://schemas.microsoft.com/office/drawing/2014/main" id="{9955393F-4BD4-4CA0-AE86-72E50319F67D}"/>
              </a:ext>
            </a:extLst>
          </p:cNvPr>
          <p:cNvGrpSpPr/>
          <p:nvPr/>
        </p:nvGrpSpPr>
        <p:grpSpPr>
          <a:xfrm>
            <a:off x="1008513" y="1893494"/>
            <a:ext cx="626958" cy="627894"/>
            <a:chOff x="911709" y="4039537"/>
            <a:chExt cx="626958" cy="627894"/>
          </a:xfrm>
        </p:grpSpPr>
        <p:grpSp>
          <p:nvGrpSpPr>
            <p:cNvPr id="75" name="Group 74">
              <a:extLst>
                <a:ext uri="{FF2B5EF4-FFF2-40B4-BE49-F238E27FC236}">
                  <a16:creationId xmlns:a16="http://schemas.microsoft.com/office/drawing/2014/main" id="{07F8A377-CBCD-4755-94E9-29E2C0F53A3E}"/>
                </a:ext>
              </a:extLst>
            </p:cNvPr>
            <p:cNvGrpSpPr/>
            <p:nvPr/>
          </p:nvGrpSpPr>
          <p:grpSpPr>
            <a:xfrm>
              <a:off x="1037650" y="4067642"/>
              <a:ext cx="417790" cy="527355"/>
              <a:chOff x="973057" y="3594891"/>
              <a:chExt cx="348158" cy="439463"/>
            </a:xfrm>
          </p:grpSpPr>
          <p:sp>
            <p:nvSpPr>
              <p:cNvPr id="77" name="Oval 76">
                <a:extLst>
                  <a:ext uri="{FF2B5EF4-FFF2-40B4-BE49-F238E27FC236}">
                    <a16:creationId xmlns:a16="http://schemas.microsoft.com/office/drawing/2014/main" id="{EEBB4BF1-E362-48B9-BC5E-ABA092DA07FD}"/>
                  </a:ext>
                </a:extLst>
              </p:cNvPr>
              <p:cNvSpPr/>
              <p:nvPr/>
            </p:nvSpPr>
            <p:spPr>
              <a:xfrm>
                <a:off x="1252614" y="3965753"/>
                <a:ext cx="68601" cy="686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14">
                  <a:defRPr/>
                </a:pPr>
                <a:endParaRPr lang="en-US" sz="2520" dirty="0">
                  <a:solidFill>
                    <a:srgbClr val="FFFFFF"/>
                  </a:solidFill>
                  <a:latin typeface="Amazon Ember"/>
                </a:endParaRPr>
              </a:p>
            </p:txBody>
          </p:sp>
          <p:sp>
            <p:nvSpPr>
              <p:cNvPr id="78" name="Oval 77">
                <a:extLst>
                  <a:ext uri="{FF2B5EF4-FFF2-40B4-BE49-F238E27FC236}">
                    <a16:creationId xmlns:a16="http://schemas.microsoft.com/office/drawing/2014/main" id="{AAC78DFC-C059-4733-955D-0755B4C02032}"/>
                  </a:ext>
                </a:extLst>
              </p:cNvPr>
              <p:cNvSpPr/>
              <p:nvPr/>
            </p:nvSpPr>
            <p:spPr>
              <a:xfrm>
                <a:off x="973057" y="3594891"/>
                <a:ext cx="282934" cy="28293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14">
                  <a:defRPr/>
                </a:pPr>
                <a:endParaRPr lang="en-US" sz="2520" dirty="0">
                  <a:solidFill>
                    <a:srgbClr val="FFFFFF"/>
                  </a:solidFill>
                  <a:latin typeface="Amazon Ember"/>
                </a:endParaRPr>
              </a:p>
            </p:txBody>
          </p:sp>
        </p:grpSp>
        <p:pic>
          <p:nvPicPr>
            <p:cNvPr id="76" name="Picture 75">
              <a:extLst>
                <a:ext uri="{FF2B5EF4-FFF2-40B4-BE49-F238E27FC236}">
                  <a16:creationId xmlns:a16="http://schemas.microsoft.com/office/drawing/2014/main" id="{FD7568F7-AB61-4A9F-8CB4-6FFFD3C3F0A7}"/>
                </a:ext>
              </a:extLst>
            </p:cNvPr>
            <p:cNvPicPr>
              <a:picLocks noChangeAspect="1"/>
            </p:cNvPicPr>
            <p:nvPr/>
          </p:nvPicPr>
          <p:blipFill>
            <a:blip r:embed="rId5">
              <a:lum bright="70000" contrast="-70000"/>
              <a:extLst>
                <a:ext uri="{28A0092B-C50C-407E-A947-70E740481C1C}">
                  <a14:useLocalDpi xmlns:a14="http://schemas.microsoft.com/office/drawing/2010/main"/>
                </a:ext>
              </a:extLst>
            </a:blip>
            <a:stretch>
              <a:fillRect/>
            </a:stretch>
          </p:blipFill>
          <p:spPr>
            <a:xfrm>
              <a:off x="911709" y="4039537"/>
              <a:ext cx="626958" cy="627894"/>
            </a:xfrm>
            <a:prstGeom prst="rect">
              <a:avLst/>
            </a:prstGeom>
          </p:spPr>
        </p:pic>
      </p:grpSp>
      <p:sp>
        <p:nvSpPr>
          <p:cNvPr id="79" name="TextBox 78">
            <a:extLst>
              <a:ext uri="{FF2B5EF4-FFF2-40B4-BE49-F238E27FC236}">
                <a16:creationId xmlns:a16="http://schemas.microsoft.com/office/drawing/2014/main" id="{6F8194ED-76C9-4F16-B28A-A54A46EFE1B7}"/>
              </a:ext>
            </a:extLst>
          </p:cNvPr>
          <p:cNvSpPr txBox="1"/>
          <p:nvPr/>
        </p:nvSpPr>
        <p:spPr>
          <a:xfrm>
            <a:off x="101976" y="4978883"/>
            <a:ext cx="1600517" cy="492443"/>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Briefings &amp; workshops</a:t>
            </a:r>
          </a:p>
        </p:txBody>
      </p:sp>
      <p:sp>
        <p:nvSpPr>
          <p:cNvPr id="80" name="TextBox 79">
            <a:extLst>
              <a:ext uri="{FF2B5EF4-FFF2-40B4-BE49-F238E27FC236}">
                <a16:creationId xmlns:a16="http://schemas.microsoft.com/office/drawing/2014/main" id="{40801F42-F2D8-4420-A1FA-ECDDF7F46016}"/>
              </a:ext>
            </a:extLst>
          </p:cNvPr>
          <p:cNvSpPr txBox="1"/>
          <p:nvPr/>
        </p:nvSpPr>
        <p:spPr>
          <a:xfrm>
            <a:off x="400379" y="3770173"/>
            <a:ext cx="1757726" cy="492443"/>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Migration Readiness Assessment</a:t>
            </a:r>
          </a:p>
        </p:txBody>
      </p:sp>
      <p:grpSp>
        <p:nvGrpSpPr>
          <p:cNvPr id="81" name="Graphic 412">
            <a:extLst>
              <a:ext uri="{FF2B5EF4-FFF2-40B4-BE49-F238E27FC236}">
                <a16:creationId xmlns:a16="http://schemas.microsoft.com/office/drawing/2014/main" id="{4AA877E5-2909-4395-8019-D0C1C98A87D5}"/>
              </a:ext>
            </a:extLst>
          </p:cNvPr>
          <p:cNvGrpSpPr/>
          <p:nvPr/>
        </p:nvGrpSpPr>
        <p:grpSpPr>
          <a:xfrm>
            <a:off x="618545" y="4331781"/>
            <a:ext cx="643690" cy="643690"/>
            <a:chOff x="4244008" y="5593287"/>
            <a:chExt cx="643689" cy="643689"/>
          </a:xfrm>
        </p:grpSpPr>
        <p:sp>
          <p:nvSpPr>
            <p:cNvPr id="82" name="Freeform: Shape 554">
              <a:extLst>
                <a:ext uri="{FF2B5EF4-FFF2-40B4-BE49-F238E27FC236}">
                  <a16:creationId xmlns:a16="http://schemas.microsoft.com/office/drawing/2014/main" id="{D900360A-D01E-45E9-B5C0-3E95767C74D6}"/>
                </a:ext>
              </a:extLst>
            </p:cNvPr>
            <p:cNvSpPr/>
            <p:nvPr/>
          </p:nvSpPr>
          <p:spPr>
            <a:xfrm>
              <a:off x="4380792" y="5645104"/>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116" y="136462"/>
                    <a:pt x="4828" y="106852"/>
                    <a:pt x="4828" y="70484"/>
                  </a:cubicBez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3" name="Freeform: Shape 555">
              <a:extLst>
                <a:ext uri="{FF2B5EF4-FFF2-40B4-BE49-F238E27FC236}">
                  <a16:creationId xmlns:a16="http://schemas.microsoft.com/office/drawing/2014/main" id="{CD3EDACC-7AD3-4CE4-9FBC-06870AE91EC2}"/>
                </a:ext>
              </a:extLst>
            </p:cNvPr>
            <p:cNvSpPr/>
            <p:nvPr/>
          </p:nvSpPr>
          <p:spPr>
            <a:xfrm>
              <a:off x="4330906" y="5780279"/>
              <a:ext cx="199544" cy="128738"/>
            </a:xfrm>
            <a:custGeom>
              <a:avLst/>
              <a:gdLst>
                <a:gd name="connsiteX0" fmla="*/ 195360 w 199543"/>
                <a:gd name="connsiteY0" fmla="*/ 33472 h 128737"/>
                <a:gd name="connsiteX1" fmla="*/ 179589 w 199543"/>
                <a:gd name="connsiteY1" fmla="*/ 21885 h 128737"/>
                <a:gd name="connsiteX2" fmla="*/ 120370 w 199543"/>
                <a:gd name="connsiteY2" fmla="*/ 4828 h 128737"/>
                <a:gd name="connsiteX3" fmla="*/ 4828 w 199543"/>
                <a:gd name="connsiteY3" fmla="*/ 124876 h 128737"/>
                <a:gd name="connsiteX4" fmla="*/ 68553 w 199543"/>
                <a:gd name="connsiteY4" fmla="*/ 124876 h 128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543" h="128737">
                  <a:moveTo>
                    <a:pt x="195360" y="33472"/>
                  </a:moveTo>
                  <a:cubicBezTo>
                    <a:pt x="190532" y="29288"/>
                    <a:pt x="185382" y="25104"/>
                    <a:pt x="179589" y="21885"/>
                  </a:cubicBezTo>
                  <a:cubicBezTo>
                    <a:pt x="162210" y="11265"/>
                    <a:pt x="141933" y="4828"/>
                    <a:pt x="120370" y="4828"/>
                  </a:cubicBezTo>
                  <a:cubicBezTo>
                    <a:pt x="56645" y="4828"/>
                    <a:pt x="4828" y="58576"/>
                    <a:pt x="4828" y="124876"/>
                  </a:cubicBezTo>
                  <a:lnTo>
                    <a:pt x="68553" y="124876"/>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4" name="Freeform: Shape 556">
              <a:extLst>
                <a:ext uri="{FF2B5EF4-FFF2-40B4-BE49-F238E27FC236}">
                  <a16:creationId xmlns:a16="http://schemas.microsoft.com/office/drawing/2014/main" id="{F7AC0BBF-DFC7-42F1-9D6E-4EFD0D2B1081}"/>
                </a:ext>
              </a:extLst>
            </p:cNvPr>
            <p:cNvSpPr/>
            <p:nvPr/>
          </p:nvSpPr>
          <p:spPr>
            <a:xfrm>
              <a:off x="4557806" y="5918994"/>
              <a:ext cx="241383" cy="28966"/>
            </a:xfrm>
            <a:custGeom>
              <a:avLst/>
              <a:gdLst>
                <a:gd name="connsiteX0" fmla="*/ 4828 w 241383"/>
                <a:gd name="connsiteY0" fmla="*/ 24138 h 28966"/>
                <a:gd name="connsiteX1" fmla="*/ 224004 w 241383"/>
                <a:gd name="connsiteY1" fmla="*/ 24138 h 28966"/>
                <a:gd name="connsiteX2" fmla="*/ 236556 w 241383"/>
                <a:gd name="connsiteY2" fmla="*/ 19633 h 28966"/>
                <a:gd name="connsiteX3" fmla="*/ 238165 w 241383"/>
                <a:gd name="connsiteY3" fmla="*/ 18345 h 28966"/>
                <a:gd name="connsiteX4" fmla="*/ 238165 w 241383"/>
                <a:gd name="connsiteY4" fmla="*/ 4828 h 28966"/>
                <a:gd name="connsiteX5" fmla="*/ 168003 w 241383"/>
                <a:gd name="connsiteY5" fmla="*/ 4828 h 2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383" h="28966">
                  <a:moveTo>
                    <a:pt x="4828" y="24138"/>
                  </a:moveTo>
                  <a:lnTo>
                    <a:pt x="224004" y="24138"/>
                  </a:lnTo>
                  <a:cubicBezTo>
                    <a:pt x="228510" y="24138"/>
                    <a:pt x="233015" y="22529"/>
                    <a:pt x="236556" y="19633"/>
                  </a:cubicBezTo>
                  <a:lnTo>
                    <a:pt x="238165" y="18345"/>
                  </a:lnTo>
                  <a:lnTo>
                    <a:pt x="238165" y="4828"/>
                  </a:lnTo>
                  <a:lnTo>
                    <a:pt x="168003"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5" name="Freeform: Shape 557">
              <a:extLst>
                <a:ext uri="{FF2B5EF4-FFF2-40B4-BE49-F238E27FC236}">
                  <a16:creationId xmlns:a16="http://schemas.microsoft.com/office/drawing/2014/main" id="{A3159CB9-0F78-4148-9408-816B59F40DBB}"/>
                </a:ext>
              </a:extLst>
            </p:cNvPr>
            <p:cNvSpPr/>
            <p:nvPr/>
          </p:nvSpPr>
          <p:spPr>
            <a:xfrm>
              <a:off x="4568105" y="5776738"/>
              <a:ext cx="180233" cy="125519"/>
            </a:xfrm>
            <a:custGeom>
              <a:avLst/>
              <a:gdLst>
                <a:gd name="connsiteX0" fmla="*/ 177014 w 180232"/>
                <a:gd name="connsiteY0" fmla="*/ 117795 h 125519"/>
                <a:gd name="connsiteX1" fmla="*/ 172187 w 180232"/>
                <a:gd name="connsiteY1" fmla="*/ 122623 h 125519"/>
                <a:gd name="connsiteX2" fmla="*/ 9655 w 180232"/>
                <a:gd name="connsiteY2" fmla="*/ 122623 h 125519"/>
                <a:gd name="connsiteX3" fmla="*/ 4828 w 180232"/>
                <a:gd name="connsiteY3" fmla="*/ 117795 h 125519"/>
                <a:gd name="connsiteX4" fmla="*/ 4828 w 180232"/>
                <a:gd name="connsiteY4" fmla="*/ 9655 h 125519"/>
                <a:gd name="connsiteX5" fmla="*/ 9655 w 180232"/>
                <a:gd name="connsiteY5" fmla="*/ 4828 h 125519"/>
                <a:gd name="connsiteX6" fmla="*/ 171543 w 180232"/>
                <a:gd name="connsiteY6" fmla="*/ 4828 h 125519"/>
                <a:gd name="connsiteX7" fmla="*/ 176371 w 180232"/>
                <a:gd name="connsiteY7" fmla="*/ 9655 h 125519"/>
                <a:gd name="connsiteX8" fmla="*/ 177014 w 180232"/>
                <a:gd name="connsiteY8" fmla="*/ 117795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232" h="125519">
                  <a:moveTo>
                    <a:pt x="177014" y="117795"/>
                  </a:moveTo>
                  <a:cubicBezTo>
                    <a:pt x="177014" y="120370"/>
                    <a:pt x="174762" y="122623"/>
                    <a:pt x="172187" y="122623"/>
                  </a:cubicBezTo>
                  <a:lnTo>
                    <a:pt x="9655" y="122623"/>
                  </a:lnTo>
                  <a:cubicBezTo>
                    <a:pt x="7081" y="122623"/>
                    <a:pt x="4828" y="120370"/>
                    <a:pt x="4828" y="117795"/>
                  </a:cubicBezTo>
                  <a:lnTo>
                    <a:pt x="4828" y="9655"/>
                  </a:lnTo>
                  <a:cubicBezTo>
                    <a:pt x="4828" y="7081"/>
                    <a:pt x="7081" y="4828"/>
                    <a:pt x="9655" y="4828"/>
                  </a:cubicBezTo>
                  <a:lnTo>
                    <a:pt x="171543" y="4828"/>
                  </a:lnTo>
                  <a:cubicBezTo>
                    <a:pt x="174118" y="4828"/>
                    <a:pt x="176371" y="7081"/>
                    <a:pt x="176371" y="9655"/>
                  </a:cubicBezTo>
                  <a:lnTo>
                    <a:pt x="177014" y="117795"/>
                  </a:ln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6" name="Freeform: Shape 558">
              <a:extLst>
                <a:ext uri="{FF2B5EF4-FFF2-40B4-BE49-F238E27FC236}">
                  <a16:creationId xmlns:a16="http://schemas.microsoft.com/office/drawing/2014/main" id="{57C437D1-E6B2-4F8D-AB41-362A35DB07D4}"/>
                </a:ext>
              </a:extLst>
            </p:cNvPr>
            <p:cNvSpPr/>
            <p:nvPr/>
          </p:nvSpPr>
          <p:spPr>
            <a:xfrm>
              <a:off x="4540749" y="5752600"/>
              <a:ext cx="234946" cy="173796"/>
            </a:xfrm>
            <a:custGeom>
              <a:avLst/>
              <a:gdLst>
                <a:gd name="connsiteX0" fmla="*/ 4828 w 234946"/>
                <a:gd name="connsiteY0" fmla="*/ 130025 h 173796"/>
                <a:gd name="connsiteX1" fmla="*/ 4828 w 234946"/>
                <a:gd name="connsiteY1" fmla="*/ 10299 h 173796"/>
                <a:gd name="connsiteX2" fmla="*/ 10299 w 234946"/>
                <a:gd name="connsiteY2" fmla="*/ 4828 h 173796"/>
                <a:gd name="connsiteX3" fmla="*/ 226900 w 234946"/>
                <a:gd name="connsiteY3" fmla="*/ 4828 h 173796"/>
                <a:gd name="connsiteX4" fmla="*/ 232372 w 234946"/>
                <a:gd name="connsiteY4" fmla="*/ 10299 h 173796"/>
                <a:gd name="connsiteX5" fmla="*/ 232372 w 234946"/>
                <a:gd name="connsiteY5" fmla="*/ 165750 h 173796"/>
                <a:gd name="connsiteX6" fmla="*/ 226900 w 234946"/>
                <a:gd name="connsiteY6" fmla="*/ 171221 h 173796"/>
                <a:gd name="connsiteX7" fmla="*/ 26391 w 234946"/>
                <a:gd name="connsiteY7" fmla="*/ 171221 h 17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946" h="173796">
                  <a:moveTo>
                    <a:pt x="4828" y="130025"/>
                  </a:moveTo>
                  <a:lnTo>
                    <a:pt x="4828" y="10299"/>
                  </a:lnTo>
                  <a:cubicBezTo>
                    <a:pt x="4828" y="7402"/>
                    <a:pt x="7402" y="4828"/>
                    <a:pt x="10299" y="4828"/>
                  </a:cubicBezTo>
                  <a:lnTo>
                    <a:pt x="226900" y="4828"/>
                  </a:lnTo>
                  <a:cubicBezTo>
                    <a:pt x="229797" y="4828"/>
                    <a:pt x="232372" y="7402"/>
                    <a:pt x="232372" y="10299"/>
                  </a:cubicBezTo>
                  <a:lnTo>
                    <a:pt x="232372" y="165750"/>
                  </a:lnTo>
                  <a:cubicBezTo>
                    <a:pt x="232372" y="168647"/>
                    <a:pt x="229797" y="171221"/>
                    <a:pt x="226900" y="171221"/>
                  </a:cubicBezTo>
                  <a:lnTo>
                    <a:pt x="26391" y="171221"/>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7" name="Freeform: Shape 559">
              <a:extLst>
                <a:ext uri="{FF2B5EF4-FFF2-40B4-BE49-F238E27FC236}">
                  <a16:creationId xmlns:a16="http://schemas.microsoft.com/office/drawing/2014/main" id="{BDF69B5E-F931-4EFF-A48E-2AB18AC15670}"/>
                </a:ext>
              </a:extLst>
            </p:cNvPr>
            <p:cNvSpPr/>
            <p:nvPr/>
          </p:nvSpPr>
          <p:spPr>
            <a:xfrm>
              <a:off x="4409436" y="5872326"/>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437" y="136462"/>
                    <a:pt x="4828" y="106852"/>
                    <a:pt x="4828" y="70484"/>
                  </a:cubicBez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8" name="Freeform: Shape 560">
              <a:extLst>
                <a:ext uri="{FF2B5EF4-FFF2-40B4-BE49-F238E27FC236}">
                  <a16:creationId xmlns:a16="http://schemas.microsoft.com/office/drawing/2014/main" id="{9D1FBC5B-3A5C-46A5-8294-B86E492E76F9}"/>
                </a:ext>
              </a:extLst>
            </p:cNvPr>
            <p:cNvSpPr/>
            <p:nvPr/>
          </p:nvSpPr>
          <p:spPr>
            <a:xfrm>
              <a:off x="4359550" y="6007823"/>
              <a:ext cx="205980" cy="128738"/>
            </a:xfrm>
            <a:custGeom>
              <a:avLst/>
              <a:gdLst>
                <a:gd name="connsiteX0" fmla="*/ 163175 w 205980"/>
                <a:gd name="connsiteY0" fmla="*/ 13196 h 128737"/>
                <a:gd name="connsiteX1" fmla="*/ 120370 w 205980"/>
                <a:gd name="connsiteY1" fmla="*/ 4828 h 128737"/>
                <a:gd name="connsiteX2" fmla="*/ 4828 w 205980"/>
                <a:gd name="connsiteY2" fmla="*/ 124876 h 128737"/>
                <a:gd name="connsiteX3" fmla="*/ 202762 w 205980"/>
                <a:gd name="connsiteY3" fmla="*/ 124876 h 128737"/>
              </a:gdLst>
              <a:ahLst/>
              <a:cxnLst>
                <a:cxn ang="0">
                  <a:pos x="connsiteX0" y="connsiteY0"/>
                </a:cxn>
                <a:cxn ang="0">
                  <a:pos x="connsiteX1" y="connsiteY1"/>
                </a:cxn>
                <a:cxn ang="0">
                  <a:pos x="connsiteX2" y="connsiteY2"/>
                </a:cxn>
                <a:cxn ang="0">
                  <a:pos x="connsiteX3" y="connsiteY3"/>
                </a:cxn>
              </a:cxnLst>
              <a:rect l="l" t="t" r="r" b="b"/>
              <a:pathLst>
                <a:path w="205980" h="128737">
                  <a:moveTo>
                    <a:pt x="163175" y="13196"/>
                  </a:moveTo>
                  <a:cubicBezTo>
                    <a:pt x="149980" y="7724"/>
                    <a:pt x="135497" y="4828"/>
                    <a:pt x="120370" y="4828"/>
                  </a:cubicBezTo>
                  <a:cubicBezTo>
                    <a:pt x="56645" y="4828"/>
                    <a:pt x="4828" y="58576"/>
                    <a:pt x="4828" y="124876"/>
                  </a:cubicBezTo>
                  <a:lnTo>
                    <a:pt x="202762" y="124876"/>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89" name="Freeform: Shape 561">
              <a:extLst>
                <a:ext uri="{FF2B5EF4-FFF2-40B4-BE49-F238E27FC236}">
                  <a16:creationId xmlns:a16="http://schemas.microsoft.com/office/drawing/2014/main" id="{B9891E78-08F5-43AB-9F0F-586F83168103}"/>
                </a:ext>
              </a:extLst>
            </p:cNvPr>
            <p:cNvSpPr/>
            <p:nvPr/>
          </p:nvSpPr>
          <p:spPr>
            <a:xfrm>
              <a:off x="4539783" y="5983684"/>
              <a:ext cx="102990" cy="102990"/>
            </a:xfrm>
            <a:custGeom>
              <a:avLst/>
              <a:gdLst>
                <a:gd name="connsiteX0" fmla="*/ 99450 w 102990"/>
                <a:gd name="connsiteY0" fmla="*/ 52139 h 102990"/>
                <a:gd name="connsiteX1" fmla="*/ 52139 w 102990"/>
                <a:gd name="connsiteY1" fmla="*/ 99450 h 102990"/>
                <a:gd name="connsiteX2" fmla="*/ 4828 w 102990"/>
                <a:gd name="connsiteY2" fmla="*/ 52139 h 102990"/>
                <a:gd name="connsiteX3" fmla="*/ 52139 w 102990"/>
                <a:gd name="connsiteY3" fmla="*/ 4828 h 102990"/>
                <a:gd name="connsiteX4" fmla="*/ 99450 w 102990"/>
                <a:gd name="connsiteY4" fmla="*/ 52139 h 102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90" h="102990">
                  <a:moveTo>
                    <a:pt x="99450" y="52139"/>
                  </a:moveTo>
                  <a:cubicBezTo>
                    <a:pt x="99450" y="78268"/>
                    <a:pt x="78268" y="99450"/>
                    <a:pt x="52139" y="99450"/>
                  </a:cubicBezTo>
                  <a:cubicBezTo>
                    <a:pt x="26010" y="99450"/>
                    <a:pt x="4828" y="78268"/>
                    <a:pt x="4828" y="52139"/>
                  </a:cubicBezTo>
                  <a:cubicBezTo>
                    <a:pt x="4828" y="26010"/>
                    <a:pt x="26010" y="4828"/>
                    <a:pt x="52139" y="4828"/>
                  </a:cubicBezTo>
                  <a:cubicBezTo>
                    <a:pt x="78268" y="4828"/>
                    <a:pt x="99450" y="26010"/>
                    <a:pt x="99450" y="52139"/>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90" name="Freeform: Shape 562">
              <a:extLst>
                <a:ext uri="{FF2B5EF4-FFF2-40B4-BE49-F238E27FC236}">
                  <a16:creationId xmlns:a16="http://schemas.microsoft.com/office/drawing/2014/main" id="{E43CD8B1-4E53-48F5-A49C-6E57D06AD7B3}"/>
                </a:ext>
              </a:extLst>
            </p:cNvPr>
            <p:cNvSpPr/>
            <p:nvPr/>
          </p:nvSpPr>
          <p:spPr>
            <a:xfrm>
              <a:off x="4635693" y="6029708"/>
              <a:ext cx="57932" cy="9655"/>
            </a:xfrm>
            <a:custGeom>
              <a:avLst/>
              <a:gdLst>
                <a:gd name="connsiteX0" fmla="*/ 4828 w 57932"/>
                <a:gd name="connsiteY0" fmla="*/ 4828 h 9655"/>
                <a:gd name="connsiteX1" fmla="*/ 56001 w 57932"/>
                <a:gd name="connsiteY1" fmla="*/ 4828 h 9655"/>
              </a:gdLst>
              <a:ahLst/>
              <a:cxnLst>
                <a:cxn ang="0">
                  <a:pos x="connsiteX0" y="connsiteY0"/>
                </a:cxn>
                <a:cxn ang="0">
                  <a:pos x="connsiteX1" y="connsiteY1"/>
                </a:cxn>
              </a:cxnLst>
              <a:rect l="l" t="t" r="r" b="b"/>
              <a:pathLst>
                <a:path w="57932" h="9655">
                  <a:moveTo>
                    <a:pt x="4828" y="4828"/>
                  </a:moveTo>
                  <a:lnTo>
                    <a:pt x="56001"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1" name="Freeform: Shape 563">
              <a:extLst>
                <a:ext uri="{FF2B5EF4-FFF2-40B4-BE49-F238E27FC236}">
                  <a16:creationId xmlns:a16="http://schemas.microsoft.com/office/drawing/2014/main" id="{FCE00ECE-B603-4DF9-8F94-2FD5488F00F5}"/>
                </a:ext>
              </a:extLst>
            </p:cNvPr>
            <p:cNvSpPr/>
            <p:nvPr/>
          </p:nvSpPr>
          <p:spPr>
            <a:xfrm>
              <a:off x="4587094" y="6077985"/>
              <a:ext cx="9655" cy="57932"/>
            </a:xfrm>
            <a:custGeom>
              <a:avLst/>
              <a:gdLst>
                <a:gd name="connsiteX0" fmla="*/ 4828 w 9655"/>
                <a:gd name="connsiteY0" fmla="*/ 4828 h 57932"/>
                <a:gd name="connsiteX1" fmla="*/ 4828 w 9655"/>
                <a:gd name="connsiteY1" fmla="*/ 56001 h 57932"/>
              </a:gdLst>
              <a:ahLst/>
              <a:cxnLst>
                <a:cxn ang="0">
                  <a:pos x="connsiteX0" y="connsiteY0"/>
                </a:cxn>
                <a:cxn ang="0">
                  <a:pos x="connsiteX1" y="connsiteY1"/>
                </a:cxn>
              </a:cxnLst>
              <a:rect l="l" t="t" r="r" b="b"/>
              <a:pathLst>
                <a:path w="9655" h="57932">
                  <a:moveTo>
                    <a:pt x="4828" y="4828"/>
                  </a:moveTo>
                  <a:lnTo>
                    <a:pt x="4828" y="56001"/>
                  </a:lnTo>
                </a:path>
              </a:pathLst>
            </a:custGeom>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92" name="Freeform: Shape 564">
              <a:extLst>
                <a:ext uri="{FF2B5EF4-FFF2-40B4-BE49-F238E27FC236}">
                  <a16:creationId xmlns:a16="http://schemas.microsoft.com/office/drawing/2014/main" id="{1185053B-38EF-45E1-9781-6540C24AEB50}"/>
                </a:ext>
              </a:extLst>
            </p:cNvPr>
            <p:cNvSpPr/>
            <p:nvPr/>
          </p:nvSpPr>
          <p:spPr>
            <a:xfrm>
              <a:off x="4564887" y="6127227"/>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93" name="Freeform: Shape 565">
              <a:extLst>
                <a:ext uri="{FF2B5EF4-FFF2-40B4-BE49-F238E27FC236}">
                  <a16:creationId xmlns:a16="http://schemas.microsoft.com/office/drawing/2014/main" id="{7E3D22F3-49A9-4B42-87DD-2CBA00623297}"/>
                </a:ext>
              </a:extLst>
            </p:cNvPr>
            <p:cNvSpPr/>
            <p:nvPr/>
          </p:nvSpPr>
          <p:spPr>
            <a:xfrm>
              <a:off x="4683326" y="6004604"/>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sp>
          <p:nvSpPr>
            <p:cNvPr id="94" name="Freeform: Shape 566">
              <a:extLst>
                <a:ext uri="{FF2B5EF4-FFF2-40B4-BE49-F238E27FC236}">
                  <a16:creationId xmlns:a16="http://schemas.microsoft.com/office/drawing/2014/main" id="{DBC71D1D-61B0-4523-AF32-84A52818EA29}"/>
                </a:ext>
              </a:extLst>
            </p:cNvPr>
            <p:cNvSpPr/>
            <p:nvPr/>
          </p:nvSpPr>
          <p:spPr>
            <a:xfrm>
              <a:off x="4622819" y="6059962"/>
              <a:ext cx="45058" cy="45058"/>
            </a:xfrm>
            <a:custGeom>
              <a:avLst/>
              <a:gdLst>
                <a:gd name="connsiteX0" fmla="*/ 4828 w 45058"/>
                <a:gd name="connsiteY0" fmla="*/ 4828 h 45058"/>
                <a:gd name="connsiteX1" fmla="*/ 41196 w 45058"/>
                <a:gd name="connsiteY1" fmla="*/ 41196 h 45058"/>
              </a:gdLst>
              <a:ahLst/>
              <a:cxnLst>
                <a:cxn ang="0">
                  <a:pos x="connsiteX0" y="connsiteY0"/>
                </a:cxn>
                <a:cxn ang="0">
                  <a:pos x="connsiteX1" y="connsiteY1"/>
                </a:cxn>
              </a:cxnLst>
              <a:rect l="l" t="t" r="r" b="b"/>
              <a:pathLst>
                <a:path w="45058" h="45058">
                  <a:moveTo>
                    <a:pt x="4828" y="4828"/>
                  </a:moveTo>
                  <a:lnTo>
                    <a:pt x="41196" y="41196"/>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95" name="Freeform: Shape 567">
              <a:extLst>
                <a:ext uri="{FF2B5EF4-FFF2-40B4-BE49-F238E27FC236}">
                  <a16:creationId xmlns:a16="http://schemas.microsoft.com/office/drawing/2014/main" id="{E1E6E1B3-C7FA-418E-9D32-E276867BCB1C}"/>
                </a:ext>
              </a:extLst>
            </p:cNvPr>
            <p:cNvSpPr/>
            <p:nvPr/>
          </p:nvSpPr>
          <p:spPr>
            <a:xfrm>
              <a:off x="4649854" y="6086031"/>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9900"/>
              </a:solidFill>
              <a:prstDash val="solid"/>
              <a:round/>
            </a:ln>
          </p:spPr>
          <p:txBody>
            <a:bodyPr rtlCol="0" anchor="ctr"/>
            <a:lstStyle/>
            <a:p>
              <a:pPr defTabSz="731474">
                <a:defRPr/>
              </a:pPr>
              <a:endParaRPr lang="en-US" sz="1800" dirty="0">
                <a:solidFill>
                  <a:srgbClr val="FF9900"/>
                </a:solidFill>
                <a:latin typeface="Amazon Ember"/>
              </a:endParaRPr>
            </a:p>
          </p:txBody>
        </p:sp>
      </p:grpSp>
      <p:grpSp>
        <p:nvGrpSpPr>
          <p:cNvPr id="96" name="Graphic 240">
            <a:extLst>
              <a:ext uri="{FF2B5EF4-FFF2-40B4-BE49-F238E27FC236}">
                <a16:creationId xmlns:a16="http://schemas.microsoft.com/office/drawing/2014/main" id="{7A88ACAC-C4BC-4111-85B5-84D65F68AB7D}"/>
              </a:ext>
            </a:extLst>
          </p:cNvPr>
          <p:cNvGrpSpPr/>
          <p:nvPr/>
        </p:nvGrpSpPr>
        <p:grpSpPr>
          <a:xfrm>
            <a:off x="2313295" y="4356643"/>
            <a:ext cx="915306" cy="915306"/>
            <a:chOff x="6079338" y="322847"/>
            <a:chExt cx="643689" cy="643689"/>
          </a:xfrm>
        </p:grpSpPr>
        <p:sp>
          <p:nvSpPr>
            <p:cNvPr id="97" name="Freeform: Shape 592">
              <a:extLst>
                <a:ext uri="{FF2B5EF4-FFF2-40B4-BE49-F238E27FC236}">
                  <a16:creationId xmlns:a16="http://schemas.microsoft.com/office/drawing/2014/main" id="{A21A217A-3694-4900-82BF-DA71B1A3B1CF}"/>
                </a:ext>
              </a:extLst>
            </p:cNvPr>
            <p:cNvSpPr/>
            <p:nvPr/>
          </p:nvSpPr>
          <p:spPr>
            <a:xfrm>
              <a:off x="6272445" y="480229"/>
              <a:ext cx="270349" cy="308971"/>
            </a:xfrm>
            <a:custGeom>
              <a:avLst/>
              <a:gdLst>
                <a:gd name="connsiteX0" fmla="*/ 265522 w 270349"/>
                <a:gd name="connsiteY0" fmla="*/ 135175 h 308970"/>
                <a:gd name="connsiteX1" fmla="*/ 135175 w 270349"/>
                <a:gd name="connsiteY1" fmla="*/ 4828 h 308970"/>
                <a:gd name="connsiteX2" fmla="*/ 4828 w 270349"/>
                <a:gd name="connsiteY2" fmla="*/ 135175 h 308970"/>
                <a:gd name="connsiteX3" fmla="*/ 78852 w 270349"/>
                <a:gd name="connsiteY3" fmla="*/ 252648 h 308970"/>
                <a:gd name="connsiteX4" fmla="*/ 78852 w 270349"/>
                <a:gd name="connsiteY4" fmla="*/ 305109 h 308970"/>
                <a:gd name="connsiteX5" fmla="*/ 191497 w 270349"/>
                <a:gd name="connsiteY5" fmla="*/ 305109 h 308970"/>
                <a:gd name="connsiteX6" fmla="*/ 191497 w 270349"/>
                <a:gd name="connsiteY6" fmla="*/ 252648 h 308970"/>
                <a:gd name="connsiteX7" fmla="*/ 265522 w 270349"/>
                <a:gd name="connsiteY7" fmla="*/ 135175 h 30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49" h="308970">
                  <a:moveTo>
                    <a:pt x="265522" y="135175"/>
                  </a:moveTo>
                  <a:cubicBezTo>
                    <a:pt x="265522" y="63082"/>
                    <a:pt x="207268" y="4828"/>
                    <a:pt x="135175" y="4828"/>
                  </a:cubicBezTo>
                  <a:cubicBezTo>
                    <a:pt x="63082" y="4828"/>
                    <a:pt x="4828" y="63082"/>
                    <a:pt x="4828" y="135175"/>
                  </a:cubicBezTo>
                  <a:cubicBezTo>
                    <a:pt x="4828" y="186992"/>
                    <a:pt x="35081" y="231728"/>
                    <a:pt x="78852" y="252648"/>
                  </a:cubicBezTo>
                  <a:lnTo>
                    <a:pt x="78852" y="305109"/>
                  </a:lnTo>
                  <a:lnTo>
                    <a:pt x="191497" y="305109"/>
                  </a:lnTo>
                  <a:lnTo>
                    <a:pt x="191497" y="252648"/>
                  </a:lnTo>
                  <a:cubicBezTo>
                    <a:pt x="235268" y="231728"/>
                    <a:pt x="265522" y="186992"/>
                    <a:pt x="265522" y="135175"/>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98" name="Freeform: Shape 593">
              <a:extLst>
                <a:ext uri="{FF2B5EF4-FFF2-40B4-BE49-F238E27FC236}">
                  <a16:creationId xmlns:a16="http://schemas.microsoft.com/office/drawing/2014/main" id="{E8895513-E24A-4D33-8C64-F567C1955331}"/>
                </a:ext>
              </a:extLst>
            </p:cNvPr>
            <p:cNvSpPr/>
            <p:nvPr/>
          </p:nvSpPr>
          <p:spPr>
            <a:xfrm>
              <a:off x="6402792" y="664324"/>
              <a:ext cx="9655" cy="125519"/>
            </a:xfrm>
            <a:custGeom>
              <a:avLst/>
              <a:gdLst>
                <a:gd name="connsiteX0" fmla="*/ 4828 w 9655"/>
                <a:gd name="connsiteY0" fmla="*/ 121014 h 125519"/>
                <a:gd name="connsiteX1" fmla="*/ 4828 w 9655"/>
                <a:gd name="connsiteY1" fmla="*/ 4828 h 125519"/>
              </a:gdLst>
              <a:ahLst/>
              <a:cxnLst>
                <a:cxn ang="0">
                  <a:pos x="connsiteX0" y="connsiteY0"/>
                </a:cxn>
                <a:cxn ang="0">
                  <a:pos x="connsiteX1" y="connsiteY1"/>
                </a:cxn>
              </a:cxnLst>
              <a:rect l="l" t="t" r="r" b="b"/>
              <a:pathLst>
                <a:path w="9655" h="125519">
                  <a:moveTo>
                    <a:pt x="4828" y="121014"/>
                  </a:moveTo>
                  <a:lnTo>
                    <a:pt x="4828"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99" name="Freeform: Shape 594">
              <a:extLst>
                <a:ext uri="{FF2B5EF4-FFF2-40B4-BE49-F238E27FC236}">
                  <a16:creationId xmlns:a16="http://schemas.microsoft.com/office/drawing/2014/main" id="{E65B1FDA-AF17-4594-B0F4-AC752E60AC3F}"/>
                </a:ext>
              </a:extLst>
            </p:cNvPr>
            <p:cNvSpPr/>
            <p:nvPr/>
          </p:nvSpPr>
          <p:spPr>
            <a:xfrm>
              <a:off x="6373826" y="663358"/>
              <a:ext cx="67587" cy="9655"/>
            </a:xfrm>
            <a:custGeom>
              <a:avLst/>
              <a:gdLst>
                <a:gd name="connsiteX0" fmla="*/ 4828 w 67587"/>
                <a:gd name="connsiteY0" fmla="*/ 4828 h 9655"/>
                <a:gd name="connsiteX1" fmla="*/ 62760 w 67587"/>
                <a:gd name="connsiteY1" fmla="*/ 4828 h 9655"/>
              </a:gdLst>
              <a:ahLst/>
              <a:cxnLst>
                <a:cxn ang="0">
                  <a:pos x="connsiteX0" y="connsiteY0"/>
                </a:cxn>
                <a:cxn ang="0">
                  <a:pos x="connsiteX1" y="connsiteY1"/>
                </a:cxn>
              </a:cxnLst>
              <a:rect l="l" t="t" r="r" b="b"/>
              <a:pathLst>
                <a:path w="67587" h="9655">
                  <a:moveTo>
                    <a:pt x="4828" y="4828"/>
                  </a:moveTo>
                  <a:lnTo>
                    <a:pt x="62760" y="4828"/>
                  </a:lnTo>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100" name="Freeform: Shape 595">
              <a:extLst>
                <a:ext uri="{FF2B5EF4-FFF2-40B4-BE49-F238E27FC236}">
                  <a16:creationId xmlns:a16="http://schemas.microsoft.com/office/drawing/2014/main" id="{965A0115-CC0F-455F-B7A7-32587A01224F}"/>
                </a:ext>
              </a:extLst>
            </p:cNvPr>
            <p:cNvSpPr/>
            <p:nvPr/>
          </p:nvSpPr>
          <p:spPr>
            <a:xfrm>
              <a:off x="6318147" y="404917"/>
              <a:ext cx="28966" cy="61150"/>
            </a:xfrm>
            <a:custGeom>
              <a:avLst/>
              <a:gdLst>
                <a:gd name="connsiteX0" fmla="*/ 26713 w 28966"/>
                <a:gd name="connsiteY0" fmla="*/ 57610 h 61150"/>
                <a:gd name="connsiteX1" fmla="*/ 4828 w 28966"/>
                <a:gd name="connsiteY1" fmla="*/ 4828 h 61150"/>
              </a:gdLst>
              <a:ahLst/>
              <a:cxnLst>
                <a:cxn ang="0">
                  <a:pos x="connsiteX0" y="connsiteY0"/>
                </a:cxn>
                <a:cxn ang="0">
                  <a:pos x="connsiteX1" y="connsiteY1"/>
                </a:cxn>
              </a:cxnLst>
              <a:rect l="l" t="t" r="r" b="b"/>
              <a:pathLst>
                <a:path w="28966" h="61150">
                  <a:moveTo>
                    <a:pt x="26713" y="57610"/>
                  </a:moveTo>
                  <a:lnTo>
                    <a:pt x="4828"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1" name="Freeform: Shape 596">
              <a:extLst>
                <a:ext uri="{FF2B5EF4-FFF2-40B4-BE49-F238E27FC236}">
                  <a16:creationId xmlns:a16="http://schemas.microsoft.com/office/drawing/2014/main" id="{B6F28D50-3861-4B59-AE39-081DB1589AE3}"/>
                </a:ext>
              </a:extLst>
            </p:cNvPr>
            <p:cNvSpPr/>
            <p:nvPr/>
          </p:nvSpPr>
          <p:spPr>
            <a:xfrm>
              <a:off x="6198099" y="672048"/>
              <a:ext cx="61150" cy="28966"/>
            </a:xfrm>
            <a:custGeom>
              <a:avLst/>
              <a:gdLst>
                <a:gd name="connsiteX0" fmla="*/ 4828 w 61150"/>
                <a:gd name="connsiteY0" fmla="*/ 27035 h 28966"/>
                <a:gd name="connsiteX1" fmla="*/ 57932 w 61150"/>
                <a:gd name="connsiteY1" fmla="*/ 4828 h 28966"/>
              </a:gdLst>
              <a:ahLst/>
              <a:cxnLst>
                <a:cxn ang="0">
                  <a:pos x="connsiteX0" y="connsiteY0"/>
                </a:cxn>
                <a:cxn ang="0">
                  <a:pos x="connsiteX1" y="connsiteY1"/>
                </a:cxn>
              </a:cxnLst>
              <a:rect l="l" t="t" r="r" b="b"/>
              <a:pathLst>
                <a:path w="61150" h="28966">
                  <a:moveTo>
                    <a:pt x="4828" y="27035"/>
                  </a:moveTo>
                  <a:lnTo>
                    <a:pt x="57932"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2" name="Freeform: Shape 597">
              <a:extLst>
                <a:ext uri="{FF2B5EF4-FFF2-40B4-BE49-F238E27FC236}">
                  <a16:creationId xmlns:a16="http://schemas.microsoft.com/office/drawing/2014/main" id="{5DCF760B-58D1-47D7-BF4C-0C1613DEAA51}"/>
                </a:ext>
              </a:extLst>
            </p:cNvPr>
            <p:cNvSpPr/>
            <p:nvPr/>
          </p:nvSpPr>
          <p:spPr>
            <a:xfrm>
              <a:off x="6554380" y="524644"/>
              <a:ext cx="61150" cy="28966"/>
            </a:xfrm>
            <a:custGeom>
              <a:avLst/>
              <a:gdLst>
                <a:gd name="connsiteX0" fmla="*/ 4828 w 61150"/>
                <a:gd name="connsiteY0" fmla="*/ 26713 h 28966"/>
                <a:gd name="connsiteX1" fmla="*/ 57932 w 61150"/>
                <a:gd name="connsiteY1" fmla="*/ 4828 h 28966"/>
              </a:gdLst>
              <a:ahLst/>
              <a:cxnLst>
                <a:cxn ang="0">
                  <a:pos x="connsiteX0" y="connsiteY0"/>
                </a:cxn>
                <a:cxn ang="0">
                  <a:pos x="connsiteX1" y="connsiteY1"/>
                </a:cxn>
              </a:cxnLst>
              <a:rect l="l" t="t" r="r" b="b"/>
              <a:pathLst>
                <a:path w="61150" h="28966">
                  <a:moveTo>
                    <a:pt x="4828" y="26713"/>
                  </a:moveTo>
                  <a:lnTo>
                    <a:pt x="57932"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3" name="Freeform: Shape 598">
              <a:extLst>
                <a:ext uri="{FF2B5EF4-FFF2-40B4-BE49-F238E27FC236}">
                  <a16:creationId xmlns:a16="http://schemas.microsoft.com/office/drawing/2014/main" id="{7BA01793-609B-47DB-AA2F-D2BD8E6AF5C3}"/>
                </a:ext>
              </a:extLst>
            </p:cNvPr>
            <p:cNvSpPr/>
            <p:nvPr/>
          </p:nvSpPr>
          <p:spPr>
            <a:xfrm>
              <a:off x="6198099" y="524644"/>
              <a:ext cx="61150" cy="28966"/>
            </a:xfrm>
            <a:custGeom>
              <a:avLst/>
              <a:gdLst>
                <a:gd name="connsiteX0" fmla="*/ 4828 w 61150"/>
                <a:gd name="connsiteY0" fmla="*/ 4828 h 28966"/>
                <a:gd name="connsiteX1" fmla="*/ 57932 w 61150"/>
                <a:gd name="connsiteY1" fmla="*/ 27035 h 28966"/>
              </a:gdLst>
              <a:ahLst/>
              <a:cxnLst>
                <a:cxn ang="0">
                  <a:pos x="connsiteX0" y="connsiteY0"/>
                </a:cxn>
                <a:cxn ang="0">
                  <a:pos x="connsiteX1" y="connsiteY1"/>
                </a:cxn>
              </a:cxnLst>
              <a:rect l="l" t="t" r="r" b="b"/>
              <a:pathLst>
                <a:path w="61150" h="28966">
                  <a:moveTo>
                    <a:pt x="4828" y="4828"/>
                  </a:moveTo>
                  <a:lnTo>
                    <a:pt x="57932" y="27035"/>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4" name="Freeform: Shape 599">
              <a:extLst>
                <a:ext uri="{FF2B5EF4-FFF2-40B4-BE49-F238E27FC236}">
                  <a16:creationId xmlns:a16="http://schemas.microsoft.com/office/drawing/2014/main" id="{45C2E6AB-8FE6-4ED1-A8B6-1942B1B4A373}"/>
                </a:ext>
              </a:extLst>
            </p:cNvPr>
            <p:cNvSpPr/>
            <p:nvPr/>
          </p:nvSpPr>
          <p:spPr>
            <a:xfrm>
              <a:off x="6554380" y="672370"/>
              <a:ext cx="61150" cy="28966"/>
            </a:xfrm>
            <a:custGeom>
              <a:avLst/>
              <a:gdLst>
                <a:gd name="connsiteX0" fmla="*/ 4828 w 61150"/>
                <a:gd name="connsiteY0" fmla="*/ 4828 h 28966"/>
                <a:gd name="connsiteX1" fmla="*/ 57932 w 61150"/>
                <a:gd name="connsiteY1" fmla="*/ 26713 h 28966"/>
              </a:gdLst>
              <a:ahLst/>
              <a:cxnLst>
                <a:cxn ang="0">
                  <a:pos x="connsiteX0" y="connsiteY0"/>
                </a:cxn>
                <a:cxn ang="0">
                  <a:pos x="connsiteX1" y="connsiteY1"/>
                </a:cxn>
              </a:cxnLst>
              <a:rect l="l" t="t" r="r" b="b"/>
              <a:pathLst>
                <a:path w="61150" h="28966">
                  <a:moveTo>
                    <a:pt x="4828" y="4828"/>
                  </a:moveTo>
                  <a:lnTo>
                    <a:pt x="57932" y="26713"/>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5" name="Freeform: Shape 600">
              <a:extLst>
                <a:ext uri="{FF2B5EF4-FFF2-40B4-BE49-F238E27FC236}">
                  <a16:creationId xmlns:a16="http://schemas.microsoft.com/office/drawing/2014/main" id="{60BCDE6D-838C-4009-9967-711A497F6038}"/>
                </a:ext>
              </a:extLst>
            </p:cNvPr>
            <p:cNvSpPr/>
            <p:nvPr/>
          </p:nvSpPr>
          <p:spPr>
            <a:xfrm>
              <a:off x="6465551" y="404917"/>
              <a:ext cx="28966" cy="61150"/>
            </a:xfrm>
            <a:custGeom>
              <a:avLst/>
              <a:gdLst>
                <a:gd name="connsiteX0" fmla="*/ 4828 w 28966"/>
                <a:gd name="connsiteY0" fmla="*/ 57610 h 61150"/>
                <a:gd name="connsiteX1" fmla="*/ 26713 w 28966"/>
                <a:gd name="connsiteY1" fmla="*/ 4828 h 61150"/>
              </a:gdLst>
              <a:ahLst/>
              <a:cxnLst>
                <a:cxn ang="0">
                  <a:pos x="connsiteX0" y="connsiteY0"/>
                </a:cxn>
                <a:cxn ang="0">
                  <a:pos x="connsiteX1" y="connsiteY1"/>
                </a:cxn>
              </a:cxnLst>
              <a:rect l="l" t="t" r="r" b="b"/>
              <a:pathLst>
                <a:path w="28966" h="61150">
                  <a:moveTo>
                    <a:pt x="4828" y="57610"/>
                  </a:moveTo>
                  <a:lnTo>
                    <a:pt x="26713" y="4828"/>
                  </a:lnTo>
                </a:path>
              </a:pathLst>
            </a:custGeom>
            <a:ln w="19050" cap="flat">
              <a:solidFill>
                <a:srgbClr val="FF9900"/>
              </a:solidFill>
              <a:prstDash val="solid"/>
              <a:round/>
            </a:ln>
          </p:spPr>
          <p:txBody>
            <a:bodyPr rtlCol="0" anchor="ctr"/>
            <a:lstStyle/>
            <a:p>
              <a:pPr defTabSz="731474">
                <a:defRPr/>
              </a:pPr>
              <a:endParaRPr lang="en-US" sz="1800" dirty="0">
                <a:solidFill>
                  <a:srgbClr val="FFFFFF"/>
                </a:solidFill>
                <a:latin typeface="Amazon Ember"/>
              </a:endParaRPr>
            </a:p>
          </p:txBody>
        </p:sp>
        <p:sp>
          <p:nvSpPr>
            <p:cNvPr id="106" name="Freeform: Shape 601">
              <a:extLst>
                <a:ext uri="{FF2B5EF4-FFF2-40B4-BE49-F238E27FC236}">
                  <a16:creationId xmlns:a16="http://schemas.microsoft.com/office/drawing/2014/main" id="{6AC235E9-79D3-48BD-B0DE-AABE823E30EE}"/>
                </a:ext>
              </a:extLst>
            </p:cNvPr>
            <p:cNvSpPr/>
            <p:nvPr/>
          </p:nvSpPr>
          <p:spPr>
            <a:xfrm>
              <a:off x="6346469" y="794027"/>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107" name="Freeform: Shape 602">
              <a:extLst>
                <a:ext uri="{FF2B5EF4-FFF2-40B4-BE49-F238E27FC236}">
                  <a16:creationId xmlns:a16="http://schemas.microsoft.com/office/drawing/2014/main" id="{589309BB-A336-4901-8C58-E2BD5937B5D0}"/>
                </a:ext>
              </a:extLst>
            </p:cNvPr>
            <p:cNvSpPr/>
            <p:nvPr/>
          </p:nvSpPr>
          <p:spPr>
            <a:xfrm>
              <a:off x="6346469" y="824281"/>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sp>
          <p:nvSpPr>
            <p:cNvPr id="108" name="Freeform: Shape 603">
              <a:extLst>
                <a:ext uri="{FF2B5EF4-FFF2-40B4-BE49-F238E27FC236}">
                  <a16:creationId xmlns:a16="http://schemas.microsoft.com/office/drawing/2014/main" id="{5E8680A0-4914-443D-900C-AC8931555774}"/>
                </a:ext>
              </a:extLst>
            </p:cNvPr>
            <p:cNvSpPr/>
            <p:nvPr/>
          </p:nvSpPr>
          <p:spPr>
            <a:xfrm>
              <a:off x="6376079" y="854212"/>
              <a:ext cx="61150" cy="25748"/>
            </a:xfrm>
            <a:custGeom>
              <a:avLst/>
              <a:gdLst>
                <a:gd name="connsiteX0" fmla="*/ 49242 w 61150"/>
                <a:gd name="connsiteY0" fmla="*/ 21885 h 25747"/>
                <a:gd name="connsiteX1" fmla="*/ 13839 w 61150"/>
                <a:gd name="connsiteY1" fmla="*/ 21885 h 25747"/>
                <a:gd name="connsiteX2" fmla="*/ 4828 w 61150"/>
                <a:gd name="connsiteY2" fmla="*/ 4828 h 25747"/>
                <a:gd name="connsiteX3" fmla="*/ 58254 w 61150"/>
                <a:gd name="connsiteY3" fmla="*/ 4828 h 25747"/>
              </a:gdLst>
              <a:ahLst/>
              <a:cxnLst>
                <a:cxn ang="0">
                  <a:pos x="connsiteX0" y="connsiteY0"/>
                </a:cxn>
                <a:cxn ang="0">
                  <a:pos x="connsiteX1" y="connsiteY1"/>
                </a:cxn>
                <a:cxn ang="0">
                  <a:pos x="connsiteX2" y="connsiteY2"/>
                </a:cxn>
                <a:cxn ang="0">
                  <a:pos x="connsiteX3" y="connsiteY3"/>
                </a:cxn>
              </a:cxnLst>
              <a:rect l="l" t="t" r="r" b="b"/>
              <a:pathLst>
                <a:path w="61150" h="25747">
                  <a:moveTo>
                    <a:pt x="49242" y="21885"/>
                  </a:moveTo>
                  <a:lnTo>
                    <a:pt x="13839" y="21885"/>
                  </a:lnTo>
                  <a:lnTo>
                    <a:pt x="4828" y="4828"/>
                  </a:lnTo>
                  <a:lnTo>
                    <a:pt x="58254" y="4828"/>
                  </a:lnTo>
                  <a:close/>
                </a:path>
              </a:pathLst>
            </a:custGeom>
            <a:ln>
              <a:solidFill>
                <a:schemeClr val="tx1"/>
              </a:solidFill>
            </a:ln>
          </p:spPr>
          <p:txBody>
            <a:bodyPr rtlCol="0" anchor="ctr"/>
            <a:lstStyle/>
            <a:p>
              <a:pPr defTabSz="731474">
                <a:defRPr/>
              </a:pPr>
              <a:endParaRPr lang="en-US" sz="1800" dirty="0">
                <a:solidFill>
                  <a:srgbClr val="FFFFFF"/>
                </a:solidFill>
                <a:latin typeface="Amazon Ember"/>
              </a:endParaRPr>
            </a:p>
          </p:txBody>
        </p:sp>
      </p:grpSp>
      <p:sp>
        <p:nvSpPr>
          <p:cNvPr id="109" name="TextBox 108">
            <a:extLst>
              <a:ext uri="{FF2B5EF4-FFF2-40B4-BE49-F238E27FC236}">
                <a16:creationId xmlns:a16="http://schemas.microsoft.com/office/drawing/2014/main" id="{EE9EBB9B-287D-414E-8AD5-31D6310D27D8}"/>
              </a:ext>
            </a:extLst>
          </p:cNvPr>
          <p:cNvSpPr txBox="1"/>
          <p:nvPr/>
        </p:nvSpPr>
        <p:spPr>
          <a:xfrm>
            <a:off x="1809934" y="5213085"/>
            <a:ext cx="1841896" cy="292388"/>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Immersion day</a:t>
            </a:r>
          </a:p>
        </p:txBody>
      </p:sp>
      <p:grpSp>
        <p:nvGrpSpPr>
          <p:cNvPr id="110" name="Group 109">
            <a:extLst>
              <a:ext uri="{FF2B5EF4-FFF2-40B4-BE49-F238E27FC236}">
                <a16:creationId xmlns:a16="http://schemas.microsoft.com/office/drawing/2014/main" id="{55FAA87A-970A-4776-B8F1-C15D7518576D}"/>
              </a:ext>
            </a:extLst>
          </p:cNvPr>
          <p:cNvGrpSpPr/>
          <p:nvPr/>
        </p:nvGrpSpPr>
        <p:grpSpPr>
          <a:xfrm>
            <a:off x="713641" y="2817910"/>
            <a:ext cx="1061302" cy="1004725"/>
            <a:chOff x="1912629" y="3417968"/>
            <a:chExt cx="1112123" cy="1112123"/>
          </a:xfrm>
        </p:grpSpPr>
        <p:pic>
          <p:nvPicPr>
            <p:cNvPr id="111" name="Graphic 791">
              <a:extLst>
                <a:ext uri="{FF2B5EF4-FFF2-40B4-BE49-F238E27FC236}">
                  <a16:creationId xmlns:a16="http://schemas.microsoft.com/office/drawing/2014/main" id="{BBBB4176-94EE-4716-8BD8-E079B8C50A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12629" y="3417968"/>
              <a:ext cx="1112123" cy="1112123"/>
            </a:xfrm>
            <a:prstGeom prst="rect">
              <a:avLst/>
            </a:prstGeom>
          </p:spPr>
        </p:pic>
        <p:sp>
          <p:nvSpPr>
            <p:cNvPr id="112" name="Rectangle 111">
              <a:extLst>
                <a:ext uri="{FF2B5EF4-FFF2-40B4-BE49-F238E27FC236}">
                  <a16:creationId xmlns:a16="http://schemas.microsoft.com/office/drawing/2014/main" id="{E20D9A7F-7F94-4E72-B04D-4244760F7B72}"/>
                </a:ext>
              </a:extLst>
            </p:cNvPr>
            <p:cNvSpPr/>
            <p:nvPr/>
          </p:nvSpPr>
          <p:spPr>
            <a:xfrm>
              <a:off x="2178618" y="360537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3" name="Rectangle 112">
              <a:extLst>
                <a:ext uri="{FF2B5EF4-FFF2-40B4-BE49-F238E27FC236}">
                  <a16:creationId xmlns:a16="http://schemas.microsoft.com/office/drawing/2014/main" id="{B517BCF5-4947-4855-AECB-D2813797F3A9}"/>
                </a:ext>
              </a:extLst>
            </p:cNvPr>
            <p:cNvSpPr/>
            <p:nvPr/>
          </p:nvSpPr>
          <p:spPr>
            <a:xfrm>
              <a:off x="2283393" y="3710151"/>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4" name="Rectangle 113">
              <a:extLst>
                <a:ext uri="{FF2B5EF4-FFF2-40B4-BE49-F238E27FC236}">
                  <a16:creationId xmlns:a16="http://schemas.microsoft.com/office/drawing/2014/main" id="{44C53FA5-77D2-442C-81E5-1A69262C2FB8}"/>
                </a:ext>
              </a:extLst>
            </p:cNvPr>
            <p:cNvSpPr/>
            <p:nvPr/>
          </p:nvSpPr>
          <p:spPr>
            <a:xfrm>
              <a:off x="2378643" y="3722851"/>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5" name="Rectangle 114">
              <a:extLst>
                <a:ext uri="{FF2B5EF4-FFF2-40B4-BE49-F238E27FC236}">
                  <a16:creationId xmlns:a16="http://schemas.microsoft.com/office/drawing/2014/main" id="{6328CB03-CF6D-4794-B1BB-41537430A3C7}"/>
                </a:ext>
              </a:extLst>
            </p:cNvPr>
            <p:cNvSpPr/>
            <p:nvPr/>
          </p:nvSpPr>
          <p:spPr>
            <a:xfrm>
              <a:off x="2448493" y="364347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6" name="Rectangle 115">
              <a:extLst>
                <a:ext uri="{FF2B5EF4-FFF2-40B4-BE49-F238E27FC236}">
                  <a16:creationId xmlns:a16="http://schemas.microsoft.com/office/drawing/2014/main" id="{D24D93CD-7C8C-45EC-8837-B7EA8EAF76DF}"/>
                </a:ext>
              </a:extLst>
            </p:cNvPr>
            <p:cNvSpPr/>
            <p:nvPr/>
          </p:nvSpPr>
          <p:spPr>
            <a:xfrm>
              <a:off x="2504464" y="3765305"/>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7" name="Rectangle 116">
              <a:extLst>
                <a:ext uri="{FF2B5EF4-FFF2-40B4-BE49-F238E27FC236}">
                  <a16:creationId xmlns:a16="http://schemas.microsoft.com/office/drawing/2014/main" id="{44196409-30EC-4F95-B8D3-3A533398CE6B}"/>
                </a:ext>
              </a:extLst>
            </p:cNvPr>
            <p:cNvSpPr/>
            <p:nvPr/>
          </p:nvSpPr>
          <p:spPr>
            <a:xfrm>
              <a:off x="2425089" y="3788347"/>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8" name="Rectangle 117">
              <a:extLst>
                <a:ext uri="{FF2B5EF4-FFF2-40B4-BE49-F238E27FC236}">
                  <a16:creationId xmlns:a16="http://schemas.microsoft.com/office/drawing/2014/main" id="{3C9CA107-C4DE-40EF-AE88-F331F09B7F63}"/>
                </a:ext>
              </a:extLst>
            </p:cNvPr>
            <p:cNvSpPr/>
            <p:nvPr/>
          </p:nvSpPr>
          <p:spPr>
            <a:xfrm>
              <a:off x="2331018" y="3802226"/>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19" name="Rectangle 118">
              <a:extLst>
                <a:ext uri="{FF2B5EF4-FFF2-40B4-BE49-F238E27FC236}">
                  <a16:creationId xmlns:a16="http://schemas.microsoft.com/office/drawing/2014/main" id="{9D0E4A82-6409-418B-8EE0-B8C4C484C63A}"/>
                </a:ext>
              </a:extLst>
            </p:cNvPr>
            <p:cNvSpPr/>
            <p:nvPr/>
          </p:nvSpPr>
          <p:spPr>
            <a:xfrm>
              <a:off x="2240849" y="3850653"/>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120" name="Rectangle 119">
              <a:extLst>
                <a:ext uri="{FF2B5EF4-FFF2-40B4-BE49-F238E27FC236}">
                  <a16:creationId xmlns:a16="http://schemas.microsoft.com/office/drawing/2014/main" id="{D7648E6E-CA48-41C3-BAB0-837FE342F087}"/>
                </a:ext>
              </a:extLst>
            </p:cNvPr>
            <p:cNvSpPr/>
            <p:nvPr/>
          </p:nvSpPr>
          <p:spPr>
            <a:xfrm>
              <a:off x="2317049" y="3920503"/>
              <a:ext cx="45719" cy="45719"/>
            </a:xfrm>
            <a:prstGeom prst="rect">
              <a:avLst/>
            </a:prstGeom>
            <a:solidFill>
              <a:schemeClr val="accent1"/>
            </a:solidFill>
            <a:ln>
              <a:solidFill>
                <a:srgbClr val="CD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grpSp>
      <p:pic>
        <p:nvPicPr>
          <p:cNvPr id="121" name="Picture 120">
            <a:extLst>
              <a:ext uri="{FF2B5EF4-FFF2-40B4-BE49-F238E27FC236}">
                <a16:creationId xmlns:a16="http://schemas.microsoft.com/office/drawing/2014/main" id="{AB35EE87-2410-4BB6-9471-FD45339CB61F}"/>
              </a:ext>
            </a:extLst>
          </p:cNvPr>
          <p:cNvPicPr>
            <a:picLocks noChangeAspect="1"/>
          </p:cNvPicPr>
          <p:nvPr/>
        </p:nvPicPr>
        <p:blipFill>
          <a:blip r:embed="rId8"/>
          <a:stretch>
            <a:fillRect/>
          </a:stretch>
        </p:blipFill>
        <p:spPr>
          <a:xfrm>
            <a:off x="2150680" y="1970699"/>
            <a:ext cx="1412296" cy="497374"/>
          </a:xfrm>
          <a:prstGeom prst="rect">
            <a:avLst/>
          </a:prstGeom>
        </p:spPr>
      </p:pic>
      <p:pic>
        <p:nvPicPr>
          <p:cNvPr id="122" name="Picture 121">
            <a:extLst>
              <a:ext uri="{FF2B5EF4-FFF2-40B4-BE49-F238E27FC236}">
                <a16:creationId xmlns:a16="http://schemas.microsoft.com/office/drawing/2014/main" id="{70F4C48B-6614-44D8-B0F3-7CE082820F82}"/>
              </a:ext>
            </a:extLst>
          </p:cNvPr>
          <p:cNvPicPr>
            <a:picLocks noChangeAspect="1"/>
          </p:cNvPicPr>
          <p:nvPr/>
        </p:nvPicPr>
        <p:blipFill>
          <a:blip r:embed="rId9">
            <a:lum bright="70000" contrast="-70000"/>
            <a:extLst>
              <a:ext uri="{28A0092B-C50C-407E-A947-70E740481C1C}">
                <a14:useLocalDpi xmlns:a14="http://schemas.microsoft.com/office/drawing/2010/main" val="0"/>
              </a:ext>
            </a:extLst>
          </a:blip>
          <a:stretch>
            <a:fillRect/>
          </a:stretch>
        </p:blipFill>
        <p:spPr>
          <a:xfrm>
            <a:off x="2698338" y="2994102"/>
            <a:ext cx="538480" cy="662288"/>
          </a:xfrm>
          <a:prstGeom prst="rect">
            <a:avLst/>
          </a:prstGeom>
          <a:noFill/>
          <a:ln w="3175">
            <a:solidFill>
              <a:schemeClr val="tx1"/>
            </a:solidFill>
          </a:ln>
        </p:spPr>
      </p:pic>
      <p:sp>
        <p:nvSpPr>
          <p:cNvPr id="123" name="TextBox 122">
            <a:extLst>
              <a:ext uri="{FF2B5EF4-FFF2-40B4-BE49-F238E27FC236}">
                <a16:creationId xmlns:a16="http://schemas.microsoft.com/office/drawing/2014/main" id="{D0C0BDDE-B765-4B52-8374-2A4FA73C6926}"/>
              </a:ext>
            </a:extLst>
          </p:cNvPr>
          <p:cNvSpPr txBox="1"/>
          <p:nvPr/>
        </p:nvSpPr>
        <p:spPr>
          <a:xfrm>
            <a:off x="2084443" y="3729792"/>
            <a:ext cx="1600517" cy="692497"/>
          </a:xfrm>
          <a:prstGeom prst="rect">
            <a:avLst/>
          </a:prstGeom>
          <a:noFill/>
        </p:spPr>
        <p:txBody>
          <a:bodyPr wrap="square" rtlCol="0">
            <a:spAutoFit/>
          </a:bodyPr>
          <a:lstStyle/>
          <a:p>
            <a:pPr algn="ctr" defTabSz="1097214">
              <a:defRPr/>
            </a:pPr>
            <a:r>
              <a:rPr lang="en-US" sz="1300" dirty="0">
                <a:solidFill>
                  <a:srgbClr val="FFFFFF"/>
                </a:solidFill>
                <a:latin typeface="Amazon Ember"/>
                <a:ea typeface="Amazon Ember" panose="02000000000000000000" pitchFamily="2" charset="0"/>
              </a:rPr>
              <a:t>Optimization and License Assessment</a:t>
            </a:r>
          </a:p>
        </p:txBody>
      </p:sp>
    </p:spTree>
    <p:extLst>
      <p:ext uri="{BB962C8B-B14F-4D97-AF65-F5344CB8AC3E}">
        <p14:creationId xmlns:p14="http://schemas.microsoft.com/office/powerpoint/2010/main" val="1172017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bject 7">
            <a:extLst>
              <a:ext uri="{FF2B5EF4-FFF2-40B4-BE49-F238E27FC236}">
                <a16:creationId xmlns:a16="http://schemas.microsoft.com/office/drawing/2014/main" id="{79D6F604-5577-42D1-819C-D28C1ECB6BC4}"/>
              </a:ext>
            </a:extLst>
          </p:cNvPr>
          <p:cNvSpPr txBox="1"/>
          <p:nvPr/>
        </p:nvSpPr>
        <p:spPr>
          <a:xfrm>
            <a:off x="4303630" y="2183759"/>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Key Stakeholder Sign-off</a:t>
            </a:r>
          </a:p>
        </p:txBody>
      </p:sp>
      <p:sp>
        <p:nvSpPr>
          <p:cNvPr id="56" name="Object 50">
            <a:extLst>
              <a:ext uri="{FF2B5EF4-FFF2-40B4-BE49-F238E27FC236}">
                <a16:creationId xmlns:a16="http://schemas.microsoft.com/office/drawing/2014/main" id="{D189E181-9EF7-3441-9DBE-8FF75642DA8F}"/>
              </a:ext>
            </a:extLst>
          </p:cNvPr>
          <p:cNvSpPr txBox="1"/>
          <p:nvPr/>
        </p:nvSpPr>
        <p:spPr>
          <a:xfrm>
            <a:off x="701137" y="6426932"/>
            <a:ext cx="263445" cy="191908"/>
          </a:xfrm>
          <a:prstGeom prst="rect">
            <a:avLst/>
          </a:prstGeom>
          <a:solidFill>
            <a:srgbClr val="77FDA6"/>
          </a:solidFill>
          <a:ln w="12700">
            <a:solidFill>
              <a:schemeClr val="bg1"/>
            </a:solidFill>
          </a:ln>
        </p:spPr>
        <p:txBody>
          <a:bodyPr wrap="square" rtlCol="0" anchor="ctr"/>
          <a:lstStyle/>
          <a:p>
            <a:pPr algn="ctr"/>
            <a:endParaRPr lang="en-US" sz="800" dirty="0">
              <a:solidFill>
                <a:srgbClr val="000000"/>
              </a:solidFill>
              <a:cs typeface="Calibri" pitchFamily="34" charset="0"/>
            </a:endParaRPr>
          </a:p>
        </p:txBody>
      </p:sp>
      <p:sp>
        <p:nvSpPr>
          <p:cNvPr id="57" name="Object 44">
            <a:extLst>
              <a:ext uri="{FF2B5EF4-FFF2-40B4-BE49-F238E27FC236}">
                <a16:creationId xmlns:a16="http://schemas.microsoft.com/office/drawing/2014/main" id="{07B81C41-4659-D546-8738-267FDEFAF427}"/>
              </a:ext>
            </a:extLst>
          </p:cNvPr>
          <p:cNvSpPr txBox="1"/>
          <p:nvPr/>
        </p:nvSpPr>
        <p:spPr>
          <a:xfrm>
            <a:off x="687159" y="6844615"/>
            <a:ext cx="263445" cy="184608"/>
          </a:xfrm>
          <a:prstGeom prst="rect">
            <a:avLst/>
          </a:prstGeom>
          <a:solidFill>
            <a:schemeClr val="accent1">
              <a:lumMod val="40000"/>
              <a:lumOff val="60000"/>
            </a:schemeClr>
          </a:solidFill>
          <a:ln w="12700">
            <a:solidFill>
              <a:schemeClr val="bg1"/>
            </a:solidFill>
          </a:ln>
        </p:spPr>
        <p:txBody>
          <a:bodyPr wrap="square" rtlCol="0" anchor="ctr"/>
          <a:lstStyle/>
          <a:p>
            <a:pPr algn="ctr"/>
            <a:endParaRPr lang="en-US" sz="800" dirty="0">
              <a:solidFill>
                <a:srgbClr val="000000"/>
              </a:solidFill>
              <a:cs typeface="Calibri" pitchFamily="34" charset="0"/>
            </a:endParaRPr>
          </a:p>
        </p:txBody>
      </p:sp>
      <p:sp>
        <p:nvSpPr>
          <p:cNvPr id="58" name="Object 44">
            <a:extLst>
              <a:ext uri="{FF2B5EF4-FFF2-40B4-BE49-F238E27FC236}">
                <a16:creationId xmlns:a16="http://schemas.microsoft.com/office/drawing/2014/main" id="{2E93A6DB-2693-7147-BE0E-DD7E3A37F92E}"/>
              </a:ext>
            </a:extLst>
          </p:cNvPr>
          <p:cNvSpPr txBox="1"/>
          <p:nvPr/>
        </p:nvSpPr>
        <p:spPr>
          <a:xfrm>
            <a:off x="687159" y="7247970"/>
            <a:ext cx="263445" cy="184608"/>
          </a:xfrm>
          <a:prstGeom prst="rect">
            <a:avLst/>
          </a:prstGeom>
          <a:solidFill>
            <a:srgbClr val="FFBCB5"/>
          </a:solidFill>
          <a:ln w="12700">
            <a:solidFill>
              <a:schemeClr val="bg1"/>
            </a:solidFill>
          </a:ln>
        </p:spPr>
        <p:txBody>
          <a:bodyPr wrap="square" rtlCol="0" anchor="ctr"/>
          <a:lstStyle/>
          <a:p>
            <a:pPr algn="ctr"/>
            <a:endParaRPr lang="en-US" sz="800" dirty="0">
              <a:solidFill>
                <a:srgbClr val="000000"/>
              </a:solidFill>
              <a:cs typeface="Calibri" pitchFamily="34" charset="0"/>
            </a:endParaRPr>
          </a:p>
        </p:txBody>
      </p:sp>
      <p:sp>
        <p:nvSpPr>
          <p:cNvPr id="59" name="TextBox 58">
            <a:extLst>
              <a:ext uri="{FF2B5EF4-FFF2-40B4-BE49-F238E27FC236}">
                <a16:creationId xmlns:a16="http://schemas.microsoft.com/office/drawing/2014/main" id="{3D3B17AF-2769-6140-B327-1C093AEDF82C}"/>
              </a:ext>
            </a:extLst>
          </p:cNvPr>
          <p:cNvSpPr txBox="1"/>
          <p:nvPr/>
        </p:nvSpPr>
        <p:spPr>
          <a:xfrm>
            <a:off x="950604" y="6351116"/>
            <a:ext cx="2256968" cy="338554"/>
          </a:xfrm>
          <a:prstGeom prst="rect">
            <a:avLst/>
          </a:prstGeom>
          <a:noFill/>
        </p:spPr>
        <p:txBody>
          <a:bodyPr wrap="square" rtlCol="0">
            <a:spAutoFit/>
          </a:bodyPr>
          <a:lstStyle/>
          <a:p>
            <a:r>
              <a:rPr lang="en-US" sz="800" dirty="0"/>
              <a:t>Green -  Readiness maturity needs minimal assistance</a:t>
            </a:r>
          </a:p>
        </p:txBody>
      </p:sp>
      <p:sp>
        <p:nvSpPr>
          <p:cNvPr id="60" name="TextBox 59">
            <a:extLst>
              <a:ext uri="{FF2B5EF4-FFF2-40B4-BE49-F238E27FC236}">
                <a16:creationId xmlns:a16="http://schemas.microsoft.com/office/drawing/2014/main" id="{37C53931-15A4-4B49-8C6D-7FBC1AB28D14}"/>
              </a:ext>
            </a:extLst>
          </p:cNvPr>
          <p:cNvSpPr txBox="1"/>
          <p:nvPr/>
        </p:nvSpPr>
        <p:spPr>
          <a:xfrm>
            <a:off x="950603" y="6781441"/>
            <a:ext cx="2256968" cy="338554"/>
          </a:xfrm>
          <a:prstGeom prst="rect">
            <a:avLst/>
          </a:prstGeom>
          <a:noFill/>
        </p:spPr>
        <p:txBody>
          <a:bodyPr wrap="square" rtlCol="0">
            <a:spAutoFit/>
          </a:bodyPr>
          <a:lstStyle/>
          <a:p>
            <a:r>
              <a:rPr lang="en-US" sz="800" dirty="0"/>
              <a:t>Amber -  Need attention to accelerate momentum</a:t>
            </a:r>
          </a:p>
        </p:txBody>
      </p:sp>
      <p:sp>
        <p:nvSpPr>
          <p:cNvPr id="61" name="TextBox 60">
            <a:extLst>
              <a:ext uri="{FF2B5EF4-FFF2-40B4-BE49-F238E27FC236}">
                <a16:creationId xmlns:a16="http://schemas.microsoft.com/office/drawing/2014/main" id="{52B093B0-CCBC-5242-A2D4-AD455488D6DF}"/>
              </a:ext>
            </a:extLst>
          </p:cNvPr>
          <p:cNvSpPr txBox="1"/>
          <p:nvPr/>
        </p:nvSpPr>
        <p:spPr>
          <a:xfrm>
            <a:off x="947260" y="7175248"/>
            <a:ext cx="2256968" cy="338554"/>
          </a:xfrm>
          <a:prstGeom prst="rect">
            <a:avLst/>
          </a:prstGeom>
          <a:noFill/>
        </p:spPr>
        <p:txBody>
          <a:bodyPr wrap="square" rtlCol="0">
            <a:spAutoFit/>
          </a:bodyPr>
          <a:lstStyle/>
          <a:p>
            <a:r>
              <a:rPr lang="en-US" sz="800" dirty="0"/>
              <a:t>Red -  Require immediate assistance to unblock progress</a:t>
            </a:r>
          </a:p>
        </p:txBody>
      </p:sp>
      <p:sp>
        <p:nvSpPr>
          <p:cNvPr id="19" name="Object 31">
            <a:extLst>
              <a:ext uri="{FF2B5EF4-FFF2-40B4-BE49-F238E27FC236}">
                <a16:creationId xmlns:a16="http://schemas.microsoft.com/office/drawing/2014/main" id="{650E8D25-3C1F-0741-821B-6832817B7731}"/>
              </a:ext>
            </a:extLst>
          </p:cNvPr>
          <p:cNvSpPr txBox="1"/>
          <p:nvPr/>
        </p:nvSpPr>
        <p:spPr>
          <a:xfrm>
            <a:off x="11067615" y="1586359"/>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Landing Zone</a:t>
            </a:r>
          </a:p>
        </p:txBody>
      </p:sp>
      <p:sp>
        <p:nvSpPr>
          <p:cNvPr id="21" name="Object 34">
            <a:extLst>
              <a:ext uri="{FF2B5EF4-FFF2-40B4-BE49-F238E27FC236}">
                <a16:creationId xmlns:a16="http://schemas.microsoft.com/office/drawing/2014/main" id="{007F37E7-8901-6348-B42F-864C6BB7B230}"/>
              </a:ext>
            </a:extLst>
          </p:cNvPr>
          <p:cNvSpPr txBox="1"/>
          <p:nvPr/>
        </p:nvSpPr>
        <p:spPr>
          <a:xfrm>
            <a:off x="11067615" y="189503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Account Design &amp; Configuration</a:t>
            </a:r>
          </a:p>
        </p:txBody>
      </p:sp>
      <p:sp>
        <p:nvSpPr>
          <p:cNvPr id="31" name="Object 49">
            <a:extLst>
              <a:ext uri="{FF2B5EF4-FFF2-40B4-BE49-F238E27FC236}">
                <a16:creationId xmlns:a16="http://schemas.microsoft.com/office/drawing/2014/main" id="{1849A8AE-14C8-4649-99F5-73A744AF0BDA}"/>
              </a:ext>
            </a:extLst>
          </p:cNvPr>
          <p:cNvSpPr txBox="1"/>
          <p:nvPr/>
        </p:nvSpPr>
        <p:spPr>
          <a:xfrm>
            <a:off x="7935700" y="1586704"/>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Operating Model</a:t>
            </a:r>
          </a:p>
        </p:txBody>
      </p:sp>
      <p:sp>
        <p:nvSpPr>
          <p:cNvPr id="32" name="Object 50">
            <a:extLst>
              <a:ext uri="{FF2B5EF4-FFF2-40B4-BE49-F238E27FC236}">
                <a16:creationId xmlns:a16="http://schemas.microsoft.com/office/drawing/2014/main" id="{3B5364ED-EBED-E348-902E-1828CFE1105A}"/>
              </a:ext>
            </a:extLst>
          </p:cNvPr>
          <p:cNvSpPr txBox="1"/>
          <p:nvPr/>
        </p:nvSpPr>
        <p:spPr>
          <a:xfrm>
            <a:off x="7935700" y="188577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Current Operations Model</a:t>
            </a:r>
          </a:p>
        </p:txBody>
      </p:sp>
      <p:sp>
        <p:nvSpPr>
          <p:cNvPr id="34" name="Object 54">
            <a:extLst>
              <a:ext uri="{FF2B5EF4-FFF2-40B4-BE49-F238E27FC236}">
                <a16:creationId xmlns:a16="http://schemas.microsoft.com/office/drawing/2014/main" id="{ED3E99E5-4164-C748-A4FA-4DF1C4C12260}"/>
              </a:ext>
            </a:extLst>
          </p:cNvPr>
          <p:cNvSpPr txBox="1"/>
          <p:nvPr/>
        </p:nvSpPr>
        <p:spPr>
          <a:xfrm>
            <a:off x="7935700" y="2180593"/>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Managed Service Provider Identified</a:t>
            </a:r>
          </a:p>
        </p:txBody>
      </p:sp>
      <p:sp>
        <p:nvSpPr>
          <p:cNvPr id="35" name="Object 56">
            <a:extLst>
              <a:ext uri="{FF2B5EF4-FFF2-40B4-BE49-F238E27FC236}">
                <a16:creationId xmlns:a16="http://schemas.microsoft.com/office/drawing/2014/main" id="{38A04BB2-A441-1644-8B1A-3BA36DA4A7ED}"/>
              </a:ext>
            </a:extLst>
          </p:cNvPr>
          <p:cNvSpPr txBox="1"/>
          <p:nvPr/>
        </p:nvSpPr>
        <p:spPr>
          <a:xfrm>
            <a:off x="7935700" y="2479661"/>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AMI/Patching</a:t>
            </a:r>
          </a:p>
        </p:txBody>
      </p:sp>
      <p:sp>
        <p:nvSpPr>
          <p:cNvPr id="36" name="Object 57">
            <a:extLst>
              <a:ext uri="{FF2B5EF4-FFF2-40B4-BE49-F238E27FC236}">
                <a16:creationId xmlns:a16="http://schemas.microsoft.com/office/drawing/2014/main" id="{E041F06E-E546-2245-8C45-94D728104912}"/>
              </a:ext>
            </a:extLst>
          </p:cNvPr>
          <p:cNvSpPr txBox="1"/>
          <p:nvPr/>
        </p:nvSpPr>
        <p:spPr>
          <a:xfrm>
            <a:off x="7935700" y="2778732"/>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Backup</a:t>
            </a:r>
          </a:p>
        </p:txBody>
      </p:sp>
      <p:sp>
        <p:nvSpPr>
          <p:cNvPr id="37" name="Object 58">
            <a:extLst>
              <a:ext uri="{FF2B5EF4-FFF2-40B4-BE49-F238E27FC236}">
                <a16:creationId xmlns:a16="http://schemas.microsoft.com/office/drawing/2014/main" id="{F0534522-84C5-CC43-BDBB-0B5C02AD3976}"/>
              </a:ext>
            </a:extLst>
          </p:cNvPr>
          <p:cNvSpPr txBox="1"/>
          <p:nvPr/>
        </p:nvSpPr>
        <p:spPr>
          <a:xfrm>
            <a:off x="7935700" y="3077803"/>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Asset Management</a:t>
            </a:r>
          </a:p>
        </p:txBody>
      </p:sp>
      <p:sp>
        <p:nvSpPr>
          <p:cNvPr id="38" name="Object 59">
            <a:extLst>
              <a:ext uri="{FF2B5EF4-FFF2-40B4-BE49-F238E27FC236}">
                <a16:creationId xmlns:a16="http://schemas.microsoft.com/office/drawing/2014/main" id="{BD46E74C-DD2E-FB41-9726-E6DB0E6F38C3}"/>
              </a:ext>
            </a:extLst>
          </p:cNvPr>
          <p:cNvSpPr txBox="1"/>
          <p:nvPr/>
        </p:nvSpPr>
        <p:spPr>
          <a:xfrm>
            <a:off x="7935700" y="337687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Config Management &amp; Change Management</a:t>
            </a:r>
          </a:p>
        </p:txBody>
      </p:sp>
      <p:sp>
        <p:nvSpPr>
          <p:cNvPr id="39" name="Object 60">
            <a:extLst>
              <a:ext uri="{FF2B5EF4-FFF2-40B4-BE49-F238E27FC236}">
                <a16:creationId xmlns:a16="http://schemas.microsoft.com/office/drawing/2014/main" id="{168A2F77-4902-3748-88F5-7AFA4418B759}"/>
              </a:ext>
            </a:extLst>
          </p:cNvPr>
          <p:cNvSpPr txBox="1"/>
          <p:nvPr/>
        </p:nvSpPr>
        <p:spPr>
          <a:xfrm>
            <a:off x="7935700" y="367594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BCP/DR</a:t>
            </a:r>
          </a:p>
        </p:txBody>
      </p:sp>
      <p:sp>
        <p:nvSpPr>
          <p:cNvPr id="40" name="Object 61">
            <a:extLst>
              <a:ext uri="{FF2B5EF4-FFF2-40B4-BE49-F238E27FC236}">
                <a16:creationId xmlns:a16="http://schemas.microsoft.com/office/drawing/2014/main" id="{9EB3E0D1-F700-594F-A51D-E6CD31CDF2C8}"/>
              </a:ext>
            </a:extLst>
          </p:cNvPr>
          <p:cNvSpPr txBox="1"/>
          <p:nvPr/>
        </p:nvSpPr>
        <p:spPr>
          <a:xfrm>
            <a:off x="7935700" y="3975015"/>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Service Catalog</a:t>
            </a:r>
          </a:p>
        </p:txBody>
      </p:sp>
      <p:sp>
        <p:nvSpPr>
          <p:cNvPr id="41" name="Object 62">
            <a:extLst>
              <a:ext uri="{FF2B5EF4-FFF2-40B4-BE49-F238E27FC236}">
                <a16:creationId xmlns:a16="http://schemas.microsoft.com/office/drawing/2014/main" id="{214D10EB-3C22-6E44-AFD2-5D707E888941}"/>
              </a:ext>
            </a:extLst>
          </p:cNvPr>
          <p:cNvSpPr txBox="1"/>
          <p:nvPr/>
        </p:nvSpPr>
        <p:spPr>
          <a:xfrm>
            <a:off x="7935700" y="427408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Cost Management</a:t>
            </a:r>
          </a:p>
        </p:txBody>
      </p:sp>
      <p:sp>
        <p:nvSpPr>
          <p:cNvPr id="42" name="Object 63">
            <a:extLst>
              <a:ext uri="{FF2B5EF4-FFF2-40B4-BE49-F238E27FC236}">
                <a16:creationId xmlns:a16="http://schemas.microsoft.com/office/drawing/2014/main" id="{3CFB9BCD-646D-E145-A4E2-C341A5E40EC8}"/>
              </a:ext>
            </a:extLst>
          </p:cNvPr>
          <p:cNvSpPr txBox="1"/>
          <p:nvPr/>
        </p:nvSpPr>
        <p:spPr>
          <a:xfrm>
            <a:off x="7935700" y="4573155"/>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Cloud Ready Operational Processes &amp; Run Books</a:t>
            </a:r>
          </a:p>
        </p:txBody>
      </p:sp>
      <p:sp>
        <p:nvSpPr>
          <p:cNvPr id="43" name="Object 64">
            <a:extLst>
              <a:ext uri="{FF2B5EF4-FFF2-40B4-BE49-F238E27FC236}">
                <a16:creationId xmlns:a16="http://schemas.microsoft.com/office/drawing/2014/main" id="{54DA3D08-CBC5-F24B-9AE3-F28F4EDBD17A}"/>
              </a:ext>
            </a:extLst>
          </p:cNvPr>
          <p:cNvSpPr txBox="1"/>
          <p:nvPr/>
        </p:nvSpPr>
        <p:spPr>
          <a:xfrm>
            <a:off x="7935700" y="4872225"/>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CI/CD Pipelines</a:t>
            </a:r>
          </a:p>
        </p:txBody>
      </p:sp>
      <p:sp>
        <p:nvSpPr>
          <p:cNvPr id="44" name="Object 65">
            <a:extLst>
              <a:ext uri="{FF2B5EF4-FFF2-40B4-BE49-F238E27FC236}">
                <a16:creationId xmlns:a16="http://schemas.microsoft.com/office/drawing/2014/main" id="{E8961383-3A41-0244-B110-F7A761465F5A}"/>
              </a:ext>
            </a:extLst>
          </p:cNvPr>
          <p:cNvSpPr txBox="1"/>
          <p:nvPr/>
        </p:nvSpPr>
        <p:spPr>
          <a:xfrm>
            <a:off x="11088313" y="2699477"/>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Security &amp; Compliance</a:t>
            </a:r>
          </a:p>
        </p:txBody>
      </p:sp>
      <p:sp>
        <p:nvSpPr>
          <p:cNvPr id="45" name="Object 66">
            <a:extLst>
              <a:ext uri="{FF2B5EF4-FFF2-40B4-BE49-F238E27FC236}">
                <a16:creationId xmlns:a16="http://schemas.microsoft.com/office/drawing/2014/main" id="{16651102-589C-0044-AA95-F307A82971CA}"/>
              </a:ext>
            </a:extLst>
          </p:cNvPr>
          <p:cNvSpPr txBox="1"/>
          <p:nvPr/>
        </p:nvSpPr>
        <p:spPr>
          <a:xfrm>
            <a:off x="11088313" y="299854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Security Strategy</a:t>
            </a:r>
          </a:p>
        </p:txBody>
      </p:sp>
      <p:sp>
        <p:nvSpPr>
          <p:cNvPr id="48" name="Object 72">
            <a:extLst>
              <a:ext uri="{FF2B5EF4-FFF2-40B4-BE49-F238E27FC236}">
                <a16:creationId xmlns:a16="http://schemas.microsoft.com/office/drawing/2014/main" id="{13F250B8-D4C3-0A40-8FB4-3DD7008E3781}"/>
              </a:ext>
            </a:extLst>
          </p:cNvPr>
          <p:cNvSpPr txBox="1"/>
          <p:nvPr/>
        </p:nvSpPr>
        <p:spPr>
          <a:xfrm>
            <a:off x="11088313" y="3586786"/>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3rd Party Risk</a:t>
            </a:r>
          </a:p>
        </p:txBody>
      </p:sp>
      <p:sp>
        <p:nvSpPr>
          <p:cNvPr id="50" name="Object 75">
            <a:extLst>
              <a:ext uri="{FF2B5EF4-FFF2-40B4-BE49-F238E27FC236}">
                <a16:creationId xmlns:a16="http://schemas.microsoft.com/office/drawing/2014/main" id="{D4973C2E-5ADA-AC42-90FE-3FC6E156B747}"/>
              </a:ext>
            </a:extLst>
          </p:cNvPr>
          <p:cNvSpPr txBox="1"/>
          <p:nvPr/>
        </p:nvSpPr>
        <p:spPr>
          <a:xfrm>
            <a:off x="11088313" y="418492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Logging &amp; Monitoring</a:t>
            </a:r>
          </a:p>
        </p:txBody>
      </p:sp>
      <p:sp>
        <p:nvSpPr>
          <p:cNvPr id="52" name="Object 77">
            <a:extLst>
              <a:ext uri="{FF2B5EF4-FFF2-40B4-BE49-F238E27FC236}">
                <a16:creationId xmlns:a16="http://schemas.microsoft.com/office/drawing/2014/main" id="{D6E21D13-934C-DF40-A34D-69C0A1F4BA76}"/>
              </a:ext>
            </a:extLst>
          </p:cNvPr>
          <p:cNvSpPr txBox="1"/>
          <p:nvPr/>
        </p:nvSpPr>
        <p:spPr>
          <a:xfrm>
            <a:off x="11088313" y="4487692"/>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Lifecycle Security Capabilities</a:t>
            </a:r>
          </a:p>
        </p:txBody>
      </p:sp>
      <p:sp>
        <p:nvSpPr>
          <p:cNvPr id="54" name="Object 79">
            <a:extLst>
              <a:ext uri="{FF2B5EF4-FFF2-40B4-BE49-F238E27FC236}">
                <a16:creationId xmlns:a16="http://schemas.microsoft.com/office/drawing/2014/main" id="{D4897F88-6CEB-6E42-AD3D-6D4E6F60934C}"/>
              </a:ext>
            </a:extLst>
          </p:cNvPr>
          <p:cNvSpPr txBox="1"/>
          <p:nvPr/>
        </p:nvSpPr>
        <p:spPr>
          <a:xfrm>
            <a:off x="11088313" y="5085832"/>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Security Operations Playbook</a:t>
            </a:r>
          </a:p>
        </p:txBody>
      </p:sp>
      <p:sp>
        <p:nvSpPr>
          <p:cNvPr id="55" name="Object 80">
            <a:extLst>
              <a:ext uri="{FF2B5EF4-FFF2-40B4-BE49-F238E27FC236}">
                <a16:creationId xmlns:a16="http://schemas.microsoft.com/office/drawing/2014/main" id="{5AA020EC-518F-5A4E-B7E5-7E94E4782A33}"/>
              </a:ext>
            </a:extLst>
          </p:cNvPr>
          <p:cNvSpPr txBox="1"/>
          <p:nvPr/>
        </p:nvSpPr>
        <p:spPr>
          <a:xfrm>
            <a:off x="7935700" y="5163456"/>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Incident Response</a:t>
            </a:r>
          </a:p>
        </p:txBody>
      </p:sp>
      <p:sp>
        <p:nvSpPr>
          <p:cNvPr id="64" name="Rounded Rectangle 63">
            <a:extLst>
              <a:ext uri="{FF2B5EF4-FFF2-40B4-BE49-F238E27FC236}">
                <a16:creationId xmlns:a16="http://schemas.microsoft.com/office/drawing/2014/main" id="{1F99C2A5-3366-B341-9320-DDB1F974B16A}"/>
              </a:ext>
            </a:extLst>
          </p:cNvPr>
          <p:cNvSpPr/>
          <p:nvPr/>
        </p:nvSpPr>
        <p:spPr>
          <a:xfrm>
            <a:off x="7565656" y="1227858"/>
            <a:ext cx="6675270" cy="4885144"/>
          </a:xfrm>
          <a:prstGeom prst="round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3" name="Object 6">
            <a:extLst>
              <a:ext uri="{FF2B5EF4-FFF2-40B4-BE49-F238E27FC236}">
                <a16:creationId xmlns:a16="http://schemas.microsoft.com/office/drawing/2014/main" id="{B32B53CC-ECEB-9149-8B41-5415AD793D8D}"/>
              </a:ext>
            </a:extLst>
          </p:cNvPr>
          <p:cNvSpPr txBox="1"/>
          <p:nvPr/>
        </p:nvSpPr>
        <p:spPr>
          <a:xfrm>
            <a:off x="4303630" y="1597010"/>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Business Case</a:t>
            </a:r>
          </a:p>
        </p:txBody>
      </p:sp>
      <p:sp>
        <p:nvSpPr>
          <p:cNvPr id="4" name="Object 7">
            <a:extLst>
              <a:ext uri="{FF2B5EF4-FFF2-40B4-BE49-F238E27FC236}">
                <a16:creationId xmlns:a16="http://schemas.microsoft.com/office/drawing/2014/main" id="{B7AD5D8F-57F0-D848-8A07-EAEE2527FA5D}"/>
              </a:ext>
            </a:extLst>
          </p:cNvPr>
          <p:cNvSpPr txBox="1"/>
          <p:nvPr/>
        </p:nvSpPr>
        <p:spPr>
          <a:xfrm>
            <a:off x="4303630" y="1896080"/>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High Level Business Case</a:t>
            </a:r>
          </a:p>
        </p:txBody>
      </p:sp>
      <p:sp>
        <p:nvSpPr>
          <p:cNvPr id="7" name="Object 13">
            <a:extLst>
              <a:ext uri="{FF2B5EF4-FFF2-40B4-BE49-F238E27FC236}">
                <a16:creationId xmlns:a16="http://schemas.microsoft.com/office/drawing/2014/main" id="{1543AE26-7DA6-E44E-900E-AA904ADC3345}"/>
              </a:ext>
            </a:extLst>
          </p:cNvPr>
          <p:cNvSpPr txBox="1"/>
          <p:nvPr/>
        </p:nvSpPr>
        <p:spPr>
          <a:xfrm>
            <a:off x="4303630" y="2479663"/>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Migration Funding Commitment</a:t>
            </a:r>
          </a:p>
        </p:txBody>
      </p:sp>
      <p:sp>
        <p:nvSpPr>
          <p:cNvPr id="8" name="Object 15">
            <a:extLst>
              <a:ext uri="{FF2B5EF4-FFF2-40B4-BE49-F238E27FC236}">
                <a16:creationId xmlns:a16="http://schemas.microsoft.com/office/drawing/2014/main" id="{41641ACD-916C-8B45-8E17-80643ED0C7C8}"/>
              </a:ext>
            </a:extLst>
          </p:cNvPr>
          <p:cNvSpPr txBox="1"/>
          <p:nvPr/>
        </p:nvSpPr>
        <p:spPr>
          <a:xfrm>
            <a:off x="4303630" y="2778733"/>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Specific Migration Workloads Committed</a:t>
            </a:r>
          </a:p>
        </p:txBody>
      </p:sp>
      <p:sp>
        <p:nvSpPr>
          <p:cNvPr id="9" name="Object 16">
            <a:extLst>
              <a:ext uri="{FF2B5EF4-FFF2-40B4-BE49-F238E27FC236}">
                <a16:creationId xmlns:a16="http://schemas.microsoft.com/office/drawing/2014/main" id="{0601D98F-E341-0147-8ADD-811F9C94540F}"/>
              </a:ext>
            </a:extLst>
          </p:cNvPr>
          <p:cNvSpPr txBox="1"/>
          <p:nvPr/>
        </p:nvSpPr>
        <p:spPr>
          <a:xfrm>
            <a:off x="4304617" y="4565316"/>
            <a:ext cx="2811021" cy="272909"/>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Customer Migration Project Plan</a:t>
            </a:r>
          </a:p>
        </p:txBody>
      </p:sp>
      <p:sp>
        <p:nvSpPr>
          <p:cNvPr id="10" name="Object 17">
            <a:extLst>
              <a:ext uri="{FF2B5EF4-FFF2-40B4-BE49-F238E27FC236}">
                <a16:creationId xmlns:a16="http://schemas.microsoft.com/office/drawing/2014/main" id="{76F5314D-9770-D84E-9F11-894013065325}"/>
              </a:ext>
            </a:extLst>
          </p:cNvPr>
          <p:cNvSpPr txBox="1"/>
          <p:nvPr/>
        </p:nvSpPr>
        <p:spPr>
          <a:xfrm>
            <a:off x="4304617" y="4864386"/>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Determine Delivery Model &amp; Approach</a:t>
            </a:r>
          </a:p>
        </p:txBody>
      </p:sp>
      <p:sp>
        <p:nvSpPr>
          <p:cNvPr id="11" name="Object 19">
            <a:extLst>
              <a:ext uri="{FF2B5EF4-FFF2-40B4-BE49-F238E27FC236}">
                <a16:creationId xmlns:a16="http://schemas.microsoft.com/office/drawing/2014/main" id="{5FBFA169-5EF4-844A-B1A7-A1E2B3EFC3E5}"/>
              </a:ext>
            </a:extLst>
          </p:cNvPr>
          <p:cNvSpPr txBox="1"/>
          <p:nvPr/>
        </p:nvSpPr>
        <p:spPr>
          <a:xfrm>
            <a:off x="4304617" y="5163456"/>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Project Management Capability</a:t>
            </a:r>
          </a:p>
        </p:txBody>
      </p:sp>
      <p:sp>
        <p:nvSpPr>
          <p:cNvPr id="12" name="Object 21">
            <a:extLst>
              <a:ext uri="{FF2B5EF4-FFF2-40B4-BE49-F238E27FC236}">
                <a16:creationId xmlns:a16="http://schemas.microsoft.com/office/drawing/2014/main" id="{FB43FC09-4911-6348-88A8-01C191F0FC2C}"/>
              </a:ext>
            </a:extLst>
          </p:cNvPr>
          <p:cNvSpPr txBox="1"/>
          <p:nvPr/>
        </p:nvSpPr>
        <p:spPr>
          <a:xfrm>
            <a:off x="4304617" y="5462528"/>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Migration Plan</a:t>
            </a:r>
          </a:p>
        </p:txBody>
      </p:sp>
      <p:sp>
        <p:nvSpPr>
          <p:cNvPr id="23" name="Object 37">
            <a:extLst>
              <a:ext uri="{FF2B5EF4-FFF2-40B4-BE49-F238E27FC236}">
                <a16:creationId xmlns:a16="http://schemas.microsoft.com/office/drawing/2014/main" id="{8C710EBF-A3AB-3F49-8EFB-289C044822FA}"/>
              </a:ext>
            </a:extLst>
          </p:cNvPr>
          <p:cNvSpPr txBox="1"/>
          <p:nvPr/>
        </p:nvSpPr>
        <p:spPr>
          <a:xfrm>
            <a:off x="4303630" y="3343839"/>
            <a:ext cx="2811021" cy="299070"/>
          </a:xfrm>
          <a:prstGeom prst="rect">
            <a:avLst/>
          </a:prstGeom>
          <a:solidFill>
            <a:srgbClr val="999999"/>
          </a:solidFill>
          <a:ln w="12700">
            <a:solidFill>
              <a:srgbClr val="999999"/>
            </a:solidFill>
          </a:ln>
        </p:spPr>
        <p:txBody>
          <a:bodyPr wrap="square" rtlCol="0" anchor="ctr"/>
          <a:lstStyle/>
          <a:p>
            <a:pPr algn="ctr"/>
            <a:r>
              <a:rPr lang="en-US" sz="1050" b="1" dirty="0">
                <a:solidFill>
                  <a:srgbClr val="FFFFFF"/>
                </a:solidFill>
                <a:ea typeface="Amazon Ember" panose="02000000000000000000" pitchFamily="2" charset="0"/>
                <a:cs typeface="Calibri" pitchFamily="34" charset="0"/>
              </a:rPr>
              <a:t>Application Portfolio Discovery &amp; Planning</a:t>
            </a:r>
          </a:p>
        </p:txBody>
      </p:sp>
      <p:sp>
        <p:nvSpPr>
          <p:cNvPr id="24" name="Object 38">
            <a:extLst>
              <a:ext uri="{FF2B5EF4-FFF2-40B4-BE49-F238E27FC236}">
                <a16:creationId xmlns:a16="http://schemas.microsoft.com/office/drawing/2014/main" id="{5CD58BEB-4991-2E49-BC74-B0B7E04F17F8}"/>
              </a:ext>
            </a:extLst>
          </p:cNvPr>
          <p:cNvSpPr txBox="1"/>
          <p:nvPr/>
        </p:nvSpPr>
        <p:spPr>
          <a:xfrm>
            <a:off x="4303630" y="3642909"/>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Application Discovery Data</a:t>
            </a:r>
          </a:p>
        </p:txBody>
      </p:sp>
      <p:sp>
        <p:nvSpPr>
          <p:cNvPr id="26" name="Object 42">
            <a:extLst>
              <a:ext uri="{FF2B5EF4-FFF2-40B4-BE49-F238E27FC236}">
                <a16:creationId xmlns:a16="http://schemas.microsoft.com/office/drawing/2014/main" id="{006BADA9-01AD-A24E-815F-397C5B7209B1}"/>
              </a:ext>
            </a:extLst>
          </p:cNvPr>
          <p:cNvSpPr txBox="1"/>
          <p:nvPr/>
        </p:nvSpPr>
        <p:spPr>
          <a:xfrm>
            <a:off x="4303630" y="394605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Workload Owner Buy-In or Alignment</a:t>
            </a:r>
          </a:p>
        </p:txBody>
      </p:sp>
      <p:sp>
        <p:nvSpPr>
          <p:cNvPr id="67" name="Rounded Rectangle 66">
            <a:extLst>
              <a:ext uri="{FF2B5EF4-FFF2-40B4-BE49-F238E27FC236}">
                <a16:creationId xmlns:a16="http://schemas.microsoft.com/office/drawing/2014/main" id="{BEEE864B-9B1F-4F47-88AA-D4406B735018}"/>
              </a:ext>
            </a:extLst>
          </p:cNvPr>
          <p:cNvSpPr/>
          <p:nvPr/>
        </p:nvSpPr>
        <p:spPr>
          <a:xfrm>
            <a:off x="4126257" y="1266753"/>
            <a:ext cx="3131915" cy="4885144"/>
          </a:xfrm>
          <a:prstGeom prst="roundRect">
            <a:avLst/>
          </a:prstGeom>
          <a:noFill/>
          <a:ln w="222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28" name="Object 45">
            <a:extLst>
              <a:ext uri="{FF2B5EF4-FFF2-40B4-BE49-F238E27FC236}">
                <a16:creationId xmlns:a16="http://schemas.microsoft.com/office/drawing/2014/main" id="{16810105-1ABE-4A4F-BBD5-6091D00CD1F3}"/>
              </a:ext>
            </a:extLst>
          </p:cNvPr>
          <p:cNvSpPr txBox="1"/>
          <p:nvPr/>
        </p:nvSpPr>
        <p:spPr>
          <a:xfrm>
            <a:off x="701306" y="4213269"/>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Migration Process &amp; Experience</a:t>
            </a:r>
          </a:p>
        </p:txBody>
      </p:sp>
      <p:sp>
        <p:nvSpPr>
          <p:cNvPr id="30" name="Object 48">
            <a:extLst>
              <a:ext uri="{FF2B5EF4-FFF2-40B4-BE49-F238E27FC236}">
                <a16:creationId xmlns:a16="http://schemas.microsoft.com/office/drawing/2014/main" id="{790B32E9-0E99-7D49-A22C-0F918DB28214}"/>
              </a:ext>
            </a:extLst>
          </p:cNvPr>
          <p:cNvSpPr txBox="1"/>
          <p:nvPr/>
        </p:nvSpPr>
        <p:spPr>
          <a:xfrm>
            <a:off x="701137" y="451929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Migration Experience</a:t>
            </a:r>
          </a:p>
        </p:txBody>
      </p:sp>
      <p:sp>
        <p:nvSpPr>
          <p:cNvPr id="70" name="Rounded Rectangle 69">
            <a:extLst>
              <a:ext uri="{FF2B5EF4-FFF2-40B4-BE49-F238E27FC236}">
                <a16:creationId xmlns:a16="http://schemas.microsoft.com/office/drawing/2014/main" id="{9B51D373-CF58-A944-BEB7-0E2BE7EB851A}"/>
              </a:ext>
            </a:extLst>
          </p:cNvPr>
          <p:cNvSpPr/>
          <p:nvPr/>
        </p:nvSpPr>
        <p:spPr>
          <a:xfrm>
            <a:off x="557784" y="3900170"/>
            <a:ext cx="3131915" cy="1256941"/>
          </a:xfrm>
          <a:prstGeom prst="round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13" name="Object 22">
            <a:extLst>
              <a:ext uri="{FF2B5EF4-FFF2-40B4-BE49-F238E27FC236}">
                <a16:creationId xmlns:a16="http://schemas.microsoft.com/office/drawing/2014/main" id="{8567EA09-6616-ED45-B232-3F0023324475}"/>
              </a:ext>
            </a:extLst>
          </p:cNvPr>
          <p:cNvSpPr txBox="1"/>
          <p:nvPr/>
        </p:nvSpPr>
        <p:spPr>
          <a:xfrm>
            <a:off x="735051" y="1615730"/>
            <a:ext cx="2811021" cy="299070"/>
          </a:xfrm>
          <a:prstGeom prst="rect">
            <a:avLst/>
          </a:prstGeom>
          <a:solidFill>
            <a:srgbClr val="999999"/>
          </a:solidFill>
          <a:ln w="12700">
            <a:solidFill>
              <a:srgbClr val="999999"/>
            </a:solidFill>
          </a:ln>
        </p:spPr>
        <p:txBody>
          <a:bodyPr wrap="square" rtlCol="0" anchor="ctr"/>
          <a:lstStyle/>
          <a:p>
            <a:pPr algn="ctr"/>
            <a:r>
              <a:rPr lang="en-US" sz="1200" b="1" dirty="0">
                <a:solidFill>
                  <a:srgbClr val="FFFFFF"/>
                </a:solidFill>
                <a:ea typeface="Amazon Ember" panose="02000000000000000000" pitchFamily="2" charset="0"/>
                <a:cs typeface="Calibri" pitchFamily="34" charset="0"/>
              </a:rPr>
              <a:t>Skills &amp; COE</a:t>
            </a:r>
          </a:p>
        </p:txBody>
      </p:sp>
      <p:sp>
        <p:nvSpPr>
          <p:cNvPr id="14" name="Object 23">
            <a:extLst>
              <a:ext uri="{FF2B5EF4-FFF2-40B4-BE49-F238E27FC236}">
                <a16:creationId xmlns:a16="http://schemas.microsoft.com/office/drawing/2014/main" id="{AA1E3776-15A3-9847-9269-906EAFFEEC03}"/>
              </a:ext>
            </a:extLst>
          </p:cNvPr>
          <p:cNvSpPr txBox="1"/>
          <p:nvPr/>
        </p:nvSpPr>
        <p:spPr>
          <a:xfrm>
            <a:off x="735051" y="1914800"/>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Single Threaded Leader</a:t>
            </a:r>
          </a:p>
        </p:txBody>
      </p:sp>
      <p:sp>
        <p:nvSpPr>
          <p:cNvPr id="16" name="Object 27">
            <a:extLst>
              <a:ext uri="{FF2B5EF4-FFF2-40B4-BE49-F238E27FC236}">
                <a16:creationId xmlns:a16="http://schemas.microsoft.com/office/drawing/2014/main" id="{E3B03536-A5B0-AE46-8966-5EF73160269C}"/>
              </a:ext>
            </a:extLst>
          </p:cNvPr>
          <p:cNvSpPr txBox="1"/>
          <p:nvPr/>
        </p:nvSpPr>
        <p:spPr>
          <a:xfrm>
            <a:off x="735051" y="2208490"/>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Experience baseline</a:t>
            </a:r>
          </a:p>
        </p:txBody>
      </p:sp>
      <p:sp>
        <p:nvSpPr>
          <p:cNvPr id="17" name="Object 29">
            <a:extLst>
              <a:ext uri="{FF2B5EF4-FFF2-40B4-BE49-F238E27FC236}">
                <a16:creationId xmlns:a16="http://schemas.microsoft.com/office/drawing/2014/main" id="{7F2518D3-777F-B04C-967A-E9870C00E7E1}"/>
              </a:ext>
            </a:extLst>
          </p:cNvPr>
          <p:cNvSpPr txBox="1"/>
          <p:nvPr/>
        </p:nvSpPr>
        <p:spPr>
          <a:xfrm>
            <a:off x="735051" y="250741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Design or Evolve COE</a:t>
            </a:r>
          </a:p>
        </p:txBody>
      </p:sp>
      <p:sp>
        <p:nvSpPr>
          <p:cNvPr id="73" name="Rounded Rectangle 72">
            <a:extLst>
              <a:ext uri="{FF2B5EF4-FFF2-40B4-BE49-F238E27FC236}">
                <a16:creationId xmlns:a16="http://schemas.microsoft.com/office/drawing/2014/main" id="{18BD0A7A-2539-494E-B650-230393FCE06C}"/>
              </a:ext>
            </a:extLst>
          </p:cNvPr>
          <p:cNvSpPr/>
          <p:nvPr/>
        </p:nvSpPr>
        <p:spPr>
          <a:xfrm>
            <a:off x="574603" y="1314397"/>
            <a:ext cx="3131915" cy="1804118"/>
          </a:xfrm>
          <a:prstGeom prst="round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79" name="TextBox 78">
            <a:extLst>
              <a:ext uri="{FF2B5EF4-FFF2-40B4-BE49-F238E27FC236}">
                <a16:creationId xmlns:a16="http://schemas.microsoft.com/office/drawing/2014/main" id="{77B1A4C1-4B1B-AD40-8DD3-425F5C4BC5A7}"/>
              </a:ext>
            </a:extLst>
          </p:cNvPr>
          <p:cNvSpPr txBox="1"/>
          <p:nvPr/>
        </p:nvSpPr>
        <p:spPr>
          <a:xfrm>
            <a:off x="1665498" y="3198024"/>
            <a:ext cx="742511" cy="307777"/>
          </a:xfrm>
          <a:prstGeom prst="rect">
            <a:avLst/>
          </a:prstGeom>
          <a:noFill/>
        </p:spPr>
        <p:txBody>
          <a:bodyPr wrap="none" rtlCol="0">
            <a:spAutoFit/>
          </a:bodyPr>
          <a:lstStyle/>
          <a:p>
            <a:pPr algn="l"/>
            <a:r>
              <a:rPr lang="en-US" sz="1400" dirty="0">
                <a:ea typeface="Amazon Ember" panose="020B0603020204020204" pitchFamily="34" charset="0"/>
                <a:cs typeface="Amazon Ember" panose="020B0603020204020204" pitchFamily="34" charset="0"/>
              </a:rPr>
              <a:t>People</a:t>
            </a:r>
          </a:p>
        </p:txBody>
      </p:sp>
      <p:sp>
        <p:nvSpPr>
          <p:cNvPr id="80" name="TextBox 79">
            <a:extLst>
              <a:ext uri="{FF2B5EF4-FFF2-40B4-BE49-F238E27FC236}">
                <a16:creationId xmlns:a16="http://schemas.microsoft.com/office/drawing/2014/main" id="{5868FF25-0EFA-8347-BE9E-4652430D0A02}"/>
              </a:ext>
            </a:extLst>
          </p:cNvPr>
          <p:cNvSpPr txBox="1"/>
          <p:nvPr/>
        </p:nvSpPr>
        <p:spPr>
          <a:xfrm>
            <a:off x="1572253" y="5238525"/>
            <a:ext cx="973343" cy="307777"/>
          </a:xfrm>
          <a:prstGeom prst="rect">
            <a:avLst/>
          </a:prstGeom>
          <a:noFill/>
        </p:spPr>
        <p:txBody>
          <a:bodyPr wrap="none" rtlCol="0">
            <a:spAutoFit/>
          </a:bodyPr>
          <a:lstStyle/>
          <a:p>
            <a:pPr algn="l"/>
            <a:r>
              <a:rPr lang="en-US" sz="1400" dirty="0">
                <a:ea typeface="Amazon Ember" panose="020B0603020204020204" pitchFamily="34" charset="0"/>
                <a:cs typeface="Amazon Ember" panose="020B0603020204020204" pitchFamily="34" charset="0"/>
              </a:rPr>
              <a:t>Migration</a:t>
            </a:r>
          </a:p>
        </p:txBody>
      </p:sp>
      <p:sp>
        <p:nvSpPr>
          <p:cNvPr id="81" name="TextBox 80">
            <a:extLst>
              <a:ext uri="{FF2B5EF4-FFF2-40B4-BE49-F238E27FC236}">
                <a16:creationId xmlns:a16="http://schemas.microsoft.com/office/drawing/2014/main" id="{8F622399-8D8A-784E-AF6D-3F52E22D2EB5}"/>
              </a:ext>
            </a:extLst>
          </p:cNvPr>
          <p:cNvSpPr txBox="1"/>
          <p:nvPr/>
        </p:nvSpPr>
        <p:spPr>
          <a:xfrm>
            <a:off x="5239205" y="6279561"/>
            <a:ext cx="906017" cy="307777"/>
          </a:xfrm>
          <a:prstGeom prst="rect">
            <a:avLst/>
          </a:prstGeom>
          <a:noFill/>
        </p:spPr>
        <p:txBody>
          <a:bodyPr wrap="none" rtlCol="0">
            <a:spAutoFit/>
          </a:bodyPr>
          <a:lstStyle/>
          <a:p>
            <a:pPr algn="l"/>
            <a:r>
              <a:rPr lang="en-US" sz="1400" dirty="0">
                <a:ea typeface="Amazon Ember" panose="020B0603020204020204" pitchFamily="34" charset="0"/>
                <a:cs typeface="Amazon Ember" panose="020B0603020204020204" pitchFamily="34" charset="0"/>
              </a:rPr>
              <a:t>Portfolio</a:t>
            </a:r>
          </a:p>
        </p:txBody>
      </p:sp>
      <p:sp>
        <p:nvSpPr>
          <p:cNvPr id="82" name="TextBox 81">
            <a:extLst>
              <a:ext uri="{FF2B5EF4-FFF2-40B4-BE49-F238E27FC236}">
                <a16:creationId xmlns:a16="http://schemas.microsoft.com/office/drawing/2014/main" id="{655A5E34-2C20-7444-93FB-BC4DF35548D7}"/>
              </a:ext>
            </a:extLst>
          </p:cNvPr>
          <p:cNvSpPr txBox="1"/>
          <p:nvPr/>
        </p:nvSpPr>
        <p:spPr>
          <a:xfrm>
            <a:off x="10614606" y="6291398"/>
            <a:ext cx="906017" cy="307777"/>
          </a:xfrm>
          <a:prstGeom prst="rect">
            <a:avLst/>
          </a:prstGeom>
          <a:noFill/>
        </p:spPr>
        <p:txBody>
          <a:bodyPr wrap="none" rtlCol="0">
            <a:spAutoFit/>
          </a:bodyPr>
          <a:lstStyle/>
          <a:p>
            <a:pPr algn="l"/>
            <a:r>
              <a:rPr lang="en-US" sz="1400" dirty="0">
                <a:ea typeface="Amazon Ember" panose="020B0603020204020204" pitchFamily="34" charset="0"/>
                <a:cs typeface="Amazon Ember" panose="020B0603020204020204" pitchFamily="34" charset="0"/>
              </a:rPr>
              <a:t>Platform</a:t>
            </a:r>
          </a:p>
        </p:txBody>
      </p:sp>
      <p:sp>
        <p:nvSpPr>
          <p:cNvPr id="85" name="Object 8">
            <a:extLst>
              <a:ext uri="{FF2B5EF4-FFF2-40B4-BE49-F238E27FC236}">
                <a16:creationId xmlns:a16="http://schemas.microsoft.com/office/drawing/2014/main" id="{C3A6F5A6-4CA2-9645-BB21-B0D285C7F208}"/>
              </a:ext>
            </a:extLst>
          </p:cNvPr>
          <p:cNvSpPr/>
          <p:nvPr/>
        </p:nvSpPr>
        <p:spPr>
          <a:xfrm>
            <a:off x="4385973" y="1976266"/>
            <a:ext cx="126492" cy="136613"/>
          </a:xfrm>
          <a:prstGeom prst="diamond">
            <a:avLst/>
          </a:prstGeom>
          <a:solidFill>
            <a:srgbClr val="000000">
              <a:alpha val="75000"/>
            </a:srgbClr>
          </a:solidFill>
        </p:spPr>
        <p:txBody>
          <a:bodyPr/>
          <a:p/>
        </p:txBody>
      </p:sp>
      <p:sp>
        <p:nvSpPr>
          <p:cNvPr id="86" name="Object 8">
            <a:extLst>
              <a:ext uri="{FF2B5EF4-FFF2-40B4-BE49-F238E27FC236}">
                <a16:creationId xmlns:a16="http://schemas.microsoft.com/office/drawing/2014/main" id="{F2F70332-2415-B04B-AB15-BA985A2E0969}"/>
              </a:ext>
            </a:extLst>
          </p:cNvPr>
          <p:cNvSpPr/>
          <p:nvPr/>
        </p:nvSpPr>
        <p:spPr>
          <a:xfrm>
            <a:off x="4385973" y="2286103"/>
            <a:ext cx="126492" cy="136613"/>
          </a:xfrm>
          <a:prstGeom prst="diamond">
            <a:avLst/>
          </a:prstGeom>
          <a:solidFill>
            <a:srgbClr val="000000">
              <a:alpha val="75000"/>
            </a:srgbClr>
          </a:solidFill>
        </p:spPr>
        <p:txBody>
          <a:bodyPr/>
          <a:p/>
        </p:txBody>
      </p:sp>
      <p:sp>
        <p:nvSpPr>
          <p:cNvPr id="87" name="Object 8">
            <a:extLst>
              <a:ext uri="{FF2B5EF4-FFF2-40B4-BE49-F238E27FC236}">
                <a16:creationId xmlns:a16="http://schemas.microsoft.com/office/drawing/2014/main" id="{FDCBA26D-AC8F-A54C-A26A-B02FFF7EDD79}"/>
              </a:ext>
            </a:extLst>
          </p:cNvPr>
          <p:cNvSpPr/>
          <p:nvPr/>
        </p:nvSpPr>
        <p:spPr>
          <a:xfrm>
            <a:off x="4385973" y="2567904"/>
            <a:ext cx="126492" cy="136613"/>
          </a:xfrm>
          <a:prstGeom prst="diamond">
            <a:avLst/>
          </a:prstGeom>
          <a:solidFill>
            <a:srgbClr val="000000">
              <a:alpha val="75000"/>
            </a:srgbClr>
          </a:solidFill>
        </p:spPr>
        <p:txBody>
          <a:bodyPr/>
          <a:p/>
        </p:txBody>
      </p:sp>
      <p:sp>
        <p:nvSpPr>
          <p:cNvPr id="88" name="Object 8">
            <a:extLst>
              <a:ext uri="{FF2B5EF4-FFF2-40B4-BE49-F238E27FC236}">
                <a16:creationId xmlns:a16="http://schemas.microsoft.com/office/drawing/2014/main" id="{BEA4442A-6B06-E84D-B91E-66F869681B87}"/>
              </a:ext>
            </a:extLst>
          </p:cNvPr>
          <p:cNvSpPr/>
          <p:nvPr/>
        </p:nvSpPr>
        <p:spPr>
          <a:xfrm>
            <a:off x="4385973" y="2847721"/>
            <a:ext cx="126492" cy="136613"/>
          </a:xfrm>
          <a:prstGeom prst="diamond">
            <a:avLst/>
          </a:prstGeom>
          <a:solidFill>
            <a:srgbClr val="000000">
              <a:alpha val="75000"/>
            </a:srgbClr>
          </a:solidFill>
        </p:spPr>
        <p:txBody>
          <a:bodyPr/>
          <a:p/>
        </p:txBody>
      </p:sp>
      <p:sp>
        <p:nvSpPr>
          <p:cNvPr id="89" name="Object 8">
            <a:extLst>
              <a:ext uri="{FF2B5EF4-FFF2-40B4-BE49-F238E27FC236}">
                <a16:creationId xmlns:a16="http://schemas.microsoft.com/office/drawing/2014/main" id="{CA540F11-2D07-D042-AB85-417FAC8B02BE}"/>
              </a:ext>
            </a:extLst>
          </p:cNvPr>
          <p:cNvSpPr/>
          <p:nvPr/>
        </p:nvSpPr>
        <p:spPr>
          <a:xfrm>
            <a:off x="4387325" y="3724137"/>
            <a:ext cx="126492" cy="136613"/>
          </a:xfrm>
          <a:prstGeom prst="diamond">
            <a:avLst/>
          </a:prstGeom>
          <a:solidFill>
            <a:srgbClr val="000000">
              <a:alpha val="75000"/>
            </a:srgbClr>
          </a:solidFill>
        </p:spPr>
        <p:txBody>
          <a:bodyPr/>
          <a:p/>
        </p:txBody>
      </p:sp>
      <p:sp>
        <p:nvSpPr>
          <p:cNvPr id="90" name="Object 8">
            <a:extLst>
              <a:ext uri="{FF2B5EF4-FFF2-40B4-BE49-F238E27FC236}">
                <a16:creationId xmlns:a16="http://schemas.microsoft.com/office/drawing/2014/main" id="{CFA48B5D-490F-CE4B-931C-7EFE34B9875C}"/>
              </a:ext>
            </a:extLst>
          </p:cNvPr>
          <p:cNvSpPr/>
          <p:nvPr/>
        </p:nvSpPr>
        <p:spPr>
          <a:xfrm>
            <a:off x="4385973" y="4040206"/>
            <a:ext cx="126492" cy="136613"/>
          </a:xfrm>
          <a:prstGeom prst="diamond">
            <a:avLst/>
          </a:prstGeom>
          <a:solidFill>
            <a:srgbClr val="000000">
              <a:alpha val="75000"/>
            </a:srgbClr>
          </a:solidFill>
        </p:spPr>
        <p:txBody>
          <a:bodyPr/>
          <a:p/>
        </p:txBody>
      </p:sp>
      <p:sp>
        <p:nvSpPr>
          <p:cNvPr id="91" name="Object 8">
            <a:extLst>
              <a:ext uri="{FF2B5EF4-FFF2-40B4-BE49-F238E27FC236}">
                <a16:creationId xmlns:a16="http://schemas.microsoft.com/office/drawing/2014/main" id="{B4BF63DA-04A7-DF41-8949-E3278D38EEAE}"/>
              </a:ext>
            </a:extLst>
          </p:cNvPr>
          <p:cNvSpPr/>
          <p:nvPr/>
        </p:nvSpPr>
        <p:spPr>
          <a:xfrm>
            <a:off x="799487" y="1976266"/>
            <a:ext cx="126492" cy="136613"/>
          </a:xfrm>
          <a:prstGeom prst="diamond">
            <a:avLst/>
          </a:prstGeom>
          <a:solidFill>
            <a:srgbClr val="000000">
              <a:alpha val="75000"/>
            </a:srgbClr>
          </a:solidFill>
        </p:spPr>
        <p:txBody>
          <a:bodyPr/>
          <a:p/>
        </p:txBody>
      </p:sp>
      <p:sp>
        <p:nvSpPr>
          <p:cNvPr id="92" name="Object 8">
            <a:extLst>
              <a:ext uri="{FF2B5EF4-FFF2-40B4-BE49-F238E27FC236}">
                <a16:creationId xmlns:a16="http://schemas.microsoft.com/office/drawing/2014/main" id="{050509D6-68EA-1445-AEAE-21E6351478ED}"/>
              </a:ext>
            </a:extLst>
          </p:cNvPr>
          <p:cNvSpPr/>
          <p:nvPr/>
        </p:nvSpPr>
        <p:spPr>
          <a:xfrm>
            <a:off x="801293" y="2293425"/>
            <a:ext cx="126492" cy="136613"/>
          </a:xfrm>
          <a:prstGeom prst="diamond">
            <a:avLst/>
          </a:prstGeom>
          <a:solidFill>
            <a:srgbClr val="000000">
              <a:alpha val="75000"/>
            </a:srgbClr>
          </a:solidFill>
        </p:spPr>
        <p:txBody>
          <a:bodyPr/>
          <a:p/>
        </p:txBody>
      </p:sp>
      <p:sp>
        <p:nvSpPr>
          <p:cNvPr id="93" name="Object 8">
            <a:extLst>
              <a:ext uri="{FF2B5EF4-FFF2-40B4-BE49-F238E27FC236}">
                <a16:creationId xmlns:a16="http://schemas.microsoft.com/office/drawing/2014/main" id="{D3099D9E-76FF-CF47-A5F9-399E8B3822CB}"/>
              </a:ext>
            </a:extLst>
          </p:cNvPr>
          <p:cNvSpPr/>
          <p:nvPr/>
        </p:nvSpPr>
        <p:spPr>
          <a:xfrm>
            <a:off x="4386960" y="4957887"/>
            <a:ext cx="126492" cy="136613"/>
          </a:xfrm>
          <a:prstGeom prst="diamond">
            <a:avLst/>
          </a:prstGeom>
          <a:solidFill>
            <a:srgbClr val="000000">
              <a:alpha val="75000"/>
            </a:srgbClr>
          </a:solidFill>
        </p:spPr>
        <p:txBody>
          <a:bodyPr/>
          <a:p/>
        </p:txBody>
      </p:sp>
      <p:sp>
        <p:nvSpPr>
          <p:cNvPr id="94" name="Object 8">
            <a:extLst>
              <a:ext uri="{FF2B5EF4-FFF2-40B4-BE49-F238E27FC236}">
                <a16:creationId xmlns:a16="http://schemas.microsoft.com/office/drawing/2014/main" id="{9ADB56A2-CA4D-BA43-BF78-B95D7B77F98E}"/>
              </a:ext>
            </a:extLst>
          </p:cNvPr>
          <p:cNvSpPr/>
          <p:nvPr/>
        </p:nvSpPr>
        <p:spPr>
          <a:xfrm>
            <a:off x="4386960" y="5247563"/>
            <a:ext cx="126492" cy="136613"/>
          </a:xfrm>
          <a:prstGeom prst="diamond">
            <a:avLst/>
          </a:prstGeom>
          <a:solidFill>
            <a:srgbClr val="000000">
              <a:alpha val="75000"/>
            </a:srgbClr>
          </a:solidFill>
        </p:spPr>
        <p:txBody>
          <a:bodyPr/>
          <a:p/>
        </p:txBody>
      </p:sp>
      <p:sp>
        <p:nvSpPr>
          <p:cNvPr id="95" name="Object 8">
            <a:extLst>
              <a:ext uri="{FF2B5EF4-FFF2-40B4-BE49-F238E27FC236}">
                <a16:creationId xmlns:a16="http://schemas.microsoft.com/office/drawing/2014/main" id="{705CD729-847E-BB45-BDC1-5305E8970192}"/>
              </a:ext>
            </a:extLst>
          </p:cNvPr>
          <p:cNvSpPr/>
          <p:nvPr/>
        </p:nvSpPr>
        <p:spPr>
          <a:xfrm>
            <a:off x="4386960" y="5541435"/>
            <a:ext cx="126492" cy="136613"/>
          </a:xfrm>
          <a:prstGeom prst="diamond">
            <a:avLst/>
          </a:prstGeom>
          <a:solidFill>
            <a:srgbClr val="000000">
              <a:alpha val="75000"/>
            </a:srgbClr>
          </a:solidFill>
        </p:spPr>
        <p:txBody>
          <a:bodyPr/>
          <a:p/>
        </p:txBody>
      </p:sp>
      <p:sp>
        <p:nvSpPr>
          <p:cNvPr id="96" name="Object 8">
            <a:extLst>
              <a:ext uri="{FF2B5EF4-FFF2-40B4-BE49-F238E27FC236}">
                <a16:creationId xmlns:a16="http://schemas.microsoft.com/office/drawing/2014/main" id="{903F77CF-09C6-0E4D-AD2A-4F33E16C56CC}"/>
              </a:ext>
            </a:extLst>
          </p:cNvPr>
          <p:cNvSpPr/>
          <p:nvPr/>
        </p:nvSpPr>
        <p:spPr>
          <a:xfrm>
            <a:off x="8031281" y="2005009"/>
            <a:ext cx="126492" cy="136613"/>
          </a:xfrm>
          <a:prstGeom prst="diamond">
            <a:avLst/>
          </a:prstGeom>
          <a:solidFill>
            <a:srgbClr val="000000">
              <a:alpha val="75000"/>
            </a:srgbClr>
          </a:solidFill>
        </p:spPr>
        <p:txBody>
          <a:bodyPr/>
          <a:p/>
        </p:txBody>
      </p:sp>
      <p:sp>
        <p:nvSpPr>
          <p:cNvPr id="97" name="Object 8">
            <a:extLst>
              <a:ext uri="{FF2B5EF4-FFF2-40B4-BE49-F238E27FC236}">
                <a16:creationId xmlns:a16="http://schemas.microsoft.com/office/drawing/2014/main" id="{0A23DCF8-0E7C-2E41-AE30-7F744417D55F}"/>
              </a:ext>
            </a:extLst>
          </p:cNvPr>
          <p:cNvSpPr/>
          <p:nvPr/>
        </p:nvSpPr>
        <p:spPr>
          <a:xfrm>
            <a:off x="8025740" y="2286103"/>
            <a:ext cx="126492" cy="136613"/>
          </a:xfrm>
          <a:prstGeom prst="diamond">
            <a:avLst/>
          </a:prstGeom>
          <a:solidFill>
            <a:srgbClr val="000000">
              <a:alpha val="75000"/>
            </a:srgbClr>
          </a:solidFill>
        </p:spPr>
        <p:txBody>
          <a:bodyPr/>
          <a:p/>
        </p:txBody>
      </p:sp>
      <p:sp>
        <p:nvSpPr>
          <p:cNvPr id="98" name="Object 8">
            <a:extLst>
              <a:ext uri="{FF2B5EF4-FFF2-40B4-BE49-F238E27FC236}">
                <a16:creationId xmlns:a16="http://schemas.microsoft.com/office/drawing/2014/main" id="{278C971B-92E1-B74F-8096-A8DC5BD34DBB}"/>
              </a:ext>
            </a:extLst>
          </p:cNvPr>
          <p:cNvSpPr/>
          <p:nvPr/>
        </p:nvSpPr>
        <p:spPr>
          <a:xfrm>
            <a:off x="11162293" y="3676319"/>
            <a:ext cx="126492" cy="136613"/>
          </a:xfrm>
          <a:prstGeom prst="diamond">
            <a:avLst/>
          </a:prstGeom>
          <a:solidFill>
            <a:srgbClr val="000000">
              <a:alpha val="75000"/>
            </a:srgbClr>
          </a:solidFill>
        </p:spPr>
        <p:txBody>
          <a:bodyPr/>
          <a:p/>
        </p:txBody>
      </p:sp>
      <p:sp>
        <p:nvSpPr>
          <p:cNvPr id="99" name="Object 62">
            <a:extLst>
              <a:ext uri="{FF2B5EF4-FFF2-40B4-BE49-F238E27FC236}">
                <a16:creationId xmlns:a16="http://schemas.microsoft.com/office/drawing/2014/main" id="{1F038EA9-76FE-044B-9D2F-D873365DDD86}"/>
              </a:ext>
            </a:extLst>
          </p:cNvPr>
          <p:cNvSpPr txBox="1"/>
          <p:nvPr/>
        </p:nvSpPr>
        <p:spPr>
          <a:xfrm>
            <a:off x="4050942" y="7093834"/>
            <a:ext cx="2743200" cy="420624"/>
          </a:xfrm>
          <a:prstGeom prst="rect">
            <a:avLst/>
          </a:prstGeom>
          <a:noFill/>
        </p:spPr>
        <p:txBody>
          <a:bodyPr wrap="square" rtlCol="0" anchor="ctr"/>
          <a:lstStyle/>
          <a:p>
            <a:r>
              <a:rPr lang="en-US" sz="800" b="1" dirty="0">
                <a:cs typeface="Calibri" pitchFamily="34" charset="0"/>
              </a:rPr>
              <a:t>Pre-Mobilize/Areas that need attention early-on</a:t>
            </a:r>
          </a:p>
        </p:txBody>
      </p:sp>
      <p:sp>
        <p:nvSpPr>
          <p:cNvPr id="100" name="Object 8">
            <a:extLst>
              <a:ext uri="{FF2B5EF4-FFF2-40B4-BE49-F238E27FC236}">
                <a16:creationId xmlns:a16="http://schemas.microsoft.com/office/drawing/2014/main" id="{172563AE-080A-5243-8BEB-75FE9C578CC6}"/>
              </a:ext>
            </a:extLst>
          </p:cNvPr>
          <p:cNvSpPr/>
          <p:nvPr/>
        </p:nvSpPr>
        <p:spPr>
          <a:xfrm>
            <a:off x="3891700" y="7221090"/>
            <a:ext cx="126492" cy="136613"/>
          </a:xfrm>
          <a:prstGeom prst="diamond">
            <a:avLst/>
          </a:prstGeom>
          <a:solidFill>
            <a:srgbClr val="000000">
              <a:alpha val="75000"/>
            </a:srgbClr>
          </a:solidFill>
          <a:ln>
            <a:solidFill>
              <a:schemeClr val="tx1"/>
            </a:solidFill>
          </a:ln>
        </p:spPr>
        <p:txBody>
          <a:bodyPr/>
          <a:p/>
        </p:txBody>
      </p:sp>
      <p:sp>
        <p:nvSpPr>
          <p:cNvPr id="78" name="Title 1">
            <a:extLst>
              <a:ext uri="{FF2B5EF4-FFF2-40B4-BE49-F238E27FC236}">
                <a16:creationId xmlns:a16="http://schemas.microsoft.com/office/drawing/2014/main" id="{AC184F12-5C7E-2348-AED1-B1EFCF986EFE}"/>
              </a:ext>
            </a:extLst>
          </p:cNvPr>
          <p:cNvSpPr>
            <a:spLocks noGrp="1"/>
          </p:cNvSpPr>
          <p:nvPr>
            <p:ph type="title"/>
          </p:nvPr>
        </p:nvSpPr>
        <p:spPr>
          <a:xfrm>
            <a:off x="557784" y="236107"/>
            <a:ext cx="13514832" cy="904122"/>
          </a:xfrm>
        </p:spPr>
        <p:txBody>
          <a:bodyPr/>
          <a:lstStyle/>
          <a:p>
            <a:r>
              <a:rPr lang="en-US" dirty="0">
                <a:latin typeface="+mn-lt"/>
              </a:rPr>
              <a:t>MRA Workstream Summary</a:t>
            </a:r>
          </a:p>
        </p:txBody>
      </p:sp>
      <p:sp>
        <p:nvSpPr>
          <p:cNvPr id="77" name="Object 75">
            <a:extLst>
              <a:ext uri="{FF2B5EF4-FFF2-40B4-BE49-F238E27FC236}">
                <a16:creationId xmlns:a16="http://schemas.microsoft.com/office/drawing/2014/main" id="{7AB95EA5-DDDD-44EA-8E98-19D9980918B0}"/>
              </a:ext>
            </a:extLst>
          </p:cNvPr>
          <p:cNvSpPr txBox="1"/>
          <p:nvPr/>
        </p:nvSpPr>
        <p:spPr>
          <a:xfrm>
            <a:off x="11088313" y="3885857"/>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Security Reference Architecture</a:t>
            </a:r>
          </a:p>
        </p:txBody>
      </p:sp>
      <p:sp>
        <p:nvSpPr>
          <p:cNvPr id="76" name="Object 75">
            <a:extLst>
              <a:ext uri="{FF2B5EF4-FFF2-40B4-BE49-F238E27FC236}">
                <a16:creationId xmlns:a16="http://schemas.microsoft.com/office/drawing/2014/main" id="{B817DEC6-D293-4E9A-904D-8E9928B74A4A}"/>
              </a:ext>
            </a:extLst>
          </p:cNvPr>
          <p:cNvSpPr txBox="1"/>
          <p:nvPr/>
        </p:nvSpPr>
        <p:spPr>
          <a:xfrm>
            <a:off x="11088311" y="3293304"/>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Governance, Risk &amp; Compliance</a:t>
            </a:r>
          </a:p>
        </p:txBody>
      </p:sp>
      <p:sp>
        <p:nvSpPr>
          <p:cNvPr id="83" name="Object 78">
            <a:extLst>
              <a:ext uri="{FF2B5EF4-FFF2-40B4-BE49-F238E27FC236}">
                <a16:creationId xmlns:a16="http://schemas.microsoft.com/office/drawing/2014/main" id="{EAE1A3B4-81AD-4620-9033-2E6216FBB355}"/>
              </a:ext>
            </a:extLst>
          </p:cNvPr>
          <p:cNvSpPr txBox="1"/>
          <p:nvPr/>
        </p:nvSpPr>
        <p:spPr>
          <a:xfrm>
            <a:off x="11088313" y="4786762"/>
            <a:ext cx="2811021" cy="299070"/>
          </a:xfrm>
          <a:prstGeom prst="rect">
            <a:avLst/>
          </a:prstGeom>
          <a:solidFill>
            <a:srgbClr val="BFBFBF"/>
          </a:solidFill>
          <a:ln w="12700">
            <a:solidFill>
              <a:srgbClr val="000000"/>
            </a:solidFill>
          </a:ln>
        </p:spPr>
        <p:txBody>
          <a:bodyPr wrap="square" rtlCol="0" anchor="ctr"/>
          <a:lstStyle/>
          <a:p>
            <a:pPr algn="ctr"/>
            <a:r>
              <a:rPr lang="en-US" sz="800" dirty="0">
                <a:solidFill>
                  <a:srgbClr val="000000"/>
                </a:solidFill>
                <a:ea typeface="Amazon Ember" panose="02000000000000000000" pitchFamily="2" charset="0"/>
                <a:cs typeface="Calibri" pitchFamily="34" charset="0"/>
              </a:rPr>
              <a:t>DevSecOps Principles</a:t>
            </a:r>
          </a:p>
        </p:txBody>
      </p:sp>
    </p:spTree>
    <p:extLst>
      <p:ext uri="{BB962C8B-B14F-4D97-AF65-F5344CB8AC3E}">
        <p14:creationId xmlns:p14="http://schemas.microsoft.com/office/powerpoint/2010/main" val="412120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p:nvPr>
        </p:nvSpPr>
        <p:spPr/>
        <p:txBody>
          <a:bodyPr/>
          <a:lstStyle/>
          <a:p>
            <a:r>
              <a:rPr lang="en-US" dirty="0"/>
              <a:t>MRA Readiness Scores</a:t>
            </a:r>
          </a:p>
        </p:txBody>
      </p:sp>
      <p:graphicFrame>
        <p:nvGraphicFramePr>
          <p:cNvPr id="11" name="Chart 10"/>
          <p:cNvGraphicFramePr>
            <a:graphicFrameLocks noGrp="1"/>
          </p:cNvGraphicFramePr>
          <p:nvPr/>
        </p:nvGraphicFramePr>
        <p:xfrm>
          <a:off x="548639" y="1227482"/>
          <a:ext cx="13514832" cy="5178287"/>
        </p:xfrm>
        <a:graphic>
          <a:graphicData uri="http://schemas.openxmlformats.org/drawingml/2006/chart">
            <c:chart xmlns:c="http://schemas.openxmlformats.org/drawingml/2006/chart" r:id="rId3"/>
          </a:graphicData>
        </a:graphic>
      </p:graphicFrame>
    </p:spTree>
    <p:extLst>
      <p:ext uri="{BB962C8B-B14F-4D97-AF65-F5344CB8AC3E}">
        <p14:creationId xmlns:p14="http://schemas.microsoft.com/office/powerpoint/2010/main" val="2658708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p:nvPr>
        </p:nvSpPr>
        <p:spPr/>
        <p:txBody>
          <a:bodyPr/>
          <a:lstStyle/>
          <a:p>
            <a:r>
              <a:rPr lang="en-US" dirty="0"/>
              <a:t>MRA Readiness Scores</a:t>
            </a:r>
          </a:p>
        </p:txBody>
      </p:sp>
      <p:graphicFrame>
        <p:nvGraphicFramePr>
          <p:cNvPr id="13" name="Chart 12"/>
          <p:cNvGraphicFramePr>
            <a:graphicFrameLocks noGrp="1"/>
          </p:cNvGraphicFramePr>
          <p:nvPr/>
        </p:nvGraphicFramePr>
        <p:xfrm>
          <a:off x="548640" y="877824"/>
          <a:ext cx="5943600" cy="1755648"/>
        </p:xfrm>
        <a:graphic>
          <a:graphicData uri="http://schemas.openxmlformats.org/drawingml/2006/chart">
            <c:chart xmlns:c="http://schemas.openxmlformats.org/drawingml/2006/chart" r:id="rId3"/>
          </a:graphicData>
        </a:graphic>
      </p:graphicFrame>
      <p:graphicFrame>
        <p:nvGraphicFramePr>
          <p:cNvPr id="14" name="Chart 13"/>
          <p:cNvGraphicFramePr>
            <a:graphicFrameLocks noGrp="1"/>
          </p:cNvGraphicFramePr>
          <p:nvPr/>
        </p:nvGraphicFramePr>
        <p:xfrm>
          <a:off x="548638" y="2523744"/>
          <a:ext cx="5943600" cy="1499616"/>
        </p:xfrm>
        <a:graphic>
          <a:graphicData uri="http://schemas.openxmlformats.org/drawingml/2006/chart">
            <c:chart xmlns:c="http://schemas.openxmlformats.org/drawingml/2006/chart" r:id="rId4"/>
          </a:graphicData>
        </a:graphic>
      </p:graphicFrame>
      <p:graphicFrame>
        <p:nvGraphicFramePr>
          <p:cNvPr id="15" name="Chart 14"/>
          <p:cNvGraphicFramePr>
            <a:graphicFrameLocks noGrp="1"/>
          </p:cNvGraphicFramePr>
          <p:nvPr/>
        </p:nvGraphicFramePr>
        <p:xfrm>
          <a:off x="548640" y="3922776"/>
          <a:ext cx="5943600" cy="1499616"/>
        </p:xfrm>
        <a:graphic>
          <a:graphicData uri="http://schemas.openxmlformats.org/drawingml/2006/chart">
            <c:chart xmlns:c="http://schemas.openxmlformats.org/drawingml/2006/chart" r:id="rId5"/>
          </a:graphicData>
        </a:graphic>
      </p:graphicFrame>
      <p:graphicFrame>
        <p:nvGraphicFramePr>
          <p:cNvPr id="16" name="Chart 15"/>
          <p:cNvGraphicFramePr>
            <a:graphicFrameLocks noGrp="1"/>
          </p:cNvGraphicFramePr>
          <p:nvPr/>
        </p:nvGraphicFramePr>
        <p:xfrm>
          <a:off x="548638" y="5248656"/>
          <a:ext cx="5943600" cy="1033271"/>
        </p:xfrm>
        <a:graphic>
          <a:graphicData uri="http://schemas.openxmlformats.org/drawingml/2006/chart">
            <c:chart xmlns:c="http://schemas.openxmlformats.org/drawingml/2006/chart" r:id="rId6"/>
          </a:graphicData>
        </a:graphic>
      </p:graphicFrame>
      <p:graphicFrame>
        <p:nvGraphicFramePr>
          <p:cNvPr id="17" name="Chart 16"/>
          <p:cNvGraphicFramePr>
            <a:graphicFrameLocks noGrp="1"/>
          </p:cNvGraphicFramePr>
          <p:nvPr/>
        </p:nvGraphicFramePr>
        <p:xfrm>
          <a:off x="548638" y="6181344"/>
          <a:ext cx="5943600" cy="1225296"/>
        </p:xfrm>
        <a:graphic>
          <a:graphicData uri="http://schemas.openxmlformats.org/drawingml/2006/chart">
            <c:chart xmlns:c="http://schemas.openxmlformats.org/drawingml/2006/chart" r:id="rId7"/>
          </a:graphicData>
        </a:graphic>
      </p:graphicFrame>
      <p:graphicFrame>
        <p:nvGraphicFramePr>
          <p:cNvPr id="18" name="Chart 17"/>
          <p:cNvGraphicFramePr>
            <a:graphicFrameLocks noGrp="1"/>
          </p:cNvGraphicFramePr>
          <p:nvPr/>
        </p:nvGraphicFramePr>
        <p:xfrm>
          <a:off x="8138160" y="91440"/>
          <a:ext cx="5943600" cy="1170432"/>
        </p:xfrm>
        <a:graphic>
          <a:graphicData uri="http://schemas.openxmlformats.org/drawingml/2006/chart">
            <c:chart xmlns:c="http://schemas.openxmlformats.org/drawingml/2006/chart" r:id="rId8"/>
          </a:graphicData>
        </a:graphic>
      </p:graphicFrame>
      <p:graphicFrame>
        <p:nvGraphicFramePr>
          <p:cNvPr id="19" name="Chart 18"/>
          <p:cNvGraphicFramePr>
            <a:graphicFrameLocks noGrp="1"/>
          </p:cNvGraphicFramePr>
          <p:nvPr/>
        </p:nvGraphicFramePr>
        <p:xfrm>
          <a:off x="8138162" y="1171108"/>
          <a:ext cx="5943600" cy="3657600"/>
        </p:xfrm>
        <a:graphic>
          <a:graphicData uri="http://schemas.openxmlformats.org/drawingml/2006/chart">
            <c:chart xmlns:c="http://schemas.openxmlformats.org/drawingml/2006/chart" r:id="rId9"/>
          </a:graphicData>
        </a:graphic>
      </p:graphicFrame>
      <p:graphicFrame>
        <p:nvGraphicFramePr>
          <p:cNvPr id="20" name="Chart 19"/>
          <p:cNvGraphicFramePr>
            <a:graphicFrameLocks noGrp="1"/>
          </p:cNvGraphicFramePr>
          <p:nvPr/>
        </p:nvGraphicFramePr>
        <p:xfrm>
          <a:off x="8138162" y="4828708"/>
          <a:ext cx="5943600" cy="2560320"/>
        </p:xfrm>
        <a:graphic>
          <a:graphicData uri="http://schemas.openxmlformats.org/drawingml/2006/chart">
            <c:chart xmlns:c="http://schemas.openxmlformats.org/drawingml/2006/chart" r:id="rId10"/>
          </a:graphicData>
        </a:graphic>
      </p:graphicFrame>
    </p:spTree>
    <p:extLst>
      <p:ext uri="{BB962C8B-B14F-4D97-AF65-F5344CB8AC3E}">
        <p14:creationId xmlns:p14="http://schemas.microsoft.com/office/powerpoint/2010/main" val="296481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D435B-647D-7748-807B-2A57983B3A71}"/>
              </a:ext>
            </a:extLst>
          </p:cNvPr>
          <p:cNvSpPr>
            <a:spLocks noGrp="1"/>
          </p:cNvSpPr>
          <p:nvPr>
            <p:ph type="title" idx="4294967295"/>
          </p:nvPr>
        </p:nvSpPr>
        <p:spPr>
          <a:xfrm>
            <a:off x="806825" y="161160"/>
            <a:ext cx="12571413" cy="871538"/>
          </a:xfrm>
        </p:spPr>
        <p:txBody>
          <a:bodyPr/>
          <a:lstStyle/>
          <a:p>
            <a:r>
              <a:rPr lang="en-US" sz="3600" dirty="0"/>
              <a:t>MRA Areas of Focus</a:t>
            </a:r>
          </a:p>
        </p:txBody>
      </p:sp>
      <p:sp>
        <p:nvSpPr>
          <p:cNvPr id="13" name="Isosceles Triangle 12">
            <a:extLst>
              <a:ext uri="{FF2B5EF4-FFF2-40B4-BE49-F238E27FC236}">
                <a16:creationId xmlns:a16="http://schemas.microsoft.com/office/drawing/2014/main" id="{9B4E45E6-CF32-452F-94B5-DB43174F9F3D}"/>
              </a:ext>
            </a:extLst>
          </p:cNvPr>
          <p:cNvSpPr/>
          <p:nvPr/>
        </p:nvSpPr>
        <p:spPr>
          <a:xfrm rot="5400000">
            <a:off x="7297719" y="2394313"/>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14" name="Rectangle 13">
            <a:extLst>
              <a:ext uri="{FF2B5EF4-FFF2-40B4-BE49-F238E27FC236}">
                <a16:creationId xmlns:a16="http://schemas.microsoft.com/office/drawing/2014/main" id="{1B322A36-69CA-4D39-9322-FBA76713AE40}"/>
              </a:ext>
            </a:extLst>
          </p:cNvPr>
          <p:cNvSpPr/>
          <p:nvPr/>
        </p:nvSpPr>
        <p:spPr>
          <a:xfrm>
            <a:off x="7675719" y="1728313"/>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5" name="Rectangle 14">
            <a:extLst>
              <a:ext uri="{FF2B5EF4-FFF2-40B4-BE49-F238E27FC236}">
                <a16:creationId xmlns:a16="http://schemas.microsoft.com/office/drawing/2014/main" id="{6DFBDFE9-122E-4EEE-A7B8-AA048D1F4819}"/>
              </a:ext>
            </a:extLst>
          </p:cNvPr>
          <p:cNvSpPr/>
          <p:nvPr/>
        </p:nvSpPr>
        <p:spPr>
          <a:xfrm>
            <a:off x="7675719" y="3394800"/>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7" name="Isosceles Triangle 16">
            <a:extLst>
              <a:ext uri="{FF2B5EF4-FFF2-40B4-BE49-F238E27FC236}">
                <a16:creationId xmlns:a16="http://schemas.microsoft.com/office/drawing/2014/main" id="{5D84921F-FEE4-47B3-868D-DEB4CAD983FA}"/>
              </a:ext>
            </a:extLst>
          </p:cNvPr>
          <p:cNvSpPr/>
          <p:nvPr/>
        </p:nvSpPr>
        <p:spPr>
          <a:xfrm rot="5400000">
            <a:off x="7297719" y="4060800"/>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16" name="Rectangle 15">
            <a:extLst>
              <a:ext uri="{FF2B5EF4-FFF2-40B4-BE49-F238E27FC236}">
                <a16:creationId xmlns:a16="http://schemas.microsoft.com/office/drawing/2014/main" id="{9AF643C8-9DC6-4CC3-B244-BA97ACC75B0E}"/>
              </a:ext>
            </a:extLst>
          </p:cNvPr>
          <p:cNvSpPr/>
          <p:nvPr/>
        </p:nvSpPr>
        <p:spPr>
          <a:xfrm>
            <a:off x="7675719" y="5061287"/>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8" name="Isosceles Triangle 17">
            <a:extLst>
              <a:ext uri="{FF2B5EF4-FFF2-40B4-BE49-F238E27FC236}">
                <a16:creationId xmlns:a16="http://schemas.microsoft.com/office/drawing/2014/main" id="{F13D51D4-0564-4E60-BE9B-2F6DA1AE6C4C}"/>
              </a:ext>
            </a:extLst>
          </p:cNvPr>
          <p:cNvSpPr/>
          <p:nvPr/>
        </p:nvSpPr>
        <p:spPr>
          <a:xfrm rot="5400000">
            <a:off x="7297719" y="5727287"/>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21" name="Rectangle 20">
            <a:extLst>
              <a:ext uri="{FF2B5EF4-FFF2-40B4-BE49-F238E27FC236}">
                <a16:creationId xmlns:a16="http://schemas.microsoft.com/office/drawing/2014/main" id="{85FF3706-84DB-CD47-AF41-AF9625822958}"/>
              </a:ext>
            </a:extLst>
          </p:cNvPr>
          <p:cNvSpPr/>
          <p:nvPr/>
        </p:nvSpPr>
        <p:spPr>
          <a:xfrm>
            <a:off x="7164596" y="1138555"/>
            <a:ext cx="6006135" cy="430887"/>
          </a:xfrm>
          <a:prstGeom prst="rect">
            <a:avLst/>
          </a:prstGeom>
        </p:spPr>
        <p:txBody>
          <a:bodyPr wrap="square">
            <a:spAutoFit/>
          </a:bodyPr>
          <a:lstStyle/>
          <a:p>
            <a:r>
              <a:rPr lang="en-US" sz="2200" dirty="0">
                <a:solidFill>
                  <a:srgbClr val="FF9900"/>
                </a:solidFill>
                <a:latin typeface="Amazon Ember" panose="02000000000000000000" pitchFamily="2" charset="0"/>
                <a:ea typeface="Amazon Ember" panose="02000000000000000000" pitchFamily="2" charset="0"/>
              </a:rPr>
              <a:t>AWS identified preliminary areas of focus</a:t>
            </a:r>
          </a:p>
        </p:txBody>
      </p:sp>
      <p:sp>
        <p:nvSpPr>
          <p:cNvPr id="22" name="Content Placeholder 1">
            <a:extLst>
              <a:ext uri="{FF2B5EF4-FFF2-40B4-BE49-F238E27FC236}">
                <a16:creationId xmlns:a16="http://schemas.microsoft.com/office/drawing/2014/main" id="{0CAAE51B-856B-274D-9B02-1261508DC128}"/>
              </a:ext>
            </a:extLst>
          </p:cNvPr>
          <p:cNvSpPr txBox="1">
            <a:spLocks/>
          </p:cNvSpPr>
          <p:nvPr/>
        </p:nvSpPr>
        <p:spPr>
          <a:xfrm>
            <a:off x="806825" y="1153074"/>
            <a:ext cx="5469102" cy="769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FF9900"/>
                </a:solidFill>
                <a:latin typeface="Amazon Ember" panose="02000000000000000000" pitchFamily="2" charset="0"/>
                <a:ea typeface="Amazon Ember" panose="02000000000000000000" pitchFamily="2" charset="0"/>
              </a:rPr>
              <a:t>Cloud Adoption Framework Perspectives Radar Chart</a:t>
            </a:r>
          </a:p>
        </p:txBody>
      </p:sp>
      <p:sp>
        <p:nvSpPr>
          <p:cNvPr id="19" name="TextBox 18">
            <a:extLst>
              <a:ext uri="{FF2B5EF4-FFF2-40B4-BE49-F238E27FC236}">
                <a16:creationId xmlns:a16="http://schemas.microsoft.com/office/drawing/2014/main" id="{D0128AB7-E1B5-8543-8D6C-17709865ACF0}"/>
              </a:ext>
            </a:extLst>
          </p:cNvPr>
          <p:cNvSpPr txBox="1"/>
          <p:nvPr/>
        </p:nvSpPr>
        <p:spPr>
          <a:xfrm rot="20294682">
            <a:off x="3285807" y="6598602"/>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graphicFrame>
        <p:nvGraphicFramePr>
          <p:cNvPr id="25" name="Chart 24"/>
          <p:cNvGraphicFramePr>
            <a:graphicFrameLocks noGrp="1"/>
          </p:cNvGraphicFramePr>
          <p:nvPr/>
        </p:nvGraphicFramePr>
        <p:xfrm>
          <a:off x="555336" y="2159489"/>
          <a:ext cx="5469102" cy="500848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499298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D435B-647D-7748-807B-2A57983B3A71}"/>
              </a:ext>
            </a:extLst>
          </p:cNvPr>
          <p:cNvSpPr>
            <a:spLocks noGrp="1"/>
          </p:cNvSpPr>
          <p:nvPr>
            <p:ph type="title" idx="4294967295"/>
          </p:nvPr>
        </p:nvSpPr>
        <p:spPr>
          <a:xfrm>
            <a:off x="806825" y="161160"/>
            <a:ext cx="12571413" cy="871538"/>
          </a:xfrm>
        </p:spPr>
        <p:txBody>
          <a:bodyPr/>
          <a:lstStyle/>
          <a:p>
            <a:r>
              <a:rPr lang="en-US" sz="3600" dirty="0"/>
              <a:t>MRA Areas of Focus</a:t>
            </a:r>
          </a:p>
        </p:txBody>
      </p:sp>
      <p:sp>
        <p:nvSpPr>
          <p:cNvPr id="13" name="Isosceles Triangle 12">
            <a:extLst>
              <a:ext uri="{FF2B5EF4-FFF2-40B4-BE49-F238E27FC236}">
                <a16:creationId xmlns:a16="http://schemas.microsoft.com/office/drawing/2014/main" id="{9B4E45E6-CF32-452F-94B5-DB43174F9F3D}"/>
              </a:ext>
            </a:extLst>
          </p:cNvPr>
          <p:cNvSpPr/>
          <p:nvPr/>
        </p:nvSpPr>
        <p:spPr>
          <a:xfrm rot="5400000">
            <a:off x="7297719" y="2394313"/>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14" name="Rectangle 13">
            <a:extLst>
              <a:ext uri="{FF2B5EF4-FFF2-40B4-BE49-F238E27FC236}">
                <a16:creationId xmlns:a16="http://schemas.microsoft.com/office/drawing/2014/main" id="{1B322A36-69CA-4D39-9322-FBA76713AE40}"/>
              </a:ext>
            </a:extLst>
          </p:cNvPr>
          <p:cNvSpPr/>
          <p:nvPr/>
        </p:nvSpPr>
        <p:spPr>
          <a:xfrm>
            <a:off x="7675719" y="1728313"/>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5" name="Rectangle 14">
            <a:extLst>
              <a:ext uri="{FF2B5EF4-FFF2-40B4-BE49-F238E27FC236}">
                <a16:creationId xmlns:a16="http://schemas.microsoft.com/office/drawing/2014/main" id="{6DFBDFE9-122E-4EEE-A7B8-AA048D1F4819}"/>
              </a:ext>
            </a:extLst>
          </p:cNvPr>
          <p:cNvSpPr/>
          <p:nvPr/>
        </p:nvSpPr>
        <p:spPr>
          <a:xfrm>
            <a:off x="7675719" y="3394800"/>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7" name="Isosceles Triangle 16">
            <a:extLst>
              <a:ext uri="{FF2B5EF4-FFF2-40B4-BE49-F238E27FC236}">
                <a16:creationId xmlns:a16="http://schemas.microsoft.com/office/drawing/2014/main" id="{5D84921F-FEE4-47B3-868D-DEB4CAD983FA}"/>
              </a:ext>
            </a:extLst>
          </p:cNvPr>
          <p:cNvSpPr/>
          <p:nvPr/>
        </p:nvSpPr>
        <p:spPr>
          <a:xfrm rot="5400000">
            <a:off x="7297719" y="4060800"/>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16" name="Rectangle 15">
            <a:extLst>
              <a:ext uri="{FF2B5EF4-FFF2-40B4-BE49-F238E27FC236}">
                <a16:creationId xmlns:a16="http://schemas.microsoft.com/office/drawing/2014/main" id="{9AF643C8-9DC6-4CC3-B244-BA97ACC75B0E}"/>
              </a:ext>
            </a:extLst>
          </p:cNvPr>
          <p:cNvSpPr/>
          <p:nvPr/>
        </p:nvSpPr>
        <p:spPr>
          <a:xfrm>
            <a:off x="7675719" y="5061287"/>
            <a:ext cx="5400000" cy="144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dirty="0">
                <a:solidFill>
                  <a:schemeClr val="tx1"/>
                </a:solidFill>
              </a:rPr>
              <a:t>[Generated from the scores]</a:t>
            </a:r>
          </a:p>
        </p:txBody>
      </p:sp>
      <p:sp>
        <p:nvSpPr>
          <p:cNvPr id="18" name="Isosceles Triangle 17">
            <a:extLst>
              <a:ext uri="{FF2B5EF4-FFF2-40B4-BE49-F238E27FC236}">
                <a16:creationId xmlns:a16="http://schemas.microsoft.com/office/drawing/2014/main" id="{F13D51D4-0564-4E60-BE9B-2F6DA1AE6C4C}"/>
              </a:ext>
            </a:extLst>
          </p:cNvPr>
          <p:cNvSpPr/>
          <p:nvPr/>
        </p:nvSpPr>
        <p:spPr>
          <a:xfrm rot="5400000">
            <a:off x="7297719" y="5727287"/>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3">
                  <a:extLst>
                    <a:ext uri="{96DAC541-7B7A-43D3-8B79-37D633B846F1}">
                      <asvg:svgBlip xmlns:asvg="http://schemas.microsoft.com/office/drawing/2016/SVG/main" r:embed="rId4"/>
                    </a:ext>
                  </a:extLst>
                </a:blip>
              </a:buBlip>
            </a:pPr>
            <a:endParaRPr lang="en-US" sz="2200" dirty="0"/>
          </a:p>
        </p:txBody>
      </p:sp>
      <p:sp>
        <p:nvSpPr>
          <p:cNvPr id="21" name="Rectangle 20">
            <a:extLst>
              <a:ext uri="{FF2B5EF4-FFF2-40B4-BE49-F238E27FC236}">
                <a16:creationId xmlns:a16="http://schemas.microsoft.com/office/drawing/2014/main" id="{85FF3706-84DB-CD47-AF41-AF9625822958}"/>
              </a:ext>
            </a:extLst>
          </p:cNvPr>
          <p:cNvSpPr/>
          <p:nvPr/>
        </p:nvSpPr>
        <p:spPr>
          <a:xfrm>
            <a:off x="7164596" y="1138555"/>
            <a:ext cx="6006135" cy="430887"/>
          </a:xfrm>
          <a:prstGeom prst="rect">
            <a:avLst/>
          </a:prstGeom>
        </p:spPr>
        <p:txBody>
          <a:bodyPr wrap="square">
            <a:spAutoFit/>
          </a:bodyPr>
          <a:lstStyle/>
          <a:p>
            <a:r>
              <a:rPr lang="en-US" sz="2200" dirty="0">
                <a:solidFill>
                  <a:srgbClr val="FF9900"/>
                </a:solidFill>
                <a:latin typeface="Amazon Ember" panose="02000000000000000000" pitchFamily="2" charset="0"/>
                <a:ea typeface="Amazon Ember" panose="02000000000000000000" pitchFamily="2" charset="0"/>
              </a:rPr>
              <a:t>AWS identified preliminary areas of focus</a:t>
            </a:r>
          </a:p>
        </p:txBody>
      </p:sp>
      <p:sp>
        <p:nvSpPr>
          <p:cNvPr id="22" name="Content Placeholder 1">
            <a:extLst>
              <a:ext uri="{FF2B5EF4-FFF2-40B4-BE49-F238E27FC236}">
                <a16:creationId xmlns:a16="http://schemas.microsoft.com/office/drawing/2014/main" id="{0CAAE51B-856B-274D-9B02-1261508DC128}"/>
              </a:ext>
            </a:extLst>
          </p:cNvPr>
          <p:cNvSpPr txBox="1">
            <a:spLocks/>
          </p:cNvSpPr>
          <p:nvPr/>
        </p:nvSpPr>
        <p:spPr>
          <a:xfrm>
            <a:off x="806825" y="1153074"/>
            <a:ext cx="5469102" cy="769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FF9900"/>
                </a:solidFill>
                <a:latin typeface="Amazon Ember" panose="02000000000000000000" pitchFamily="2" charset="0"/>
                <a:ea typeface="Amazon Ember" panose="02000000000000000000" pitchFamily="2" charset="0"/>
              </a:rPr>
              <a:t>Mobilize Workstream Readiness</a:t>
            </a:r>
          </a:p>
          <a:p>
            <a:pPr marL="0" indent="0">
              <a:buNone/>
            </a:pPr>
            <a:r>
              <a:rPr lang="en-US" sz="2200" dirty="0">
                <a:solidFill>
                  <a:srgbClr val="FF9900"/>
                </a:solidFill>
                <a:latin typeface="Amazon Ember" panose="02000000000000000000" pitchFamily="2" charset="0"/>
                <a:ea typeface="Amazon Ember" panose="02000000000000000000" pitchFamily="2" charset="0"/>
              </a:rPr>
              <a:t>Radar Chart</a:t>
            </a:r>
          </a:p>
        </p:txBody>
      </p:sp>
      <p:sp>
        <p:nvSpPr>
          <p:cNvPr id="19" name="TextBox 18">
            <a:extLst>
              <a:ext uri="{FF2B5EF4-FFF2-40B4-BE49-F238E27FC236}">
                <a16:creationId xmlns:a16="http://schemas.microsoft.com/office/drawing/2014/main" id="{D0128AB7-E1B5-8543-8D6C-17709865ACF0}"/>
              </a:ext>
            </a:extLst>
          </p:cNvPr>
          <p:cNvSpPr txBox="1"/>
          <p:nvPr/>
        </p:nvSpPr>
        <p:spPr>
          <a:xfrm rot="20294682">
            <a:off x="3285806" y="6008844"/>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graphicFrame>
        <p:nvGraphicFramePr>
          <p:cNvPr id="25" name="Chart 24"/>
          <p:cNvGraphicFramePr>
            <a:graphicFrameLocks noGrp="1"/>
          </p:cNvGraphicFramePr>
          <p:nvPr/>
        </p:nvGraphicFramePr>
        <p:xfrm>
          <a:off x="555336" y="2159489"/>
          <a:ext cx="5469102" cy="500848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394922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2D9846-CFEF-2B4C-8BA2-958FDB9CF625}"/>
              </a:ext>
            </a:extLst>
          </p:cNvPr>
          <p:cNvSpPr txBox="1"/>
          <p:nvPr/>
        </p:nvSpPr>
        <p:spPr>
          <a:xfrm>
            <a:off x="433136" y="283514"/>
            <a:ext cx="11500722" cy="646331"/>
          </a:xfrm>
          <a:prstGeom prst="rect">
            <a:avLst/>
          </a:prstGeom>
          <a:noFill/>
        </p:spPr>
        <p:txBody>
          <a:bodyPr wrap="square" rtlCol="0">
            <a:spAutoFit/>
          </a:bodyPr>
          <a:lstStyle/>
          <a:p>
            <a:r>
              <a:rPr lang="en-US" sz="3600" b="1" dirty="0">
                <a:latin typeface="Amazon Ember" panose="020B0603020204020204" pitchFamily="34" charset="0"/>
                <a:ea typeface="Amazon Ember" panose="020B0603020204020204" pitchFamily="34" charset="0"/>
                <a:cs typeface="Amazon Ember" panose="020B0603020204020204" pitchFamily="34" charset="0"/>
              </a:rPr>
              <a:t>Next Steps</a:t>
            </a:r>
          </a:p>
        </p:txBody>
      </p:sp>
      <p:sp>
        <p:nvSpPr>
          <p:cNvPr id="4" name="TextBox 3">
            <a:extLst>
              <a:ext uri="{FF2B5EF4-FFF2-40B4-BE49-F238E27FC236}">
                <a16:creationId xmlns:a16="http://schemas.microsoft.com/office/drawing/2014/main" id="{325C81C7-5120-1F48-A738-B3F88C95E7E9}"/>
              </a:ext>
            </a:extLst>
          </p:cNvPr>
          <p:cNvSpPr txBox="1"/>
          <p:nvPr/>
        </p:nvSpPr>
        <p:spPr>
          <a:xfrm>
            <a:off x="1208215" y="1527831"/>
            <a:ext cx="10725643" cy="430887"/>
          </a:xfrm>
          <a:prstGeom prst="rect">
            <a:avLst/>
          </a:prstGeom>
          <a:noFill/>
        </p:spPr>
        <p:txBody>
          <a:bodyPr wrap="square" rtlCol="0">
            <a:spAutoFit/>
          </a:bodyPr>
          <a:lstStyle/>
          <a:p>
            <a:pPr defTabSz="342900">
              <a:spcAft>
                <a:spcPts val="1000"/>
              </a:spcAft>
            </a:pPr>
            <a:r>
              <a:rPr lang="en-US" sz="2200" dirty="0">
                <a:latin typeface="Amazon Ember" panose="020B0603020204020204" pitchFamily="34" charset="0"/>
                <a:ea typeface="Amazon Ember" panose="020B0603020204020204" pitchFamily="34" charset="0"/>
                <a:cs typeface="Amazon Ember" panose="020B0603020204020204" pitchFamily="34" charset="0"/>
              </a:rPr>
              <a:t>Full MRA results readout and roadmap planning</a:t>
            </a:r>
          </a:p>
        </p:txBody>
      </p:sp>
      <p:sp>
        <p:nvSpPr>
          <p:cNvPr id="5" name="TextBox 4">
            <a:extLst>
              <a:ext uri="{FF2B5EF4-FFF2-40B4-BE49-F238E27FC236}">
                <a16:creationId xmlns:a16="http://schemas.microsoft.com/office/drawing/2014/main" id="{CBA517D2-8B81-E141-8415-F19445CC9F36}"/>
              </a:ext>
            </a:extLst>
          </p:cNvPr>
          <p:cNvSpPr txBox="1"/>
          <p:nvPr/>
        </p:nvSpPr>
        <p:spPr>
          <a:xfrm rot="20088939">
            <a:off x="7085221" y="6286270"/>
            <a:ext cx="8558813" cy="830997"/>
          </a:xfrm>
          <a:prstGeom prst="rect">
            <a:avLst/>
          </a:prstGeom>
          <a:solidFill>
            <a:schemeClr val="tx1"/>
          </a:solidFill>
        </p:spPr>
        <p:txBody>
          <a:bodyPr wrap="square" rtlCol="0">
            <a:spAutoFit/>
          </a:bodyPr>
          <a:lstStyle/>
          <a:p>
            <a:r>
              <a:rPr lang="en-US" sz="24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Delete this slide if complete readout is delivered on the same day</a:t>
            </a:r>
          </a:p>
        </p:txBody>
      </p:sp>
      <p:sp>
        <p:nvSpPr>
          <p:cNvPr id="6" name="Oval 5">
            <a:extLst>
              <a:ext uri="{FF2B5EF4-FFF2-40B4-BE49-F238E27FC236}">
                <a16:creationId xmlns:a16="http://schemas.microsoft.com/office/drawing/2014/main" id="{594A894A-E658-9940-89C4-DA532406453D}"/>
              </a:ext>
            </a:extLst>
          </p:cNvPr>
          <p:cNvSpPr/>
          <p:nvPr/>
        </p:nvSpPr>
        <p:spPr>
          <a:xfrm>
            <a:off x="663952" y="1470510"/>
            <a:ext cx="540453" cy="545531"/>
          </a:xfrm>
          <a:prstGeom prst="ellipse">
            <a:avLst/>
          </a:prstGeom>
          <a:solidFill>
            <a:srgbClr val="FF9900"/>
          </a:solidFill>
          <a:ln w="12700">
            <a:solidFill>
              <a:schemeClr val="accent1"/>
            </a:solidFill>
          </a:ln>
        </p:spPr>
        <p:style>
          <a:lnRef idx="1">
            <a:schemeClr val="accent2"/>
          </a:lnRef>
          <a:fillRef idx="3">
            <a:schemeClr val="accent2"/>
          </a:fillRef>
          <a:effectRef idx="2">
            <a:schemeClr val="accent2"/>
          </a:effectRef>
          <a:fontRef idx="minor">
            <a:schemeClr val="lt1"/>
          </a:fontRef>
        </p:style>
        <p:txBody>
          <a:bodyPr rtlCol="0" anchor="ctr"/>
          <a:lstStyle/>
          <a:p>
            <a:pPr algn="ctr" defTabSz="1097280"/>
            <a:r>
              <a:rPr lang="en-US" sz="1680" b="1" dirty="0">
                <a:solidFill>
                  <a:prstClr val="white"/>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484155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2471-5CBB-4E21-A1A7-4AA51A94B20D}"/>
              </a:ext>
            </a:extLst>
          </p:cNvPr>
          <p:cNvSpPr>
            <a:spLocks noGrp="1"/>
          </p:cNvSpPr>
          <p:nvPr>
            <p:ph type="ctrTitle"/>
          </p:nvPr>
        </p:nvSpPr>
        <p:spPr>
          <a:xfrm>
            <a:off x="731518" y="3015614"/>
            <a:ext cx="13784582" cy="1638013"/>
          </a:xfrm>
        </p:spPr>
        <p:txBody>
          <a:bodyPr/>
          <a:lstStyle/>
          <a:p>
            <a:r>
              <a:rPr lang="en-US" sz="5400" dirty="0"/>
              <a:t>Migration Readiness Assessment (MRA)</a:t>
            </a:r>
            <a:br>
              <a:rPr lang="en-US" sz="5400" dirty="0"/>
            </a:br>
            <a:endParaRPr lang="en-US" sz="5400" dirty="0"/>
          </a:p>
        </p:txBody>
      </p:sp>
      <p:sp>
        <p:nvSpPr>
          <p:cNvPr id="3" name="Subtitle 2">
            <a:extLst>
              <a:ext uri="{FF2B5EF4-FFF2-40B4-BE49-F238E27FC236}">
                <a16:creationId xmlns:a16="http://schemas.microsoft.com/office/drawing/2014/main" id="{69E6304F-51E0-4B51-B276-15FC9745E6C5}"/>
              </a:ext>
            </a:extLst>
          </p:cNvPr>
          <p:cNvSpPr>
            <a:spLocks noGrp="1"/>
          </p:cNvSpPr>
          <p:nvPr>
            <p:ph type="subTitle" idx="1"/>
          </p:nvPr>
        </p:nvSpPr>
        <p:spPr>
          <a:xfrm>
            <a:off x="731516" y="3887471"/>
            <a:ext cx="12057383" cy="757130"/>
          </a:xfrm>
        </p:spPr>
        <p:txBody>
          <a:bodyPr/>
          <a:lstStyle/>
          <a:p>
            <a:r>
              <a:rPr lang="en-US" sz="4800" dirty="0"/>
              <a:t>Detailed Results Review</a:t>
            </a:r>
            <a:endParaRPr lang="en-US" dirty="0"/>
          </a:p>
        </p:txBody>
      </p:sp>
      <p:sp>
        <p:nvSpPr>
          <p:cNvPr id="7" name="TextBox 6">
            <a:extLst>
              <a:ext uri="{FF2B5EF4-FFF2-40B4-BE49-F238E27FC236}">
                <a16:creationId xmlns:a16="http://schemas.microsoft.com/office/drawing/2014/main" id="{BDC05D0F-7523-A94E-8245-6CC700EEBA81}"/>
              </a:ext>
            </a:extLst>
          </p:cNvPr>
          <p:cNvSpPr txBox="1"/>
          <p:nvPr/>
        </p:nvSpPr>
        <p:spPr>
          <a:xfrm>
            <a:off x="624839" y="2114003"/>
            <a:ext cx="11053648" cy="830997"/>
          </a:xfrm>
          <a:prstGeom prst="rect">
            <a:avLst/>
          </a:prstGeom>
          <a:noFill/>
        </p:spPr>
        <p:txBody>
          <a:bodyPr wrap="square" rtlCol="0">
            <a:spAutoFit/>
          </a:bodyPr>
          <a:lstStyle/>
          <a:p>
            <a:r>
              <a:rPr lang="en-US" sz="4800" dirty="0">
                <a:latin typeface="Amazon Ember Medium" panose="020B0603020204020204" pitchFamily="34" charset="0"/>
                <a:ea typeface="Amazon Ember Medium" panose="020B0603020204020204" pitchFamily="34" charset="0"/>
                <a:cs typeface="Amazon Ember Medium" panose="020B0603020204020204" pitchFamily="34" charset="0"/>
              </a:rPr>
              <a:t>[Customer Name]</a:t>
            </a:r>
          </a:p>
        </p:txBody>
      </p:sp>
      <p:sp>
        <p:nvSpPr>
          <p:cNvPr id="12" name="TextBox 11">
            <a:extLst>
              <a:ext uri="{FF2B5EF4-FFF2-40B4-BE49-F238E27FC236}">
                <a16:creationId xmlns:a16="http://schemas.microsoft.com/office/drawing/2014/main" id="{BF9E514E-54CA-1C42-B3C9-538A1217521D}"/>
              </a:ext>
            </a:extLst>
          </p:cNvPr>
          <p:cNvSpPr txBox="1"/>
          <p:nvPr/>
        </p:nvSpPr>
        <p:spPr>
          <a:xfrm>
            <a:off x="731516" y="6130131"/>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[Date]</a:t>
            </a:r>
            <a:endParaRPr lang="en-US" sz="1667" dirty="0"/>
          </a:p>
        </p:txBody>
      </p:sp>
      <p:sp>
        <p:nvSpPr>
          <p:cNvPr id="13" name="TextBox 12">
            <a:extLst>
              <a:ext uri="{FF2B5EF4-FFF2-40B4-BE49-F238E27FC236}">
                <a16:creationId xmlns:a16="http://schemas.microsoft.com/office/drawing/2014/main" id="{A91C3C1B-64A0-C341-A85E-E4E90F254192}"/>
              </a:ext>
            </a:extLst>
          </p:cNvPr>
          <p:cNvSpPr txBox="1"/>
          <p:nvPr/>
        </p:nvSpPr>
        <p:spPr>
          <a:xfrm>
            <a:off x="731516" y="6560339"/>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[Presenter]</a:t>
            </a:r>
            <a:endParaRPr lang="en-US" sz="1667" dirty="0"/>
          </a:p>
        </p:txBody>
      </p:sp>
      <p:sp>
        <p:nvSpPr>
          <p:cNvPr id="4" name="TextBox 3">
            <a:extLst>
              <a:ext uri="{FF2B5EF4-FFF2-40B4-BE49-F238E27FC236}">
                <a16:creationId xmlns:a16="http://schemas.microsoft.com/office/drawing/2014/main" id="{D5095C7E-108A-A0AA-466B-C3A3ECE634F6}"/>
              </a:ext>
            </a:extLst>
          </p:cNvPr>
          <p:cNvSpPr txBox="1"/>
          <p:nvPr/>
        </p:nvSpPr>
        <p:spPr>
          <a:xfrm>
            <a:off x="2130552" y="591895"/>
            <a:ext cx="2494551"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[IMAGE-Company Logo]</a:t>
            </a:r>
            <a:endParaRPr lang="en-US" sz="1667" dirty="0"/>
          </a:p>
        </p:txBody>
      </p:sp>
      <p:sp>
        <p:nvSpPr>
          <p:cNvPr id="5" name="TextBox 4">
            <a:extLst>
              <a:ext uri="{FF2B5EF4-FFF2-40B4-BE49-F238E27FC236}">
                <a16:creationId xmlns:a16="http://schemas.microsoft.com/office/drawing/2014/main" id="{CE1A3BBE-C368-A4E0-9199-871FBBC21D06}"/>
              </a:ext>
            </a:extLst>
          </p:cNvPr>
          <p:cNvSpPr txBox="1"/>
          <p:nvPr/>
        </p:nvSpPr>
        <p:spPr>
          <a:xfrm>
            <a:off x="2130552" y="1636776"/>
            <a:ext cx="2003664" cy="348878"/>
          </a:xfrm>
          <a:prstGeom prst="rect">
            <a:avLst/>
          </a:prstGeom>
          <a:noFill/>
        </p:spPr>
        <p:txBody>
          <a:bodyPr wrap="square" rtlCol="0">
            <a:spAutoFit/>
          </a:bodyPr>
          <a:lstStyle/>
          <a:p>
            <a:pPr algn="ctr"/>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Facilitated By</a:t>
            </a:r>
            <a:endParaRPr lang="en-US" sz="1667" dirty="0"/>
          </a:p>
        </p:txBody>
      </p:sp>
      <p:sp>
        <p:nvSpPr>
          <p:cNvPr id="6" name="TextBox 5">
            <a:extLst>
              <a:ext uri="{FF2B5EF4-FFF2-40B4-BE49-F238E27FC236}">
                <a16:creationId xmlns:a16="http://schemas.microsoft.com/office/drawing/2014/main" id="{5278AC47-4D45-4E0F-BA79-2B3C8AB462D2}"/>
              </a:ext>
            </a:extLst>
          </p:cNvPr>
          <p:cNvSpPr txBox="1"/>
          <p:nvPr/>
        </p:nvSpPr>
        <p:spPr>
          <a:xfrm>
            <a:off x="731516" y="5525484"/>
            <a:ext cx="4801809" cy="348878"/>
          </a:xfrm>
          <a:prstGeom prst="rect">
            <a:avLst/>
          </a:prstGeom>
          <a:noFill/>
        </p:spPr>
        <p:txBody>
          <a:bodyPr wrap="square" rtlCol="0">
            <a:spAutoFit/>
          </a:bodyPr>
          <a:lstStyle/>
          <a:p>
            <a:r>
              <a:rPr lang="en-US" sz="1667" dirty="0">
                <a:latin typeface="Amazon Ember Light" panose="020B0403020204020204" pitchFamily="34" charset="0"/>
                <a:ea typeface="Amazon Ember Light" panose="020B0403020204020204" pitchFamily="34" charset="0"/>
                <a:cs typeface="Amazon Ember Light" panose="020B0403020204020204" pitchFamily="34" charset="0"/>
              </a:rPr>
              <a:t>[Company Name]</a:t>
            </a:r>
            <a:endParaRPr lang="en-US" sz="1667" dirty="0"/>
          </a:p>
        </p:txBody>
      </p:sp>
    </p:spTree>
    <p:extLst>
      <p:ext uri="{BB962C8B-B14F-4D97-AF65-F5344CB8AC3E}">
        <p14:creationId xmlns:p14="http://schemas.microsoft.com/office/powerpoint/2010/main" val="268797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33973"/>
            <a:ext cx="12593638" cy="871538"/>
          </a:xfrm>
        </p:spPr>
        <p:txBody>
          <a:bodyPr/>
          <a:lstStyle/>
          <a:p>
            <a:r>
              <a:rPr lang="en-US" sz="3600" dirty="0"/>
              <a:t>Agenda</a:t>
            </a:r>
          </a:p>
        </p:txBody>
      </p:sp>
      <p:sp>
        <p:nvSpPr>
          <p:cNvPr id="4" name="Text Placeholder 3"/>
          <p:cNvSpPr>
            <a:spLocks noGrp="1"/>
          </p:cNvSpPr>
          <p:nvPr>
            <p:ph type="body" sz="quarter" idx="4294967295"/>
          </p:nvPr>
        </p:nvSpPr>
        <p:spPr>
          <a:xfrm>
            <a:off x="551222" y="1442234"/>
            <a:ext cx="6400800" cy="4520212"/>
          </a:xfrm>
        </p:spPr>
        <p:txBody>
          <a:bodyPr/>
          <a:lstStyle/>
          <a:p>
            <a:endParaRPr lang="en-US" sz="2400" dirty="0"/>
          </a:p>
          <a:p>
            <a:pPr marL="457200" indent="-457200">
              <a:buFontTx/>
              <a:buAutoNum type="arabicParenR"/>
            </a:pPr>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MRA results</a:t>
            </a:r>
          </a:p>
          <a:p>
            <a:pPr marL="457200" indent="-457200">
              <a:buFontTx/>
              <a:buAutoNum type="arabicParenR"/>
            </a:pPr>
            <a:endPar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Actions to Accelerate Momentum</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Mobilize your Organization</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Next steps</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25" name="Group 24">
            <a:extLst>
              <a:ext uri="{FF2B5EF4-FFF2-40B4-BE49-F238E27FC236}">
                <a16:creationId xmlns:a16="http://schemas.microsoft.com/office/drawing/2014/main" id="{706A9A41-CDF6-A749-8861-01454ACEF997}"/>
              </a:ext>
            </a:extLst>
          </p:cNvPr>
          <p:cNvGrpSpPr>
            <a:grpSpLocks noChangeAspect="1"/>
          </p:cNvGrpSpPr>
          <p:nvPr/>
        </p:nvGrpSpPr>
        <p:grpSpPr>
          <a:xfrm>
            <a:off x="9105900" y="1442234"/>
            <a:ext cx="3234899" cy="4202130"/>
            <a:chOff x="-580230" y="3214241"/>
            <a:chExt cx="379337" cy="492759"/>
          </a:xfrm>
        </p:grpSpPr>
        <p:sp>
          <p:nvSpPr>
            <p:cNvPr id="26" name="Freeform: Shape 19">
              <a:extLst>
                <a:ext uri="{FF2B5EF4-FFF2-40B4-BE49-F238E27FC236}">
                  <a16:creationId xmlns:a16="http://schemas.microsoft.com/office/drawing/2014/main" id="{6C62EA36-3FAC-1843-9288-F771BF810703}"/>
                </a:ext>
              </a:extLst>
            </p:cNvPr>
            <p:cNvSpPr/>
            <p:nvPr/>
          </p:nvSpPr>
          <p:spPr>
            <a:xfrm>
              <a:off x="-445055" y="3291484"/>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27" name="Freeform: Shape 20">
              <a:extLst>
                <a:ext uri="{FF2B5EF4-FFF2-40B4-BE49-F238E27FC236}">
                  <a16:creationId xmlns:a16="http://schemas.microsoft.com/office/drawing/2014/main" id="{6864B4D9-A1BA-C345-B65D-DC255B48B076}"/>
                </a:ext>
              </a:extLst>
            </p:cNvPr>
            <p:cNvSpPr/>
            <p:nvPr/>
          </p:nvSpPr>
          <p:spPr>
            <a:xfrm>
              <a:off x="-396778" y="323838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28" name="Freeform: Shape 21">
              <a:extLst>
                <a:ext uri="{FF2B5EF4-FFF2-40B4-BE49-F238E27FC236}">
                  <a16:creationId xmlns:a16="http://schemas.microsoft.com/office/drawing/2014/main" id="{8E42D8E7-8272-7841-805F-2128C5B4AFC7}"/>
                </a:ext>
              </a:extLst>
            </p:cNvPr>
            <p:cNvSpPr/>
            <p:nvPr/>
          </p:nvSpPr>
          <p:spPr>
            <a:xfrm>
              <a:off x="-580230" y="3214241"/>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29" name="Freeform: Shape 22">
              <a:extLst>
                <a:ext uri="{FF2B5EF4-FFF2-40B4-BE49-F238E27FC236}">
                  <a16:creationId xmlns:a16="http://schemas.microsoft.com/office/drawing/2014/main" id="{78A46B40-07B8-614C-8345-0ADD2C7488E3}"/>
                </a:ext>
              </a:extLst>
            </p:cNvPr>
            <p:cNvSpPr/>
            <p:nvPr/>
          </p:nvSpPr>
          <p:spPr>
            <a:xfrm>
              <a:off x="-357738" y="331925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0" name="Freeform: Shape 23">
              <a:extLst>
                <a:ext uri="{FF2B5EF4-FFF2-40B4-BE49-F238E27FC236}">
                  <a16:creationId xmlns:a16="http://schemas.microsoft.com/office/drawing/2014/main" id="{F8E9002D-3692-7147-A901-01EE541C9546}"/>
                </a:ext>
              </a:extLst>
            </p:cNvPr>
            <p:cNvSpPr/>
            <p:nvPr/>
          </p:nvSpPr>
          <p:spPr>
            <a:xfrm>
              <a:off x="-477958" y="334504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1" name="Freeform: Shape 24">
              <a:extLst>
                <a:ext uri="{FF2B5EF4-FFF2-40B4-BE49-F238E27FC236}">
                  <a16:creationId xmlns:a16="http://schemas.microsoft.com/office/drawing/2014/main" id="{9421B243-86EC-0249-88E4-27B2AECCD469}"/>
                </a:ext>
              </a:extLst>
            </p:cNvPr>
            <p:cNvSpPr/>
            <p:nvPr/>
          </p:nvSpPr>
          <p:spPr>
            <a:xfrm>
              <a:off x="-410206" y="334018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2" name="Freeform: Shape 25">
              <a:extLst>
                <a:ext uri="{FF2B5EF4-FFF2-40B4-BE49-F238E27FC236}">
                  <a16:creationId xmlns:a16="http://schemas.microsoft.com/office/drawing/2014/main" id="{51384143-CA20-BA4A-9E7E-0D41CCFE89B0}"/>
                </a:ext>
              </a:extLst>
            </p:cNvPr>
            <p:cNvSpPr/>
            <p:nvPr/>
          </p:nvSpPr>
          <p:spPr>
            <a:xfrm>
              <a:off x="-486099" y="3425809"/>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3" name="Freeform: Shape 26">
              <a:extLst>
                <a:ext uri="{FF2B5EF4-FFF2-40B4-BE49-F238E27FC236}">
                  <a16:creationId xmlns:a16="http://schemas.microsoft.com/office/drawing/2014/main" id="{B363B174-6CAD-0E45-86A5-F8E9F9963893}"/>
                </a:ext>
              </a:extLst>
            </p:cNvPr>
            <p:cNvSpPr/>
            <p:nvPr/>
          </p:nvSpPr>
          <p:spPr>
            <a:xfrm>
              <a:off x="-539203" y="3377533"/>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4" name="Freeform: Shape 27">
              <a:extLst>
                <a:ext uri="{FF2B5EF4-FFF2-40B4-BE49-F238E27FC236}">
                  <a16:creationId xmlns:a16="http://schemas.microsoft.com/office/drawing/2014/main" id="{93EEC81F-8D7B-7345-BDFE-E8A3CF429CC7}"/>
                </a:ext>
              </a:extLst>
            </p:cNvPr>
            <p:cNvSpPr/>
            <p:nvPr/>
          </p:nvSpPr>
          <p:spPr>
            <a:xfrm>
              <a:off x="-510762" y="328680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55" name="Freeform: Shape 28">
              <a:extLst>
                <a:ext uri="{FF2B5EF4-FFF2-40B4-BE49-F238E27FC236}">
                  <a16:creationId xmlns:a16="http://schemas.microsoft.com/office/drawing/2014/main" id="{848D053C-28B9-124A-A4FB-AEB9221FB372}"/>
                </a:ext>
              </a:extLst>
            </p:cNvPr>
            <p:cNvSpPr/>
            <p:nvPr/>
          </p:nvSpPr>
          <p:spPr>
            <a:xfrm>
              <a:off x="-439058" y="3365845"/>
              <a:ext cx="238165" cy="341155"/>
            </a:xfrm>
            <a:custGeom>
              <a:avLst/>
              <a:gdLst>
                <a:gd name="connsiteX0" fmla="*/ 4828 w 238164"/>
                <a:gd name="connsiteY0" fmla="*/ 327638 h 341155"/>
                <a:gd name="connsiteX1" fmla="*/ 4828 w 238164"/>
                <a:gd name="connsiteY1" fmla="*/ 13839 h 341155"/>
                <a:gd name="connsiteX2" fmla="*/ 13839 w 238164"/>
                <a:gd name="connsiteY2" fmla="*/ 4828 h 341155"/>
                <a:gd name="connsiteX3" fmla="*/ 158669 w 238164"/>
                <a:gd name="connsiteY3" fmla="*/ 4828 h 341155"/>
                <a:gd name="connsiteX4" fmla="*/ 235912 w 238164"/>
                <a:gd name="connsiteY4" fmla="*/ 82070 h 341155"/>
                <a:gd name="connsiteX5" fmla="*/ 235912 w 238164"/>
                <a:gd name="connsiteY5" fmla="*/ 327638 h 341155"/>
                <a:gd name="connsiteX6" fmla="*/ 226900 w 238164"/>
                <a:gd name="connsiteY6" fmla="*/ 336649 h 341155"/>
                <a:gd name="connsiteX7" fmla="*/ 13839 w 238164"/>
                <a:gd name="connsiteY7" fmla="*/ 336649 h 341155"/>
                <a:gd name="connsiteX8" fmla="*/ 4828 w 238164"/>
                <a:gd name="connsiteY8" fmla="*/ 327638 h 34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64" h="341155">
                  <a:moveTo>
                    <a:pt x="4828" y="327638"/>
                  </a:moveTo>
                  <a:lnTo>
                    <a:pt x="4828" y="13839"/>
                  </a:lnTo>
                  <a:cubicBezTo>
                    <a:pt x="4828" y="8690"/>
                    <a:pt x="9012" y="4828"/>
                    <a:pt x="13839" y="4828"/>
                  </a:cubicBezTo>
                  <a:lnTo>
                    <a:pt x="158669" y="4828"/>
                  </a:lnTo>
                  <a:lnTo>
                    <a:pt x="235912" y="82070"/>
                  </a:lnTo>
                  <a:lnTo>
                    <a:pt x="235912" y="327638"/>
                  </a:lnTo>
                  <a:cubicBezTo>
                    <a:pt x="235912" y="332787"/>
                    <a:pt x="231728" y="336649"/>
                    <a:pt x="226900" y="336649"/>
                  </a:cubicBezTo>
                  <a:lnTo>
                    <a:pt x="13839" y="336649"/>
                  </a:lnTo>
                  <a:cubicBezTo>
                    <a:pt x="9012" y="336649"/>
                    <a:pt x="4828" y="332465"/>
                    <a:pt x="4828" y="327638"/>
                  </a:cubicBezTo>
                  <a:close/>
                </a:path>
              </a:pathLst>
            </a:custGeom>
            <a:noFill/>
            <a:ln w="19050" cap="flat">
              <a:solidFill>
                <a:schemeClr val="tx1"/>
              </a:solidFill>
              <a:prstDash val="solid"/>
              <a:round/>
            </a:ln>
          </p:spPr>
          <p:txBody>
            <a:bodyPr rtlCol="0" anchor="ctr"/>
            <a:lstStyle/>
            <a:p>
              <a:endParaRPr lang="en-US" dirty="0"/>
            </a:p>
          </p:txBody>
        </p:sp>
        <p:sp>
          <p:nvSpPr>
            <p:cNvPr id="56" name="Freeform: Shape 29">
              <a:extLst>
                <a:ext uri="{FF2B5EF4-FFF2-40B4-BE49-F238E27FC236}">
                  <a16:creationId xmlns:a16="http://schemas.microsoft.com/office/drawing/2014/main" id="{8B7943E6-D71A-BC40-96DA-72CAEEB51ABD}"/>
                </a:ext>
              </a:extLst>
            </p:cNvPr>
            <p:cNvSpPr/>
            <p:nvPr/>
          </p:nvSpPr>
          <p:spPr>
            <a:xfrm>
              <a:off x="-284894" y="3365845"/>
              <a:ext cx="83680" cy="86898"/>
            </a:xfrm>
            <a:custGeom>
              <a:avLst/>
              <a:gdLst>
                <a:gd name="connsiteX0" fmla="*/ 4828 w 83679"/>
                <a:gd name="connsiteY0" fmla="*/ 82070 h 86898"/>
                <a:gd name="connsiteX1" fmla="*/ 81749 w 83679"/>
                <a:gd name="connsiteY1" fmla="*/ 82070 h 86898"/>
                <a:gd name="connsiteX2" fmla="*/ 4828 w 83679"/>
                <a:gd name="connsiteY2" fmla="*/ 4828 h 86898"/>
              </a:gdLst>
              <a:ahLst/>
              <a:cxnLst>
                <a:cxn ang="0">
                  <a:pos x="connsiteX0" y="connsiteY0"/>
                </a:cxn>
                <a:cxn ang="0">
                  <a:pos x="connsiteX1" y="connsiteY1"/>
                </a:cxn>
                <a:cxn ang="0">
                  <a:pos x="connsiteX2" y="connsiteY2"/>
                </a:cxn>
              </a:cxnLst>
              <a:rect l="l" t="t" r="r" b="b"/>
              <a:pathLst>
                <a:path w="83679" h="86898">
                  <a:moveTo>
                    <a:pt x="4828" y="82070"/>
                  </a:moveTo>
                  <a:lnTo>
                    <a:pt x="81749" y="82070"/>
                  </a:lnTo>
                  <a:lnTo>
                    <a:pt x="4828" y="4828"/>
                  </a:lnTo>
                  <a:close/>
                </a:path>
              </a:pathLst>
            </a:custGeom>
            <a:noFill/>
            <a:ln w="19050" cap="flat">
              <a:solidFill>
                <a:schemeClr val="tx1"/>
              </a:solidFill>
              <a:prstDash val="solid"/>
              <a:round/>
            </a:ln>
          </p:spPr>
          <p:txBody>
            <a:bodyPr rtlCol="0" anchor="ctr"/>
            <a:lstStyle/>
            <a:p>
              <a:endParaRPr lang="en-US" dirty="0"/>
            </a:p>
          </p:txBody>
        </p:sp>
        <p:sp>
          <p:nvSpPr>
            <p:cNvPr id="57" name="Freeform: Shape 30">
              <a:extLst>
                <a:ext uri="{FF2B5EF4-FFF2-40B4-BE49-F238E27FC236}">
                  <a16:creationId xmlns:a16="http://schemas.microsoft.com/office/drawing/2014/main" id="{F46ACDD2-01B2-0F43-9AF2-1A6034418DF6}"/>
                </a:ext>
              </a:extLst>
            </p:cNvPr>
            <p:cNvSpPr/>
            <p:nvPr/>
          </p:nvSpPr>
          <p:spPr>
            <a:xfrm>
              <a:off x="-337999" y="3550584"/>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8" name="Freeform: Shape 31">
              <a:extLst>
                <a:ext uri="{FF2B5EF4-FFF2-40B4-BE49-F238E27FC236}">
                  <a16:creationId xmlns:a16="http://schemas.microsoft.com/office/drawing/2014/main" id="{5554D3A4-F794-104B-BFFB-418B1BF40BE7}"/>
                </a:ext>
              </a:extLst>
            </p:cNvPr>
            <p:cNvSpPr/>
            <p:nvPr/>
          </p:nvSpPr>
          <p:spPr>
            <a:xfrm>
              <a:off x="-337999" y="3641022"/>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9" name="Freeform: Shape 35">
              <a:extLst>
                <a:ext uri="{FF2B5EF4-FFF2-40B4-BE49-F238E27FC236}">
                  <a16:creationId xmlns:a16="http://schemas.microsoft.com/office/drawing/2014/main" id="{76D72AD3-4C97-5C42-96A5-18762444B8DD}"/>
                </a:ext>
              </a:extLst>
            </p:cNvPr>
            <p:cNvSpPr/>
            <p:nvPr/>
          </p:nvSpPr>
          <p:spPr>
            <a:xfrm>
              <a:off x="-337999" y="3507135"/>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60" name="Freeform: Shape 36">
              <a:extLst>
                <a:ext uri="{FF2B5EF4-FFF2-40B4-BE49-F238E27FC236}">
                  <a16:creationId xmlns:a16="http://schemas.microsoft.com/office/drawing/2014/main" id="{01EA43BE-33C5-2242-AE0A-2DFB44003E32}"/>
                </a:ext>
              </a:extLst>
            </p:cNvPr>
            <p:cNvSpPr/>
            <p:nvPr/>
          </p:nvSpPr>
          <p:spPr>
            <a:xfrm>
              <a:off x="-337999" y="3597573"/>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61" name="Freeform: Shape 37">
              <a:extLst>
                <a:ext uri="{FF2B5EF4-FFF2-40B4-BE49-F238E27FC236}">
                  <a16:creationId xmlns:a16="http://schemas.microsoft.com/office/drawing/2014/main" id="{AA8D8305-0E4B-634B-AC14-1C73D82AC64B}"/>
                </a:ext>
              </a:extLst>
            </p:cNvPr>
            <p:cNvSpPr/>
            <p:nvPr/>
          </p:nvSpPr>
          <p:spPr>
            <a:xfrm>
              <a:off x="-337999" y="3460146"/>
              <a:ext cx="38621" cy="9655"/>
            </a:xfrm>
            <a:custGeom>
              <a:avLst/>
              <a:gdLst>
                <a:gd name="connsiteX0" fmla="*/ 4828 w 38621"/>
                <a:gd name="connsiteY0" fmla="*/ 4828 h 9655"/>
                <a:gd name="connsiteX1" fmla="*/ 36368 w 38621"/>
                <a:gd name="connsiteY1" fmla="*/ 4828 h 9655"/>
              </a:gdLst>
              <a:ahLst/>
              <a:cxnLst>
                <a:cxn ang="0">
                  <a:pos x="connsiteX0" y="connsiteY0"/>
                </a:cxn>
                <a:cxn ang="0">
                  <a:pos x="connsiteX1" y="connsiteY1"/>
                </a:cxn>
              </a:cxnLst>
              <a:rect l="l" t="t" r="r" b="b"/>
              <a:pathLst>
                <a:path w="38621" h="9655">
                  <a:moveTo>
                    <a:pt x="4828" y="4828"/>
                  </a:moveTo>
                  <a:lnTo>
                    <a:pt x="36368" y="4828"/>
                  </a:lnTo>
                </a:path>
              </a:pathLst>
            </a:custGeom>
            <a:ln w="19050" cap="flat">
              <a:solidFill>
                <a:schemeClr val="tx1"/>
              </a:solidFill>
              <a:prstDash val="solid"/>
              <a:round/>
            </a:ln>
          </p:spPr>
          <p:txBody>
            <a:bodyPr rtlCol="0" anchor="ctr"/>
            <a:lstStyle/>
            <a:p>
              <a:endParaRPr lang="en-US" dirty="0"/>
            </a:p>
          </p:txBody>
        </p:sp>
        <p:sp>
          <p:nvSpPr>
            <p:cNvPr id="62" name="Freeform: Shape 38">
              <a:extLst>
                <a:ext uri="{FF2B5EF4-FFF2-40B4-BE49-F238E27FC236}">
                  <a16:creationId xmlns:a16="http://schemas.microsoft.com/office/drawing/2014/main" id="{C56AE214-26DA-5E4A-AFAC-5BD23E393726}"/>
                </a:ext>
              </a:extLst>
            </p:cNvPr>
            <p:cNvSpPr/>
            <p:nvPr/>
          </p:nvSpPr>
          <p:spPr>
            <a:xfrm>
              <a:off x="-405908" y="3443088"/>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3" name="Freeform: Shape 39">
              <a:extLst>
                <a:ext uri="{FF2B5EF4-FFF2-40B4-BE49-F238E27FC236}">
                  <a16:creationId xmlns:a16="http://schemas.microsoft.com/office/drawing/2014/main" id="{0D6A4E68-71FB-4A48-86F9-2C0844C332C8}"/>
                </a:ext>
              </a:extLst>
            </p:cNvPr>
            <p:cNvSpPr/>
            <p:nvPr/>
          </p:nvSpPr>
          <p:spPr>
            <a:xfrm>
              <a:off x="-405908" y="3621712"/>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4" name="Freeform: Shape 40">
              <a:extLst>
                <a:ext uri="{FF2B5EF4-FFF2-40B4-BE49-F238E27FC236}">
                  <a16:creationId xmlns:a16="http://schemas.microsoft.com/office/drawing/2014/main" id="{F3B5E999-D4EC-F645-9593-0050887CA009}"/>
                </a:ext>
              </a:extLst>
            </p:cNvPr>
            <p:cNvSpPr/>
            <p:nvPr/>
          </p:nvSpPr>
          <p:spPr>
            <a:xfrm>
              <a:off x="-398827" y="3532239"/>
              <a:ext cx="45058" cy="45058"/>
            </a:xfrm>
            <a:custGeom>
              <a:avLst/>
              <a:gdLst>
                <a:gd name="connsiteX0" fmla="*/ 4828 w 45058"/>
                <a:gd name="connsiteY0" fmla="*/ 4828 h 45058"/>
                <a:gd name="connsiteX1" fmla="*/ 40874 w 45058"/>
                <a:gd name="connsiteY1" fmla="*/ 40874 h 45058"/>
              </a:gdLst>
              <a:ahLst/>
              <a:cxnLst>
                <a:cxn ang="0">
                  <a:pos x="connsiteX0" y="connsiteY0"/>
                </a:cxn>
                <a:cxn ang="0">
                  <a:pos x="connsiteX1" y="connsiteY1"/>
                </a:cxn>
              </a:cxnLst>
              <a:rect l="l" t="t" r="r" b="b"/>
              <a:pathLst>
                <a:path w="45058" h="45058">
                  <a:moveTo>
                    <a:pt x="4828" y="4828"/>
                  </a:moveTo>
                  <a:lnTo>
                    <a:pt x="40874" y="40874"/>
                  </a:lnTo>
                </a:path>
              </a:pathLst>
            </a:custGeom>
            <a:ln w="19050" cap="flat">
              <a:solidFill>
                <a:schemeClr val="tx1"/>
              </a:solidFill>
              <a:prstDash val="solid"/>
              <a:round/>
            </a:ln>
          </p:spPr>
          <p:txBody>
            <a:bodyPr rtlCol="0" anchor="ctr"/>
            <a:lstStyle/>
            <a:p>
              <a:endParaRPr lang="en-US" dirty="0"/>
            </a:p>
          </p:txBody>
        </p:sp>
        <p:sp>
          <p:nvSpPr>
            <p:cNvPr id="65" name="Freeform: Shape 41">
              <a:extLst>
                <a:ext uri="{FF2B5EF4-FFF2-40B4-BE49-F238E27FC236}">
                  <a16:creationId xmlns:a16="http://schemas.microsoft.com/office/drawing/2014/main" id="{2F74A31D-B2FA-BF41-8496-8492D79A945B}"/>
                </a:ext>
              </a:extLst>
            </p:cNvPr>
            <p:cNvSpPr/>
            <p:nvPr/>
          </p:nvSpPr>
          <p:spPr>
            <a:xfrm>
              <a:off x="-398827" y="3532239"/>
              <a:ext cx="45058" cy="45058"/>
            </a:xfrm>
            <a:custGeom>
              <a:avLst/>
              <a:gdLst>
                <a:gd name="connsiteX0" fmla="*/ 40874 w 45058"/>
                <a:gd name="connsiteY0" fmla="*/ 4828 h 45058"/>
                <a:gd name="connsiteX1" fmla="*/ 4828 w 45058"/>
                <a:gd name="connsiteY1" fmla="*/ 41196 h 45058"/>
              </a:gdLst>
              <a:ahLst/>
              <a:cxnLst>
                <a:cxn ang="0">
                  <a:pos x="connsiteX0" y="connsiteY0"/>
                </a:cxn>
                <a:cxn ang="0">
                  <a:pos x="connsiteX1" y="connsiteY1"/>
                </a:cxn>
              </a:cxnLst>
              <a:rect l="l" t="t" r="r" b="b"/>
              <a:pathLst>
                <a:path w="45058" h="45058">
                  <a:moveTo>
                    <a:pt x="40874" y="4828"/>
                  </a:moveTo>
                  <a:lnTo>
                    <a:pt x="4828" y="41196"/>
                  </a:lnTo>
                </a:path>
              </a:pathLst>
            </a:custGeom>
            <a:ln w="19050" cap="flat">
              <a:solidFill>
                <a:schemeClr val="tx1"/>
              </a:solidFill>
              <a:prstDash val="solid"/>
              <a:round/>
            </a:ln>
          </p:spPr>
          <p:txBody>
            <a:bodyPr rtlCol="0" anchor="ctr"/>
            <a:lstStyle/>
            <a:p>
              <a:endParaRPr lang="en-US" dirty="0"/>
            </a:p>
          </p:txBody>
        </p:sp>
      </p:grpSp>
    </p:spTree>
    <p:extLst>
      <p:ext uri="{BB962C8B-B14F-4D97-AF65-F5344CB8AC3E}">
        <p14:creationId xmlns:p14="http://schemas.microsoft.com/office/powerpoint/2010/main" val="1610465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35" presetClass="path" presetSubtype="0" decel="100000" fill="hold" nodeType="withEffect">
                                  <p:stCondLst>
                                    <p:cond delay="200"/>
                                  </p:stCondLst>
                                  <p:childTnLst>
                                    <p:animMotion origin="layout" path="M 3.22917E-6 3.64198E-6 L 3.22917E-6 0.01504 " pathEditMode="relative" rAng="0" ptsTypes="AA">
                                      <p:cBhvr>
                                        <p:cTn id="9" dur="500" spd="-100000" fill="hold"/>
                                        <p:tgtEl>
                                          <p:spTgt spid="25"/>
                                        </p:tgtEl>
                                        <p:attrNameLst>
                                          <p:attrName>ppt_x</p:attrName>
                                          <p:attrName>ppt_y</p:attrName>
                                        </p:attrNameLst>
                                      </p:cBhvr>
                                      <p:rCtr x="0" y="7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061D3-3556-5943-A3B9-A944E133ABBC}"/>
              </a:ext>
            </a:extLst>
          </p:cNvPr>
          <p:cNvSpPr>
            <a:spLocks noGrp="1"/>
          </p:cNvSpPr>
          <p:nvPr>
            <p:ph type="title" idx="4294967295"/>
          </p:nvPr>
        </p:nvSpPr>
        <p:spPr>
          <a:xfrm>
            <a:off x="467654" y="208587"/>
            <a:ext cx="12571413" cy="871537"/>
          </a:xfrm>
        </p:spPr>
        <p:txBody>
          <a:bodyPr/>
          <a:lstStyle/>
          <a:p>
            <a:r>
              <a:rPr lang="en-US" sz="3600" dirty="0"/>
              <a:t>MRA Executive Summary</a:t>
            </a:r>
          </a:p>
        </p:txBody>
      </p:sp>
      <p:sp>
        <p:nvSpPr>
          <p:cNvPr id="7" name="Text Placeholder 3">
            <a:extLst>
              <a:ext uri="{FF2B5EF4-FFF2-40B4-BE49-F238E27FC236}">
                <a16:creationId xmlns:a16="http://schemas.microsoft.com/office/drawing/2014/main" id="{9E5D7A43-2762-C140-898A-B4FD2E1132C1}"/>
              </a:ext>
            </a:extLst>
          </p:cNvPr>
          <p:cNvSpPr txBox="1">
            <a:spLocks/>
          </p:cNvSpPr>
          <p:nvPr/>
        </p:nvSpPr>
        <p:spPr>
          <a:xfrm>
            <a:off x="467654" y="1002406"/>
            <a:ext cx="4047927" cy="400110"/>
          </a:xfrm>
          <a:prstGeom prst="rect">
            <a:avLst/>
          </a:prstGeom>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1"/>
                </a:solidFill>
                <a:latin typeface="+mn-lt"/>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mn-lt"/>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mn-lt"/>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mn-lt"/>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mn-lt"/>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sz="1800" b="1" dirty="0">
                <a:solidFill>
                  <a:srgbClr val="FF9900"/>
                </a:solidFill>
              </a:rPr>
              <a:t>Strategy and Desired Outcomes</a:t>
            </a:r>
          </a:p>
        </p:txBody>
      </p:sp>
      <p:sp>
        <p:nvSpPr>
          <p:cNvPr id="56" name="Text Placeholder 3">
            <a:extLst>
              <a:ext uri="{FF2B5EF4-FFF2-40B4-BE49-F238E27FC236}">
                <a16:creationId xmlns:a16="http://schemas.microsoft.com/office/drawing/2014/main" id="{24560061-A23B-654A-8AB9-95A98B2F1380}"/>
              </a:ext>
            </a:extLst>
          </p:cNvPr>
          <p:cNvSpPr txBox="1">
            <a:spLocks/>
          </p:cNvSpPr>
          <p:nvPr/>
        </p:nvSpPr>
        <p:spPr>
          <a:xfrm>
            <a:off x="8712671" y="965090"/>
            <a:ext cx="4047927" cy="400110"/>
          </a:xfrm>
          <a:prstGeom prst="rect">
            <a:avLst/>
          </a:prstGeom>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1"/>
                </a:solidFill>
                <a:latin typeface="+mn-lt"/>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mn-lt"/>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mn-lt"/>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mn-lt"/>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mn-lt"/>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sz="1800" b="1" dirty="0">
                <a:solidFill>
                  <a:srgbClr val="FF9900"/>
                </a:solidFill>
              </a:rPr>
              <a:t>MRA Objectives</a:t>
            </a:r>
          </a:p>
        </p:txBody>
      </p:sp>
      <p:cxnSp>
        <p:nvCxnSpPr>
          <p:cNvPr id="57" name="Straight Connector 56">
            <a:extLst>
              <a:ext uri="{FF2B5EF4-FFF2-40B4-BE49-F238E27FC236}">
                <a16:creationId xmlns:a16="http://schemas.microsoft.com/office/drawing/2014/main" id="{58B927D7-D247-3B43-995A-D7386579BCE5}"/>
              </a:ext>
            </a:extLst>
          </p:cNvPr>
          <p:cNvCxnSpPr>
            <a:cxnSpLocks/>
          </p:cNvCxnSpPr>
          <p:nvPr/>
        </p:nvCxnSpPr>
        <p:spPr>
          <a:xfrm flipH="1" flipV="1">
            <a:off x="551915" y="1354680"/>
            <a:ext cx="6643171" cy="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6E84BCA-F4EB-5C4B-A0DE-801A88F8E228}"/>
              </a:ext>
            </a:extLst>
          </p:cNvPr>
          <p:cNvCxnSpPr>
            <a:cxnSpLocks/>
          </p:cNvCxnSpPr>
          <p:nvPr/>
        </p:nvCxnSpPr>
        <p:spPr>
          <a:xfrm flipH="1" flipV="1">
            <a:off x="8815929" y="1387037"/>
            <a:ext cx="5136045" cy="15479"/>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 Placeholder 3">
            <a:extLst>
              <a:ext uri="{FF2B5EF4-FFF2-40B4-BE49-F238E27FC236}">
                <a16:creationId xmlns:a16="http://schemas.microsoft.com/office/drawing/2014/main" id="{C2F81A8E-EA21-1F49-886D-ACB964644F9C}"/>
              </a:ext>
            </a:extLst>
          </p:cNvPr>
          <p:cNvSpPr txBox="1">
            <a:spLocks/>
          </p:cNvSpPr>
          <p:nvPr/>
        </p:nvSpPr>
        <p:spPr>
          <a:xfrm>
            <a:off x="1708074" y="3783450"/>
            <a:ext cx="4047927" cy="400110"/>
          </a:xfrm>
          <a:prstGeom prst="rect">
            <a:avLst/>
          </a:prstGeom>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1"/>
                </a:solidFill>
                <a:latin typeface="+mn-lt"/>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mn-lt"/>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mn-lt"/>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mn-lt"/>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mn-lt"/>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sz="1800" b="1" dirty="0">
                <a:solidFill>
                  <a:srgbClr val="FF9900"/>
                </a:solidFill>
              </a:rPr>
              <a:t>Strength</a:t>
            </a:r>
          </a:p>
        </p:txBody>
      </p:sp>
      <p:sp>
        <p:nvSpPr>
          <p:cNvPr id="53" name="Text Placeholder 3">
            <a:extLst>
              <a:ext uri="{FF2B5EF4-FFF2-40B4-BE49-F238E27FC236}">
                <a16:creationId xmlns:a16="http://schemas.microsoft.com/office/drawing/2014/main" id="{7E55BAC6-1AE6-524A-8C8C-8A64EDD01244}"/>
              </a:ext>
            </a:extLst>
          </p:cNvPr>
          <p:cNvSpPr txBox="1">
            <a:spLocks/>
          </p:cNvSpPr>
          <p:nvPr/>
        </p:nvSpPr>
        <p:spPr>
          <a:xfrm>
            <a:off x="11473809" y="3813638"/>
            <a:ext cx="1881973" cy="400110"/>
          </a:xfrm>
          <a:prstGeom prst="rect">
            <a:avLst/>
          </a:prstGeom>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1"/>
                </a:solidFill>
                <a:latin typeface="+mn-lt"/>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mn-lt"/>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mn-lt"/>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mn-lt"/>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mn-lt"/>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sz="1800" b="1" dirty="0">
                <a:solidFill>
                  <a:srgbClr val="FF9900"/>
                </a:solidFill>
              </a:rPr>
              <a:t>Gaps</a:t>
            </a:r>
          </a:p>
        </p:txBody>
      </p:sp>
      <p:grpSp>
        <p:nvGrpSpPr>
          <p:cNvPr id="58" name="Group 57">
            <a:extLst>
              <a:ext uri="{FF2B5EF4-FFF2-40B4-BE49-F238E27FC236}">
                <a16:creationId xmlns:a16="http://schemas.microsoft.com/office/drawing/2014/main" id="{1F48E506-EAFB-E24F-86DF-7C0571F10FD7}"/>
              </a:ext>
            </a:extLst>
          </p:cNvPr>
          <p:cNvGrpSpPr/>
          <p:nvPr/>
        </p:nvGrpSpPr>
        <p:grpSpPr>
          <a:xfrm>
            <a:off x="1297678" y="3808480"/>
            <a:ext cx="259092" cy="259092"/>
            <a:chOff x="6678273" y="4879632"/>
            <a:chExt cx="335601" cy="335601"/>
          </a:xfrm>
        </p:grpSpPr>
        <p:sp>
          <p:nvSpPr>
            <p:cNvPr id="59" name="Oval 58">
              <a:extLst>
                <a:ext uri="{FF2B5EF4-FFF2-40B4-BE49-F238E27FC236}">
                  <a16:creationId xmlns:a16="http://schemas.microsoft.com/office/drawing/2014/main" id="{CCB30246-94FE-AB4E-B512-A88CF11821B6}"/>
                </a:ext>
              </a:extLst>
            </p:cNvPr>
            <p:cNvSpPr/>
            <p:nvPr/>
          </p:nvSpPr>
          <p:spPr>
            <a:xfrm>
              <a:off x="6678273" y="4879632"/>
              <a:ext cx="335601" cy="335601"/>
            </a:xfrm>
            <a:prstGeom prst="ellipse">
              <a:avLst/>
            </a:prstGeom>
            <a:solidFill>
              <a:srgbClr val="F89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 name="Picture 60">
              <a:extLst>
                <a:ext uri="{FF2B5EF4-FFF2-40B4-BE49-F238E27FC236}">
                  <a16:creationId xmlns:a16="http://schemas.microsoft.com/office/drawing/2014/main" id="{9D64957D-9402-9F49-86F5-3351945F2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1096" y="4962455"/>
              <a:ext cx="169954" cy="169954"/>
            </a:xfrm>
            <a:prstGeom prst="rect">
              <a:avLst/>
            </a:prstGeom>
          </p:spPr>
        </p:pic>
      </p:grpSp>
      <p:grpSp>
        <p:nvGrpSpPr>
          <p:cNvPr id="62" name="Group 61">
            <a:extLst>
              <a:ext uri="{FF2B5EF4-FFF2-40B4-BE49-F238E27FC236}">
                <a16:creationId xmlns:a16="http://schemas.microsoft.com/office/drawing/2014/main" id="{D5E1DBCD-0462-C84D-B359-29F7D5ED08C4}"/>
              </a:ext>
            </a:extLst>
          </p:cNvPr>
          <p:cNvGrpSpPr/>
          <p:nvPr/>
        </p:nvGrpSpPr>
        <p:grpSpPr>
          <a:xfrm>
            <a:off x="10933867" y="3849722"/>
            <a:ext cx="259092" cy="259092"/>
            <a:chOff x="7265072" y="4879632"/>
            <a:chExt cx="335601" cy="335601"/>
          </a:xfrm>
        </p:grpSpPr>
        <p:sp>
          <p:nvSpPr>
            <p:cNvPr id="63" name="Oval 62">
              <a:extLst>
                <a:ext uri="{FF2B5EF4-FFF2-40B4-BE49-F238E27FC236}">
                  <a16:creationId xmlns:a16="http://schemas.microsoft.com/office/drawing/2014/main" id="{95AD1B93-D8A4-7747-B331-AE4A5BA6A5C9}"/>
                </a:ext>
              </a:extLst>
            </p:cNvPr>
            <p:cNvSpPr/>
            <p:nvPr/>
          </p:nvSpPr>
          <p:spPr>
            <a:xfrm>
              <a:off x="7265072" y="4879632"/>
              <a:ext cx="335601" cy="335601"/>
            </a:xfrm>
            <a:prstGeom prst="ellipse">
              <a:avLst/>
            </a:prstGeom>
            <a:solidFill>
              <a:srgbClr val="F89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a:extLst>
                <a:ext uri="{FF2B5EF4-FFF2-40B4-BE49-F238E27FC236}">
                  <a16:creationId xmlns:a16="http://schemas.microsoft.com/office/drawing/2014/main" id="{7D25E4EE-F352-AB44-8CEE-94D90DDD78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4737" y="4962455"/>
              <a:ext cx="176269" cy="176269"/>
            </a:xfrm>
            <a:prstGeom prst="rect">
              <a:avLst/>
            </a:prstGeom>
          </p:spPr>
        </p:pic>
      </p:grpSp>
      <p:sp>
        <p:nvSpPr>
          <p:cNvPr id="3" name="Rectangle 2">
            <a:extLst>
              <a:ext uri="{FF2B5EF4-FFF2-40B4-BE49-F238E27FC236}">
                <a16:creationId xmlns:a16="http://schemas.microsoft.com/office/drawing/2014/main" id="{26002C92-F55E-AB48-A6B2-E51C95FC4A5B}"/>
              </a:ext>
            </a:extLst>
          </p:cNvPr>
          <p:cNvSpPr/>
          <p:nvPr/>
        </p:nvSpPr>
        <p:spPr>
          <a:xfrm>
            <a:off x="467654" y="1503362"/>
            <a:ext cx="6675120" cy="2277584"/>
          </a:xfrm>
          <a:prstGeom prst="rect">
            <a:avLst/>
          </a:prstGeom>
        </p:spPr>
        <p:txBody>
          <a:bodyPr wrap="square">
            <a:normAutofit/>
          </a:bodyPr>
          <a:lstStyle/>
          <a:p>
            <a:r>
              <a:rPr lang="en-US" sz="1600" dirty="0"/>
              <a:t>[Answer to Q2]</a:t>
            </a:r>
          </a:p>
        </p:txBody>
      </p:sp>
      <p:sp>
        <p:nvSpPr>
          <p:cNvPr id="24" name="Rectangle 23">
            <a:extLst>
              <a:ext uri="{FF2B5EF4-FFF2-40B4-BE49-F238E27FC236}">
                <a16:creationId xmlns:a16="http://schemas.microsoft.com/office/drawing/2014/main" id="{AD03E764-E8E1-614D-8E71-C7CE7416DE36}"/>
              </a:ext>
            </a:extLst>
          </p:cNvPr>
          <p:cNvSpPr/>
          <p:nvPr/>
        </p:nvSpPr>
        <p:spPr>
          <a:xfrm>
            <a:off x="8815929" y="1501831"/>
            <a:ext cx="5120640" cy="2277583"/>
          </a:xfrm>
          <a:prstGeom prst="rect">
            <a:avLst/>
          </a:prstGeom>
        </p:spPr>
        <p:txBody>
          <a:bodyPr wrap="square">
            <a:normAutofit/>
          </a:bodyPr>
          <a:lstStyle/>
          <a:p>
            <a:r>
              <a:rPr lang="en-US" sz="1600" dirty="0"/>
              <a:t>[Answer to Q1]</a:t>
            </a:r>
          </a:p>
        </p:txBody>
      </p:sp>
      <p:sp>
        <p:nvSpPr>
          <p:cNvPr id="25" name="Rectangle 24">
            <a:extLst>
              <a:ext uri="{FF2B5EF4-FFF2-40B4-BE49-F238E27FC236}">
                <a16:creationId xmlns:a16="http://schemas.microsoft.com/office/drawing/2014/main" id="{0B10F103-5947-964C-BE9E-D337145ECDAD}"/>
              </a:ext>
            </a:extLst>
          </p:cNvPr>
          <p:cNvSpPr/>
          <p:nvPr/>
        </p:nvSpPr>
        <p:spPr>
          <a:xfrm>
            <a:off x="551916" y="4332382"/>
            <a:ext cx="3855962" cy="338554"/>
          </a:xfrm>
          <a:prstGeom prst="rect">
            <a:avLst/>
          </a:prstGeom>
        </p:spPr>
        <p:txBody>
          <a:bodyPr wrap="square">
            <a:spAutoFit/>
          </a:bodyPr>
          <a:lstStyle/>
          <a:p>
            <a:r>
              <a:rPr lang="en-US" sz="1600" dirty="0"/>
              <a:t>[Strength]</a:t>
            </a:r>
          </a:p>
        </p:txBody>
      </p:sp>
      <p:sp>
        <p:nvSpPr>
          <p:cNvPr id="27" name="Rectangle 26">
            <a:extLst>
              <a:ext uri="{FF2B5EF4-FFF2-40B4-BE49-F238E27FC236}">
                <a16:creationId xmlns:a16="http://schemas.microsoft.com/office/drawing/2014/main" id="{3E58B4A6-81C5-BB46-B49B-ECF339DDB508}"/>
              </a:ext>
            </a:extLst>
          </p:cNvPr>
          <p:cNvSpPr/>
          <p:nvPr/>
        </p:nvSpPr>
        <p:spPr>
          <a:xfrm>
            <a:off x="563636" y="5019091"/>
            <a:ext cx="3855962" cy="338554"/>
          </a:xfrm>
          <a:prstGeom prst="rect">
            <a:avLst/>
          </a:prstGeom>
        </p:spPr>
        <p:txBody>
          <a:bodyPr wrap="square">
            <a:spAutoFit/>
          </a:bodyPr>
          <a:lstStyle/>
          <a:p>
            <a:r>
              <a:rPr lang="en-US" sz="1600" dirty="0"/>
              <a:t>[Strength]</a:t>
            </a:r>
          </a:p>
        </p:txBody>
      </p:sp>
      <p:sp>
        <p:nvSpPr>
          <p:cNvPr id="28" name="Rectangle 27">
            <a:extLst>
              <a:ext uri="{FF2B5EF4-FFF2-40B4-BE49-F238E27FC236}">
                <a16:creationId xmlns:a16="http://schemas.microsoft.com/office/drawing/2014/main" id="{012847BE-7176-244D-A98E-B6D115502759}"/>
              </a:ext>
            </a:extLst>
          </p:cNvPr>
          <p:cNvSpPr/>
          <p:nvPr/>
        </p:nvSpPr>
        <p:spPr>
          <a:xfrm>
            <a:off x="551915" y="5705800"/>
            <a:ext cx="3855962" cy="338554"/>
          </a:xfrm>
          <a:prstGeom prst="rect">
            <a:avLst/>
          </a:prstGeom>
        </p:spPr>
        <p:txBody>
          <a:bodyPr wrap="square">
            <a:spAutoFit/>
          </a:bodyPr>
          <a:lstStyle/>
          <a:p>
            <a:r>
              <a:rPr lang="en-US" sz="1600" dirty="0"/>
              <a:t/>
            </a:r>
          </a:p>
        </p:txBody>
      </p:sp>
      <p:sp>
        <p:nvSpPr>
          <p:cNvPr id="29" name="Rectangle 28">
            <a:extLst>
              <a:ext uri="{FF2B5EF4-FFF2-40B4-BE49-F238E27FC236}">
                <a16:creationId xmlns:a16="http://schemas.microsoft.com/office/drawing/2014/main" id="{EEE89F90-86A8-D24D-A8D1-4298A6DCB253}"/>
              </a:ext>
            </a:extLst>
          </p:cNvPr>
          <p:cNvSpPr/>
          <p:nvPr/>
        </p:nvSpPr>
        <p:spPr>
          <a:xfrm>
            <a:off x="551915" y="6401762"/>
            <a:ext cx="3855962" cy="338554"/>
          </a:xfrm>
          <a:prstGeom prst="rect">
            <a:avLst/>
          </a:prstGeom>
        </p:spPr>
        <p:txBody>
          <a:bodyPr wrap="square">
            <a:spAutoFit/>
          </a:bodyPr>
          <a:lstStyle/>
          <a:p>
            <a:r>
              <a:rPr lang="en-US" sz="1600" dirty="0"/>
              <a:t/>
            </a:r>
          </a:p>
        </p:txBody>
      </p:sp>
      <p:sp>
        <p:nvSpPr>
          <p:cNvPr id="30" name="Rectangle 29">
            <a:extLst>
              <a:ext uri="{FF2B5EF4-FFF2-40B4-BE49-F238E27FC236}">
                <a16:creationId xmlns:a16="http://schemas.microsoft.com/office/drawing/2014/main" id="{B9FFBBB8-1EE8-084F-BBF0-B516E71218F3}"/>
              </a:ext>
            </a:extLst>
          </p:cNvPr>
          <p:cNvSpPr/>
          <p:nvPr/>
        </p:nvSpPr>
        <p:spPr>
          <a:xfrm>
            <a:off x="10096012" y="4277689"/>
            <a:ext cx="3855962" cy="338554"/>
          </a:xfrm>
          <a:prstGeom prst="rect">
            <a:avLst/>
          </a:prstGeom>
        </p:spPr>
        <p:txBody>
          <a:bodyPr wrap="square">
            <a:spAutoFit/>
          </a:bodyPr>
          <a:lstStyle/>
          <a:p>
            <a:r>
              <a:rPr lang="en-US" sz="1600" dirty="0"/>
              <a:t>[Gap]</a:t>
            </a:r>
          </a:p>
        </p:txBody>
      </p:sp>
      <p:sp>
        <p:nvSpPr>
          <p:cNvPr id="31" name="Rectangle 30">
            <a:extLst>
              <a:ext uri="{FF2B5EF4-FFF2-40B4-BE49-F238E27FC236}">
                <a16:creationId xmlns:a16="http://schemas.microsoft.com/office/drawing/2014/main" id="{65B116A5-5F7C-BE46-AC1D-29C0F349307A}"/>
              </a:ext>
            </a:extLst>
          </p:cNvPr>
          <p:cNvSpPr/>
          <p:nvPr/>
        </p:nvSpPr>
        <p:spPr>
          <a:xfrm>
            <a:off x="10096012" y="4953940"/>
            <a:ext cx="3855962" cy="338554"/>
          </a:xfrm>
          <a:prstGeom prst="rect">
            <a:avLst/>
          </a:prstGeom>
        </p:spPr>
        <p:txBody>
          <a:bodyPr wrap="square">
            <a:spAutoFit/>
          </a:bodyPr>
          <a:lstStyle/>
          <a:p>
            <a:r>
              <a:rPr lang="en-US" sz="1600" dirty="0"/>
              <a:t>[Gap]</a:t>
            </a:r>
          </a:p>
        </p:txBody>
      </p:sp>
      <p:sp>
        <p:nvSpPr>
          <p:cNvPr id="32" name="Rectangle 31">
            <a:extLst>
              <a:ext uri="{FF2B5EF4-FFF2-40B4-BE49-F238E27FC236}">
                <a16:creationId xmlns:a16="http://schemas.microsoft.com/office/drawing/2014/main" id="{9AE1B055-8178-9044-B88A-10AFF9E93BA8}"/>
              </a:ext>
            </a:extLst>
          </p:cNvPr>
          <p:cNvSpPr/>
          <p:nvPr/>
        </p:nvSpPr>
        <p:spPr>
          <a:xfrm>
            <a:off x="10096012" y="5705799"/>
            <a:ext cx="3855962" cy="338554"/>
          </a:xfrm>
          <a:prstGeom prst="rect">
            <a:avLst/>
          </a:prstGeom>
        </p:spPr>
        <p:txBody>
          <a:bodyPr wrap="square">
            <a:spAutoFit/>
          </a:bodyPr>
          <a:lstStyle/>
          <a:p>
            <a:r>
              <a:rPr lang="en-US" sz="1600" dirty="0"/>
              <a:t>[Gap]</a:t>
            </a:r>
          </a:p>
        </p:txBody>
      </p:sp>
      <p:sp>
        <p:nvSpPr>
          <p:cNvPr id="34" name="Rectangle 33">
            <a:extLst>
              <a:ext uri="{FF2B5EF4-FFF2-40B4-BE49-F238E27FC236}">
                <a16:creationId xmlns:a16="http://schemas.microsoft.com/office/drawing/2014/main" id="{99888E20-3E20-4F4A-ACD5-9F669D41BDA9}"/>
              </a:ext>
            </a:extLst>
          </p:cNvPr>
          <p:cNvSpPr/>
          <p:nvPr/>
        </p:nvSpPr>
        <p:spPr>
          <a:xfrm>
            <a:off x="10096012" y="6343816"/>
            <a:ext cx="3855962" cy="338554"/>
          </a:xfrm>
          <a:prstGeom prst="rect">
            <a:avLst/>
          </a:prstGeom>
        </p:spPr>
        <p:txBody>
          <a:bodyPr wrap="square">
            <a:spAutoFit/>
          </a:bodyPr>
          <a:lstStyle/>
          <a:p>
            <a:r>
              <a:rPr lang="en-US" sz="1600" dirty="0"/>
              <a:t>[Gap]</a:t>
            </a:r>
          </a:p>
        </p:txBody>
      </p:sp>
      <p:sp>
        <p:nvSpPr>
          <p:cNvPr id="33" name="TextBox 32">
            <a:extLst>
              <a:ext uri="{FF2B5EF4-FFF2-40B4-BE49-F238E27FC236}">
                <a16:creationId xmlns:a16="http://schemas.microsoft.com/office/drawing/2014/main" id="{6ED2325D-8C35-284C-B1D5-732CA11F1B8D}"/>
              </a:ext>
            </a:extLst>
          </p:cNvPr>
          <p:cNvSpPr txBox="1"/>
          <p:nvPr/>
        </p:nvSpPr>
        <p:spPr>
          <a:xfrm rot="20294682">
            <a:off x="3181871" y="5804870"/>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graphicFrame>
        <p:nvGraphicFramePr>
          <p:cNvPr id="65" name="Chart 64"/>
          <p:cNvGraphicFramePr>
            <a:graphicFrameLocks noGrp="1"/>
          </p:cNvGraphicFramePr>
          <p:nvPr/>
        </p:nvGraphicFramePr>
        <p:xfrm>
          <a:off x="4000085" y="2941896"/>
          <a:ext cx="5469102" cy="4154390"/>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2805144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idx="4294967295"/>
          </p:nvPr>
        </p:nvSpPr>
        <p:spPr>
          <a:xfrm>
            <a:off x="675451" y="171409"/>
            <a:ext cx="13514388" cy="903288"/>
          </a:xfrm>
        </p:spPr>
        <p:txBody>
          <a:bodyPr/>
          <a:lstStyle/>
          <a:p>
            <a:r>
              <a:rPr lang="en-US" dirty="0"/>
              <a:t>MRA Activity Outputs</a:t>
            </a:r>
          </a:p>
        </p:txBody>
      </p:sp>
      <p:sp>
        <p:nvSpPr>
          <p:cNvPr id="3" name="TextBox 2">
            <a:extLst>
              <a:ext uri="{FF2B5EF4-FFF2-40B4-BE49-F238E27FC236}">
                <a16:creationId xmlns:a16="http://schemas.microsoft.com/office/drawing/2014/main" id="{10F84746-AAA4-1D4C-9300-3BE6F55774E4}"/>
              </a:ext>
            </a:extLst>
          </p:cNvPr>
          <p:cNvSpPr txBox="1"/>
          <p:nvPr/>
        </p:nvSpPr>
        <p:spPr>
          <a:xfrm>
            <a:off x="675447" y="1300766"/>
            <a:ext cx="6146479" cy="538609"/>
          </a:xfrm>
          <a:prstGeom prst="rect">
            <a:avLst/>
          </a:prstGeom>
          <a:noFill/>
        </p:spPr>
        <p:txBody>
          <a:bodyPr wrap="square" rtlCol="0">
            <a:spAutoFit/>
          </a:bodyPr>
          <a:lstStyle/>
          <a:p>
            <a:pPr algn="l"/>
            <a:r>
              <a:rPr lang="en-US" sz="2900" dirty="0">
                <a:latin typeface="Amazon Ember" panose="020B0603020204020204" pitchFamily="34" charset="0"/>
                <a:ea typeface="Amazon Ember" panose="020B0603020204020204" pitchFamily="34" charset="0"/>
                <a:cs typeface="Amazon Ember" panose="020B0603020204020204" pitchFamily="34" charset="0"/>
              </a:rPr>
              <a:t>Activity 1 – </a:t>
            </a:r>
            <a:r>
              <a:rPr lang="en-US" sz="29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Scope and Mandate</a:t>
            </a:r>
          </a:p>
        </p:txBody>
      </p:sp>
      <p:sp>
        <p:nvSpPr>
          <p:cNvPr id="16" name="TextBox 15">
            <a:extLst>
              <a:ext uri="{FF2B5EF4-FFF2-40B4-BE49-F238E27FC236}">
                <a16:creationId xmlns:a16="http://schemas.microsoft.com/office/drawing/2014/main" id="{166767DB-5186-1647-83E9-666561A1E4FF}"/>
              </a:ext>
            </a:extLst>
          </p:cNvPr>
          <p:cNvSpPr txBox="1"/>
          <p:nvPr/>
        </p:nvSpPr>
        <p:spPr>
          <a:xfrm>
            <a:off x="675447" y="4309649"/>
            <a:ext cx="6146479" cy="538609"/>
          </a:xfrm>
          <a:prstGeom prst="rect">
            <a:avLst/>
          </a:prstGeom>
          <a:noFill/>
        </p:spPr>
        <p:txBody>
          <a:bodyPr wrap="square" rtlCol="0">
            <a:spAutoFit/>
          </a:bodyPr>
          <a:lstStyle/>
          <a:p>
            <a:pPr algn="l"/>
            <a:r>
              <a:rPr lang="en-US" sz="2900" dirty="0">
                <a:latin typeface="Amazon Ember" panose="020B0603020204020204" pitchFamily="34" charset="0"/>
                <a:ea typeface="Amazon Ember" panose="020B0603020204020204" pitchFamily="34" charset="0"/>
                <a:cs typeface="Amazon Ember" panose="020B0603020204020204" pitchFamily="34" charset="0"/>
              </a:rPr>
              <a:t>Activity 2 – </a:t>
            </a:r>
            <a:r>
              <a:rPr lang="en-US" sz="29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Existing Challenges</a:t>
            </a:r>
          </a:p>
        </p:txBody>
      </p:sp>
      <p:sp>
        <p:nvSpPr>
          <p:cNvPr id="23" name="Rectangle 22">
            <a:extLst>
              <a:ext uri="{FF2B5EF4-FFF2-40B4-BE49-F238E27FC236}">
                <a16:creationId xmlns:a16="http://schemas.microsoft.com/office/drawing/2014/main" id="{AEC65052-8526-8841-90F9-6C61937E9236}"/>
              </a:ext>
            </a:extLst>
          </p:cNvPr>
          <p:cNvSpPr/>
          <p:nvPr/>
        </p:nvSpPr>
        <p:spPr>
          <a:xfrm>
            <a:off x="7315199" y="4848258"/>
            <a:ext cx="6874633" cy="2466906"/>
          </a:xfrm>
          <a:prstGeom prst="rect">
            <a:avLst/>
          </a:prstGeom>
        </p:spPr>
        <p:txBody>
          <a:bodyPr wrap="square">
            <a:normAutofit/>
          </a:bodyPr>
          <a:lstStyle/>
          <a:p>
            <a:r>
              <a:rPr lang="en-US" sz="1800" dirty="0"/>
              <a:t>[Answer to Q20]</a:t>
            </a:r>
          </a:p>
        </p:txBody>
      </p:sp>
      <p:sp>
        <p:nvSpPr>
          <p:cNvPr id="24" name="Rectangle 23">
            <a:extLst>
              <a:ext uri="{FF2B5EF4-FFF2-40B4-BE49-F238E27FC236}">
                <a16:creationId xmlns:a16="http://schemas.microsoft.com/office/drawing/2014/main" id="{CFC57805-BC10-7341-A334-3CC6CBFBB663}"/>
              </a:ext>
            </a:extLst>
          </p:cNvPr>
          <p:cNvSpPr/>
          <p:nvPr/>
        </p:nvSpPr>
        <p:spPr>
          <a:xfrm>
            <a:off x="675446" y="4851626"/>
            <a:ext cx="6512753" cy="2463538"/>
          </a:xfrm>
          <a:prstGeom prst="rect">
            <a:avLst/>
          </a:prstGeom>
        </p:spPr>
        <p:txBody>
          <a:bodyPr wrap="square">
            <a:normAutofit/>
          </a:bodyPr>
          <a:lstStyle/>
          <a:p>
            <a:r>
              <a:rPr lang="en-US" sz="1800" dirty="0"/>
              <a:t>[Answer to Q19]</a:t>
            </a:r>
          </a:p>
        </p:txBody>
      </p:sp>
      <p:sp>
        <p:nvSpPr>
          <p:cNvPr id="9" name="TextBox 8">
            <a:extLst>
              <a:ext uri="{FF2B5EF4-FFF2-40B4-BE49-F238E27FC236}">
                <a16:creationId xmlns:a16="http://schemas.microsoft.com/office/drawing/2014/main" id="{CB04B84B-2080-844C-AEA3-9CB7A66208D5}"/>
              </a:ext>
            </a:extLst>
          </p:cNvPr>
          <p:cNvSpPr txBox="1"/>
          <p:nvPr/>
        </p:nvSpPr>
        <p:spPr>
          <a:xfrm rot="20294682">
            <a:off x="1297156" y="3181767"/>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sp>
        <p:nvSpPr>
          <p:cNvPr id="8" name="Rectangle 7">
            <a:extLst>
              <a:ext uri="{FF2B5EF4-FFF2-40B4-BE49-F238E27FC236}">
                <a16:creationId xmlns:a16="http://schemas.microsoft.com/office/drawing/2014/main" id="{52617B05-6B32-6C4B-B043-8B3739E0CC05}"/>
              </a:ext>
            </a:extLst>
          </p:cNvPr>
          <p:cNvSpPr/>
          <p:nvPr/>
        </p:nvSpPr>
        <p:spPr>
          <a:xfrm>
            <a:off x="7315199" y="1839375"/>
            <a:ext cx="6874633" cy="2466906"/>
          </a:xfrm>
          <a:prstGeom prst="rect">
            <a:avLst/>
          </a:prstGeom>
        </p:spPr>
        <p:txBody>
          <a:bodyPr wrap="square">
            <a:normAutofit/>
          </a:bodyPr>
          <a:lstStyle/>
          <a:p>
            <a:r>
              <a:rPr lang="en-US" sz="1800" dirty="0"/>
              <a:t>[Answer to Q18]</a:t>
            </a:r>
          </a:p>
        </p:txBody>
      </p:sp>
      <p:sp>
        <p:nvSpPr>
          <p:cNvPr id="10" name="Rectangle 9">
            <a:extLst>
              <a:ext uri="{FF2B5EF4-FFF2-40B4-BE49-F238E27FC236}">
                <a16:creationId xmlns:a16="http://schemas.microsoft.com/office/drawing/2014/main" id="{2A6EA8E5-3DB9-0349-9AA0-8CCD710DC2D4}"/>
              </a:ext>
            </a:extLst>
          </p:cNvPr>
          <p:cNvSpPr/>
          <p:nvPr/>
        </p:nvSpPr>
        <p:spPr>
          <a:xfrm>
            <a:off x="706111" y="1839375"/>
            <a:ext cx="6482089" cy="2466906"/>
          </a:xfrm>
          <a:prstGeom prst="rect">
            <a:avLst/>
          </a:prstGeom>
        </p:spPr>
        <p:txBody>
          <a:bodyPr wrap="square">
            <a:normAutofit/>
          </a:bodyPr>
          <a:lstStyle/>
          <a:p>
            <a:r>
              <a:rPr lang="en-US" sz="1800" dirty="0"/>
              <a:t>[Answer to Q17]</a:t>
            </a:r>
          </a:p>
        </p:txBody>
      </p:sp>
    </p:spTree>
    <p:extLst>
      <p:ext uri="{BB962C8B-B14F-4D97-AF65-F5344CB8AC3E}">
        <p14:creationId xmlns:p14="http://schemas.microsoft.com/office/powerpoint/2010/main" val="2212746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idx="4294967295"/>
          </p:nvPr>
        </p:nvSpPr>
        <p:spPr>
          <a:xfrm>
            <a:off x="675451" y="171409"/>
            <a:ext cx="13514388" cy="903288"/>
          </a:xfrm>
        </p:spPr>
        <p:txBody>
          <a:bodyPr/>
          <a:lstStyle/>
          <a:p>
            <a:r>
              <a:rPr lang="en-US" dirty="0"/>
              <a:t>MRA Activity Outputs</a:t>
            </a:r>
          </a:p>
        </p:txBody>
      </p:sp>
      <p:sp>
        <p:nvSpPr>
          <p:cNvPr id="17" name="TextBox 16">
            <a:extLst>
              <a:ext uri="{FF2B5EF4-FFF2-40B4-BE49-F238E27FC236}">
                <a16:creationId xmlns:a16="http://schemas.microsoft.com/office/drawing/2014/main" id="{501E64DB-EF49-FE47-8C82-DC873DB1ED02}"/>
              </a:ext>
            </a:extLst>
          </p:cNvPr>
          <p:cNvSpPr txBox="1"/>
          <p:nvPr/>
        </p:nvSpPr>
        <p:spPr>
          <a:xfrm>
            <a:off x="715726" y="1366387"/>
            <a:ext cx="6146479" cy="538609"/>
          </a:xfrm>
          <a:prstGeom prst="rect">
            <a:avLst/>
          </a:prstGeom>
          <a:noFill/>
        </p:spPr>
        <p:txBody>
          <a:bodyPr wrap="square" rtlCol="0">
            <a:spAutoFit/>
          </a:bodyPr>
          <a:lstStyle/>
          <a:p>
            <a:pPr algn="l"/>
            <a:r>
              <a:rPr lang="en-US" sz="2900" dirty="0">
                <a:latin typeface="Amazon Ember" panose="020B0603020204020204" pitchFamily="34" charset="0"/>
                <a:ea typeface="Amazon Ember" panose="020B0603020204020204" pitchFamily="34" charset="0"/>
                <a:cs typeface="Amazon Ember" panose="020B0603020204020204" pitchFamily="34" charset="0"/>
              </a:rPr>
              <a:t>Activity 3 – </a:t>
            </a:r>
            <a:r>
              <a:rPr lang="en-US" sz="29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Operating Model</a:t>
            </a:r>
          </a:p>
        </p:txBody>
      </p:sp>
      <p:sp>
        <p:nvSpPr>
          <p:cNvPr id="21" name="TextBox 20">
            <a:extLst>
              <a:ext uri="{FF2B5EF4-FFF2-40B4-BE49-F238E27FC236}">
                <a16:creationId xmlns:a16="http://schemas.microsoft.com/office/drawing/2014/main" id="{5C663353-AE2D-0A45-AC13-1686AD0A28EF}"/>
              </a:ext>
            </a:extLst>
          </p:cNvPr>
          <p:cNvSpPr txBox="1"/>
          <p:nvPr/>
        </p:nvSpPr>
        <p:spPr>
          <a:xfrm>
            <a:off x="675451" y="4319081"/>
            <a:ext cx="6146479" cy="538609"/>
          </a:xfrm>
          <a:prstGeom prst="rect">
            <a:avLst/>
          </a:prstGeom>
          <a:noFill/>
        </p:spPr>
        <p:txBody>
          <a:bodyPr wrap="square" rtlCol="0">
            <a:spAutoFit/>
          </a:bodyPr>
          <a:lstStyle/>
          <a:p>
            <a:pPr algn="l"/>
            <a:r>
              <a:rPr lang="en-US" sz="2900" dirty="0">
                <a:latin typeface="Amazon Ember" panose="020B0603020204020204" pitchFamily="34" charset="0"/>
                <a:ea typeface="Amazon Ember" panose="020B0603020204020204" pitchFamily="34" charset="0"/>
                <a:cs typeface="Amazon Ember" panose="020B0603020204020204" pitchFamily="34" charset="0"/>
              </a:rPr>
              <a:t>Activity 4 – </a:t>
            </a:r>
            <a:r>
              <a:rPr lang="en-US" sz="29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People Alignment</a:t>
            </a:r>
          </a:p>
        </p:txBody>
      </p:sp>
      <p:sp>
        <p:nvSpPr>
          <p:cNvPr id="25" name="Rectangle 24">
            <a:extLst>
              <a:ext uri="{FF2B5EF4-FFF2-40B4-BE49-F238E27FC236}">
                <a16:creationId xmlns:a16="http://schemas.microsoft.com/office/drawing/2014/main" id="{80FA4C24-0D3F-7C47-8F5F-86E3C6F812FB}"/>
              </a:ext>
            </a:extLst>
          </p:cNvPr>
          <p:cNvSpPr/>
          <p:nvPr/>
        </p:nvSpPr>
        <p:spPr>
          <a:xfrm>
            <a:off x="706110" y="2084085"/>
            <a:ext cx="13483730" cy="2234996"/>
          </a:xfrm>
          <a:prstGeom prst="rect">
            <a:avLst/>
          </a:prstGeom>
        </p:spPr>
        <p:txBody>
          <a:bodyPr wrap="square">
            <a:normAutofit/>
          </a:bodyPr>
          <a:lstStyle/>
          <a:p>
            <a:r>
              <a:rPr lang="en-US" sz="1800" dirty="0"/>
              <a:t>[Answer to Q21]</a:t>
            </a:r>
          </a:p>
        </p:txBody>
      </p:sp>
      <p:sp>
        <p:nvSpPr>
          <p:cNvPr id="26" name="Rectangle 25">
            <a:extLst>
              <a:ext uri="{FF2B5EF4-FFF2-40B4-BE49-F238E27FC236}">
                <a16:creationId xmlns:a16="http://schemas.microsoft.com/office/drawing/2014/main" id="{E48B11E6-BC3A-3946-92CE-0000D60A5001}"/>
              </a:ext>
            </a:extLst>
          </p:cNvPr>
          <p:cNvSpPr/>
          <p:nvPr/>
        </p:nvSpPr>
        <p:spPr>
          <a:xfrm>
            <a:off x="675450" y="4983936"/>
            <a:ext cx="13514387" cy="2579529"/>
          </a:xfrm>
          <a:prstGeom prst="rect">
            <a:avLst/>
          </a:prstGeom>
        </p:spPr>
        <p:txBody>
          <a:bodyPr wrap="square">
            <a:normAutofit/>
          </a:bodyPr>
          <a:lstStyle/>
          <a:p>
            <a:r>
              <a:rPr lang="en-US" sz="1800" dirty="0"/>
              <a:t>[Answer to Q22]</a:t>
            </a:r>
          </a:p>
        </p:txBody>
      </p:sp>
      <p:sp>
        <p:nvSpPr>
          <p:cNvPr id="9" name="TextBox 8">
            <a:extLst>
              <a:ext uri="{FF2B5EF4-FFF2-40B4-BE49-F238E27FC236}">
                <a16:creationId xmlns:a16="http://schemas.microsoft.com/office/drawing/2014/main" id="{F6A0489C-2BD8-5145-B3BC-DC056451A4CD}"/>
              </a:ext>
            </a:extLst>
          </p:cNvPr>
          <p:cNvSpPr txBox="1"/>
          <p:nvPr/>
        </p:nvSpPr>
        <p:spPr>
          <a:xfrm rot="20294682">
            <a:off x="1281825" y="3319383"/>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spTree>
    <p:extLst>
      <p:ext uri="{BB962C8B-B14F-4D97-AF65-F5344CB8AC3E}">
        <p14:creationId xmlns:p14="http://schemas.microsoft.com/office/powerpoint/2010/main" val="2162264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idx="4294967295"/>
          </p:nvPr>
        </p:nvSpPr>
        <p:spPr>
          <a:xfrm>
            <a:off x="675451" y="171409"/>
            <a:ext cx="13514388" cy="903288"/>
          </a:xfrm>
        </p:spPr>
        <p:txBody>
          <a:bodyPr/>
          <a:lstStyle/>
          <a:p>
            <a:r>
              <a:rPr lang="en-US" dirty="0"/>
              <a:t>MRA Readiness Scores I</a:t>
            </a:r>
          </a:p>
        </p:txBody>
      </p:sp>
      <p:sp>
        <p:nvSpPr>
          <p:cNvPr id="8" name="Freeform: Shape 7">
            <a:extLst>
              <a:ext uri="{FF2B5EF4-FFF2-40B4-BE49-F238E27FC236}">
                <a16:creationId xmlns:a16="http://schemas.microsoft.com/office/drawing/2014/main" id="{E2347480-505B-409B-A00D-38FCD91DC9BB}"/>
              </a:ext>
            </a:extLst>
          </p:cNvPr>
          <p:cNvSpPr/>
          <p:nvPr/>
        </p:nvSpPr>
        <p:spPr>
          <a:xfrm>
            <a:off x="7777811" y="1478777"/>
            <a:ext cx="5040000" cy="450000"/>
          </a:xfrm>
          <a:custGeom>
            <a:avLst/>
            <a:gdLst>
              <a:gd name="connsiteX0" fmla="*/ 0 w 5040000"/>
              <a:gd name="connsiteY0" fmla="*/ 0 h 450000"/>
              <a:gd name="connsiteX1" fmla="*/ 5040000 w 5040000"/>
              <a:gd name="connsiteY1" fmla="*/ 0 h 450000"/>
              <a:gd name="connsiteX2" fmla="*/ 5040000 w 5040000"/>
              <a:gd name="connsiteY2" fmla="*/ 450000 h 450000"/>
              <a:gd name="connsiteX3" fmla="*/ 0 w 5040000"/>
              <a:gd name="connsiteY3" fmla="*/ 450000 h 450000"/>
              <a:gd name="connsiteX4" fmla="*/ 0 w 5040000"/>
              <a:gd name="connsiteY4" fmla="*/ 333000 h 450000"/>
              <a:gd name="connsiteX5" fmla="*/ 108000 w 5040000"/>
              <a:gd name="connsiteY5" fmla="*/ 225000 h 450000"/>
              <a:gd name="connsiteX6" fmla="*/ 0 w 5040000"/>
              <a:gd name="connsiteY6" fmla="*/ 117000 h 4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0000" h="450000">
                <a:moveTo>
                  <a:pt x="0" y="0"/>
                </a:moveTo>
                <a:lnTo>
                  <a:pt x="5040000" y="0"/>
                </a:lnTo>
                <a:lnTo>
                  <a:pt x="5040000" y="450000"/>
                </a:lnTo>
                <a:lnTo>
                  <a:pt x="0" y="450000"/>
                </a:lnTo>
                <a:lnTo>
                  <a:pt x="0" y="333000"/>
                </a:lnTo>
                <a:lnTo>
                  <a:pt x="108000" y="225000"/>
                </a:lnTo>
                <a:lnTo>
                  <a:pt x="0" y="117000"/>
                </a:lnTo>
                <a:close/>
              </a:path>
            </a:pathLst>
          </a:cu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2000" dirty="0"/>
              <a:t>Key observations</a:t>
            </a:r>
          </a:p>
        </p:txBody>
      </p:sp>
      <p:sp>
        <p:nvSpPr>
          <p:cNvPr id="9" name="Rectangle 8">
            <a:extLst>
              <a:ext uri="{FF2B5EF4-FFF2-40B4-BE49-F238E27FC236}">
                <a16:creationId xmlns:a16="http://schemas.microsoft.com/office/drawing/2014/main" id="{D4A4AB13-2E22-47E5-AA31-C61577F6EF80}"/>
              </a:ext>
            </a:extLst>
          </p:cNvPr>
          <p:cNvSpPr/>
          <p:nvPr/>
        </p:nvSpPr>
        <p:spPr>
          <a:xfrm>
            <a:off x="7777811" y="2139535"/>
            <a:ext cx="5040000" cy="450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[Strength]</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[Strength]</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p:txBody>
      </p:sp>
      <p:sp>
        <p:nvSpPr>
          <p:cNvPr id="87" name="Rectangle 86">
            <a:extLst>
              <a:ext uri="{FF2B5EF4-FFF2-40B4-BE49-F238E27FC236}">
                <a16:creationId xmlns:a16="http://schemas.microsoft.com/office/drawing/2014/main" id="{3714999D-1345-0E45-BF54-2C2703B528EF}"/>
              </a:ext>
            </a:extLst>
          </p:cNvPr>
          <p:cNvSpPr/>
          <p:nvPr/>
        </p:nvSpPr>
        <p:spPr>
          <a:xfrm>
            <a:off x="7777811" y="6335324"/>
            <a:ext cx="5768439" cy="830997"/>
          </a:xfrm>
          <a:prstGeom prst="rect">
            <a:avLst/>
          </a:prstGeom>
        </p:spPr>
        <p:txBody>
          <a:bodyPr wrap="square">
            <a:spAutoFit/>
          </a:bodyPr>
          <a:lstStyle/>
          <a:p>
            <a:r>
              <a:rPr lang="en-US" sz="1600" dirty="0">
                <a:solidFill>
                  <a:srgbClr val="FF9900"/>
                </a:solidFill>
                <a:latin typeface="Amazon Ember" panose="02000000000000000000" pitchFamily="2" charset="0"/>
                <a:ea typeface="Amazon Ember" panose="02000000000000000000" pitchFamily="2" charset="0"/>
              </a:rPr>
              <a:t>Additional observations and next steps are available in the appendix of this presentation and are used as part of the Mobilize proposal</a:t>
            </a:r>
          </a:p>
        </p:txBody>
      </p:sp>
      <p:sp>
        <p:nvSpPr>
          <p:cNvPr id="16" name="TextBox 15">
            <a:extLst>
              <a:ext uri="{FF2B5EF4-FFF2-40B4-BE49-F238E27FC236}">
                <a16:creationId xmlns:a16="http://schemas.microsoft.com/office/drawing/2014/main" id="{F668332B-A5C4-7E4C-9259-A6EA9B04F1A2}"/>
              </a:ext>
            </a:extLst>
          </p:cNvPr>
          <p:cNvSpPr txBox="1"/>
          <p:nvPr/>
        </p:nvSpPr>
        <p:spPr>
          <a:xfrm rot="20294682">
            <a:off x="3615612" y="6147093"/>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graphicFrame>
        <p:nvGraphicFramePr>
          <p:cNvPr id="88" name="Chart 87"/>
          <p:cNvGraphicFramePr>
            <a:graphicFrameLocks noGrp="1"/>
          </p:cNvGraphicFramePr>
          <p:nvPr/>
        </p:nvGraphicFramePr>
        <p:xfrm>
          <a:off x="560832" y="664330"/>
          <a:ext cx="5943600" cy="1645920"/>
        </p:xfrm>
        <a:graphic>
          <a:graphicData uri="http://schemas.openxmlformats.org/drawingml/2006/chart">
            <c:chart xmlns:c="http://schemas.openxmlformats.org/drawingml/2006/chart" r:id="rId5"/>
          </a:graphicData>
        </a:graphic>
      </p:graphicFrame>
      <p:graphicFrame>
        <p:nvGraphicFramePr>
          <p:cNvPr id="89" name="Chart 88"/>
          <p:cNvGraphicFramePr>
            <a:graphicFrameLocks noGrp="1"/>
          </p:cNvGraphicFramePr>
          <p:nvPr/>
        </p:nvGraphicFramePr>
        <p:xfrm>
          <a:off x="560830" y="2185416"/>
          <a:ext cx="5943600" cy="1399032"/>
        </p:xfrm>
        <a:graphic>
          <a:graphicData uri="http://schemas.openxmlformats.org/drawingml/2006/chart">
            <c:chart xmlns:c="http://schemas.openxmlformats.org/drawingml/2006/chart" r:id="rId6"/>
          </a:graphicData>
        </a:graphic>
      </p:graphicFrame>
      <p:graphicFrame>
        <p:nvGraphicFramePr>
          <p:cNvPr id="90" name="Chart 89"/>
          <p:cNvGraphicFramePr>
            <a:graphicFrameLocks noGrp="1"/>
          </p:cNvGraphicFramePr>
          <p:nvPr/>
        </p:nvGraphicFramePr>
        <p:xfrm>
          <a:off x="560832" y="3401568"/>
          <a:ext cx="5943600" cy="1399032"/>
        </p:xfrm>
        <a:graphic>
          <a:graphicData uri="http://schemas.openxmlformats.org/drawingml/2006/chart">
            <c:chart xmlns:c="http://schemas.openxmlformats.org/drawingml/2006/chart" r:id="rId7"/>
          </a:graphicData>
        </a:graphic>
      </p:graphicFrame>
      <p:graphicFrame>
        <p:nvGraphicFramePr>
          <p:cNvPr id="91" name="Chart 90"/>
          <p:cNvGraphicFramePr>
            <a:graphicFrameLocks noGrp="1"/>
          </p:cNvGraphicFramePr>
          <p:nvPr/>
        </p:nvGraphicFramePr>
        <p:xfrm>
          <a:off x="560830" y="4736592"/>
          <a:ext cx="5943600" cy="1024128"/>
        </p:xfrm>
        <a:graphic>
          <a:graphicData uri="http://schemas.openxmlformats.org/drawingml/2006/chart">
            <c:chart xmlns:c="http://schemas.openxmlformats.org/drawingml/2006/chart" r:id="rId8"/>
          </a:graphicData>
        </a:graphic>
      </p:graphicFrame>
      <p:graphicFrame>
        <p:nvGraphicFramePr>
          <p:cNvPr id="92" name="Chart 91"/>
          <p:cNvGraphicFramePr>
            <a:graphicFrameLocks noGrp="1"/>
          </p:cNvGraphicFramePr>
          <p:nvPr/>
        </p:nvGraphicFramePr>
        <p:xfrm>
          <a:off x="560830" y="5614416"/>
          <a:ext cx="5943600" cy="1225296"/>
        </p:xfrm>
        <a:graphic>
          <a:graphicData uri="http://schemas.openxmlformats.org/drawingml/2006/chart">
            <c:chart xmlns:c="http://schemas.openxmlformats.org/drawingml/2006/chart" r:id="rId9"/>
          </a:graphicData>
        </a:graphic>
      </p:graphicFrame>
      <p:graphicFrame>
        <p:nvGraphicFramePr>
          <p:cNvPr id="93" name="Chart 92"/>
          <p:cNvGraphicFramePr>
            <a:graphicFrameLocks noGrp="1"/>
          </p:cNvGraphicFramePr>
          <p:nvPr/>
        </p:nvGraphicFramePr>
        <p:xfrm>
          <a:off x="557784" y="6784848"/>
          <a:ext cx="5943600" cy="1024128"/>
        </p:xfrm>
        <a:graphic>
          <a:graphicData uri="http://schemas.openxmlformats.org/drawingml/2006/chart">
            <c:chart xmlns:c="http://schemas.openxmlformats.org/drawingml/2006/chart" r:id="rId10"/>
          </a:graphicData>
        </a:graphic>
      </p:graphicFrame>
    </p:spTree>
    <p:extLst>
      <p:ext uri="{BB962C8B-B14F-4D97-AF65-F5344CB8AC3E}">
        <p14:creationId xmlns:p14="http://schemas.microsoft.com/office/powerpoint/2010/main" val="111998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1320-5964-7F4A-9D02-DA43E6E1ED28}"/>
              </a:ext>
            </a:extLst>
          </p:cNvPr>
          <p:cNvSpPr>
            <a:spLocks noGrp="1"/>
          </p:cNvSpPr>
          <p:nvPr>
            <p:ph type="title" idx="4294967295"/>
          </p:nvPr>
        </p:nvSpPr>
        <p:spPr>
          <a:xfrm>
            <a:off x="474663" y="183725"/>
            <a:ext cx="13514388" cy="903288"/>
          </a:xfrm>
        </p:spPr>
        <p:txBody>
          <a:bodyPr/>
          <a:lstStyle/>
          <a:p>
            <a:r>
              <a:rPr lang="en-US" dirty="0"/>
              <a:t>MRA Readiness Scores II</a:t>
            </a:r>
          </a:p>
        </p:txBody>
      </p:sp>
      <p:sp>
        <p:nvSpPr>
          <p:cNvPr id="8" name="Freeform: Shape 7">
            <a:extLst>
              <a:ext uri="{FF2B5EF4-FFF2-40B4-BE49-F238E27FC236}">
                <a16:creationId xmlns:a16="http://schemas.microsoft.com/office/drawing/2014/main" id="{423842BF-43BF-4B5B-82F8-438C0792AAEA}"/>
              </a:ext>
            </a:extLst>
          </p:cNvPr>
          <p:cNvSpPr/>
          <p:nvPr/>
        </p:nvSpPr>
        <p:spPr>
          <a:xfrm>
            <a:off x="8035718" y="1593914"/>
            <a:ext cx="5040000" cy="450000"/>
          </a:xfrm>
          <a:custGeom>
            <a:avLst/>
            <a:gdLst>
              <a:gd name="connsiteX0" fmla="*/ 0 w 5040000"/>
              <a:gd name="connsiteY0" fmla="*/ 0 h 450000"/>
              <a:gd name="connsiteX1" fmla="*/ 5040000 w 5040000"/>
              <a:gd name="connsiteY1" fmla="*/ 0 h 450000"/>
              <a:gd name="connsiteX2" fmla="*/ 5040000 w 5040000"/>
              <a:gd name="connsiteY2" fmla="*/ 450000 h 450000"/>
              <a:gd name="connsiteX3" fmla="*/ 0 w 5040000"/>
              <a:gd name="connsiteY3" fmla="*/ 450000 h 450000"/>
              <a:gd name="connsiteX4" fmla="*/ 0 w 5040000"/>
              <a:gd name="connsiteY4" fmla="*/ 333000 h 450000"/>
              <a:gd name="connsiteX5" fmla="*/ 108000 w 5040000"/>
              <a:gd name="connsiteY5" fmla="*/ 225000 h 450000"/>
              <a:gd name="connsiteX6" fmla="*/ 0 w 5040000"/>
              <a:gd name="connsiteY6" fmla="*/ 117000 h 4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0000" h="450000">
                <a:moveTo>
                  <a:pt x="0" y="0"/>
                </a:moveTo>
                <a:lnTo>
                  <a:pt x="5040000" y="0"/>
                </a:lnTo>
                <a:lnTo>
                  <a:pt x="5040000" y="450000"/>
                </a:lnTo>
                <a:lnTo>
                  <a:pt x="0" y="450000"/>
                </a:lnTo>
                <a:lnTo>
                  <a:pt x="0" y="333000"/>
                </a:lnTo>
                <a:lnTo>
                  <a:pt x="108000" y="225000"/>
                </a:lnTo>
                <a:lnTo>
                  <a:pt x="0" y="117000"/>
                </a:lnTo>
                <a:close/>
              </a:path>
            </a:pathLst>
          </a:cu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2000" dirty="0"/>
              <a:t>Key observations</a:t>
            </a:r>
          </a:p>
        </p:txBody>
      </p:sp>
      <p:sp>
        <p:nvSpPr>
          <p:cNvPr id="9" name="Rectangle 8">
            <a:extLst>
              <a:ext uri="{FF2B5EF4-FFF2-40B4-BE49-F238E27FC236}">
                <a16:creationId xmlns:a16="http://schemas.microsoft.com/office/drawing/2014/main" id="{16C9C7E2-82A8-4A51-8807-685E18B70505}"/>
              </a:ext>
            </a:extLst>
          </p:cNvPr>
          <p:cNvSpPr/>
          <p:nvPr/>
        </p:nvSpPr>
        <p:spPr>
          <a:xfrm>
            <a:off x="8035717" y="2135687"/>
            <a:ext cx="5040000" cy="450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[Strength]</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[Strength]</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a:p>
            <a:pPr marL="285750" indent="-285750">
              <a:spcAft>
                <a:spcPts val="1200"/>
              </a:spcAft>
              <a:buBlip>
                <a:blip r:embed="rId3">
                  <a:extLst>
                    <a:ext uri="{96DAC541-7B7A-43D3-8B79-37D633B846F1}">
                      <asvg:svgBlip xmlns:asvg="http://schemas.microsoft.com/office/drawing/2016/SVG/main" r:embed="rId4"/>
                    </a:ext>
                  </a:extLst>
                </a:blip>
              </a:buBlip>
            </a:pPr>
            <a:r>
              <a:rPr lang="en-US" sz="2000" dirty="0">
                <a:solidFill>
                  <a:schemeClr val="tx1"/>
                </a:solidFill>
              </a:rPr>
              <a:t>[Gap]</a:t>
            </a:r>
          </a:p>
        </p:txBody>
      </p:sp>
      <p:sp>
        <p:nvSpPr>
          <p:cNvPr id="106" name="Rectangle 105">
            <a:extLst>
              <a:ext uri="{FF2B5EF4-FFF2-40B4-BE49-F238E27FC236}">
                <a16:creationId xmlns:a16="http://schemas.microsoft.com/office/drawing/2014/main" id="{EB86A53B-8382-CB4C-8557-24C0026340CF}"/>
              </a:ext>
            </a:extLst>
          </p:cNvPr>
          <p:cNvSpPr/>
          <p:nvPr/>
        </p:nvSpPr>
        <p:spPr>
          <a:xfrm>
            <a:off x="8035717" y="6376098"/>
            <a:ext cx="5616000" cy="830997"/>
          </a:xfrm>
          <a:prstGeom prst="rect">
            <a:avLst/>
          </a:prstGeom>
        </p:spPr>
        <p:txBody>
          <a:bodyPr wrap="square">
            <a:spAutoFit/>
          </a:bodyPr>
          <a:lstStyle/>
          <a:p>
            <a:r>
              <a:rPr lang="en-US" sz="1600" dirty="0">
                <a:solidFill>
                  <a:srgbClr val="FF9900"/>
                </a:solidFill>
                <a:latin typeface="Amazon Ember" panose="02000000000000000000" pitchFamily="2" charset="0"/>
                <a:ea typeface="Amazon Ember" panose="02000000000000000000" pitchFamily="2" charset="0"/>
              </a:rPr>
              <a:t>Additional observations and next steps are available in the appendix of this presentation and are used as part of the Mobilize proposal</a:t>
            </a:r>
          </a:p>
        </p:txBody>
      </p:sp>
      <p:sp>
        <p:nvSpPr>
          <p:cNvPr id="10" name="TextBox 9">
            <a:extLst>
              <a:ext uri="{FF2B5EF4-FFF2-40B4-BE49-F238E27FC236}">
                <a16:creationId xmlns:a16="http://schemas.microsoft.com/office/drawing/2014/main" id="{6219251F-0D6A-5B40-A0B4-EFF402AFE936}"/>
              </a:ext>
            </a:extLst>
          </p:cNvPr>
          <p:cNvSpPr txBox="1"/>
          <p:nvPr/>
        </p:nvSpPr>
        <p:spPr>
          <a:xfrm rot="20294682">
            <a:off x="3534795" y="6428949"/>
            <a:ext cx="12301635"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Modify tool generated observations (if required) based on live conversation with the customer</a:t>
            </a:r>
          </a:p>
        </p:txBody>
      </p:sp>
      <p:graphicFrame>
        <p:nvGraphicFramePr>
          <p:cNvPr id="107" name="Chart 106"/>
          <p:cNvGraphicFramePr>
            <a:graphicFrameLocks noGrp="1"/>
          </p:cNvGraphicFramePr>
          <p:nvPr/>
        </p:nvGraphicFramePr>
        <p:xfrm>
          <a:off x="474663" y="901840"/>
          <a:ext cx="5943600" cy="3657600"/>
        </p:xfrm>
        <a:graphic>
          <a:graphicData uri="http://schemas.openxmlformats.org/drawingml/2006/chart">
            <c:chart xmlns:c="http://schemas.openxmlformats.org/drawingml/2006/chart" r:id="rId5"/>
          </a:graphicData>
        </a:graphic>
      </p:graphicFrame>
      <p:graphicFrame>
        <p:nvGraphicFramePr>
          <p:cNvPr id="108" name="Chart 107"/>
          <p:cNvGraphicFramePr>
            <a:graphicFrameLocks noGrp="1"/>
          </p:cNvGraphicFramePr>
          <p:nvPr/>
        </p:nvGraphicFramePr>
        <p:xfrm>
          <a:off x="474663" y="4559440"/>
          <a:ext cx="5943600" cy="2560320"/>
        </p:xfrm>
        <a:graphic>
          <a:graphicData uri="http://schemas.openxmlformats.org/drawingml/2006/chart">
            <c:chart xmlns:c="http://schemas.openxmlformats.org/drawingml/2006/chart" r:id="rId6"/>
          </a:graphicData>
        </a:graphic>
      </p:graphicFrame>
    </p:spTree>
    <p:extLst>
      <p:ext uri="{BB962C8B-B14F-4D97-AF65-F5344CB8AC3E}">
        <p14:creationId xmlns:p14="http://schemas.microsoft.com/office/powerpoint/2010/main" val="2212397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67FABD-E7B8-40DC-86A9-9331097D05DC}"/>
              </a:ext>
            </a:extLst>
          </p:cNvPr>
          <p:cNvSpPr/>
          <p:nvPr/>
        </p:nvSpPr>
        <p:spPr>
          <a:xfrm>
            <a:off x="419735" y="1332230"/>
            <a:ext cx="2592000" cy="3456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algn="ctr"/>
            <a:r>
              <a:rPr lang="en-US" sz="1800" dirty="0">
                <a:solidFill>
                  <a:schemeClr val="bg2"/>
                </a:solidFill>
                <a:effectLst/>
              </a:rPr>
              <a:t>Readiness Activity</a:t>
            </a:r>
          </a:p>
        </p:txBody>
      </p:sp>
      <p:sp>
        <p:nvSpPr>
          <p:cNvPr id="8" name="Rectangle 7">
            <a:extLst>
              <a:ext uri="{FF2B5EF4-FFF2-40B4-BE49-F238E27FC236}">
                <a16:creationId xmlns:a16="http://schemas.microsoft.com/office/drawing/2014/main" id="{118484F3-F5E1-4230-B4ED-6B36B9F3E9CC}"/>
              </a:ext>
            </a:extLst>
          </p:cNvPr>
          <p:cNvSpPr/>
          <p:nvPr/>
        </p:nvSpPr>
        <p:spPr>
          <a:xfrm>
            <a:off x="3156149" y="1332230"/>
            <a:ext cx="1296000" cy="3456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algn="ctr"/>
            <a:r>
              <a:rPr lang="en-US" sz="1800" dirty="0">
                <a:solidFill>
                  <a:schemeClr val="bg2"/>
                </a:solidFill>
                <a:effectLst/>
              </a:rPr>
              <a:t>Phase</a:t>
            </a:r>
          </a:p>
        </p:txBody>
      </p:sp>
      <p:sp>
        <p:nvSpPr>
          <p:cNvPr id="11" name="Rectangle 10">
            <a:extLst>
              <a:ext uri="{FF2B5EF4-FFF2-40B4-BE49-F238E27FC236}">
                <a16:creationId xmlns:a16="http://schemas.microsoft.com/office/drawing/2014/main" id="{427024C2-52E6-4C0C-8F2A-1F1748555CE5}"/>
              </a:ext>
            </a:extLst>
          </p:cNvPr>
          <p:cNvSpPr/>
          <p:nvPr/>
        </p:nvSpPr>
        <p:spPr>
          <a:xfrm>
            <a:off x="4596563" y="1332230"/>
            <a:ext cx="4320000" cy="3456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algn="ctr"/>
            <a:r>
              <a:rPr lang="en-US" sz="1800" dirty="0">
                <a:solidFill>
                  <a:schemeClr val="bg2"/>
                </a:solidFill>
                <a:effectLst/>
              </a:rPr>
              <a:t>Observations</a:t>
            </a:r>
          </a:p>
        </p:txBody>
      </p:sp>
      <p:sp>
        <p:nvSpPr>
          <p:cNvPr id="12" name="Rectangle 11">
            <a:extLst>
              <a:ext uri="{FF2B5EF4-FFF2-40B4-BE49-F238E27FC236}">
                <a16:creationId xmlns:a16="http://schemas.microsoft.com/office/drawing/2014/main" id="{E8C193E9-0C98-42D2-88F1-4893A871F65A}"/>
              </a:ext>
            </a:extLst>
          </p:cNvPr>
          <p:cNvSpPr/>
          <p:nvPr/>
        </p:nvSpPr>
        <p:spPr>
          <a:xfrm>
            <a:off x="9060978" y="1332230"/>
            <a:ext cx="5184000" cy="3456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algn="ctr"/>
            <a:r>
              <a:rPr lang="en-US" sz="1800" dirty="0">
                <a:solidFill>
                  <a:schemeClr val="bg2"/>
                </a:solidFill>
                <a:effectLst/>
              </a:rPr>
              <a:t>Actions &amp; Next Steps</a:t>
            </a:r>
          </a:p>
        </p:txBody>
      </p:sp>
      <p:sp>
        <p:nvSpPr>
          <p:cNvPr id="4" name="Rectangle 3" descr="A0">
            <a:extLst>
              <a:ext uri="{FF2B5EF4-FFF2-40B4-BE49-F238E27FC236}">
                <a16:creationId xmlns:a16="http://schemas.microsoft.com/office/drawing/2014/main" id="{2AC88FCC-9AA6-43DA-BD86-D1C2475141F7}"/>
              </a:ext>
            </a:extLst>
          </p:cNvPr>
          <p:cNvSpPr/>
          <p:nvPr/>
        </p:nvSpPr>
        <p:spPr>
          <a:xfrm>
            <a:off x="419735" y="1673937"/>
            <a:ext cx="2592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High Level Business Case</a:t>
            </a:r>
          </a:p>
        </p:txBody>
      </p:sp>
      <p:sp>
        <p:nvSpPr>
          <p:cNvPr id="9" name="Rectangle 8">
            <a:extLst>
              <a:ext uri="{FF2B5EF4-FFF2-40B4-BE49-F238E27FC236}">
                <a16:creationId xmlns:a16="http://schemas.microsoft.com/office/drawing/2014/main" id="{45A2F6F3-606A-46E7-A233-99A74A514BF7}"/>
              </a:ext>
            </a:extLst>
          </p:cNvPr>
          <p:cNvSpPr/>
          <p:nvPr/>
        </p:nvSpPr>
        <p:spPr>
          <a:xfrm>
            <a:off x="3156149" y="1673937"/>
            <a:ext cx="1296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Pre-Mobilize</a:t>
            </a:r>
          </a:p>
        </p:txBody>
      </p:sp>
      <p:sp>
        <p:nvSpPr>
          <p:cNvPr id="10" name="Rectangle 9">
            <a:extLst>
              <a:ext uri="{FF2B5EF4-FFF2-40B4-BE49-F238E27FC236}">
                <a16:creationId xmlns:a16="http://schemas.microsoft.com/office/drawing/2014/main" id="{AECFE042-6187-48B9-9B32-F6C1DB90A96D}"/>
              </a:ext>
            </a:extLst>
          </p:cNvPr>
          <p:cNvSpPr/>
          <p:nvPr/>
        </p:nvSpPr>
        <p:spPr>
          <a:xfrm>
            <a:off x="4596563" y="1673937"/>
            <a:ext cx="4320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rmAutofit/>
          </a:bodyPr>
          <a:lstStyle/>
          <a:p>
            <a:r>
              <a:rPr lang="en-US" sz="1440" dirty="0">
                <a:solidFill>
                  <a:schemeClr val="tx1"/>
                </a:solidFill>
              </a:rPr>
              <a:t/>
            </a:r>
          </a:p>
        </p:txBody>
      </p:sp>
      <p:sp>
        <p:nvSpPr>
          <p:cNvPr id="19" name="Rectangle 18">
            <a:extLst>
              <a:ext uri="{FF2B5EF4-FFF2-40B4-BE49-F238E27FC236}">
                <a16:creationId xmlns:a16="http://schemas.microsoft.com/office/drawing/2014/main" id="{10A42390-462E-402B-B1B5-3B806257008B}"/>
              </a:ext>
            </a:extLst>
          </p:cNvPr>
          <p:cNvSpPr/>
          <p:nvPr/>
        </p:nvSpPr>
        <p:spPr>
          <a:xfrm>
            <a:off x="419735" y="2620444"/>
            <a:ext cx="2592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20" name="Rectangle 19">
            <a:extLst>
              <a:ext uri="{FF2B5EF4-FFF2-40B4-BE49-F238E27FC236}">
                <a16:creationId xmlns:a16="http://schemas.microsoft.com/office/drawing/2014/main" id="{7DD891DD-57F5-4DEB-BC5B-F9C08D36564E}"/>
              </a:ext>
            </a:extLst>
          </p:cNvPr>
          <p:cNvSpPr/>
          <p:nvPr/>
        </p:nvSpPr>
        <p:spPr>
          <a:xfrm>
            <a:off x="3156149" y="2620444"/>
            <a:ext cx="1296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21" name="Rectangle 20">
            <a:extLst>
              <a:ext uri="{FF2B5EF4-FFF2-40B4-BE49-F238E27FC236}">
                <a16:creationId xmlns:a16="http://schemas.microsoft.com/office/drawing/2014/main" id="{6EDA62C6-E1BE-4364-BB29-59D35BFAF96A}"/>
              </a:ext>
            </a:extLst>
          </p:cNvPr>
          <p:cNvSpPr/>
          <p:nvPr/>
        </p:nvSpPr>
        <p:spPr>
          <a:xfrm>
            <a:off x="4596563" y="2620444"/>
            <a:ext cx="4320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22" name="Rectangle 21">
            <a:extLst>
              <a:ext uri="{FF2B5EF4-FFF2-40B4-BE49-F238E27FC236}">
                <a16:creationId xmlns:a16="http://schemas.microsoft.com/office/drawing/2014/main" id="{919B5553-9B42-48EE-813C-DA0ED3D2A0B8}"/>
              </a:ext>
            </a:extLst>
          </p:cNvPr>
          <p:cNvSpPr/>
          <p:nvPr/>
        </p:nvSpPr>
        <p:spPr>
          <a:xfrm>
            <a:off x="9060978" y="2620444"/>
            <a:ext cx="5184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26" name="Rectangle 25" descr="A1">
            <a:extLst>
              <a:ext uri="{FF2B5EF4-FFF2-40B4-BE49-F238E27FC236}">
                <a16:creationId xmlns:a16="http://schemas.microsoft.com/office/drawing/2014/main" id="{DE1B4D14-17B5-4D78-A48F-52AAF066C053}"/>
              </a:ext>
            </a:extLst>
          </p:cNvPr>
          <p:cNvSpPr/>
          <p:nvPr/>
        </p:nvSpPr>
        <p:spPr>
          <a:xfrm>
            <a:off x="419735" y="2625192"/>
            <a:ext cx="2592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Key Stakeholder Sign-off</a:t>
            </a:r>
          </a:p>
        </p:txBody>
      </p:sp>
      <p:sp>
        <p:nvSpPr>
          <p:cNvPr id="27" name="Rectangle 26">
            <a:extLst>
              <a:ext uri="{FF2B5EF4-FFF2-40B4-BE49-F238E27FC236}">
                <a16:creationId xmlns:a16="http://schemas.microsoft.com/office/drawing/2014/main" id="{4E26236C-28C8-4D19-8CC6-B7ABED298E89}"/>
              </a:ext>
            </a:extLst>
          </p:cNvPr>
          <p:cNvSpPr/>
          <p:nvPr/>
        </p:nvSpPr>
        <p:spPr>
          <a:xfrm>
            <a:off x="3156149" y="2625192"/>
            <a:ext cx="1296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Pre-Mobilize</a:t>
            </a:r>
          </a:p>
        </p:txBody>
      </p:sp>
      <p:sp>
        <p:nvSpPr>
          <p:cNvPr id="28" name="Rectangle 27">
            <a:extLst>
              <a:ext uri="{FF2B5EF4-FFF2-40B4-BE49-F238E27FC236}">
                <a16:creationId xmlns:a16="http://schemas.microsoft.com/office/drawing/2014/main" id="{13BBDC99-A030-4F9B-B3E0-6F8285F9523D}"/>
              </a:ext>
            </a:extLst>
          </p:cNvPr>
          <p:cNvSpPr/>
          <p:nvPr/>
        </p:nvSpPr>
        <p:spPr>
          <a:xfrm>
            <a:off x="4596563" y="2625192"/>
            <a:ext cx="4320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rmAutofit/>
          </a:bodyPr>
          <a:lstStyle/>
          <a:p>
            <a:r>
              <a:rPr lang="en-US" sz="1440" dirty="0">
                <a:solidFill>
                  <a:schemeClr val="tx1"/>
                </a:solidFill>
              </a:rPr>
              <a:t/>
            </a:r>
          </a:p>
        </p:txBody>
      </p:sp>
      <p:sp>
        <p:nvSpPr>
          <p:cNvPr id="31" name="Rectangle 30">
            <a:extLst>
              <a:ext uri="{FF2B5EF4-FFF2-40B4-BE49-F238E27FC236}">
                <a16:creationId xmlns:a16="http://schemas.microsoft.com/office/drawing/2014/main" id="{4950ABEA-4DF4-4A8C-ABC8-14BFA67DEA9A}"/>
              </a:ext>
            </a:extLst>
          </p:cNvPr>
          <p:cNvSpPr/>
          <p:nvPr/>
        </p:nvSpPr>
        <p:spPr>
          <a:xfrm>
            <a:off x="419735" y="3571699"/>
            <a:ext cx="2592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32" name="Rectangle 31">
            <a:extLst>
              <a:ext uri="{FF2B5EF4-FFF2-40B4-BE49-F238E27FC236}">
                <a16:creationId xmlns:a16="http://schemas.microsoft.com/office/drawing/2014/main" id="{13AA48DD-5E41-427D-BD7C-349B205A1487}"/>
              </a:ext>
            </a:extLst>
          </p:cNvPr>
          <p:cNvSpPr/>
          <p:nvPr/>
        </p:nvSpPr>
        <p:spPr>
          <a:xfrm>
            <a:off x="3156149" y="3571699"/>
            <a:ext cx="1296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33" name="Rectangle 32">
            <a:extLst>
              <a:ext uri="{FF2B5EF4-FFF2-40B4-BE49-F238E27FC236}">
                <a16:creationId xmlns:a16="http://schemas.microsoft.com/office/drawing/2014/main" id="{50BDA519-869F-4557-8219-3714BC50A177}"/>
              </a:ext>
            </a:extLst>
          </p:cNvPr>
          <p:cNvSpPr/>
          <p:nvPr/>
        </p:nvSpPr>
        <p:spPr>
          <a:xfrm>
            <a:off x="4596563" y="3571699"/>
            <a:ext cx="4320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34" name="Rectangle 33">
            <a:extLst>
              <a:ext uri="{FF2B5EF4-FFF2-40B4-BE49-F238E27FC236}">
                <a16:creationId xmlns:a16="http://schemas.microsoft.com/office/drawing/2014/main" id="{8F4FD67F-C55B-43D6-82BA-AEA6B36235D7}"/>
              </a:ext>
            </a:extLst>
          </p:cNvPr>
          <p:cNvSpPr/>
          <p:nvPr/>
        </p:nvSpPr>
        <p:spPr>
          <a:xfrm>
            <a:off x="9060978" y="3571699"/>
            <a:ext cx="5184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36" name="Rectangle 35" descr="A2">
            <a:extLst>
              <a:ext uri="{FF2B5EF4-FFF2-40B4-BE49-F238E27FC236}">
                <a16:creationId xmlns:a16="http://schemas.microsoft.com/office/drawing/2014/main" id="{8C58316B-2C44-4F12-A200-9A9AD9D033D5}"/>
              </a:ext>
            </a:extLst>
          </p:cNvPr>
          <p:cNvSpPr/>
          <p:nvPr/>
        </p:nvSpPr>
        <p:spPr>
          <a:xfrm>
            <a:off x="419735" y="3576446"/>
            <a:ext cx="2592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Migration Funding Commitment</a:t>
            </a:r>
          </a:p>
        </p:txBody>
      </p:sp>
      <p:sp>
        <p:nvSpPr>
          <p:cNvPr id="37" name="Rectangle 36">
            <a:extLst>
              <a:ext uri="{FF2B5EF4-FFF2-40B4-BE49-F238E27FC236}">
                <a16:creationId xmlns:a16="http://schemas.microsoft.com/office/drawing/2014/main" id="{E8C76F5F-F9BC-4709-8283-D783A4708D36}"/>
              </a:ext>
            </a:extLst>
          </p:cNvPr>
          <p:cNvSpPr/>
          <p:nvPr/>
        </p:nvSpPr>
        <p:spPr>
          <a:xfrm>
            <a:off x="3156149" y="3576446"/>
            <a:ext cx="1296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Pre-Mobilize</a:t>
            </a:r>
          </a:p>
        </p:txBody>
      </p:sp>
      <p:sp>
        <p:nvSpPr>
          <p:cNvPr id="38" name="Rectangle 37">
            <a:extLst>
              <a:ext uri="{FF2B5EF4-FFF2-40B4-BE49-F238E27FC236}">
                <a16:creationId xmlns:a16="http://schemas.microsoft.com/office/drawing/2014/main" id="{0E3D6913-B534-47F9-9EEC-F00AFF42F08D}"/>
              </a:ext>
            </a:extLst>
          </p:cNvPr>
          <p:cNvSpPr/>
          <p:nvPr/>
        </p:nvSpPr>
        <p:spPr>
          <a:xfrm>
            <a:off x="4596563" y="3576446"/>
            <a:ext cx="4320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rmAutofit/>
          </a:bodyPr>
          <a:lstStyle/>
          <a:p>
            <a:r>
              <a:rPr lang="en-US" sz="1440" dirty="0">
                <a:solidFill>
                  <a:schemeClr val="tx1"/>
                </a:solidFill>
              </a:rPr>
              <a:t/>
            </a:r>
          </a:p>
        </p:txBody>
      </p:sp>
      <p:sp>
        <p:nvSpPr>
          <p:cNvPr id="41" name="Rectangle 40">
            <a:extLst>
              <a:ext uri="{FF2B5EF4-FFF2-40B4-BE49-F238E27FC236}">
                <a16:creationId xmlns:a16="http://schemas.microsoft.com/office/drawing/2014/main" id="{C34C0840-DEA0-4D82-86A8-C0ABCBCD8177}"/>
              </a:ext>
            </a:extLst>
          </p:cNvPr>
          <p:cNvSpPr/>
          <p:nvPr/>
        </p:nvSpPr>
        <p:spPr>
          <a:xfrm>
            <a:off x="419735" y="4522953"/>
            <a:ext cx="2592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42" name="Rectangle 41">
            <a:extLst>
              <a:ext uri="{FF2B5EF4-FFF2-40B4-BE49-F238E27FC236}">
                <a16:creationId xmlns:a16="http://schemas.microsoft.com/office/drawing/2014/main" id="{63EC5750-B589-4629-A65C-C4D19F704603}"/>
              </a:ext>
            </a:extLst>
          </p:cNvPr>
          <p:cNvSpPr/>
          <p:nvPr/>
        </p:nvSpPr>
        <p:spPr>
          <a:xfrm>
            <a:off x="3156149" y="4522953"/>
            <a:ext cx="1296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endParaRPr lang="en-US" sz="3456" dirty="0"/>
          </a:p>
        </p:txBody>
      </p:sp>
      <p:sp>
        <p:nvSpPr>
          <p:cNvPr id="43" name="Rectangle 42">
            <a:extLst>
              <a:ext uri="{FF2B5EF4-FFF2-40B4-BE49-F238E27FC236}">
                <a16:creationId xmlns:a16="http://schemas.microsoft.com/office/drawing/2014/main" id="{0A7E8680-A187-4A84-B096-469CC950A270}"/>
              </a:ext>
            </a:extLst>
          </p:cNvPr>
          <p:cNvSpPr/>
          <p:nvPr/>
        </p:nvSpPr>
        <p:spPr>
          <a:xfrm>
            <a:off x="4596563" y="4522953"/>
            <a:ext cx="4320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44" name="Rectangle 43">
            <a:extLst>
              <a:ext uri="{FF2B5EF4-FFF2-40B4-BE49-F238E27FC236}">
                <a16:creationId xmlns:a16="http://schemas.microsoft.com/office/drawing/2014/main" id="{ACD8CE8B-8CED-4A93-A30A-D710E7F4A7CA}"/>
              </a:ext>
            </a:extLst>
          </p:cNvPr>
          <p:cNvSpPr/>
          <p:nvPr/>
        </p:nvSpPr>
        <p:spPr>
          <a:xfrm>
            <a:off x="9060978" y="4522953"/>
            <a:ext cx="5184000" cy="8640"/>
          </a:xfrm>
          <a:prstGeom prst="rect">
            <a:avLst/>
          </a:prstGeom>
          <a:solidFill>
            <a:schemeClr val="bg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ctr" anchorCtr="0" forceAA="0" compatLnSpc="1">
            <a:prstTxWarp prst="textNoShape">
              <a:avLst/>
            </a:prstTxWarp>
            <a:noAutofit/>
          </a:bodyPr>
          <a:lstStyle/>
          <a:p>
            <a:pPr marL="342900" indent="-342900" algn="ctr">
              <a:buBlip>
                <a:blip r:embed="rId2">
                  <a:extLst>
                    <a:ext uri="{96DAC541-7B7A-43D3-8B79-37D633B846F1}">
                      <asvg:svgBlip xmlns:asvg="http://schemas.microsoft.com/office/drawing/2016/SVG/main" r:embed="rId3"/>
                    </a:ext>
                  </a:extLst>
                </a:blip>
              </a:buBlip>
            </a:pPr>
            <a:r>
              <a:t/>
            </a:r>
            <a:endParaRPr lang="en-US" sz="3456" dirty="0"/>
          </a:p>
        </p:txBody>
      </p:sp>
      <p:sp>
        <p:nvSpPr>
          <p:cNvPr id="46" name="Rectangle 45" descr="A3">
            <a:extLst>
              <a:ext uri="{FF2B5EF4-FFF2-40B4-BE49-F238E27FC236}">
                <a16:creationId xmlns:a16="http://schemas.microsoft.com/office/drawing/2014/main" id="{D440725C-AE51-4BC2-9DA0-5CA687475446}"/>
              </a:ext>
            </a:extLst>
          </p:cNvPr>
          <p:cNvSpPr/>
          <p:nvPr/>
        </p:nvSpPr>
        <p:spPr>
          <a:xfrm>
            <a:off x="419735" y="4527700"/>
            <a:ext cx="2592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Specific Migration Workloads Committed</a:t>
            </a:r>
          </a:p>
        </p:txBody>
      </p:sp>
      <p:sp>
        <p:nvSpPr>
          <p:cNvPr id="47" name="Rectangle 46">
            <a:extLst>
              <a:ext uri="{FF2B5EF4-FFF2-40B4-BE49-F238E27FC236}">
                <a16:creationId xmlns:a16="http://schemas.microsoft.com/office/drawing/2014/main" id="{78AB0A59-BEF9-43B6-BDF6-B79EF9DF02CF}"/>
              </a:ext>
            </a:extLst>
          </p:cNvPr>
          <p:cNvSpPr/>
          <p:nvPr/>
        </p:nvSpPr>
        <p:spPr>
          <a:xfrm>
            <a:off x="3156149" y="4527700"/>
            <a:ext cx="1296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Autofit/>
          </a:bodyPr>
          <a:lstStyle/>
          <a:p>
            <a:pPr algn="ctr"/>
            <a:r>
              <a:rPr lang="en-US" sz="1440" dirty="0">
                <a:solidFill>
                  <a:schemeClr val="tx1"/>
                </a:solidFill>
              </a:rPr>
              <a:t>Pre-Mobilize</a:t>
            </a:r>
          </a:p>
        </p:txBody>
      </p:sp>
      <p:sp>
        <p:nvSpPr>
          <p:cNvPr id="48" name="Rectangle 47">
            <a:extLst>
              <a:ext uri="{FF2B5EF4-FFF2-40B4-BE49-F238E27FC236}">
                <a16:creationId xmlns:a16="http://schemas.microsoft.com/office/drawing/2014/main" id="{7B7CFD45-5A54-423B-B6A4-EE9BB72F99DC}"/>
              </a:ext>
            </a:extLst>
          </p:cNvPr>
          <p:cNvSpPr/>
          <p:nvPr/>
        </p:nvSpPr>
        <p:spPr>
          <a:xfrm>
            <a:off x="4596563" y="4527700"/>
            <a:ext cx="4320000" cy="950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400" tIns="43200" rIns="86400" bIns="43200" numCol="1" spcCol="0" rtlCol="0" fromWordArt="0" anchor="t" anchorCtr="0" forceAA="0" compatLnSpc="1">
            <a:prstTxWarp prst="textNoShape">
              <a:avLst/>
            </a:prstTxWarp>
            <a:normAutofit/>
          </a:bodyPr>
          <a:lstStyle/>
          <a:p>
            <a:r>
              <a:rPr lang="en-US" sz="1440" dirty="0">
                <a:solidFill>
                  <a:schemeClr val="tx1"/>
                </a:solidFill>
              </a:rPr>
              <a:t/>
            </a:r>
          </a:p>
        </p:txBody>
      </p:sp>
      <p:sp>
        <p:nvSpPr>
          <p:cNvPr id="40" name="Object 6">
            <a:extLst>
              <a:ext uri="{FF2B5EF4-FFF2-40B4-BE49-F238E27FC236}">
                <a16:creationId xmlns:a16="http://schemas.microsoft.com/office/drawing/2014/main" id="{00804707-0335-6842-AC6C-24E6A5AB83C3}"/>
              </a:ext>
            </a:extLst>
          </p:cNvPr>
          <p:cNvSpPr/>
          <p:nvPr/>
        </p:nvSpPr>
        <p:spPr>
          <a:xfrm>
            <a:off x="508635" y="113122"/>
            <a:ext cx="13840358" cy="804672"/>
          </a:xfrm>
          <a:prstGeom prst="rect">
            <a:avLst/>
          </a:prstGeom>
          <a:noFill/>
        </p:spPr>
        <p:txBody>
          <a:bodyPr wrap="square" rtlCol="0" anchor="ctr"/>
          <a:lstStyle/>
          <a:p>
            <a:r>
              <a:rPr lang="en-US" sz="3800" b="1" dirty="0">
                <a:latin typeface="+mj-lt"/>
              </a:rPr>
              <a:t>MRA Observations &amp; Actions </a:t>
            </a:r>
            <a:r>
              <a:rPr lang="en-US" sz="3800" b="1" dirty="0">
                <a:latin typeface="+mj-lt"/>
                <a:ea typeface="Amazon Ember" panose="020B0603020204020204" pitchFamily="34" charset="0"/>
                <a:cs typeface="Amazon Ember" panose="020B0603020204020204" pitchFamily="34" charset="0"/>
              </a:rPr>
              <a:t>–</a:t>
            </a:r>
            <a:r>
              <a:rPr lang="en-US" sz="3800" b="1" dirty="0">
                <a:latin typeface="+mj-lt"/>
                <a:cs typeface="Calibri" pitchFamily="34" charset="0"/>
              </a:rPr>
              <a:t> Business Case</a:t>
            </a:r>
          </a:p>
        </p:txBody>
      </p:sp>
      <p:sp>
        <p:nvSpPr>
          <p:cNvPr id="45" name="TextBox 44">
            <a:extLst>
              <a:ext uri="{FF2B5EF4-FFF2-40B4-BE49-F238E27FC236}">
                <a16:creationId xmlns:a16="http://schemas.microsoft.com/office/drawing/2014/main" id="{7768B06F-CFFB-43FD-BF02-3E10B7186186}"/>
              </a:ext>
            </a:extLst>
          </p:cNvPr>
          <p:cNvSpPr txBox="1"/>
          <p:nvPr/>
        </p:nvSpPr>
        <p:spPr>
          <a:xfrm>
            <a:off x="9060978" y="1682578"/>
            <a:ext cx="5184648" cy="950976"/>
          </a:xfrm>
          <a:prstGeom prst="rect">
            <a:avLst/>
          </a:prstGeom>
          <a:noFill/>
        </p:spPr>
        <p:txBody>
          <a:bodyPr wrap="square" rtlCol="0">
            <a:spAutoFit/>
          </a:bodyPr>
          <a:lstStyle/>
          <a:p>
            <a:pPr marL="211456" indent="-211456">
              <a:buFont typeface="Arial" panose="020B0604020202020204" pitchFamily="34" charset="0"/>
              <a:buChar char="•"/>
            </a:pPr>
            <a:r>
              <a:rPr lang="en-US" sz="960" dirty="0"/>
              <a:t/>
            </a:r>
          </a:p>
        </p:txBody>
      </p:sp>
      <p:sp>
        <p:nvSpPr>
          <p:cNvPr id="51" name="TextBox 50">
            <a:extLst>
              <a:ext uri="{FF2B5EF4-FFF2-40B4-BE49-F238E27FC236}">
                <a16:creationId xmlns:a16="http://schemas.microsoft.com/office/drawing/2014/main" id="{2E2DCFAF-84AE-47A5-882D-DDC94B931667}"/>
              </a:ext>
            </a:extLst>
          </p:cNvPr>
          <p:cNvSpPr txBox="1"/>
          <p:nvPr/>
        </p:nvSpPr>
        <p:spPr>
          <a:xfrm>
            <a:off x="9060978" y="2646189"/>
            <a:ext cx="5184648" cy="950976"/>
          </a:xfrm>
          <a:prstGeom prst="rect">
            <a:avLst/>
          </a:prstGeom>
          <a:noFill/>
        </p:spPr>
        <p:txBody>
          <a:bodyPr wrap="square" rtlCol="0">
            <a:spAutoFit/>
          </a:bodyPr>
          <a:lstStyle/>
          <a:p>
            <a:pPr marL="211456" indent="-211456">
              <a:buFont typeface="Arial" panose="020B0604020202020204" pitchFamily="34" charset="0"/>
              <a:buChar char="•"/>
            </a:pPr>
            <a:r>
              <a:rPr lang="en-US" sz="900" dirty="0"/>
              <a:t/>
            </a:r>
          </a:p>
        </p:txBody>
      </p:sp>
      <p:sp>
        <p:nvSpPr>
          <p:cNvPr id="52" name="TextBox 51">
            <a:extLst>
              <a:ext uri="{FF2B5EF4-FFF2-40B4-BE49-F238E27FC236}">
                <a16:creationId xmlns:a16="http://schemas.microsoft.com/office/drawing/2014/main" id="{B966E088-5488-4F9D-81EB-38A3A9FE4390}"/>
              </a:ext>
            </a:extLst>
          </p:cNvPr>
          <p:cNvSpPr txBox="1"/>
          <p:nvPr/>
        </p:nvSpPr>
        <p:spPr>
          <a:xfrm>
            <a:off x="9060330" y="3576724"/>
            <a:ext cx="5184648" cy="950976"/>
          </a:xfrm>
          <a:prstGeom prst="rect">
            <a:avLst/>
          </a:prstGeom>
          <a:noFill/>
        </p:spPr>
        <p:txBody>
          <a:bodyPr wrap="square" rtlCol="0">
            <a:spAutoFit/>
          </a:bodyPr>
          <a:lstStyle/>
          <a:p>
            <a:pPr marL="211456" indent="-211456">
              <a:buFont typeface="Arial" panose="020B0604020202020204" pitchFamily="34" charset="0"/>
              <a:buChar char="•"/>
            </a:pPr>
            <a:r>
              <a:rPr lang="en-US" sz="900" dirty="0"/>
              <a:t/>
            </a:r>
          </a:p>
        </p:txBody>
      </p:sp>
      <p:sp>
        <p:nvSpPr>
          <p:cNvPr id="53" name="TextBox 52">
            <a:extLst>
              <a:ext uri="{FF2B5EF4-FFF2-40B4-BE49-F238E27FC236}">
                <a16:creationId xmlns:a16="http://schemas.microsoft.com/office/drawing/2014/main" id="{B6BECB9D-2314-4E92-A34E-98D60C9BA81F}"/>
              </a:ext>
            </a:extLst>
          </p:cNvPr>
          <p:cNvSpPr txBox="1"/>
          <p:nvPr/>
        </p:nvSpPr>
        <p:spPr>
          <a:xfrm>
            <a:off x="9060978" y="4531273"/>
            <a:ext cx="5184648" cy="950976"/>
          </a:xfrm>
          <a:prstGeom prst="rect">
            <a:avLst/>
          </a:prstGeom>
          <a:noFill/>
        </p:spPr>
        <p:txBody>
          <a:bodyPr wrap="square" rtlCol="0">
            <a:spAutoFit/>
          </a:bodyPr>
          <a:lstStyle/>
          <a:p>
            <a:pPr marL="211456" indent="-211456">
              <a:buFont typeface="Arial" panose="020B0604020202020204" pitchFamily="34" charset="0"/>
              <a:buChar char="•"/>
            </a:pPr>
            <a:r>
              <a:rPr lang="en-US" sz="900" dirty="0"/>
              <a:t/>
            </a:r>
          </a:p>
        </p:txBody>
      </p:sp>
      <p:sp>
        <p:nvSpPr>
          <p:cNvPr id="50" name="TextBox 49">
            <a:extLst>
              <a:ext uri="{FF2B5EF4-FFF2-40B4-BE49-F238E27FC236}">
                <a16:creationId xmlns:a16="http://schemas.microsoft.com/office/drawing/2014/main" id="{DA7AF7C7-485B-7D40-A6C9-DD535F50B2BB}"/>
              </a:ext>
            </a:extLst>
          </p:cNvPr>
          <p:cNvSpPr txBox="1"/>
          <p:nvPr/>
        </p:nvSpPr>
        <p:spPr>
          <a:xfrm rot="20435098">
            <a:off x="1211270" y="2764731"/>
            <a:ext cx="12207859" cy="1631216"/>
          </a:xfrm>
          <a:prstGeom prst="rect">
            <a:avLst/>
          </a:prstGeom>
          <a:solidFill>
            <a:schemeClr val="tx2">
              <a:lumMod val="95000"/>
            </a:schemeClr>
          </a:solidFill>
        </p:spPr>
        <p:txBody>
          <a:bodyPr wrap="square" rtlCol="0">
            <a:spAutoFit/>
          </a:bodyPr>
          <a:lstStyle/>
          <a:p>
            <a:r>
              <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This “Business Case” slide is a placeholder slide.  Replace with the most pertinent slide from the appendix with the workstream summary for your customer based on the biggest painpoint or priority area of action.</a:t>
            </a:r>
          </a:p>
          <a:p>
            <a:endPar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a:p>
            <a:r>
              <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Or review all detailed outcomes and actions as best fitted for the audience and agenda.</a:t>
            </a:r>
          </a:p>
        </p:txBody>
      </p:sp>
    </p:spTree>
    <p:extLst>
      <p:ext uri="{BB962C8B-B14F-4D97-AF65-F5344CB8AC3E}">
        <p14:creationId xmlns:p14="http://schemas.microsoft.com/office/powerpoint/2010/main" val="1971695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46AC-8E32-C148-A1BA-8B37F222C349}"/>
              </a:ext>
            </a:extLst>
          </p:cNvPr>
          <p:cNvSpPr>
            <a:spLocks noGrp="1"/>
          </p:cNvSpPr>
          <p:nvPr>
            <p:ph type="title" idx="4294967295"/>
          </p:nvPr>
        </p:nvSpPr>
        <p:spPr>
          <a:xfrm>
            <a:off x="396788" y="168346"/>
            <a:ext cx="13514388" cy="903288"/>
          </a:xfrm>
        </p:spPr>
        <p:txBody>
          <a:bodyPr/>
          <a:lstStyle/>
          <a:p>
            <a:r>
              <a:rPr lang="en-US" dirty="0"/>
              <a:t>MRA Observations &amp; Actions – All Workstreams</a:t>
            </a:r>
          </a:p>
        </p:txBody>
      </p:sp>
      <p:sp>
        <p:nvSpPr>
          <p:cNvPr id="4" name="TextBox 3">
            <a:extLst>
              <a:ext uri="{FF2B5EF4-FFF2-40B4-BE49-F238E27FC236}">
                <a16:creationId xmlns:a16="http://schemas.microsoft.com/office/drawing/2014/main" id="{B5FF0AF2-BCE5-F44D-AC9A-EC5B71665D2A}"/>
              </a:ext>
            </a:extLst>
          </p:cNvPr>
          <p:cNvSpPr txBox="1"/>
          <p:nvPr/>
        </p:nvSpPr>
        <p:spPr>
          <a:xfrm>
            <a:off x="9441630" y="1788211"/>
            <a:ext cx="4029666" cy="1631216"/>
          </a:xfrm>
          <a:prstGeom prst="rect">
            <a:avLst/>
          </a:prstGeom>
          <a:noFill/>
        </p:spPr>
        <p:txBody>
          <a:bodyPr wrap="square" rtlCol="0">
            <a:spAutoFit/>
          </a:bodyPr>
          <a:lstStyle/>
          <a:p>
            <a:r>
              <a:rPr lang="en-US" sz="2000" dirty="0">
                <a:latin typeface="Amazon Ember" panose="02000000000000000000" pitchFamily="2" charset="0"/>
                <a:ea typeface="Amazon Ember" panose="02000000000000000000" pitchFamily="2" charset="0"/>
              </a:rPr>
              <a:t>Additional observations and next steps are available in the appendix of this presentation</a:t>
            </a:r>
          </a:p>
          <a:p>
            <a:r>
              <a:rPr lang="en-US" sz="2000" dirty="0">
                <a:latin typeface="Amazon Ember" panose="02000000000000000000" pitchFamily="2" charset="0"/>
                <a:ea typeface="Amazon Ember" panose="02000000000000000000" pitchFamily="2" charset="0"/>
              </a:rPr>
              <a:t>and are used as part of the Mobilize proposal</a:t>
            </a:r>
          </a:p>
        </p:txBody>
      </p:sp>
      <p:pic>
        <p:nvPicPr>
          <p:cNvPr id="3" name="Picture 2">
            <a:extLst>
              <a:ext uri="{FF2B5EF4-FFF2-40B4-BE49-F238E27FC236}">
                <a16:creationId xmlns:a16="http://schemas.microsoft.com/office/drawing/2014/main" id="{1AAB138F-5FCD-2841-BF5D-9F5F8A1B011B}"/>
              </a:ext>
            </a:extLst>
          </p:cNvPr>
          <p:cNvPicPr>
            <a:picLocks noChangeAspect="1"/>
          </p:cNvPicPr>
          <p:nvPr/>
        </p:nvPicPr>
        <p:blipFill>
          <a:blip r:embed="rId3"/>
          <a:stretch>
            <a:fillRect/>
          </a:stretch>
        </p:blipFill>
        <p:spPr>
          <a:xfrm>
            <a:off x="590584" y="1050469"/>
            <a:ext cx="5373817" cy="3022772"/>
          </a:xfrm>
          <a:prstGeom prst="rect">
            <a:avLst/>
          </a:prstGeom>
          <a:noFill/>
          <a:ln>
            <a:solidFill>
              <a:schemeClr val="tx1"/>
            </a:solidFill>
          </a:ln>
        </p:spPr>
      </p:pic>
      <p:pic>
        <p:nvPicPr>
          <p:cNvPr id="7" name="Picture 6">
            <a:extLst>
              <a:ext uri="{FF2B5EF4-FFF2-40B4-BE49-F238E27FC236}">
                <a16:creationId xmlns:a16="http://schemas.microsoft.com/office/drawing/2014/main" id="{C55D3EA7-60DF-A640-B208-140BE86F829F}"/>
              </a:ext>
            </a:extLst>
          </p:cNvPr>
          <p:cNvPicPr>
            <a:picLocks noChangeAspect="1"/>
          </p:cNvPicPr>
          <p:nvPr/>
        </p:nvPicPr>
        <p:blipFill>
          <a:blip r:embed="rId4"/>
          <a:stretch>
            <a:fillRect/>
          </a:stretch>
        </p:blipFill>
        <p:spPr>
          <a:xfrm>
            <a:off x="1704584" y="1826191"/>
            <a:ext cx="5373819" cy="3022773"/>
          </a:xfrm>
          <a:prstGeom prst="rect">
            <a:avLst/>
          </a:prstGeom>
          <a:ln>
            <a:solidFill>
              <a:schemeClr val="tx1"/>
            </a:solidFill>
          </a:ln>
        </p:spPr>
      </p:pic>
      <p:pic>
        <p:nvPicPr>
          <p:cNvPr id="8" name="Picture 7">
            <a:extLst>
              <a:ext uri="{FF2B5EF4-FFF2-40B4-BE49-F238E27FC236}">
                <a16:creationId xmlns:a16="http://schemas.microsoft.com/office/drawing/2014/main" id="{DC9EFA38-D281-9D42-B000-CB3E7F3E3466}"/>
              </a:ext>
            </a:extLst>
          </p:cNvPr>
          <p:cNvPicPr>
            <a:picLocks noChangeAspect="1"/>
          </p:cNvPicPr>
          <p:nvPr/>
        </p:nvPicPr>
        <p:blipFill>
          <a:blip r:embed="rId5"/>
          <a:stretch>
            <a:fillRect/>
          </a:stretch>
        </p:blipFill>
        <p:spPr>
          <a:xfrm>
            <a:off x="2818584" y="2795209"/>
            <a:ext cx="5373819" cy="3022773"/>
          </a:xfrm>
          <a:prstGeom prst="rect">
            <a:avLst/>
          </a:prstGeom>
          <a:ln>
            <a:solidFill>
              <a:schemeClr val="tx1"/>
            </a:solidFill>
          </a:ln>
        </p:spPr>
      </p:pic>
      <p:pic>
        <p:nvPicPr>
          <p:cNvPr id="10" name="Picture 9">
            <a:extLst>
              <a:ext uri="{FF2B5EF4-FFF2-40B4-BE49-F238E27FC236}">
                <a16:creationId xmlns:a16="http://schemas.microsoft.com/office/drawing/2014/main" id="{ACB2B141-E533-FF4D-AE8E-540004FA1553}"/>
              </a:ext>
            </a:extLst>
          </p:cNvPr>
          <p:cNvPicPr>
            <a:picLocks noChangeAspect="1"/>
          </p:cNvPicPr>
          <p:nvPr/>
        </p:nvPicPr>
        <p:blipFill>
          <a:blip r:embed="rId6"/>
          <a:stretch>
            <a:fillRect/>
          </a:stretch>
        </p:blipFill>
        <p:spPr>
          <a:xfrm>
            <a:off x="4051088" y="3759169"/>
            <a:ext cx="5414529" cy="3045673"/>
          </a:xfrm>
          <a:prstGeom prst="rect">
            <a:avLst/>
          </a:prstGeom>
          <a:ln>
            <a:solidFill>
              <a:schemeClr val="tx1"/>
            </a:solidFill>
          </a:ln>
        </p:spPr>
      </p:pic>
      <p:pic>
        <p:nvPicPr>
          <p:cNvPr id="12" name="Picture 11">
            <a:extLst>
              <a:ext uri="{FF2B5EF4-FFF2-40B4-BE49-F238E27FC236}">
                <a16:creationId xmlns:a16="http://schemas.microsoft.com/office/drawing/2014/main" id="{DB91F4C0-6DF0-D14B-9407-68B6027D7440}"/>
              </a:ext>
            </a:extLst>
          </p:cNvPr>
          <p:cNvPicPr>
            <a:picLocks noChangeAspect="1"/>
          </p:cNvPicPr>
          <p:nvPr/>
        </p:nvPicPr>
        <p:blipFill>
          <a:blip r:embed="rId7"/>
          <a:stretch>
            <a:fillRect/>
          </a:stretch>
        </p:blipFill>
        <p:spPr>
          <a:xfrm>
            <a:off x="5193455" y="4776524"/>
            <a:ext cx="5414529" cy="3045673"/>
          </a:xfrm>
          <a:prstGeom prst="rect">
            <a:avLst/>
          </a:prstGeom>
          <a:ln>
            <a:solidFill>
              <a:schemeClr val="tx1"/>
            </a:solidFill>
          </a:ln>
        </p:spPr>
      </p:pic>
    </p:spTree>
    <p:extLst>
      <p:ext uri="{BB962C8B-B14F-4D97-AF65-F5344CB8AC3E}">
        <p14:creationId xmlns:p14="http://schemas.microsoft.com/office/powerpoint/2010/main" val="1521153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A95D-6FBE-214A-BB2F-E4CF3AB7BAA7}"/>
              </a:ext>
            </a:extLst>
          </p:cNvPr>
          <p:cNvSpPr>
            <a:spLocks noGrp="1"/>
          </p:cNvSpPr>
          <p:nvPr>
            <p:ph type="title"/>
          </p:nvPr>
        </p:nvSpPr>
        <p:spPr/>
        <p:txBody>
          <a:bodyPr/>
          <a:lstStyle/>
          <a:p>
            <a:r>
              <a:rPr lang="en-US" sz="3600" dirty="0"/>
              <a:t>MRA Prioritized List of Actions</a:t>
            </a:r>
          </a:p>
        </p:txBody>
      </p:sp>
      <p:graphicFrame>
        <p:nvGraphicFramePr>
          <p:cNvPr id="151" name="Table 150">
            <a:extLst>
              <a:ext uri="{FF2B5EF4-FFF2-40B4-BE49-F238E27FC236}">
                <a16:creationId xmlns:a16="http://schemas.microsoft.com/office/drawing/2014/main" id="{717FA692-696C-BC46-B733-FB9536F7B632}"/>
              </a:ext>
            </a:extLst>
          </p:cNvPr>
          <p:cNvGraphicFramePr>
            <a:graphicFrameLocks noGrp="1"/>
          </p:cNvGraphicFramePr>
          <p:nvPr>
            <p:extLst>
              <p:ext uri="{D42A27DB-BD31-4B8C-83A1-F6EECF244321}">
                <p14:modId xmlns:p14="http://schemas.microsoft.com/office/powerpoint/2010/main" val="68758260"/>
              </p:ext>
            </p:extLst>
          </p:nvPr>
        </p:nvGraphicFramePr>
        <p:xfrm>
          <a:off x="629294" y="697034"/>
          <a:ext cx="13371810" cy="6835532"/>
        </p:xfrm>
        <a:graphic>
          <a:graphicData uri="http://schemas.openxmlformats.org/drawingml/2006/table">
            <a:tbl>
              <a:tblPr firstRow="1" firstCol="1" bandRow="1">
                <a:tableStyleId>{073A0DAA-6AF3-43AB-8588-CEC1D06C72B9}</a:tableStyleId>
              </a:tblPr>
              <a:tblGrid>
                <a:gridCol w="3630822">
                  <a:extLst>
                    <a:ext uri="{9D8B030D-6E8A-4147-A177-3AD203B41FA5}">
                      <a16:colId xmlns:a16="http://schemas.microsoft.com/office/drawing/2014/main" val="3541207790"/>
                    </a:ext>
                  </a:extLst>
                </a:gridCol>
                <a:gridCol w="9740988">
                  <a:extLst>
                    <a:ext uri="{9D8B030D-6E8A-4147-A177-3AD203B41FA5}">
                      <a16:colId xmlns:a16="http://schemas.microsoft.com/office/drawing/2014/main" val="134945569"/>
                    </a:ext>
                  </a:extLst>
                </a:gridCol>
              </a:tblGrid>
              <a:tr h="386908">
                <a:tc>
                  <a:txBody>
                    <a:bodyPr/>
                    <a:lstStyle/>
                    <a:p>
                      <a:pPr marL="0" marR="0" algn="ctr">
                        <a:spcBef>
                          <a:spcPts val="0"/>
                        </a:spcBef>
                        <a:spcAft>
                          <a:spcPts val="0"/>
                        </a:spcAft>
                      </a:pPr>
                      <a:r>
                        <a:rPr lang="en-US" sz="1600" dirty="0">
                          <a:solidFill>
                            <a:srgbClr val="FF9900"/>
                          </a:solidFill>
                          <a:effectLst/>
                          <a:latin typeface="+mn-lt"/>
                        </a:rPr>
                        <a:t> </a:t>
                      </a:r>
                      <a:r>
                        <a:rPr lang="en-US" sz="1600" dirty="0">
                          <a:solidFill>
                            <a:srgbClr val="FF9900"/>
                          </a:solidFill>
                          <a:latin typeface="+mn-lt"/>
                        </a:rPr>
                        <a:t>Objective</a:t>
                      </a:r>
                      <a:endParaRPr lang="en-US" sz="1600" dirty="0">
                        <a:solidFill>
                          <a:srgbClr val="FF9900"/>
                        </a:solidFill>
                        <a:effectLst/>
                        <a:latin typeface="+mn-lt"/>
                      </a:endParaRPr>
                    </a:p>
                  </a:txBody>
                  <a:tcPr marL="59351" marR="59351" marT="0" marB="0" anchor="ctr">
                    <a:solidFill>
                      <a:schemeClr val="bg2"/>
                    </a:solidFill>
                  </a:tcPr>
                </a:tc>
                <a:tc>
                  <a:txBody>
                    <a:bodyPr/>
                    <a:lstStyle/>
                    <a:p>
                      <a:pPr algn="ctr"/>
                      <a:r>
                        <a:rPr lang="en-US" sz="1600" dirty="0">
                          <a:solidFill>
                            <a:srgbClr val="FF9900"/>
                          </a:solidFill>
                          <a:latin typeface="+mn-lt"/>
                        </a:rPr>
                        <a:t>Action</a:t>
                      </a:r>
                    </a:p>
                  </a:txBody>
                  <a:tcPr marL="59351" marR="59351" marT="0" marB="0" anchor="ctr">
                    <a:solidFill>
                      <a:schemeClr val="bg2"/>
                    </a:solidFill>
                  </a:tcPr>
                </a:tc>
                <a:extLst>
                  <a:ext uri="{0D108BD9-81ED-4DB2-BD59-A6C34878D82A}">
                    <a16:rowId xmlns:a16="http://schemas.microsoft.com/office/drawing/2014/main" val="792550057"/>
                  </a:ext>
                </a:extLst>
              </a:tr>
              <a:tr h="706168">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400" dirty="0">
                          <a:effectLst/>
                          <a:latin typeface="+mn-lt"/>
                          <a:ea typeface="Calibri" panose="020F0502020204030204" pitchFamily="34" charset="0"/>
                          <a:cs typeface="Times New Roman" panose="02020603050405020304" pitchFamily="18" charset="0"/>
                        </a:rPr>
                        <a:t>Create and communicate a Business Case</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effectLst/>
                          <a:latin typeface="+mn-lt"/>
                          <a:ea typeface="Calibri" panose="020F0502020204030204" pitchFamily="34" charset="0"/>
                          <a:cs typeface="Times New Roman" panose="02020603050405020304" pitchFamily="18" charset="0"/>
                        </a:rPr>
                        <a:t>Share the initial business case with the broader team to build consensus and buy-in </a:t>
                      </a:r>
                      <a:r>
                        <a:rPr lang="en-US" sz="1400" b="1" dirty="0">
                          <a:effectLst/>
                          <a:latin typeface="+mn-lt"/>
                          <a:ea typeface="Calibri" panose="020F0502020204030204" pitchFamily="34" charset="0"/>
                          <a:cs typeface="Times New Roman" panose="02020603050405020304" pitchFamily="18" charset="0"/>
                        </a:rPr>
                        <a:t>AND/OR </a:t>
                      </a:r>
                      <a:r>
                        <a:rPr lang="en-US" sz="1400" dirty="0">
                          <a:effectLst/>
                          <a:latin typeface="+mn-lt"/>
                          <a:ea typeface="Calibri" panose="020F0502020204030204" pitchFamily="34" charset="0"/>
                          <a:cs typeface="Times New Roman" panose="02020603050405020304" pitchFamily="18" charset="0"/>
                        </a:rPr>
                        <a:t>MAP Accelerator: Start the “Rapid Migration Business Case” engagement with AWS Cloud Economics team, including TSO Logic based infrastructure discovery, software licensing optimization, and TCO saving estimation</a:t>
                      </a:r>
                    </a:p>
                  </a:txBody>
                  <a:tcPr marL="59351" marR="59351" marT="0" marB="0" anchor="ctr">
                    <a:solidFill>
                      <a:schemeClr val="tx2">
                        <a:lumMod val="95000"/>
                      </a:schemeClr>
                    </a:solidFill>
                  </a:tcPr>
                </a:tc>
                <a:extLst>
                  <a:ext uri="{0D108BD9-81ED-4DB2-BD59-A6C34878D82A}">
                    <a16:rowId xmlns:a16="http://schemas.microsoft.com/office/drawing/2014/main" val="263559053"/>
                  </a:ext>
                </a:extLst>
              </a:tr>
              <a:tr h="423743">
                <a:tc>
                  <a:txBody>
                    <a:bodyPr/>
                    <a:lstStyle/>
                    <a:p>
                      <a:pPr marL="0" indent="0">
                        <a:buFont typeface="Arial" panose="020B0604020202020204" pitchFamily="34" charset="0"/>
                        <a:buNone/>
                      </a:pPr>
                      <a:r>
                        <a:rPr lang="en-US" sz="1400" dirty="0"/>
                        <a:t>Have the initiative Leader named</a:t>
                      </a:r>
                    </a:p>
                  </a:txBody>
                  <a:tcPr marL="59351" marR="59351" marT="0" marB="0" anchor="ctr">
                    <a:solidFill>
                      <a:schemeClr val="bg2"/>
                    </a:solidFill>
                  </a:tcPr>
                </a:tc>
                <a:tc>
                  <a:txBody>
                    <a:bodyPr/>
                    <a:lstStyle/>
                    <a:p>
                      <a:pPr marL="0" indent="0">
                        <a:buFont typeface="Arial" panose="020B0604020202020204" pitchFamily="34" charset="0"/>
                        <a:buNone/>
                      </a:pPr>
                      <a:r>
                        <a:rPr lang="en-US" sz="1400" dirty="0"/>
                        <a:t>Customer to identify a single threaded leader who has authority within the organization to increase decision velocity and identify key stakeholders across the value chain</a:t>
                      </a:r>
                    </a:p>
                  </a:txBody>
                  <a:tcPr marL="59351" marR="59351" marT="0" marB="0" anchor="ctr">
                    <a:solidFill>
                      <a:schemeClr val="tx2">
                        <a:lumMod val="85000"/>
                      </a:schemeClr>
                    </a:solidFill>
                  </a:tcPr>
                </a:tc>
                <a:extLst>
                  <a:ext uri="{0D108BD9-81ED-4DB2-BD59-A6C34878D82A}">
                    <a16:rowId xmlns:a16="http://schemas.microsoft.com/office/drawing/2014/main" val="2050277644"/>
                  </a:ext>
                </a:extLst>
              </a:tr>
              <a:tr h="535549">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a:t>Build a CCoE</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a:t>Engage AWS to build/refine CCOE functions </a:t>
                      </a:r>
                      <a:r>
                        <a:rPr lang="en-US" sz="1400" b="1" dirty="0"/>
                        <a:t>AND/OR </a:t>
                      </a:r>
                      <a:r>
                        <a:rPr lang="en-US" sz="1400" dirty="0"/>
                        <a:t>MAP Accelerator: Run the "CCOE Foundations" interactive workshop to provide leaders with insights on the value of a CCoE function, mechanisms for success, how it evolves over time, and how to utilize it as a lever in driving change in how organizations think, behave, decide, and innovate using Cloud.</a:t>
                      </a:r>
                    </a:p>
                  </a:txBody>
                  <a:tcPr marL="59351" marR="59351" marT="0" marB="0" anchor="ctr">
                    <a:solidFill>
                      <a:schemeClr val="tx2">
                        <a:lumMod val="95000"/>
                      </a:schemeClr>
                    </a:solidFill>
                  </a:tcPr>
                </a:tc>
                <a:extLst>
                  <a:ext uri="{0D108BD9-81ED-4DB2-BD59-A6C34878D82A}">
                    <a16:rowId xmlns:a16="http://schemas.microsoft.com/office/drawing/2014/main" val="57623613"/>
                  </a:ext>
                </a:extLst>
              </a:tr>
              <a:tr h="488158">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a:t>Ensure right skills to support the initiative</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a:t>Identify a training leader to help drive initiative </a:t>
                      </a:r>
                      <a:r>
                        <a:rPr lang="en-US" sz="1400" b="1" dirty="0"/>
                        <a:t>AND/OR </a:t>
                      </a:r>
                      <a:r>
                        <a:rPr lang="en-US" sz="1400" dirty="0"/>
                        <a:t>Engage the AWS Training team for a learning needs assessment</a:t>
                      </a:r>
                    </a:p>
                  </a:txBody>
                  <a:tcPr marL="59351" marR="59351" marT="0" marB="0" anchor="ctr">
                    <a:solidFill>
                      <a:schemeClr val="tx2">
                        <a:lumMod val="85000"/>
                      </a:schemeClr>
                    </a:solidFill>
                  </a:tcPr>
                </a:tc>
                <a:extLst>
                  <a:ext uri="{0D108BD9-81ED-4DB2-BD59-A6C34878D82A}">
                    <a16:rowId xmlns:a16="http://schemas.microsoft.com/office/drawing/2014/main" val="3123478926"/>
                  </a:ext>
                </a:extLst>
              </a:tr>
              <a:tr h="847486">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Accelerate to the next phase and change the way you work</a:t>
                      </a:r>
                      <a:endParaRPr lang="en-US" sz="1400" dirty="0">
                        <a:effectLst/>
                        <a:latin typeface="+mn-lt"/>
                        <a:cs typeface="Times New Roman" panose="02020603050405020304" pitchFamily="18" charset="0"/>
                      </a:endParaRPr>
                    </a:p>
                  </a:txBody>
                  <a:tcPr marL="59351" marR="59351" marT="0" marB="0" anchor="ctr">
                    <a:solidFill>
                      <a:schemeClr val="bg2"/>
                    </a:solidFill>
                  </a:tcPr>
                </a:tc>
                <a:tc>
                  <a:txBody>
                    <a:bodyPr/>
                    <a:lstStyle/>
                    <a:p>
                      <a:pPr algn="l" fontAlgn="ctr"/>
                      <a:r>
                        <a:rPr lang="en-US" sz="1400" dirty="0">
                          <a:effectLst/>
                        </a:rPr>
                        <a:t>EBA Accelerator: Conduct the “Platform Party” to stress test and validate the AWS landing zone and move your first applications (for customers not leveraging ProServe led Mobilize but using prescriptive guidance from AWS via EBA) </a:t>
                      </a:r>
                      <a:r>
                        <a:rPr lang="en-US" sz="1400" b="1" dirty="0">
                          <a:effectLst/>
                        </a:rPr>
                        <a:t>OR </a:t>
                      </a:r>
                      <a:r>
                        <a:rPr lang="en-US" sz="1400" dirty="0">
                          <a:effectLst/>
                        </a:rPr>
                        <a:t>(for customers that will engage AWS ProServe for Mobilize) MAP Accelerator: Conduct the “Pre-Mobilize EBA” to define and baseline the landing zone architecture design </a:t>
                      </a:r>
                      <a:r>
                        <a:rPr lang="en-US" sz="1400" b="1" dirty="0">
                          <a:effectLst/>
                        </a:rPr>
                        <a:t>or</a:t>
                      </a:r>
                      <a:r>
                        <a:rPr lang="en-US" sz="1400" dirty="0">
                          <a:effectLst/>
                        </a:rPr>
                        <a:t> to test and validate the landing zone and migration factory (for customers that already have a platform built)</a:t>
                      </a:r>
                    </a:p>
                  </a:txBody>
                  <a:tcPr anchor="ctr">
                    <a:solidFill>
                      <a:schemeClr val="tx2">
                        <a:lumMod val="95000"/>
                      </a:schemeClr>
                    </a:solidFill>
                  </a:tcPr>
                </a:tc>
                <a:extLst>
                  <a:ext uri="{0D108BD9-81ED-4DB2-BD59-A6C34878D82A}">
                    <a16:rowId xmlns:a16="http://schemas.microsoft.com/office/drawing/2014/main" val="16027722"/>
                  </a:ext>
                </a:extLst>
              </a:tr>
              <a:tr h="635614">
                <a:tc>
                  <a:txBody>
                    <a:bodyPr/>
                    <a:lstStyle/>
                    <a:p>
                      <a:pPr marL="0" indent="0">
                        <a:buFont typeface="Arial" panose="020B0604020202020204" pitchFamily="34" charset="0"/>
                        <a:buNone/>
                      </a:pPr>
                      <a:r>
                        <a:rPr lang="en-US" sz="1400" dirty="0"/>
                        <a:t>Assure security is considered at front of the initiative</a:t>
                      </a:r>
                    </a:p>
                  </a:txBody>
                  <a:tcPr marL="59351" marR="59351" marT="0" marB="0" anchor="ctr">
                    <a:solidFill>
                      <a:schemeClr val="bg2"/>
                    </a:solidFill>
                  </a:tcPr>
                </a:tc>
                <a:tc>
                  <a:txBody>
                    <a:bodyPr/>
                    <a:lstStyle/>
                    <a:p>
                      <a:pPr marL="0" indent="0">
                        <a:buFont typeface="Arial" panose="020B0604020202020204" pitchFamily="34" charset="0"/>
                        <a:buNone/>
                      </a:pPr>
                      <a:r>
                        <a:rPr lang="en-US" sz="1400" dirty="0"/>
                        <a:t>MAP Accelerator: Run the "Security Briefing" to educate key stakeholders on security model and cloud security foundations </a:t>
                      </a:r>
                      <a:r>
                        <a:rPr lang="en-US" sz="1400" b="1" dirty="0"/>
                        <a:t>AND/OR </a:t>
                      </a:r>
                      <a:r>
                        <a:rPr lang="en-US" sz="1400" dirty="0"/>
                        <a:t>Get the 3rd party risk assessment completed. Engage AWS as needed to ensure passage</a:t>
                      </a:r>
                    </a:p>
                  </a:txBody>
                  <a:tcPr marL="59351" marR="59351" marT="0" marB="0" anchor="ctr">
                    <a:solidFill>
                      <a:schemeClr val="tx2">
                        <a:lumMod val="85000"/>
                      </a:schemeClr>
                    </a:solidFill>
                  </a:tcPr>
                </a:tc>
                <a:extLst>
                  <a:ext uri="{0D108BD9-81ED-4DB2-BD59-A6C34878D82A}">
                    <a16:rowId xmlns:a16="http://schemas.microsoft.com/office/drawing/2014/main" val="137408682"/>
                  </a:ext>
                </a:extLst>
              </a:tr>
              <a:tr h="476381">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Determine preferred operating model</a:t>
                      </a:r>
                      <a:endParaRPr lang="en-US" sz="1400" b="0" dirty="0">
                        <a:effectLst/>
                        <a:latin typeface="+mn-lt"/>
                      </a:endParaRP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b="0" dirty="0">
                          <a:effectLst/>
                          <a:latin typeface="+mn-lt"/>
                        </a:rPr>
                        <a:t>Evaluate AWS Managed Services (AMS) to see if it makes sense to offload mundane activities/infrastructure ops to that and keep resources focused on innovation and differentiating activities</a:t>
                      </a:r>
                    </a:p>
                  </a:txBody>
                  <a:tcPr marL="59351" marR="59351" marT="0" marB="0" anchor="ctr">
                    <a:solidFill>
                      <a:schemeClr val="tx2">
                        <a:lumMod val="95000"/>
                      </a:schemeClr>
                    </a:solidFill>
                  </a:tcPr>
                </a:tc>
                <a:extLst>
                  <a:ext uri="{0D108BD9-81ED-4DB2-BD59-A6C34878D82A}">
                    <a16:rowId xmlns:a16="http://schemas.microsoft.com/office/drawing/2014/main" val="4123759115"/>
                  </a:ext>
                </a:extLst>
              </a:tr>
              <a:tr h="847485">
                <a:tc>
                  <a:txBody>
                    <a:bodyPr/>
                    <a:lstStyle/>
                    <a:p>
                      <a:pPr marL="0" marR="0" algn="l">
                        <a:spcBef>
                          <a:spcPts val="0"/>
                        </a:spcBef>
                        <a:spcAft>
                          <a:spcPts val="0"/>
                        </a:spcAft>
                      </a:pPr>
                      <a:r>
                        <a:rPr lang="en-US" sz="1400" dirty="0"/>
                        <a:t>Get discovery tooling in place</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bg2"/>
                    </a:solidFill>
                  </a:tcPr>
                </a:tc>
                <a:tc>
                  <a:txBody>
                    <a:bodyPr/>
                    <a:lstStyle/>
                    <a:p>
                      <a:pPr marL="0" marR="0" algn="l">
                        <a:spcBef>
                          <a:spcPts val="0"/>
                        </a:spcBef>
                        <a:spcAft>
                          <a:spcPts val="0"/>
                        </a:spcAft>
                      </a:pPr>
                      <a:r>
                        <a:rPr lang="en-US" sz="1400" dirty="0"/>
                        <a:t>Select and implement automated discovery tooling from one of the AWS partners that can assist in inventory and dependency mapping with expert guidance </a:t>
                      </a:r>
                      <a:r>
                        <a:rPr lang="en-US" sz="1400" b="1" dirty="0">
                          <a:effectLst/>
                          <a:latin typeface="+mn-lt"/>
                          <a:ea typeface="Calibri" panose="020F0502020204030204" pitchFamily="34" charset="0"/>
                          <a:cs typeface="Times New Roman" panose="02020603050405020304" pitchFamily="18" charset="0"/>
                        </a:rPr>
                        <a:t>AND/OR</a:t>
                      </a:r>
                      <a:r>
                        <a:rPr lang="en-US" sz="1400" dirty="0">
                          <a:effectLst/>
                          <a:latin typeface="+mn-lt"/>
                          <a:ea typeface="Calibri" panose="020F0502020204030204" pitchFamily="34" charset="0"/>
                          <a:cs typeface="Times New Roman" panose="02020603050405020304" pitchFamily="18" charset="0"/>
                        </a:rPr>
                        <a:t> MAP Accelerator: Participate in the 1-day "Migration Immersion Day" that introduces AWS discovery and migration tools (e.g. CloudEndure, Application Discovery Service) and migrate an app in a simulated environment</a:t>
                      </a:r>
                    </a:p>
                  </a:txBody>
                  <a:tcPr marL="59351" marR="59351" marT="0" marB="0" anchor="ctr">
                    <a:solidFill>
                      <a:schemeClr val="tx2">
                        <a:lumMod val="85000"/>
                      </a:schemeClr>
                    </a:solidFill>
                  </a:tcPr>
                </a:tc>
                <a:extLst>
                  <a:ext uri="{0D108BD9-81ED-4DB2-BD59-A6C34878D82A}">
                    <a16:rowId xmlns:a16="http://schemas.microsoft.com/office/drawing/2014/main" val="150358458"/>
                  </a:ext>
                </a:extLst>
              </a:tr>
              <a:tr h="423743">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Determine and engage partners involved in the initiative</a:t>
                      </a:r>
                      <a:endParaRPr lang="en-US" sz="1400" b="0" i="0" u="none" strike="noStrike" kern="1200" dirty="0">
                        <a:solidFill>
                          <a:schemeClr val="dk1"/>
                        </a:solidFill>
                        <a:effectLst/>
                        <a:latin typeface="+mn-lt"/>
                        <a:ea typeface="+mn-ea"/>
                        <a:cs typeface="+mn-cs"/>
                      </a:endParaRP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Confirm decision regarding roles of internal teams, Partner, and AWS, and involve Partner (if applicable) in the migration strategy and planning as early as possible</a:t>
                      </a:r>
                      <a:endParaRPr lang="en-US" sz="1400" b="0" i="0" u="none" strike="noStrike" kern="1200" dirty="0">
                        <a:solidFill>
                          <a:schemeClr val="dk1"/>
                        </a:solidFill>
                        <a:effectLst/>
                        <a:latin typeface="+mn-lt"/>
                        <a:ea typeface="+mn-ea"/>
                        <a:cs typeface="+mn-cs"/>
                      </a:endParaRPr>
                    </a:p>
                  </a:txBody>
                  <a:tcPr marL="59351" marR="59351" marT="0" marB="0" anchor="ctr">
                    <a:solidFill>
                      <a:schemeClr val="tx2">
                        <a:lumMod val="95000"/>
                      </a:schemeClr>
                    </a:solidFill>
                  </a:tcPr>
                </a:tc>
                <a:extLst>
                  <a:ext uri="{0D108BD9-81ED-4DB2-BD59-A6C34878D82A}">
                    <a16:rowId xmlns:a16="http://schemas.microsoft.com/office/drawing/2014/main" val="1275948670"/>
                  </a:ext>
                </a:extLst>
              </a:tr>
              <a:tr h="423743">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Identify first movers</a:t>
                      </a:r>
                      <a:endParaRPr lang="en-US" sz="1400" b="0" i="0" u="none" strike="noStrike" kern="1200" dirty="0">
                        <a:solidFill>
                          <a:schemeClr val="dk1"/>
                        </a:solidFill>
                        <a:effectLst/>
                        <a:latin typeface="+mn-lt"/>
                        <a:ea typeface="+mn-ea"/>
                        <a:cs typeface="+mn-cs"/>
                      </a:endParaRP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dirty="0"/>
                        <a:t>Identify initial movers (generally require App Owner who is a promoter and an App that is not complex)</a:t>
                      </a:r>
                      <a:endParaRPr lang="en-US" sz="1400" b="0" i="0" u="none" strike="noStrike" kern="1200" dirty="0">
                        <a:solidFill>
                          <a:schemeClr val="dk1"/>
                        </a:solidFill>
                        <a:effectLst/>
                        <a:latin typeface="+mn-lt"/>
                        <a:ea typeface="+mn-ea"/>
                        <a:cs typeface="+mn-cs"/>
                      </a:endParaRPr>
                    </a:p>
                  </a:txBody>
                  <a:tcPr marL="59351" marR="59351" marT="0" marB="0" anchor="ctr">
                    <a:solidFill>
                      <a:schemeClr val="tx2">
                        <a:lumMod val="85000"/>
                      </a:schemeClr>
                    </a:solidFill>
                  </a:tcPr>
                </a:tc>
                <a:extLst>
                  <a:ext uri="{0D108BD9-81ED-4DB2-BD59-A6C34878D82A}">
                    <a16:rowId xmlns:a16="http://schemas.microsoft.com/office/drawing/2014/main" val="1900979494"/>
                  </a:ext>
                </a:extLst>
              </a:tr>
            </a:tbl>
          </a:graphicData>
        </a:graphic>
      </p:graphicFrame>
      <p:sp>
        <p:nvSpPr>
          <p:cNvPr id="6" name="TextBox 5">
            <a:extLst>
              <a:ext uri="{FF2B5EF4-FFF2-40B4-BE49-F238E27FC236}">
                <a16:creationId xmlns:a16="http://schemas.microsoft.com/office/drawing/2014/main" id="{F4D27B62-F33D-B54A-9EB6-7D526FFEC4DA}"/>
              </a:ext>
            </a:extLst>
          </p:cNvPr>
          <p:cNvSpPr txBox="1"/>
          <p:nvPr/>
        </p:nvSpPr>
        <p:spPr>
          <a:xfrm rot="20075619">
            <a:off x="1113913" y="2952943"/>
            <a:ext cx="12781299" cy="2323713"/>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This table is prepopulated based on AWS best practices and addresses common critical gaps to ensure the customer can move quickly to Mobilize and Migrate.  Delete only those which may have been completed or are not applicable, and/or modify/add based on MRA workshop observations. </a:t>
            </a:r>
          </a:p>
        </p:txBody>
      </p:sp>
    </p:spTree>
    <p:extLst>
      <p:ext uri="{BB962C8B-B14F-4D97-AF65-F5344CB8AC3E}">
        <p14:creationId xmlns:p14="http://schemas.microsoft.com/office/powerpoint/2010/main" val="2173084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Box 156">
            <a:extLst>
              <a:ext uri="{FF2B5EF4-FFF2-40B4-BE49-F238E27FC236}">
                <a16:creationId xmlns:a16="http://schemas.microsoft.com/office/drawing/2014/main" id="{6FEA073C-8198-AD44-B02C-4F80E6EB2217}"/>
              </a:ext>
            </a:extLst>
          </p:cNvPr>
          <p:cNvSpPr txBox="1"/>
          <p:nvPr/>
        </p:nvSpPr>
        <p:spPr>
          <a:xfrm>
            <a:off x="5790044" y="4117607"/>
            <a:ext cx="4051785" cy="1803571"/>
          </a:xfrm>
          <a:prstGeom prst="rect">
            <a:avLst/>
          </a:prstGeom>
          <a:noFill/>
        </p:spPr>
        <p:txBody>
          <a:bodyPr wrap="square" lIns="182880" tIns="146304" rIns="182880" bIns="146304" rtlCol="0">
            <a:spAutoFit/>
          </a:bodyPr>
          <a:lstStyle/>
          <a:p>
            <a:pPr defTabSz="731491">
              <a:defRPr/>
            </a:pPr>
            <a:r>
              <a:rPr lang="en-US" sz="1400" b="1" dirty="0">
                <a:solidFill>
                  <a:srgbClr val="FFC000"/>
                </a:solidFill>
                <a:latin typeface="Amazon Ember" panose="02000000000000000000" pitchFamily="2" charset="0"/>
                <a:ea typeface="Amazon Ember" panose="02000000000000000000" pitchFamily="2" charset="0"/>
              </a:rPr>
              <a:t>Next 2-4 Months</a:t>
            </a:r>
          </a:p>
          <a:p>
            <a:pPr defTabSz="731491">
              <a:defRPr/>
            </a:pPr>
            <a:endParaRPr lang="en-US" sz="1400" b="1" dirty="0">
              <a:solidFill>
                <a:srgbClr val="FFC000"/>
              </a:solidFill>
            </a:endParaRPr>
          </a:p>
          <a:p>
            <a:pPr marL="285750" indent="-285750">
              <a:spcAft>
                <a:spcPts val="1000"/>
              </a:spcAft>
              <a:buFont typeface="Arial" panose="020B0604020202020204" pitchFamily="34" charset="0"/>
              <a:buChar char="•"/>
            </a:pPr>
            <a:r>
              <a:rPr lang="en-US" sz="1400" dirty="0">
                <a:latin typeface="Amazon Ember" panose="02000000000000000000" pitchFamily="2" charset="0"/>
                <a:ea typeface="Amazon Ember" panose="02000000000000000000" pitchFamily="2" charset="0"/>
              </a:rPr>
              <a:t>Establish foundation and build a Migration Plan with the methodology, processes, tools and resources to accelerate your migration to the AWS platform</a:t>
            </a:r>
            <a:endParaRPr lang="en-US" sz="1400" dirty="0">
              <a:latin typeface="Amazon Ember"/>
            </a:endParaRPr>
          </a:p>
        </p:txBody>
      </p:sp>
      <p:sp>
        <p:nvSpPr>
          <p:cNvPr id="2" name="Title 1"/>
          <p:cNvSpPr>
            <a:spLocks noGrp="1"/>
          </p:cNvSpPr>
          <p:nvPr>
            <p:ph type="title" idx="4294967295"/>
          </p:nvPr>
        </p:nvSpPr>
        <p:spPr>
          <a:xfrm>
            <a:off x="647700" y="198438"/>
            <a:ext cx="13982700" cy="1079500"/>
          </a:xfrm>
        </p:spPr>
        <p:txBody>
          <a:bodyPr>
            <a:normAutofit/>
          </a:bodyPr>
          <a:lstStyle/>
          <a:p>
            <a:r>
              <a:rPr lang="en-US" dirty="0"/>
              <a:t>Post-MRA Cloud Migration Journey</a:t>
            </a:r>
          </a:p>
        </p:txBody>
      </p:sp>
      <p:sp>
        <p:nvSpPr>
          <p:cNvPr id="5" name="TextBox 4">
            <a:extLst>
              <a:ext uri="{FF2B5EF4-FFF2-40B4-BE49-F238E27FC236}">
                <a16:creationId xmlns:a16="http://schemas.microsoft.com/office/drawing/2014/main" id="{B20A698F-74AA-4827-9703-41D086E1ACC1}"/>
              </a:ext>
            </a:extLst>
          </p:cNvPr>
          <p:cNvSpPr txBox="1"/>
          <p:nvPr/>
        </p:nvSpPr>
        <p:spPr>
          <a:xfrm>
            <a:off x="10526817" y="4037740"/>
            <a:ext cx="3921983" cy="2060051"/>
          </a:xfrm>
          <a:prstGeom prst="rect">
            <a:avLst/>
          </a:prstGeom>
          <a:noFill/>
        </p:spPr>
        <p:txBody>
          <a:bodyPr wrap="square" lIns="182880" tIns="146304" rIns="182880" bIns="146304" rtlCol="0">
            <a:spAutoFit/>
          </a:bodyPr>
          <a:lstStyle/>
          <a:p>
            <a:pPr defTabSz="731491">
              <a:defRPr/>
            </a:pPr>
            <a:r>
              <a:rPr lang="en-US" sz="1400" b="1" dirty="0">
                <a:solidFill>
                  <a:srgbClr val="FFC000"/>
                </a:solidFill>
                <a:latin typeface="Amazon Ember" panose="02000000000000000000" pitchFamily="2" charset="0"/>
                <a:ea typeface="Amazon Ember" panose="02000000000000000000" pitchFamily="2" charset="0"/>
              </a:rPr>
              <a:t>Next 4 – N Months</a:t>
            </a:r>
          </a:p>
          <a:p>
            <a:pPr defTabSz="731491">
              <a:defRPr/>
            </a:pPr>
            <a:endParaRPr lang="en-US" sz="1400" b="1" dirty="0">
              <a:solidFill>
                <a:srgbClr val="A166FF"/>
              </a:solidFill>
              <a:latin typeface="Amazon Ember"/>
            </a:endParaRPr>
          </a:p>
          <a:p>
            <a:pPr marL="285750" indent="-285750">
              <a:spcAft>
                <a:spcPts val="1000"/>
              </a:spcAft>
              <a:buFont typeface="Arial" panose="020B0604020202020204" pitchFamily="34" charset="0"/>
              <a:buChar char="•"/>
            </a:pPr>
            <a:r>
              <a:rPr lang="en-US" sz="1400" dirty="0">
                <a:latin typeface="Amazon Ember" panose="02000000000000000000" pitchFamily="2" charset="0"/>
                <a:ea typeface="Amazon Ember" panose="02000000000000000000" pitchFamily="2" charset="0"/>
              </a:rPr>
              <a:t>Batch migration using migration factory concept</a:t>
            </a:r>
          </a:p>
          <a:p>
            <a:pPr marL="285750" indent="-285750">
              <a:spcAft>
                <a:spcPts val="1000"/>
              </a:spcAft>
              <a:buFont typeface="Arial" panose="020B0604020202020204" pitchFamily="34" charset="0"/>
              <a:buChar char="•"/>
            </a:pPr>
            <a:r>
              <a:rPr lang="en-US" sz="1400" dirty="0">
                <a:latin typeface="Amazon Ember" panose="02000000000000000000" pitchFamily="2" charset="0"/>
                <a:ea typeface="Amazon Ember" panose="02000000000000000000" pitchFamily="2" charset="0"/>
              </a:rPr>
              <a:t>Continuous service improvement by gap analysis and remedies</a:t>
            </a:r>
          </a:p>
          <a:p>
            <a:pPr marL="285750" indent="-285750">
              <a:spcAft>
                <a:spcPts val="1000"/>
              </a:spcAft>
              <a:buFont typeface="Arial" panose="020B0604020202020204" pitchFamily="34" charset="0"/>
              <a:buChar char="•"/>
            </a:pPr>
            <a:endParaRPr lang="en-US" sz="1400" dirty="0">
              <a:latin typeface="Amazon Ember" panose="02000000000000000000" pitchFamily="2" charset="0"/>
              <a:ea typeface="Amazon Ember" panose="02000000000000000000" pitchFamily="2" charset="0"/>
            </a:endParaRPr>
          </a:p>
        </p:txBody>
      </p:sp>
      <p:sp>
        <p:nvSpPr>
          <p:cNvPr id="9" name="TextBox 8">
            <a:extLst>
              <a:ext uri="{FF2B5EF4-FFF2-40B4-BE49-F238E27FC236}">
                <a16:creationId xmlns:a16="http://schemas.microsoft.com/office/drawing/2014/main" id="{E5FA6F79-56E4-40D6-B287-B52FA23FCC23}"/>
              </a:ext>
            </a:extLst>
          </p:cNvPr>
          <p:cNvSpPr txBox="1"/>
          <p:nvPr/>
        </p:nvSpPr>
        <p:spPr>
          <a:xfrm>
            <a:off x="543959" y="4151410"/>
            <a:ext cx="4667836" cy="1921552"/>
          </a:xfrm>
          <a:prstGeom prst="rect">
            <a:avLst/>
          </a:prstGeom>
          <a:noFill/>
        </p:spPr>
        <p:txBody>
          <a:bodyPr wrap="square" lIns="182880" tIns="146304" rIns="182880" bIns="146304" rtlCol="0">
            <a:spAutoFit/>
          </a:bodyPr>
          <a:lstStyle/>
          <a:p>
            <a:pPr defTabSz="731491">
              <a:spcBef>
                <a:spcPts val="600"/>
              </a:spcBef>
              <a:defRPr/>
            </a:pPr>
            <a:r>
              <a:rPr lang="en-US" sz="1400" b="1" dirty="0">
                <a:solidFill>
                  <a:srgbClr val="FFC000"/>
                </a:solidFill>
                <a:latin typeface="Amazon Ember" panose="02000000000000000000" pitchFamily="2" charset="0"/>
                <a:ea typeface="Amazon Ember" panose="02000000000000000000" pitchFamily="2" charset="0"/>
              </a:rPr>
              <a:t>Next 1-4 Weeks </a:t>
            </a:r>
          </a:p>
          <a:p>
            <a:pPr defTabSz="731491">
              <a:spcBef>
                <a:spcPts val="600"/>
              </a:spcBef>
              <a:defRPr/>
            </a:pPr>
            <a:endParaRPr 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spcAft>
                <a:spcPts val="1000"/>
              </a:spcAft>
              <a:buFont typeface="Arial" panose="020B0604020202020204" pitchFamily="34" charset="0"/>
              <a:buChar char="•"/>
            </a:pPr>
            <a:r>
              <a:rPr lang="en-US" sz="1400" dirty="0">
                <a:latin typeface="Amazon Ember" panose="02000000000000000000" pitchFamily="2" charset="0"/>
                <a:ea typeface="Amazon Ember" panose="02000000000000000000" pitchFamily="2" charset="0"/>
              </a:rPr>
              <a:t>Work on prioritize list of actions</a:t>
            </a:r>
          </a:p>
          <a:p>
            <a:pPr marL="285750" indent="-285750">
              <a:spcAft>
                <a:spcPts val="1000"/>
              </a:spcAft>
              <a:buFont typeface="Arial" panose="020B0604020202020204" pitchFamily="34" charset="0"/>
              <a:buChar char="•"/>
            </a:pPr>
            <a:r>
              <a:rPr lang="en-US" sz="1400" dirty="0">
                <a:latin typeface="Amazon Ember" panose="02000000000000000000" pitchFamily="2" charset="0"/>
                <a:ea typeface="Amazon Ember" panose="02000000000000000000" pitchFamily="2" charset="0"/>
              </a:rPr>
              <a:t>Build knowledge and skills on key migration topics prior to committing to the Mobilize phase</a:t>
            </a:r>
          </a:p>
          <a:p>
            <a:pPr marL="285750" indent="-285750">
              <a:spcAft>
                <a:spcPts val="600"/>
              </a:spcAft>
              <a:buFont typeface="Arial" panose="020B0604020202020204" pitchFamily="34" charset="0"/>
              <a:buChar char="•"/>
            </a:pPr>
            <a:endParaRPr lang="en-US" sz="1400" dirty="0">
              <a:latin typeface="Amazon Ember" panose="02000000000000000000" pitchFamily="2" charset="0"/>
              <a:ea typeface="Amazon Ember" panose="02000000000000000000" pitchFamily="2" charset="0"/>
            </a:endParaRPr>
          </a:p>
        </p:txBody>
      </p:sp>
      <p:grpSp>
        <p:nvGrpSpPr>
          <p:cNvPr id="188" name="Group 187">
            <a:extLst>
              <a:ext uri="{FF2B5EF4-FFF2-40B4-BE49-F238E27FC236}">
                <a16:creationId xmlns:a16="http://schemas.microsoft.com/office/drawing/2014/main" id="{F738042D-A349-491C-9D7E-1BEA028595BB}"/>
              </a:ext>
            </a:extLst>
          </p:cNvPr>
          <p:cNvGrpSpPr/>
          <p:nvPr/>
        </p:nvGrpSpPr>
        <p:grpSpPr>
          <a:xfrm rot="16200000">
            <a:off x="5313072" y="4312904"/>
            <a:ext cx="241217" cy="241217"/>
            <a:chOff x="2286025" y="2846413"/>
            <a:chExt cx="745284" cy="745284"/>
          </a:xfrm>
        </p:grpSpPr>
        <p:sp>
          <p:nvSpPr>
            <p:cNvPr id="189" name="Oval 188">
              <a:extLst>
                <a:ext uri="{FF2B5EF4-FFF2-40B4-BE49-F238E27FC236}">
                  <a16:creationId xmlns:a16="http://schemas.microsoft.com/office/drawing/2014/main" id="{ACE38231-3AAA-483E-883E-3244A653A706}"/>
                </a:ext>
              </a:extLst>
            </p:cNvPr>
            <p:cNvSpPr/>
            <p:nvPr/>
          </p:nvSpPr>
          <p:spPr>
            <a:xfrm>
              <a:off x="2286025" y="2846413"/>
              <a:ext cx="745284" cy="745284"/>
            </a:xfrm>
            <a:prstGeom prst="ellipse">
              <a:avLst/>
            </a:pr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731491">
                <a:defRPr/>
              </a:pPr>
              <a:endParaRPr lang="en-US" dirty="0">
                <a:solidFill>
                  <a:srgbClr val="FFFFFF"/>
                </a:solidFill>
                <a:latin typeface="Amazon Ember"/>
              </a:endParaRPr>
            </a:p>
          </p:txBody>
        </p:sp>
        <p:grpSp>
          <p:nvGrpSpPr>
            <p:cNvPr id="190" name="Group 189">
              <a:extLst>
                <a:ext uri="{FF2B5EF4-FFF2-40B4-BE49-F238E27FC236}">
                  <a16:creationId xmlns:a16="http://schemas.microsoft.com/office/drawing/2014/main" id="{44C683AD-875D-441A-A202-0BA2CC1B4872}"/>
                </a:ext>
              </a:extLst>
            </p:cNvPr>
            <p:cNvGrpSpPr/>
            <p:nvPr/>
          </p:nvGrpSpPr>
          <p:grpSpPr>
            <a:xfrm>
              <a:off x="2533463" y="3048376"/>
              <a:ext cx="250408" cy="325097"/>
              <a:chOff x="2534444" y="3048376"/>
              <a:chExt cx="250408" cy="325097"/>
            </a:xfrm>
          </p:grpSpPr>
          <p:cxnSp>
            <p:nvCxnSpPr>
              <p:cNvPr id="191" name="Straight Connector 190">
                <a:extLst>
                  <a:ext uri="{FF2B5EF4-FFF2-40B4-BE49-F238E27FC236}">
                    <a16:creationId xmlns:a16="http://schemas.microsoft.com/office/drawing/2014/main" id="{E9F336B6-2A6E-417A-85F0-68294F48445C}"/>
                  </a:ext>
                </a:extLst>
              </p:cNvPr>
              <p:cNvCxnSpPr>
                <a:cxnSpLocks/>
              </p:cNvCxnSpPr>
              <p:nvPr/>
            </p:nvCxnSpPr>
            <p:spPr>
              <a:xfrm rot="5400000">
                <a:off x="2498479" y="3210925"/>
                <a:ext cx="325097" cy="0"/>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192" name="Straight Connector 191">
                <a:extLst>
                  <a:ext uri="{FF2B5EF4-FFF2-40B4-BE49-F238E27FC236}">
                    <a16:creationId xmlns:a16="http://schemas.microsoft.com/office/drawing/2014/main" id="{3D39D2FB-BE5E-4C1B-972D-CE5E3BEE0666}"/>
                  </a:ext>
                </a:extLst>
              </p:cNvPr>
              <p:cNvCxnSpPr>
                <a:cxnSpLocks/>
              </p:cNvCxnSpPr>
              <p:nvPr/>
            </p:nvCxnSpPr>
            <p:spPr>
              <a:xfrm>
                <a:off x="2534444" y="3249858"/>
                <a:ext cx="123201"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193" name="Straight Connector 192">
                <a:extLst>
                  <a:ext uri="{FF2B5EF4-FFF2-40B4-BE49-F238E27FC236}">
                    <a16:creationId xmlns:a16="http://schemas.microsoft.com/office/drawing/2014/main" id="{F63DB14A-38C9-4DE1-9093-1F1C4E8A3FF7}"/>
                  </a:ext>
                </a:extLst>
              </p:cNvPr>
              <p:cNvCxnSpPr>
                <a:cxnSpLocks/>
              </p:cNvCxnSpPr>
              <p:nvPr/>
            </p:nvCxnSpPr>
            <p:spPr>
              <a:xfrm rot="5400000">
                <a:off x="2663031" y="3249860"/>
                <a:ext cx="123202"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grpSp>
      </p:grpSp>
      <p:cxnSp>
        <p:nvCxnSpPr>
          <p:cNvPr id="4" name="Straight Connector 3">
            <a:extLst>
              <a:ext uri="{FF2B5EF4-FFF2-40B4-BE49-F238E27FC236}">
                <a16:creationId xmlns:a16="http://schemas.microsoft.com/office/drawing/2014/main" id="{D1381C91-1749-4AA4-BC8E-98EE0C742D33}"/>
              </a:ext>
            </a:extLst>
          </p:cNvPr>
          <p:cNvCxnSpPr>
            <a:cxnSpLocks/>
          </p:cNvCxnSpPr>
          <p:nvPr/>
        </p:nvCxnSpPr>
        <p:spPr>
          <a:xfrm>
            <a:off x="5944865" y="4545197"/>
            <a:ext cx="2018576" cy="0"/>
          </a:xfrm>
          <a:prstGeom prst="line">
            <a:avLst/>
          </a:prstGeom>
          <a:ln>
            <a:solidFill>
              <a:srgbClr val="FDC500"/>
            </a:solidFill>
          </a:ln>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682C59D1-0C02-B348-B42C-63DCBF33265E}"/>
              </a:ext>
            </a:extLst>
          </p:cNvPr>
          <p:cNvCxnSpPr>
            <a:cxnSpLocks/>
          </p:cNvCxnSpPr>
          <p:nvPr/>
        </p:nvCxnSpPr>
        <p:spPr>
          <a:xfrm>
            <a:off x="690698" y="4573309"/>
            <a:ext cx="2392307" cy="0"/>
          </a:xfrm>
          <a:prstGeom prst="line">
            <a:avLst/>
          </a:prstGeom>
          <a:ln>
            <a:solidFill>
              <a:srgbClr val="FDC500"/>
            </a:solidFill>
          </a:ln>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3207AE55-7095-914B-B864-4E1C0C5B24C3}"/>
              </a:ext>
            </a:extLst>
          </p:cNvPr>
          <p:cNvCxnSpPr>
            <a:cxnSpLocks/>
          </p:cNvCxnSpPr>
          <p:nvPr/>
        </p:nvCxnSpPr>
        <p:spPr>
          <a:xfrm>
            <a:off x="10673410" y="4485751"/>
            <a:ext cx="2018576" cy="0"/>
          </a:xfrm>
          <a:prstGeom prst="line">
            <a:avLst/>
          </a:prstGeom>
          <a:ln>
            <a:solidFill>
              <a:srgbClr val="FDC500"/>
            </a:solidFill>
          </a:ln>
        </p:spPr>
        <p:style>
          <a:lnRef idx="2">
            <a:schemeClr val="accent1"/>
          </a:lnRef>
          <a:fillRef idx="0">
            <a:schemeClr val="accent1"/>
          </a:fillRef>
          <a:effectRef idx="1">
            <a:schemeClr val="accent1"/>
          </a:effectRef>
          <a:fontRef idx="minor">
            <a:schemeClr val="tx1"/>
          </a:fontRef>
        </p:style>
      </p:cxnSp>
      <p:grpSp>
        <p:nvGrpSpPr>
          <p:cNvPr id="285" name="Group 284">
            <a:extLst>
              <a:ext uri="{FF2B5EF4-FFF2-40B4-BE49-F238E27FC236}">
                <a16:creationId xmlns:a16="http://schemas.microsoft.com/office/drawing/2014/main" id="{6D81CCB0-461A-CF40-9340-40BCDFC0EF6D}"/>
              </a:ext>
            </a:extLst>
          </p:cNvPr>
          <p:cNvGrpSpPr/>
          <p:nvPr/>
        </p:nvGrpSpPr>
        <p:grpSpPr>
          <a:xfrm rot="16200000">
            <a:off x="10184323" y="4167644"/>
            <a:ext cx="241217" cy="241217"/>
            <a:chOff x="2286025" y="2846413"/>
            <a:chExt cx="745284" cy="745284"/>
          </a:xfrm>
        </p:grpSpPr>
        <p:sp>
          <p:nvSpPr>
            <p:cNvPr id="286" name="Oval 285">
              <a:extLst>
                <a:ext uri="{FF2B5EF4-FFF2-40B4-BE49-F238E27FC236}">
                  <a16:creationId xmlns:a16="http://schemas.microsoft.com/office/drawing/2014/main" id="{E5A6AFAB-33BA-9C40-8407-46DB3EB7A978}"/>
                </a:ext>
              </a:extLst>
            </p:cNvPr>
            <p:cNvSpPr/>
            <p:nvPr/>
          </p:nvSpPr>
          <p:spPr>
            <a:xfrm>
              <a:off x="2286025" y="2846413"/>
              <a:ext cx="745284" cy="745284"/>
            </a:xfrm>
            <a:prstGeom prst="ellipse">
              <a:avLst/>
            </a:pr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731491">
                <a:defRPr/>
              </a:pPr>
              <a:endParaRPr lang="en-US" dirty="0">
                <a:solidFill>
                  <a:srgbClr val="FFFFFF"/>
                </a:solidFill>
                <a:latin typeface="Amazon Ember"/>
              </a:endParaRPr>
            </a:p>
          </p:txBody>
        </p:sp>
        <p:grpSp>
          <p:nvGrpSpPr>
            <p:cNvPr id="287" name="Group 286">
              <a:extLst>
                <a:ext uri="{FF2B5EF4-FFF2-40B4-BE49-F238E27FC236}">
                  <a16:creationId xmlns:a16="http://schemas.microsoft.com/office/drawing/2014/main" id="{41B6DE26-367D-8E4E-9AA4-56AB824192B9}"/>
                </a:ext>
              </a:extLst>
            </p:cNvPr>
            <p:cNvGrpSpPr/>
            <p:nvPr/>
          </p:nvGrpSpPr>
          <p:grpSpPr>
            <a:xfrm>
              <a:off x="2533463" y="3048376"/>
              <a:ext cx="250408" cy="325097"/>
              <a:chOff x="2534444" y="3048376"/>
              <a:chExt cx="250408" cy="325097"/>
            </a:xfrm>
          </p:grpSpPr>
          <p:cxnSp>
            <p:nvCxnSpPr>
              <p:cNvPr id="288" name="Straight Connector 287">
                <a:extLst>
                  <a:ext uri="{FF2B5EF4-FFF2-40B4-BE49-F238E27FC236}">
                    <a16:creationId xmlns:a16="http://schemas.microsoft.com/office/drawing/2014/main" id="{49A9DFE0-6243-E940-A1B2-E11AAD5B429C}"/>
                  </a:ext>
                </a:extLst>
              </p:cNvPr>
              <p:cNvCxnSpPr>
                <a:cxnSpLocks/>
              </p:cNvCxnSpPr>
              <p:nvPr/>
            </p:nvCxnSpPr>
            <p:spPr>
              <a:xfrm rot="5400000">
                <a:off x="2498479" y="3210925"/>
                <a:ext cx="325097" cy="0"/>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289" name="Straight Connector 288">
                <a:extLst>
                  <a:ext uri="{FF2B5EF4-FFF2-40B4-BE49-F238E27FC236}">
                    <a16:creationId xmlns:a16="http://schemas.microsoft.com/office/drawing/2014/main" id="{8E55BC9B-265C-6F46-93BA-A2731F12117D}"/>
                  </a:ext>
                </a:extLst>
              </p:cNvPr>
              <p:cNvCxnSpPr>
                <a:cxnSpLocks/>
              </p:cNvCxnSpPr>
              <p:nvPr/>
            </p:nvCxnSpPr>
            <p:spPr>
              <a:xfrm>
                <a:off x="2534444" y="3249858"/>
                <a:ext cx="123201"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290" name="Straight Connector 289">
                <a:extLst>
                  <a:ext uri="{FF2B5EF4-FFF2-40B4-BE49-F238E27FC236}">
                    <a16:creationId xmlns:a16="http://schemas.microsoft.com/office/drawing/2014/main" id="{DD44A71F-6736-9D42-8A9D-70522B0B2568}"/>
                  </a:ext>
                </a:extLst>
              </p:cNvPr>
              <p:cNvCxnSpPr>
                <a:cxnSpLocks/>
              </p:cNvCxnSpPr>
              <p:nvPr/>
            </p:nvCxnSpPr>
            <p:spPr>
              <a:xfrm rot="5400000">
                <a:off x="2663031" y="3249860"/>
                <a:ext cx="123202"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grpSp>
      </p:grpSp>
      <p:grpSp>
        <p:nvGrpSpPr>
          <p:cNvPr id="291" name="Group 290">
            <a:extLst>
              <a:ext uri="{FF2B5EF4-FFF2-40B4-BE49-F238E27FC236}">
                <a16:creationId xmlns:a16="http://schemas.microsoft.com/office/drawing/2014/main" id="{55D68E23-9BFB-7549-9A7F-9ABCB1191DE6}"/>
              </a:ext>
            </a:extLst>
          </p:cNvPr>
          <p:cNvGrpSpPr/>
          <p:nvPr/>
        </p:nvGrpSpPr>
        <p:grpSpPr>
          <a:xfrm rot="16200000">
            <a:off x="252104" y="4312903"/>
            <a:ext cx="241217" cy="241217"/>
            <a:chOff x="2286025" y="2846413"/>
            <a:chExt cx="745284" cy="745284"/>
          </a:xfrm>
        </p:grpSpPr>
        <p:sp>
          <p:nvSpPr>
            <p:cNvPr id="292" name="Oval 291">
              <a:extLst>
                <a:ext uri="{FF2B5EF4-FFF2-40B4-BE49-F238E27FC236}">
                  <a16:creationId xmlns:a16="http://schemas.microsoft.com/office/drawing/2014/main" id="{EE7D6449-70F9-6345-843B-6BA51FB8784F}"/>
                </a:ext>
              </a:extLst>
            </p:cNvPr>
            <p:cNvSpPr/>
            <p:nvPr/>
          </p:nvSpPr>
          <p:spPr>
            <a:xfrm>
              <a:off x="2286025" y="2846413"/>
              <a:ext cx="745284" cy="745284"/>
            </a:xfrm>
            <a:prstGeom prst="ellipse">
              <a:avLst/>
            </a:pr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731491">
                <a:defRPr/>
              </a:pPr>
              <a:endParaRPr lang="en-US" dirty="0">
                <a:solidFill>
                  <a:srgbClr val="FFFFFF"/>
                </a:solidFill>
                <a:latin typeface="Amazon Ember"/>
              </a:endParaRPr>
            </a:p>
          </p:txBody>
        </p:sp>
        <p:grpSp>
          <p:nvGrpSpPr>
            <p:cNvPr id="293" name="Group 292">
              <a:extLst>
                <a:ext uri="{FF2B5EF4-FFF2-40B4-BE49-F238E27FC236}">
                  <a16:creationId xmlns:a16="http://schemas.microsoft.com/office/drawing/2014/main" id="{4379109F-E3FA-AF43-B4B8-B13D2954E0F2}"/>
                </a:ext>
              </a:extLst>
            </p:cNvPr>
            <p:cNvGrpSpPr/>
            <p:nvPr/>
          </p:nvGrpSpPr>
          <p:grpSpPr>
            <a:xfrm>
              <a:off x="2533463" y="3048376"/>
              <a:ext cx="250408" cy="325097"/>
              <a:chOff x="2534444" y="3048376"/>
              <a:chExt cx="250408" cy="325097"/>
            </a:xfrm>
          </p:grpSpPr>
          <p:cxnSp>
            <p:nvCxnSpPr>
              <p:cNvPr id="294" name="Straight Connector 293">
                <a:extLst>
                  <a:ext uri="{FF2B5EF4-FFF2-40B4-BE49-F238E27FC236}">
                    <a16:creationId xmlns:a16="http://schemas.microsoft.com/office/drawing/2014/main" id="{77A85082-252F-6140-B29E-F94FFB333D76}"/>
                  </a:ext>
                </a:extLst>
              </p:cNvPr>
              <p:cNvCxnSpPr>
                <a:cxnSpLocks/>
              </p:cNvCxnSpPr>
              <p:nvPr/>
            </p:nvCxnSpPr>
            <p:spPr>
              <a:xfrm rot="5400000">
                <a:off x="2498479" y="3210925"/>
                <a:ext cx="325097" cy="0"/>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295" name="Straight Connector 294">
                <a:extLst>
                  <a:ext uri="{FF2B5EF4-FFF2-40B4-BE49-F238E27FC236}">
                    <a16:creationId xmlns:a16="http://schemas.microsoft.com/office/drawing/2014/main" id="{2BD08D06-1EF0-E24F-834D-CAEAADFAB33F}"/>
                  </a:ext>
                </a:extLst>
              </p:cNvPr>
              <p:cNvCxnSpPr>
                <a:cxnSpLocks/>
              </p:cNvCxnSpPr>
              <p:nvPr/>
            </p:nvCxnSpPr>
            <p:spPr>
              <a:xfrm>
                <a:off x="2534444" y="3249858"/>
                <a:ext cx="123201"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cxnSp>
            <p:nvCxnSpPr>
              <p:cNvPr id="296" name="Straight Connector 295">
                <a:extLst>
                  <a:ext uri="{FF2B5EF4-FFF2-40B4-BE49-F238E27FC236}">
                    <a16:creationId xmlns:a16="http://schemas.microsoft.com/office/drawing/2014/main" id="{D87E3A62-14BE-914F-80B0-ECCD5D2F7141}"/>
                  </a:ext>
                </a:extLst>
              </p:cNvPr>
              <p:cNvCxnSpPr>
                <a:cxnSpLocks/>
              </p:cNvCxnSpPr>
              <p:nvPr/>
            </p:nvCxnSpPr>
            <p:spPr>
              <a:xfrm rot="5400000">
                <a:off x="2663031" y="3249860"/>
                <a:ext cx="123202" cy="120441"/>
              </a:xfrm>
              <a:prstGeom prst="line">
                <a:avLst/>
              </a:prstGeom>
              <a:noFill/>
              <a:ln w="19050" cap="rnd">
                <a:solidFill>
                  <a:srgbClr val="FDC500"/>
                </a:solidFill>
                <a:prstDash val="solid"/>
                <a:round/>
                <a:headEnd/>
                <a:tailEnd type="none" w="med" len="sm"/>
              </a:ln>
              <a:extLst>
                <a:ext uri="{909E8E84-426E-40DD-AFC4-6F175D3DCCD1}">
                  <a14:hiddenFill xmlns:a14="http://schemas.microsoft.com/office/drawing/2010/main">
                    <a:solidFill>
                      <a:srgbClr val="FFFFFF"/>
                    </a:solidFill>
                  </a14:hiddenFill>
                </a:ext>
              </a:extLst>
            </p:spPr>
          </p:cxnSp>
        </p:grpSp>
      </p:grpSp>
      <p:grpSp>
        <p:nvGrpSpPr>
          <p:cNvPr id="155" name="Group 154">
            <a:extLst>
              <a:ext uri="{FF2B5EF4-FFF2-40B4-BE49-F238E27FC236}">
                <a16:creationId xmlns:a16="http://schemas.microsoft.com/office/drawing/2014/main" id="{A483C5AA-9449-8E48-9DA1-CF572E8C17CE}"/>
              </a:ext>
            </a:extLst>
          </p:cNvPr>
          <p:cNvGrpSpPr/>
          <p:nvPr/>
        </p:nvGrpSpPr>
        <p:grpSpPr>
          <a:xfrm>
            <a:off x="8019244" y="2594276"/>
            <a:ext cx="1064903" cy="730456"/>
            <a:chOff x="8570685" y="2717083"/>
            <a:chExt cx="1536222" cy="1053751"/>
          </a:xfrm>
        </p:grpSpPr>
        <p:sp>
          <p:nvSpPr>
            <p:cNvPr id="168" name="Freeform: Shape 43">
              <a:extLst>
                <a:ext uri="{FF2B5EF4-FFF2-40B4-BE49-F238E27FC236}">
                  <a16:creationId xmlns:a16="http://schemas.microsoft.com/office/drawing/2014/main" id="{86EFAEF3-0EF4-7A49-B5A7-11C93476A7F9}"/>
                </a:ext>
              </a:extLst>
            </p:cNvPr>
            <p:cNvSpPr/>
            <p:nvPr/>
          </p:nvSpPr>
          <p:spPr>
            <a:xfrm>
              <a:off x="8570685" y="2968138"/>
              <a:ext cx="725842" cy="802696"/>
            </a:xfrm>
            <a:custGeom>
              <a:avLst/>
              <a:gdLst>
                <a:gd name="connsiteX0" fmla="*/ 254257 w 273567"/>
                <a:gd name="connsiteY0" fmla="*/ 91082 h 302533"/>
                <a:gd name="connsiteX1" fmla="*/ 264878 w 273567"/>
                <a:gd name="connsiteY1" fmla="*/ 75955 h 302533"/>
                <a:gd name="connsiteX2" fmla="*/ 271959 w 273567"/>
                <a:gd name="connsiteY2" fmla="*/ 65978 h 302533"/>
                <a:gd name="connsiteX3" fmla="*/ 265844 w 273567"/>
                <a:gd name="connsiteY3" fmla="*/ 59219 h 302533"/>
                <a:gd name="connsiteX4" fmla="*/ 259729 w 273567"/>
                <a:gd name="connsiteY4" fmla="*/ 52461 h 302533"/>
                <a:gd name="connsiteX5" fmla="*/ 253613 w 273567"/>
                <a:gd name="connsiteY5" fmla="*/ 45702 h 302533"/>
                <a:gd name="connsiteX6" fmla="*/ 212739 w 273567"/>
                <a:gd name="connsiteY6" fmla="*/ 66622 h 302533"/>
                <a:gd name="connsiteX7" fmla="*/ 183451 w 273567"/>
                <a:gd name="connsiteY7" fmla="*/ 52139 h 302533"/>
                <a:gd name="connsiteX8" fmla="*/ 175405 w 273567"/>
                <a:gd name="connsiteY8" fmla="*/ 7081 h 302533"/>
                <a:gd name="connsiteX9" fmla="*/ 166715 w 273567"/>
                <a:gd name="connsiteY9" fmla="*/ 6115 h 302533"/>
                <a:gd name="connsiteX10" fmla="*/ 157382 w 273567"/>
                <a:gd name="connsiteY10" fmla="*/ 5471 h 302533"/>
                <a:gd name="connsiteX11" fmla="*/ 148370 w 273567"/>
                <a:gd name="connsiteY11" fmla="*/ 4828 h 302533"/>
                <a:gd name="connsiteX12" fmla="*/ 134531 w 273567"/>
                <a:gd name="connsiteY12" fmla="*/ 48277 h 302533"/>
                <a:gd name="connsiteX13" fmla="*/ 103312 w 273567"/>
                <a:gd name="connsiteY13" fmla="*/ 58898 h 302533"/>
                <a:gd name="connsiteX14" fmla="*/ 65656 w 273567"/>
                <a:gd name="connsiteY14" fmla="*/ 32828 h 302533"/>
                <a:gd name="connsiteX15" fmla="*/ 58898 w 273567"/>
                <a:gd name="connsiteY15" fmla="*/ 38943 h 302533"/>
                <a:gd name="connsiteX16" fmla="*/ 52139 w 273567"/>
                <a:gd name="connsiteY16" fmla="*/ 45058 h 302533"/>
                <a:gd name="connsiteX17" fmla="*/ 45380 w 273567"/>
                <a:gd name="connsiteY17" fmla="*/ 51173 h 302533"/>
                <a:gd name="connsiteX18" fmla="*/ 66300 w 273567"/>
                <a:gd name="connsiteY18" fmla="*/ 91726 h 302533"/>
                <a:gd name="connsiteX19" fmla="*/ 51817 w 273567"/>
                <a:gd name="connsiteY19" fmla="*/ 121335 h 302533"/>
                <a:gd name="connsiteX20" fmla="*/ 6759 w 273567"/>
                <a:gd name="connsiteY20" fmla="*/ 129381 h 302533"/>
                <a:gd name="connsiteX21" fmla="*/ 6115 w 273567"/>
                <a:gd name="connsiteY21" fmla="*/ 138393 h 302533"/>
                <a:gd name="connsiteX22" fmla="*/ 5471 w 273567"/>
                <a:gd name="connsiteY22" fmla="*/ 147083 h 302533"/>
                <a:gd name="connsiteX23" fmla="*/ 4828 w 273567"/>
                <a:gd name="connsiteY23" fmla="*/ 156095 h 302533"/>
                <a:gd name="connsiteX24" fmla="*/ 48277 w 273567"/>
                <a:gd name="connsiteY24" fmla="*/ 170256 h 302533"/>
                <a:gd name="connsiteX25" fmla="*/ 58898 w 273567"/>
                <a:gd name="connsiteY25" fmla="*/ 201153 h 302533"/>
                <a:gd name="connsiteX26" fmla="*/ 32828 w 273567"/>
                <a:gd name="connsiteY26" fmla="*/ 238809 h 302533"/>
                <a:gd name="connsiteX27" fmla="*/ 38943 w 273567"/>
                <a:gd name="connsiteY27" fmla="*/ 245567 h 302533"/>
                <a:gd name="connsiteX28" fmla="*/ 45058 w 273567"/>
                <a:gd name="connsiteY28" fmla="*/ 252326 h 302533"/>
                <a:gd name="connsiteX29" fmla="*/ 51173 w 273567"/>
                <a:gd name="connsiteY29" fmla="*/ 259085 h 302533"/>
                <a:gd name="connsiteX30" fmla="*/ 92048 w 273567"/>
                <a:gd name="connsiteY30" fmla="*/ 238165 h 302533"/>
                <a:gd name="connsiteX31" fmla="*/ 121335 w 273567"/>
                <a:gd name="connsiteY31" fmla="*/ 252648 h 302533"/>
                <a:gd name="connsiteX32" fmla="*/ 129381 w 273567"/>
                <a:gd name="connsiteY32" fmla="*/ 297706 h 302533"/>
                <a:gd name="connsiteX33" fmla="*/ 138393 w 273567"/>
                <a:gd name="connsiteY33" fmla="*/ 298350 h 302533"/>
                <a:gd name="connsiteX34" fmla="*/ 147405 w 273567"/>
                <a:gd name="connsiteY34" fmla="*/ 298994 h 302533"/>
                <a:gd name="connsiteX35" fmla="*/ 156416 w 273567"/>
                <a:gd name="connsiteY35" fmla="*/ 299637 h 302533"/>
                <a:gd name="connsiteX36" fmla="*/ 170578 w 273567"/>
                <a:gd name="connsiteY36" fmla="*/ 255866 h 302533"/>
                <a:gd name="connsiteX37" fmla="*/ 201153 w 273567"/>
                <a:gd name="connsiteY37" fmla="*/ 245567 h 302533"/>
                <a:gd name="connsiteX38" fmla="*/ 239130 w 273567"/>
                <a:gd name="connsiteY38" fmla="*/ 271637 h 302533"/>
                <a:gd name="connsiteX39" fmla="*/ 245889 w 273567"/>
                <a:gd name="connsiteY39" fmla="*/ 265522 h 302533"/>
                <a:gd name="connsiteX40" fmla="*/ 252648 w 273567"/>
                <a:gd name="connsiteY40" fmla="*/ 259407 h 302533"/>
                <a:gd name="connsiteX41" fmla="*/ 259407 w 273567"/>
                <a:gd name="connsiteY41" fmla="*/ 253292 h 302533"/>
                <a:gd name="connsiteX42" fmla="*/ 250717 w 273567"/>
                <a:gd name="connsiteY42" fmla="*/ 236556 h 302533"/>
                <a:gd name="connsiteX43" fmla="*/ 243314 w 273567"/>
                <a:gd name="connsiteY43" fmla="*/ 222395 h 302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73567" h="302533">
                  <a:moveTo>
                    <a:pt x="254257" y="91082"/>
                  </a:moveTo>
                  <a:lnTo>
                    <a:pt x="264878" y="75955"/>
                  </a:lnTo>
                  <a:lnTo>
                    <a:pt x="271959" y="65978"/>
                  </a:lnTo>
                  <a:lnTo>
                    <a:pt x="265844" y="59219"/>
                  </a:lnTo>
                  <a:lnTo>
                    <a:pt x="259729" y="52461"/>
                  </a:lnTo>
                  <a:lnTo>
                    <a:pt x="253613" y="45702"/>
                  </a:lnTo>
                  <a:lnTo>
                    <a:pt x="212739" y="66622"/>
                  </a:lnTo>
                  <a:cubicBezTo>
                    <a:pt x="203728" y="60185"/>
                    <a:pt x="193750" y="55357"/>
                    <a:pt x="183451" y="52139"/>
                  </a:cubicBezTo>
                  <a:lnTo>
                    <a:pt x="175405" y="7081"/>
                  </a:lnTo>
                  <a:lnTo>
                    <a:pt x="166715" y="6115"/>
                  </a:lnTo>
                  <a:lnTo>
                    <a:pt x="157382" y="5471"/>
                  </a:lnTo>
                  <a:lnTo>
                    <a:pt x="148370" y="4828"/>
                  </a:lnTo>
                  <a:lnTo>
                    <a:pt x="134531" y="48277"/>
                  </a:lnTo>
                  <a:cubicBezTo>
                    <a:pt x="123910" y="50208"/>
                    <a:pt x="113289" y="53748"/>
                    <a:pt x="103312" y="58898"/>
                  </a:cubicBezTo>
                  <a:lnTo>
                    <a:pt x="65656" y="32828"/>
                  </a:lnTo>
                  <a:lnTo>
                    <a:pt x="58898" y="38943"/>
                  </a:lnTo>
                  <a:lnTo>
                    <a:pt x="52139" y="45058"/>
                  </a:lnTo>
                  <a:lnTo>
                    <a:pt x="45380" y="51173"/>
                  </a:lnTo>
                  <a:lnTo>
                    <a:pt x="66300" y="91726"/>
                  </a:lnTo>
                  <a:cubicBezTo>
                    <a:pt x="59863" y="100737"/>
                    <a:pt x="55035" y="110714"/>
                    <a:pt x="51817" y="121335"/>
                  </a:cubicBezTo>
                  <a:lnTo>
                    <a:pt x="6759" y="129381"/>
                  </a:lnTo>
                  <a:lnTo>
                    <a:pt x="6115" y="138393"/>
                  </a:lnTo>
                  <a:lnTo>
                    <a:pt x="5471" y="147083"/>
                  </a:lnTo>
                  <a:lnTo>
                    <a:pt x="4828" y="156095"/>
                  </a:lnTo>
                  <a:lnTo>
                    <a:pt x="48277" y="170256"/>
                  </a:lnTo>
                  <a:cubicBezTo>
                    <a:pt x="50208" y="180877"/>
                    <a:pt x="53748" y="191497"/>
                    <a:pt x="58898" y="201153"/>
                  </a:cubicBezTo>
                  <a:lnTo>
                    <a:pt x="32828" y="238809"/>
                  </a:lnTo>
                  <a:lnTo>
                    <a:pt x="38943" y="245567"/>
                  </a:lnTo>
                  <a:lnTo>
                    <a:pt x="45058" y="252326"/>
                  </a:lnTo>
                  <a:lnTo>
                    <a:pt x="51173" y="259085"/>
                  </a:lnTo>
                  <a:lnTo>
                    <a:pt x="92048" y="238165"/>
                  </a:lnTo>
                  <a:cubicBezTo>
                    <a:pt x="101059" y="244602"/>
                    <a:pt x="111036" y="249429"/>
                    <a:pt x="121335" y="252648"/>
                  </a:cubicBezTo>
                  <a:lnTo>
                    <a:pt x="129381" y="297706"/>
                  </a:lnTo>
                  <a:lnTo>
                    <a:pt x="138393" y="298350"/>
                  </a:lnTo>
                  <a:lnTo>
                    <a:pt x="147405" y="298994"/>
                  </a:lnTo>
                  <a:lnTo>
                    <a:pt x="156416" y="299637"/>
                  </a:lnTo>
                  <a:lnTo>
                    <a:pt x="170578" y="255866"/>
                  </a:lnTo>
                  <a:cubicBezTo>
                    <a:pt x="181198" y="253935"/>
                    <a:pt x="191497" y="250395"/>
                    <a:pt x="201153" y="245567"/>
                  </a:cubicBezTo>
                  <a:lnTo>
                    <a:pt x="239130" y="271637"/>
                  </a:lnTo>
                  <a:lnTo>
                    <a:pt x="245889" y="265522"/>
                  </a:lnTo>
                  <a:lnTo>
                    <a:pt x="252648" y="259407"/>
                  </a:lnTo>
                  <a:lnTo>
                    <a:pt x="259407" y="253292"/>
                  </a:lnTo>
                  <a:lnTo>
                    <a:pt x="250717" y="236556"/>
                  </a:lnTo>
                  <a:lnTo>
                    <a:pt x="243314" y="222395"/>
                  </a:lnTo>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69" name="Freeform: Shape 44">
              <a:extLst>
                <a:ext uri="{FF2B5EF4-FFF2-40B4-BE49-F238E27FC236}">
                  <a16:creationId xmlns:a16="http://schemas.microsoft.com/office/drawing/2014/main" id="{BF278B01-42A5-CD44-822F-36B1D9F0B4EF}"/>
                </a:ext>
              </a:extLst>
            </p:cNvPr>
            <p:cNvSpPr/>
            <p:nvPr/>
          </p:nvSpPr>
          <p:spPr>
            <a:xfrm>
              <a:off x="8805515" y="3203823"/>
              <a:ext cx="281798" cy="333032"/>
            </a:xfrm>
            <a:custGeom>
              <a:avLst/>
              <a:gdLst>
                <a:gd name="connsiteX0" fmla="*/ 101703 w 106208"/>
                <a:gd name="connsiteY0" fmla="*/ 108462 h 125519"/>
                <a:gd name="connsiteX1" fmla="*/ 76921 w 106208"/>
                <a:gd name="connsiteY1" fmla="*/ 121014 h 125519"/>
                <a:gd name="connsiteX2" fmla="*/ 63725 w 106208"/>
                <a:gd name="connsiteY2" fmla="*/ 122623 h 125519"/>
                <a:gd name="connsiteX3" fmla="*/ 4828 w 106208"/>
                <a:gd name="connsiteY3" fmla="*/ 63725 h 125519"/>
                <a:gd name="connsiteX4" fmla="*/ 63725 w 106208"/>
                <a:gd name="connsiteY4" fmla="*/ 4828 h 125519"/>
                <a:gd name="connsiteX5" fmla="*/ 84001 w 106208"/>
                <a:gd name="connsiteY5" fmla="*/ 8368 h 125519"/>
                <a:gd name="connsiteX6" fmla="*/ 104278 w 106208"/>
                <a:gd name="connsiteY6" fmla="*/ 20920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208" h="125519">
                  <a:moveTo>
                    <a:pt x="101703" y="108462"/>
                  </a:moveTo>
                  <a:cubicBezTo>
                    <a:pt x="94622" y="114577"/>
                    <a:pt x="86254" y="118761"/>
                    <a:pt x="76921" y="121014"/>
                  </a:cubicBezTo>
                  <a:cubicBezTo>
                    <a:pt x="72737" y="121979"/>
                    <a:pt x="68231" y="122623"/>
                    <a:pt x="63725" y="122623"/>
                  </a:cubicBezTo>
                  <a:cubicBezTo>
                    <a:pt x="31219" y="122623"/>
                    <a:pt x="4828" y="96232"/>
                    <a:pt x="4828" y="63725"/>
                  </a:cubicBezTo>
                  <a:cubicBezTo>
                    <a:pt x="4828" y="31219"/>
                    <a:pt x="31219" y="4828"/>
                    <a:pt x="63725" y="4828"/>
                  </a:cubicBezTo>
                  <a:cubicBezTo>
                    <a:pt x="70806" y="4828"/>
                    <a:pt x="77886" y="6115"/>
                    <a:pt x="84001" y="8368"/>
                  </a:cubicBezTo>
                  <a:cubicBezTo>
                    <a:pt x="91726" y="11265"/>
                    <a:pt x="98484" y="15449"/>
                    <a:pt x="104278" y="20920"/>
                  </a:cubicBezTo>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70" name="Freeform: Shape 45">
              <a:extLst>
                <a:ext uri="{FF2B5EF4-FFF2-40B4-BE49-F238E27FC236}">
                  <a16:creationId xmlns:a16="http://schemas.microsoft.com/office/drawing/2014/main" id="{F11989AC-6D68-2F41-A6E0-B841E453BA7C}"/>
                </a:ext>
              </a:extLst>
            </p:cNvPr>
            <p:cNvSpPr/>
            <p:nvPr/>
          </p:nvSpPr>
          <p:spPr>
            <a:xfrm>
              <a:off x="9314460" y="2717083"/>
              <a:ext cx="520898" cy="520898"/>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71" name="Freeform: Shape 46">
              <a:extLst>
                <a:ext uri="{FF2B5EF4-FFF2-40B4-BE49-F238E27FC236}">
                  <a16:creationId xmlns:a16="http://schemas.microsoft.com/office/drawing/2014/main" id="{3A531AC5-855B-8B4B-9D8E-34AAFAEC23A1}"/>
                </a:ext>
              </a:extLst>
            </p:cNvPr>
            <p:cNvSpPr/>
            <p:nvPr/>
          </p:nvSpPr>
          <p:spPr>
            <a:xfrm>
              <a:off x="9463899" y="2868230"/>
              <a:ext cx="222023" cy="222023"/>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72" name="Freeform: Shape 47">
              <a:extLst>
                <a:ext uri="{FF2B5EF4-FFF2-40B4-BE49-F238E27FC236}">
                  <a16:creationId xmlns:a16="http://schemas.microsoft.com/office/drawing/2014/main" id="{0A21DC46-0846-5B42-BB97-DAB1E3D80CA7}"/>
                </a:ext>
              </a:extLst>
            </p:cNvPr>
            <p:cNvSpPr/>
            <p:nvPr/>
          </p:nvSpPr>
          <p:spPr>
            <a:xfrm>
              <a:off x="9048032" y="3231135"/>
              <a:ext cx="1058875" cy="290336"/>
            </a:xfrm>
            <a:custGeom>
              <a:avLst/>
              <a:gdLst>
                <a:gd name="connsiteX0" fmla="*/ 53426 w 399087"/>
                <a:gd name="connsiteY0" fmla="*/ 4833 h 109427"/>
                <a:gd name="connsiteX1" fmla="*/ 99450 w 399087"/>
                <a:gd name="connsiteY1" fmla="*/ 33477 h 109427"/>
                <a:gd name="connsiteX2" fmla="*/ 302534 w 399087"/>
                <a:gd name="connsiteY2" fmla="*/ 33477 h 109427"/>
                <a:gd name="connsiteX3" fmla="*/ 348558 w 399087"/>
                <a:gd name="connsiteY3" fmla="*/ 4833 h 109427"/>
                <a:gd name="connsiteX4" fmla="*/ 397156 w 399087"/>
                <a:gd name="connsiteY4" fmla="*/ 39592 h 109427"/>
                <a:gd name="connsiteX5" fmla="*/ 355316 w 399087"/>
                <a:gd name="connsiteY5" fmla="*/ 39592 h 109427"/>
                <a:gd name="connsiteX6" fmla="*/ 355316 w 399087"/>
                <a:gd name="connsiteY6" fmla="*/ 72742 h 109427"/>
                <a:gd name="connsiteX7" fmla="*/ 397156 w 399087"/>
                <a:gd name="connsiteY7" fmla="*/ 72742 h 109427"/>
                <a:gd name="connsiteX8" fmla="*/ 348558 w 399087"/>
                <a:gd name="connsiteY8" fmla="*/ 107501 h 109427"/>
                <a:gd name="connsiteX9" fmla="*/ 302534 w 399087"/>
                <a:gd name="connsiteY9" fmla="*/ 78857 h 109427"/>
                <a:gd name="connsiteX10" fmla="*/ 99450 w 399087"/>
                <a:gd name="connsiteY10" fmla="*/ 78857 h 109427"/>
                <a:gd name="connsiteX11" fmla="*/ 53426 w 399087"/>
                <a:gd name="connsiteY11" fmla="*/ 107501 h 109427"/>
                <a:gd name="connsiteX12" fmla="*/ 4828 w 399087"/>
                <a:gd name="connsiteY12" fmla="*/ 72742 h 109427"/>
                <a:gd name="connsiteX13" fmla="*/ 46667 w 399087"/>
                <a:gd name="connsiteY13" fmla="*/ 72742 h 109427"/>
                <a:gd name="connsiteX14" fmla="*/ 46667 w 399087"/>
                <a:gd name="connsiteY14" fmla="*/ 39592 h 109427"/>
                <a:gd name="connsiteX15" fmla="*/ 4828 w 399087"/>
                <a:gd name="connsiteY15" fmla="*/ 39592 h 109427"/>
                <a:gd name="connsiteX16" fmla="*/ 53426 w 399087"/>
                <a:gd name="connsiteY16" fmla="*/ 4833 h 109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9087" h="109427">
                  <a:moveTo>
                    <a:pt x="53426" y="4833"/>
                  </a:moveTo>
                  <a:cubicBezTo>
                    <a:pt x="73702" y="4833"/>
                    <a:pt x="91404" y="16419"/>
                    <a:pt x="99450" y="33477"/>
                  </a:cubicBezTo>
                  <a:lnTo>
                    <a:pt x="302534" y="33477"/>
                  </a:lnTo>
                  <a:cubicBezTo>
                    <a:pt x="310902" y="16419"/>
                    <a:pt x="328281" y="4833"/>
                    <a:pt x="348558" y="4833"/>
                  </a:cubicBezTo>
                  <a:cubicBezTo>
                    <a:pt x="371087" y="4833"/>
                    <a:pt x="390076" y="19316"/>
                    <a:pt x="397156" y="39592"/>
                  </a:cubicBezTo>
                  <a:lnTo>
                    <a:pt x="355316" y="39592"/>
                  </a:lnTo>
                  <a:lnTo>
                    <a:pt x="355316" y="72742"/>
                  </a:lnTo>
                  <a:lnTo>
                    <a:pt x="397156" y="72742"/>
                  </a:lnTo>
                  <a:cubicBezTo>
                    <a:pt x="390076" y="93018"/>
                    <a:pt x="371087" y="107501"/>
                    <a:pt x="348558" y="107501"/>
                  </a:cubicBezTo>
                  <a:cubicBezTo>
                    <a:pt x="328281" y="107501"/>
                    <a:pt x="310902" y="95593"/>
                    <a:pt x="302534" y="78857"/>
                  </a:cubicBezTo>
                  <a:lnTo>
                    <a:pt x="99450" y="78857"/>
                  </a:lnTo>
                  <a:cubicBezTo>
                    <a:pt x="91082" y="95915"/>
                    <a:pt x="73702" y="107501"/>
                    <a:pt x="53426" y="107501"/>
                  </a:cubicBezTo>
                  <a:cubicBezTo>
                    <a:pt x="30897" y="107501"/>
                    <a:pt x="11908" y="93018"/>
                    <a:pt x="4828" y="72742"/>
                  </a:cubicBezTo>
                  <a:lnTo>
                    <a:pt x="46667" y="72742"/>
                  </a:lnTo>
                  <a:lnTo>
                    <a:pt x="46667" y="39592"/>
                  </a:lnTo>
                  <a:lnTo>
                    <a:pt x="4828" y="39592"/>
                  </a:lnTo>
                  <a:cubicBezTo>
                    <a:pt x="11908" y="19316"/>
                    <a:pt x="30897" y="4511"/>
                    <a:pt x="53426" y="4833"/>
                  </a:cubicBez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73" name="Freeform: Shape 48">
              <a:extLst>
                <a:ext uri="{FF2B5EF4-FFF2-40B4-BE49-F238E27FC236}">
                  <a16:creationId xmlns:a16="http://schemas.microsoft.com/office/drawing/2014/main" id="{16E404FF-3C43-5E45-AD54-01E6B6BFA92C}"/>
                </a:ext>
              </a:extLst>
            </p:cNvPr>
            <p:cNvSpPr/>
            <p:nvPr/>
          </p:nvSpPr>
          <p:spPr>
            <a:xfrm>
              <a:off x="8911404" y="3318252"/>
              <a:ext cx="111012" cy="111012"/>
            </a:xfrm>
            <a:custGeom>
              <a:avLst/>
              <a:gdLst>
                <a:gd name="connsiteX0" fmla="*/ 37012 w 41839"/>
                <a:gd name="connsiteY0" fmla="*/ 20920 h 41839"/>
                <a:gd name="connsiteX1" fmla="*/ 20920 w 41839"/>
                <a:gd name="connsiteY1" fmla="*/ 37012 h 41839"/>
                <a:gd name="connsiteX2" fmla="*/ 4828 w 41839"/>
                <a:gd name="connsiteY2" fmla="*/ 20920 h 41839"/>
                <a:gd name="connsiteX3" fmla="*/ 20920 w 41839"/>
                <a:gd name="connsiteY3" fmla="*/ 4828 h 41839"/>
                <a:gd name="connsiteX4" fmla="*/ 37012 w 41839"/>
                <a:gd name="connsiteY4" fmla="*/ 20920 h 41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9" h="41839">
                  <a:moveTo>
                    <a:pt x="37012" y="20920"/>
                  </a:moveTo>
                  <a:cubicBezTo>
                    <a:pt x="37012" y="29807"/>
                    <a:pt x="29807" y="37012"/>
                    <a:pt x="20920" y="37012"/>
                  </a:cubicBezTo>
                  <a:cubicBezTo>
                    <a:pt x="12032" y="37012"/>
                    <a:pt x="4828" y="29807"/>
                    <a:pt x="4828" y="20920"/>
                  </a:cubicBezTo>
                  <a:cubicBezTo>
                    <a:pt x="4828" y="12032"/>
                    <a:pt x="12032" y="4828"/>
                    <a:pt x="20920" y="4828"/>
                  </a:cubicBezTo>
                  <a:cubicBezTo>
                    <a:pt x="29807" y="4828"/>
                    <a:pt x="37012" y="12032"/>
                    <a:pt x="37012" y="20920"/>
                  </a:cubicBez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74" name="Freeform: Shape 49">
              <a:extLst>
                <a:ext uri="{FF2B5EF4-FFF2-40B4-BE49-F238E27FC236}">
                  <a16:creationId xmlns:a16="http://schemas.microsoft.com/office/drawing/2014/main" id="{573DF6C2-5325-BE42-AAE2-2EF53DDC8713}"/>
                </a:ext>
              </a:extLst>
            </p:cNvPr>
            <p:cNvSpPr/>
            <p:nvPr/>
          </p:nvSpPr>
          <p:spPr>
            <a:xfrm>
              <a:off x="9533066" y="2937398"/>
              <a:ext cx="85392" cy="85392"/>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grpSp>
      <p:grpSp>
        <p:nvGrpSpPr>
          <p:cNvPr id="181" name="Group 180">
            <a:extLst>
              <a:ext uri="{FF2B5EF4-FFF2-40B4-BE49-F238E27FC236}">
                <a16:creationId xmlns:a16="http://schemas.microsoft.com/office/drawing/2014/main" id="{4A6DC615-39C6-6649-A88E-4CA3A72F988C}"/>
              </a:ext>
            </a:extLst>
          </p:cNvPr>
          <p:cNvGrpSpPr/>
          <p:nvPr/>
        </p:nvGrpSpPr>
        <p:grpSpPr>
          <a:xfrm>
            <a:off x="5393766" y="2603961"/>
            <a:ext cx="927190" cy="790600"/>
            <a:chOff x="5017019" y="2448045"/>
            <a:chExt cx="1646809" cy="1404209"/>
          </a:xfrm>
        </p:grpSpPr>
        <p:grpSp>
          <p:nvGrpSpPr>
            <p:cNvPr id="182" name="Group 181">
              <a:extLst>
                <a:ext uri="{FF2B5EF4-FFF2-40B4-BE49-F238E27FC236}">
                  <a16:creationId xmlns:a16="http://schemas.microsoft.com/office/drawing/2014/main" id="{3253D199-F903-D44E-88FF-37CD99D794FC}"/>
                </a:ext>
              </a:extLst>
            </p:cNvPr>
            <p:cNvGrpSpPr/>
            <p:nvPr/>
          </p:nvGrpSpPr>
          <p:grpSpPr>
            <a:xfrm>
              <a:off x="5017019" y="2448045"/>
              <a:ext cx="856726" cy="1237609"/>
              <a:chOff x="5017019" y="2448045"/>
              <a:chExt cx="856726" cy="1237609"/>
            </a:xfrm>
          </p:grpSpPr>
          <p:sp>
            <p:nvSpPr>
              <p:cNvPr id="203" name="Freeform: Shape 66">
                <a:extLst>
                  <a:ext uri="{FF2B5EF4-FFF2-40B4-BE49-F238E27FC236}">
                    <a16:creationId xmlns:a16="http://schemas.microsoft.com/office/drawing/2014/main" id="{E6E3FFEC-3F89-8846-AF95-40E7584D29E6}"/>
                  </a:ext>
                </a:extLst>
              </p:cNvPr>
              <p:cNvSpPr/>
              <p:nvPr/>
            </p:nvSpPr>
            <p:spPr>
              <a:xfrm>
                <a:off x="5051082" y="2740157"/>
                <a:ext cx="30965" cy="681250"/>
              </a:xfrm>
              <a:custGeom>
                <a:avLst/>
                <a:gdLst>
                  <a:gd name="connsiteX0" fmla="*/ 4828 w 9655"/>
                  <a:gd name="connsiteY0" fmla="*/ 210164 h 212417"/>
                  <a:gd name="connsiteX1" fmla="*/ 4828 w 9655"/>
                  <a:gd name="connsiteY1" fmla="*/ 4828 h 212417"/>
                </a:gdLst>
                <a:ahLst/>
                <a:cxnLst>
                  <a:cxn ang="0">
                    <a:pos x="connsiteX0" y="connsiteY0"/>
                  </a:cxn>
                  <a:cxn ang="0">
                    <a:pos x="connsiteX1" y="connsiteY1"/>
                  </a:cxn>
                </a:cxnLst>
                <a:rect l="l" t="t" r="r" b="b"/>
                <a:pathLst>
                  <a:path w="9655" h="212417">
                    <a:moveTo>
                      <a:pt x="4828" y="210164"/>
                    </a:moveTo>
                    <a:lnTo>
                      <a:pt x="4828" y="4828"/>
                    </a:lnTo>
                  </a:path>
                </a:pathLst>
              </a:custGeom>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04" name="Freeform: Shape 67">
                <a:extLst>
                  <a:ext uri="{FF2B5EF4-FFF2-40B4-BE49-F238E27FC236}">
                    <a16:creationId xmlns:a16="http://schemas.microsoft.com/office/drawing/2014/main" id="{1C9280C7-9976-E140-A6F1-258A3C221460}"/>
                  </a:ext>
                </a:extLst>
              </p:cNvPr>
              <p:cNvSpPr/>
              <p:nvPr/>
            </p:nvSpPr>
            <p:spPr>
              <a:xfrm>
                <a:off x="5810779" y="2746350"/>
                <a:ext cx="30965" cy="670930"/>
              </a:xfrm>
              <a:custGeom>
                <a:avLst/>
                <a:gdLst>
                  <a:gd name="connsiteX0" fmla="*/ 4828 w 9655"/>
                  <a:gd name="connsiteY0" fmla="*/ 4828 h 209198"/>
                  <a:gd name="connsiteX1" fmla="*/ 4828 w 9655"/>
                  <a:gd name="connsiteY1" fmla="*/ 206946 h 209198"/>
                </a:gdLst>
                <a:ahLst/>
                <a:cxnLst>
                  <a:cxn ang="0">
                    <a:pos x="connsiteX0" y="connsiteY0"/>
                  </a:cxn>
                  <a:cxn ang="0">
                    <a:pos x="connsiteX1" y="connsiteY1"/>
                  </a:cxn>
                </a:cxnLst>
                <a:rect l="l" t="t" r="r" b="b"/>
                <a:pathLst>
                  <a:path w="9655" h="209198">
                    <a:moveTo>
                      <a:pt x="4828" y="4828"/>
                    </a:moveTo>
                    <a:lnTo>
                      <a:pt x="4828" y="206946"/>
                    </a:lnTo>
                  </a:path>
                </a:pathLst>
              </a:custGeom>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05" name="Freeform: Shape 68">
                <a:extLst>
                  <a:ext uri="{FF2B5EF4-FFF2-40B4-BE49-F238E27FC236}">
                    <a16:creationId xmlns:a16="http://schemas.microsoft.com/office/drawing/2014/main" id="{45756526-B034-4F45-8B04-C1AB053129A0}"/>
                  </a:ext>
                </a:extLst>
              </p:cNvPr>
              <p:cNvSpPr/>
              <p:nvPr/>
            </p:nvSpPr>
            <p:spPr>
              <a:xfrm>
                <a:off x="5111983" y="274635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15" name="Freeform: Shape 69">
                <a:extLst>
                  <a:ext uri="{FF2B5EF4-FFF2-40B4-BE49-F238E27FC236}">
                    <a16:creationId xmlns:a16="http://schemas.microsoft.com/office/drawing/2014/main" id="{E502A814-89D2-3947-916F-8192B8B8046D}"/>
                  </a:ext>
                </a:extLst>
              </p:cNvPr>
              <p:cNvSpPr/>
              <p:nvPr/>
            </p:nvSpPr>
            <p:spPr>
              <a:xfrm>
                <a:off x="5346290" y="274635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16" name="Freeform: Shape 70">
                <a:extLst>
                  <a:ext uri="{FF2B5EF4-FFF2-40B4-BE49-F238E27FC236}">
                    <a16:creationId xmlns:a16="http://schemas.microsoft.com/office/drawing/2014/main" id="{D892EC7A-13AF-0F45-89B7-BA3ABD8B2C7D}"/>
                  </a:ext>
                </a:extLst>
              </p:cNvPr>
              <p:cNvSpPr/>
              <p:nvPr/>
            </p:nvSpPr>
            <p:spPr>
              <a:xfrm>
                <a:off x="5581633" y="274635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17" name="Freeform: Shape 71">
                <a:extLst>
                  <a:ext uri="{FF2B5EF4-FFF2-40B4-BE49-F238E27FC236}">
                    <a16:creationId xmlns:a16="http://schemas.microsoft.com/office/drawing/2014/main" id="{4E06841B-BA4C-4348-9DBA-F0F72FC8001E}"/>
                  </a:ext>
                </a:extLst>
              </p:cNvPr>
              <p:cNvSpPr/>
              <p:nvPr/>
            </p:nvSpPr>
            <p:spPr>
              <a:xfrm>
                <a:off x="5111983" y="297653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18" name="Freeform: Shape 72">
                <a:extLst>
                  <a:ext uri="{FF2B5EF4-FFF2-40B4-BE49-F238E27FC236}">
                    <a16:creationId xmlns:a16="http://schemas.microsoft.com/office/drawing/2014/main" id="{C5CE8D0E-8BF0-B247-B717-67A65EFBAD81}"/>
                  </a:ext>
                </a:extLst>
              </p:cNvPr>
              <p:cNvSpPr/>
              <p:nvPr/>
            </p:nvSpPr>
            <p:spPr>
              <a:xfrm>
                <a:off x="5346290" y="297653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19" name="Freeform: Shape 73">
                <a:extLst>
                  <a:ext uri="{FF2B5EF4-FFF2-40B4-BE49-F238E27FC236}">
                    <a16:creationId xmlns:a16="http://schemas.microsoft.com/office/drawing/2014/main" id="{FEA1BD6D-A9D8-AB4F-BDCC-1FE3CF26AD12}"/>
                  </a:ext>
                </a:extLst>
              </p:cNvPr>
              <p:cNvSpPr/>
              <p:nvPr/>
            </p:nvSpPr>
            <p:spPr>
              <a:xfrm>
                <a:off x="5581633" y="2976530"/>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20" name="Freeform: Shape 74">
                <a:extLst>
                  <a:ext uri="{FF2B5EF4-FFF2-40B4-BE49-F238E27FC236}">
                    <a16:creationId xmlns:a16="http://schemas.microsoft.com/office/drawing/2014/main" id="{82440CE2-48F1-7946-B5BF-175744DFD051}"/>
                  </a:ext>
                </a:extLst>
              </p:cNvPr>
              <p:cNvSpPr/>
              <p:nvPr/>
            </p:nvSpPr>
            <p:spPr>
              <a:xfrm>
                <a:off x="5111983" y="3213938"/>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21" name="Freeform: Shape 75">
                <a:extLst>
                  <a:ext uri="{FF2B5EF4-FFF2-40B4-BE49-F238E27FC236}">
                    <a16:creationId xmlns:a16="http://schemas.microsoft.com/office/drawing/2014/main" id="{AC637611-DCDB-2449-A79C-4EC7728EC122}"/>
                  </a:ext>
                </a:extLst>
              </p:cNvPr>
              <p:cNvSpPr/>
              <p:nvPr/>
            </p:nvSpPr>
            <p:spPr>
              <a:xfrm>
                <a:off x="5346290" y="3213938"/>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30" name="Freeform: Shape 76">
                <a:extLst>
                  <a:ext uri="{FF2B5EF4-FFF2-40B4-BE49-F238E27FC236}">
                    <a16:creationId xmlns:a16="http://schemas.microsoft.com/office/drawing/2014/main" id="{CE963807-097E-5E42-8B3D-5FBAF20376C0}"/>
                  </a:ext>
                </a:extLst>
              </p:cNvPr>
              <p:cNvSpPr/>
              <p:nvPr/>
            </p:nvSpPr>
            <p:spPr>
              <a:xfrm>
                <a:off x="5581633" y="3213938"/>
                <a:ext cx="185796" cy="185796"/>
              </a:xfrm>
              <a:custGeom>
                <a:avLst/>
                <a:gdLst>
                  <a:gd name="connsiteX0" fmla="*/ 4828 w 57932"/>
                  <a:gd name="connsiteY0" fmla="*/ 4828 h 57932"/>
                  <a:gd name="connsiteX1" fmla="*/ 56001 w 57932"/>
                  <a:gd name="connsiteY1" fmla="*/ 4828 h 57932"/>
                  <a:gd name="connsiteX2" fmla="*/ 56001 w 57932"/>
                  <a:gd name="connsiteY2" fmla="*/ 56001 h 57932"/>
                  <a:gd name="connsiteX3" fmla="*/ 4828 w 57932"/>
                  <a:gd name="connsiteY3" fmla="*/ 56001 h 57932"/>
                </a:gdLst>
                <a:ahLst/>
                <a:cxnLst>
                  <a:cxn ang="0">
                    <a:pos x="connsiteX0" y="connsiteY0"/>
                  </a:cxn>
                  <a:cxn ang="0">
                    <a:pos x="connsiteX1" y="connsiteY1"/>
                  </a:cxn>
                  <a:cxn ang="0">
                    <a:pos x="connsiteX2" y="connsiteY2"/>
                  </a:cxn>
                  <a:cxn ang="0">
                    <a:pos x="connsiteX3" y="connsiteY3"/>
                  </a:cxn>
                </a:cxnLst>
                <a:rect l="l" t="t" r="r" b="b"/>
                <a:pathLst>
                  <a:path w="57932" h="57932">
                    <a:moveTo>
                      <a:pt x="4828" y="4828"/>
                    </a:moveTo>
                    <a:lnTo>
                      <a:pt x="56001" y="4828"/>
                    </a:lnTo>
                    <a:lnTo>
                      <a:pt x="56001" y="56001"/>
                    </a:lnTo>
                    <a:lnTo>
                      <a:pt x="4828" y="56001"/>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97" name="Freeform: Shape 77">
                <a:extLst>
                  <a:ext uri="{FF2B5EF4-FFF2-40B4-BE49-F238E27FC236}">
                    <a16:creationId xmlns:a16="http://schemas.microsoft.com/office/drawing/2014/main" id="{5CB033B2-BF61-5C4B-B198-A26FCF792143}"/>
                  </a:ext>
                </a:extLst>
              </p:cNvPr>
              <p:cNvSpPr/>
              <p:nvPr/>
            </p:nvSpPr>
            <p:spPr>
              <a:xfrm>
                <a:off x="5017019" y="2448045"/>
                <a:ext cx="856726" cy="268373"/>
              </a:xfrm>
              <a:custGeom>
                <a:avLst/>
                <a:gdLst>
                  <a:gd name="connsiteX0" fmla="*/ 224647 w 267130"/>
                  <a:gd name="connsiteY0" fmla="*/ 28966 h 83679"/>
                  <a:gd name="connsiteX1" fmla="*/ 224647 w 267130"/>
                  <a:gd name="connsiteY1" fmla="*/ 4828 h 83679"/>
                  <a:gd name="connsiteX2" fmla="*/ 42805 w 267130"/>
                  <a:gd name="connsiteY2" fmla="*/ 4828 h 83679"/>
                  <a:gd name="connsiteX3" fmla="*/ 42805 w 267130"/>
                  <a:gd name="connsiteY3" fmla="*/ 28966 h 83679"/>
                  <a:gd name="connsiteX4" fmla="*/ 4828 w 267130"/>
                  <a:gd name="connsiteY4" fmla="*/ 28966 h 83679"/>
                  <a:gd name="connsiteX5" fmla="*/ 4828 w 267130"/>
                  <a:gd name="connsiteY5" fmla="*/ 79174 h 83679"/>
                  <a:gd name="connsiteX6" fmla="*/ 262947 w 267130"/>
                  <a:gd name="connsiteY6" fmla="*/ 79174 h 83679"/>
                  <a:gd name="connsiteX7" fmla="*/ 262947 w 267130"/>
                  <a:gd name="connsiteY7" fmla="*/ 28966 h 83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130" h="83679">
                    <a:moveTo>
                      <a:pt x="224647" y="28966"/>
                    </a:moveTo>
                    <a:lnTo>
                      <a:pt x="224647" y="4828"/>
                    </a:lnTo>
                    <a:lnTo>
                      <a:pt x="42805" y="4828"/>
                    </a:lnTo>
                    <a:lnTo>
                      <a:pt x="42805" y="28966"/>
                    </a:lnTo>
                    <a:lnTo>
                      <a:pt x="4828" y="28966"/>
                    </a:lnTo>
                    <a:lnTo>
                      <a:pt x="4828" y="79174"/>
                    </a:lnTo>
                    <a:lnTo>
                      <a:pt x="262947" y="79174"/>
                    </a:lnTo>
                    <a:lnTo>
                      <a:pt x="262947" y="28966"/>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98" name="Freeform: Shape 78">
                <a:extLst>
                  <a:ext uri="{FF2B5EF4-FFF2-40B4-BE49-F238E27FC236}">
                    <a16:creationId xmlns:a16="http://schemas.microsoft.com/office/drawing/2014/main" id="{FEED6A7D-1EA2-0F41-9561-8A57EFBBC6FB}"/>
                  </a:ext>
                </a:extLst>
              </p:cNvPr>
              <p:cNvSpPr/>
              <p:nvPr/>
            </p:nvSpPr>
            <p:spPr>
              <a:xfrm>
                <a:off x="5651821" y="2525459"/>
                <a:ext cx="196116" cy="30965"/>
              </a:xfrm>
              <a:custGeom>
                <a:avLst/>
                <a:gdLst>
                  <a:gd name="connsiteX0" fmla="*/ 4828 w 61150"/>
                  <a:gd name="connsiteY0" fmla="*/ 4828 h 9655"/>
                  <a:gd name="connsiteX1" fmla="*/ 56645 w 61150"/>
                  <a:gd name="connsiteY1" fmla="*/ 4828 h 9655"/>
                </a:gdLst>
                <a:ahLst/>
                <a:cxnLst>
                  <a:cxn ang="0">
                    <a:pos x="connsiteX0" y="connsiteY0"/>
                  </a:cxn>
                  <a:cxn ang="0">
                    <a:pos x="connsiteX1" y="connsiteY1"/>
                  </a:cxn>
                </a:cxnLst>
                <a:rect l="l" t="t" r="r" b="b"/>
                <a:pathLst>
                  <a:path w="61150" h="9655">
                    <a:moveTo>
                      <a:pt x="4828" y="4828"/>
                    </a:moveTo>
                    <a:lnTo>
                      <a:pt x="56645" y="4828"/>
                    </a:lnTo>
                  </a:path>
                </a:pathLst>
              </a:custGeom>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99" name="Freeform: Shape 79">
                <a:extLst>
                  <a:ext uri="{FF2B5EF4-FFF2-40B4-BE49-F238E27FC236}">
                    <a16:creationId xmlns:a16="http://schemas.microsoft.com/office/drawing/2014/main" id="{89F4E1C2-292A-C043-8CFD-1BDA0113E31E}"/>
                  </a:ext>
                </a:extLst>
              </p:cNvPr>
              <p:cNvSpPr/>
              <p:nvPr/>
            </p:nvSpPr>
            <p:spPr>
              <a:xfrm>
                <a:off x="5110950" y="2525459"/>
                <a:ext cx="423201" cy="30965"/>
              </a:xfrm>
              <a:custGeom>
                <a:avLst/>
                <a:gdLst>
                  <a:gd name="connsiteX0" fmla="*/ 4828 w 131956"/>
                  <a:gd name="connsiteY0" fmla="*/ 4828 h 9655"/>
                  <a:gd name="connsiteX1" fmla="*/ 129381 w 131956"/>
                  <a:gd name="connsiteY1" fmla="*/ 4828 h 9655"/>
                </a:gdLst>
                <a:ahLst/>
                <a:cxnLst>
                  <a:cxn ang="0">
                    <a:pos x="connsiteX0" y="connsiteY0"/>
                  </a:cxn>
                  <a:cxn ang="0">
                    <a:pos x="connsiteX1" y="connsiteY1"/>
                  </a:cxn>
                </a:cxnLst>
                <a:rect l="l" t="t" r="r" b="b"/>
                <a:pathLst>
                  <a:path w="131956" h="9655">
                    <a:moveTo>
                      <a:pt x="4828" y="4828"/>
                    </a:moveTo>
                    <a:lnTo>
                      <a:pt x="129381" y="4828"/>
                    </a:lnTo>
                  </a:path>
                </a:pathLst>
              </a:custGeom>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300" name="Freeform: Shape 80">
                <a:extLst>
                  <a:ext uri="{FF2B5EF4-FFF2-40B4-BE49-F238E27FC236}">
                    <a16:creationId xmlns:a16="http://schemas.microsoft.com/office/drawing/2014/main" id="{7F1235F5-DE85-084F-B79D-8D71C00282D0}"/>
                  </a:ext>
                </a:extLst>
              </p:cNvPr>
              <p:cNvSpPr/>
              <p:nvPr/>
            </p:nvSpPr>
            <p:spPr>
              <a:xfrm>
                <a:off x="5017019" y="3551467"/>
                <a:ext cx="856726" cy="134187"/>
              </a:xfrm>
              <a:custGeom>
                <a:avLst/>
                <a:gdLst>
                  <a:gd name="connsiteX0" fmla="*/ 4828 w 267130"/>
                  <a:gd name="connsiteY0" fmla="*/ 4828 h 41839"/>
                  <a:gd name="connsiteX1" fmla="*/ 262947 w 267130"/>
                  <a:gd name="connsiteY1" fmla="*/ 4828 h 41839"/>
                  <a:gd name="connsiteX2" fmla="*/ 262947 w 267130"/>
                  <a:gd name="connsiteY2" fmla="*/ 37656 h 41839"/>
                  <a:gd name="connsiteX3" fmla="*/ 4828 w 267130"/>
                  <a:gd name="connsiteY3" fmla="*/ 37656 h 41839"/>
                </a:gdLst>
                <a:ahLst/>
                <a:cxnLst>
                  <a:cxn ang="0">
                    <a:pos x="connsiteX0" y="connsiteY0"/>
                  </a:cxn>
                  <a:cxn ang="0">
                    <a:pos x="connsiteX1" y="connsiteY1"/>
                  </a:cxn>
                  <a:cxn ang="0">
                    <a:pos x="connsiteX2" y="connsiteY2"/>
                  </a:cxn>
                  <a:cxn ang="0">
                    <a:pos x="connsiteX3" y="connsiteY3"/>
                  </a:cxn>
                </a:cxnLst>
                <a:rect l="l" t="t" r="r" b="b"/>
                <a:pathLst>
                  <a:path w="267130" h="41839">
                    <a:moveTo>
                      <a:pt x="4828" y="4828"/>
                    </a:moveTo>
                    <a:lnTo>
                      <a:pt x="262947" y="4828"/>
                    </a:lnTo>
                    <a:lnTo>
                      <a:pt x="262947" y="37656"/>
                    </a:lnTo>
                    <a:lnTo>
                      <a:pt x="4828" y="37656"/>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301" name="Freeform: Shape 81">
                <a:extLst>
                  <a:ext uri="{FF2B5EF4-FFF2-40B4-BE49-F238E27FC236}">
                    <a16:creationId xmlns:a16="http://schemas.microsoft.com/office/drawing/2014/main" id="{29A5A776-EFC1-A54A-858C-D5CE47102524}"/>
                  </a:ext>
                </a:extLst>
              </p:cNvPr>
              <p:cNvSpPr/>
              <p:nvPr/>
            </p:nvSpPr>
            <p:spPr>
              <a:xfrm>
                <a:off x="5017019" y="3446183"/>
                <a:ext cx="856726" cy="134187"/>
              </a:xfrm>
              <a:custGeom>
                <a:avLst/>
                <a:gdLst>
                  <a:gd name="connsiteX0" fmla="*/ 4828 w 267130"/>
                  <a:gd name="connsiteY0" fmla="*/ 4828 h 41839"/>
                  <a:gd name="connsiteX1" fmla="*/ 262947 w 267130"/>
                  <a:gd name="connsiteY1" fmla="*/ 4828 h 41839"/>
                  <a:gd name="connsiteX2" fmla="*/ 262947 w 267130"/>
                  <a:gd name="connsiteY2" fmla="*/ 37656 h 41839"/>
                  <a:gd name="connsiteX3" fmla="*/ 4828 w 267130"/>
                  <a:gd name="connsiteY3" fmla="*/ 37656 h 41839"/>
                </a:gdLst>
                <a:ahLst/>
                <a:cxnLst>
                  <a:cxn ang="0">
                    <a:pos x="connsiteX0" y="connsiteY0"/>
                  </a:cxn>
                  <a:cxn ang="0">
                    <a:pos x="connsiteX1" y="connsiteY1"/>
                  </a:cxn>
                  <a:cxn ang="0">
                    <a:pos x="connsiteX2" y="connsiteY2"/>
                  </a:cxn>
                  <a:cxn ang="0">
                    <a:pos x="connsiteX3" y="connsiteY3"/>
                  </a:cxn>
                </a:cxnLst>
                <a:rect l="l" t="t" r="r" b="b"/>
                <a:pathLst>
                  <a:path w="267130" h="41839">
                    <a:moveTo>
                      <a:pt x="4828" y="4828"/>
                    </a:moveTo>
                    <a:lnTo>
                      <a:pt x="262947" y="4828"/>
                    </a:lnTo>
                    <a:lnTo>
                      <a:pt x="262947" y="37656"/>
                    </a:lnTo>
                    <a:lnTo>
                      <a:pt x="4828" y="37656"/>
                    </a:lnTo>
                    <a:close/>
                  </a:path>
                </a:pathLst>
              </a:custGeom>
              <a:no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grpSp>
        <p:grpSp>
          <p:nvGrpSpPr>
            <p:cNvPr id="183" name="Graphic 412">
              <a:extLst>
                <a:ext uri="{FF2B5EF4-FFF2-40B4-BE49-F238E27FC236}">
                  <a16:creationId xmlns:a16="http://schemas.microsoft.com/office/drawing/2014/main" id="{9D4633C5-40AD-9D4D-9A53-23CC7AB7DDD6}"/>
                </a:ext>
              </a:extLst>
            </p:cNvPr>
            <p:cNvGrpSpPr/>
            <p:nvPr/>
          </p:nvGrpSpPr>
          <p:grpSpPr>
            <a:xfrm>
              <a:off x="5560141" y="2766337"/>
              <a:ext cx="1103687" cy="1085917"/>
              <a:chOff x="4359550" y="5752598"/>
              <a:chExt cx="439639" cy="432561"/>
            </a:xfrm>
            <a:solidFill>
              <a:srgbClr val="253140"/>
            </a:solidFill>
          </p:grpSpPr>
          <p:sp>
            <p:nvSpPr>
              <p:cNvPr id="184" name="Freeform: Shape 55">
                <a:extLst>
                  <a:ext uri="{FF2B5EF4-FFF2-40B4-BE49-F238E27FC236}">
                    <a16:creationId xmlns:a16="http://schemas.microsoft.com/office/drawing/2014/main" id="{A1C83148-5890-504D-8C1E-5F93D79DFB90}"/>
                  </a:ext>
                </a:extLst>
              </p:cNvPr>
              <p:cNvSpPr/>
              <p:nvPr/>
            </p:nvSpPr>
            <p:spPr>
              <a:xfrm>
                <a:off x="4540749" y="5752598"/>
                <a:ext cx="234946" cy="173796"/>
              </a:xfrm>
              <a:custGeom>
                <a:avLst/>
                <a:gdLst>
                  <a:gd name="connsiteX0" fmla="*/ 4828 w 234946"/>
                  <a:gd name="connsiteY0" fmla="*/ 130025 h 173796"/>
                  <a:gd name="connsiteX1" fmla="*/ 4828 w 234946"/>
                  <a:gd name="connsiteY1" fmla="*/ 10299 h 173796"/>
                  <a:gd name="connsiteX2" fmla="*/ 10299 w 234946"/>
                  <a:gd name="connsiteY2" fmla="*/ 4828 h 173796"/>
                  <a:gd name="connsiteX3" fmla="*/ 226900 w 234946"/>
                  <a:gd name="connsiteY3" fmla="*/ 4828 h 173796"/>
                  <a:gd name="connsiteX4" fmla="*/ 232372 w 234946"/>
                  <a:gd name="connsiteY4" fmla="*/ 10299 h 173796"/>
                  <a:gd name="connsiteX5" fmla="*/ 232372 w 234946"/>
                  <a:gd name="connsiteY5" fmla="*/ 165750 h 173796"/>
                  <a:gd name="connsiteX6" fmla="*/ 226900 w 234946"/>
                  <a:gd name="connsiteY6" fmla="*/ 171221 h 173796"/>
                  <a:gd name="connsiteX7" fmla="*/ 26391 w 234946"/>
                  <a:gd name="connsiteY7" fmla="*/ 171221 h 17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946" h="173796">
                    <a:moveTo>
                      <a:pt x="4828" y="130025"/>
                    </a:moveTo>
                    <a:lnTo>
                      <a:pt x="4828" y="10299"/>
                    </a:lnTo>
                    <a:cubicBezTo>
                      <a:pt x="4828" y="7402"/>
                      <a:pt x="7402" y="4828"/>
                      <a:pt x="10299" y="4828"/>
                    </a:cubicBezTo>
                    <a:lnTo>
                      <a:pt x="226900" y="4828"/>
                    </a:lnTo>
                    <a:cubicBezTo>
                      <a:pt x="229797" y="4828"/>
                      <a:pt x="232372" y="7402"/>
                      <a:pt x="232372" y="10299"/>
                    </a:cubicBezTo>
                    <a:lnTo>
                      <a:pt x="232372" y="165750"/>
                    </a:lnTo>
                    <a:cubicBezTo>
                      <a:pt x="232372" y="168647"/>
                      <a:pt x="229797" y="171221"/>
                      <a:pt x="226900" y="171221"/>
                    </a:cubicBezTo>
                    <a:lnTo>
                      <a:pt x="26391" y="171221"/>
                    </a:lnTo>
                  </a:path>
                </a:pathLst>
              </a:custGeom>
              <a:solidFill>
                <a:srgbClr val="232F3E"/>
              </a:solid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85" name="Freeform: Shape 53">
                <a:extLst>
                  <a:ext uri="{FF2B5EF4-FFF2-40B4-BE49-F238E27FC236}">
                    <a16:creationId xmlns:a16="http://schemas.microsoft.com/office/drawing/2014/main" id="{39AD43BB-C31E-7344-A387-66AA0D3E1129}"/>
                  </a:ext>
                </a:extLst>
              </p:cNvPr>
              <p:cNvSpPr/>
              <p:nvPr/>
            </p:nvSpPr>
            <p:spPr>
              <a:xfrm>
                <a:off x="4557806" y="5918994"/>
                <a:ext cx="241383" cy="28966"/>
              </a:xfrm>
              <a:custGeom>
                <a:avLst/>
                <a:gdLst>
                  <a:gd name="connsiteX0" fmla="*/ 4828 w 241383"/>
                  <a:gd name="connsiteY0" fmla="*/ 24138 h 28966"/>
                  <a:gd name="connsiteX1" fmla="*/ 224004 w 241383"/>
                  <a:gd name="connsiteY1" fmla="*/ 24138 h 28966"/>
                  <a:gd name="connsiteX2" fmla="*/ 236556 w 241383"/>
                  <a:gd name="connsiteY2" fmla="*/ 19633 h 28966"/>
                  <a:gd name="connsiteX3" fmla="*/ 238165 w 241383"/>
                  <a:gd name="connsiteY3" fmla="*/ 18345 h 28966"/>
                  <a:gd name="connsiteX4" fmla="*/ 238165 w 241383"/>
                  <a:gd name="connsiteY4" fmla="*/ 4828 h 28966"/>
                  <a:gd name="connsiteX5" fmla="*/ 168003 w 241383"/>
                  <a:gd name="connsiteY5" fmla="*/ 4828 h 2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383" h="28966">
                    <a:moveTo>
                      <a:pt x="4828" y="24138"/>
                    </a:moveTo>
                    <a:lnTo>
                      <a:pt x="224004" y="24138"/>
                    </a:lnTo>
                    <a:cubicBezTo>
                      <a:pt x="228510" y="24138"/>
                      <a:pt x="233015" y="22529"/>
                      <a:pt x="236556" y="19633"/>
                    </a:cubicBezTo>
                    <a:lnTo>
                      <a:pt x="238165" y="18345"/>
                    </a:lnTo>
                    <a:lnTo>
                      <a:pt x="238165" y="4828"/>
                    </a:lnTo>
                    <a:lnTo>
                      <a:pt x="168003" y="4828"/>
                    </a:lnTo>
                  </a:path>
                </a:pathLst>
              </a:custGeom>
              <a:solidFill>
                <a:schemeClr val="bg1"/>
              </a:solidFill>
              <a:ln w="19050" cap="flat">
                <a:solidFill>
                  <a:srgbClr val="FDC500"/>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86" name="Freeform: Shape 54">
                <a:extLst>
                  <a:ext uri="{FF2B5EF4-FFF2-40B4-BE49-F238E27FC236}">
                    <a16:creationId xmlns:a16="http://schemas.microsoft.com/office/drawing/2014/main" id="{83FC6D23-335C-DD4A-AE60-BBBF3754D8C8}"/>
                  </a:ext>
                </a:extLst>
              </p:cNvPr>
              <p:cNvSpPr/>
              <p:nvPr/>
            </p:nvSpPr>
            <p:spPr>
              <a:xfrm>
                <a:off x="4568105" y="5776738"/>
                <a:ext cx="180233" cy="125519"/>
              </a:xfrm>
              <a:custGeom>
                <a:avLst/>
                <a:gdLst>
                  <a:gd name="connsiteX0" fmla="*/ 177014 w 180232"/>
                  <a:gd name="connsiteY0" fmla="*/ 117795 h 125519"/>
                  <a:gd name="connsiteX1" fmla="*/ 172187 w 180232"/>
                  <a:gd name="connsiteY1" fmla="*/ 122623 h 125519"/>
                  <a:gd name="connsiteX2" fmla="*/ 9655 w 180232"/>
                  <a:gd name="connsiteY2" fmla="*/ 122623 h 125519"/>
                  <a:gd name="connsiteX3" fmla="*/ 4828 w 180232"/>
                  <a:gd name="connsiteY3" fmla="*/ 117795 h 125519"/>
                  <a:gd name="connsiteX4" fmla="*/ 4828 w 180232"/>
                  <a:gd name="connsiteY4" fmla="*/ 9655 h 125519"/>
                  <a:gd name="connsiteX5" fmla="*/ 9655 w 180232"/>
                  <a:gd name="connsiteY5" fmla="*/ 4828 h 125519"/>
                  <a:gd name="connsiteX6" fmla="*/ 171543 w 180232"/>
                  <a:gd name="connsiteY6" fmla="*/ 4828 h 125519"/>
                  <a:gd name="connsiteX7" fmla="*/ 176371 w 180232"/>
                  <a:gd name="connsiteY7" fmla="*/ 9655 h 125519"/>
                  <a:gd name="connsiteX8" fmla="*/ 177014 w 180232"/>
                  <a:gd name="connsiteY8" fmla="*/ 117795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232" h="125519">
                    <a:moveTo>
                      <a:pt x="177014" y="117795"/>
                    </a:moveTo>
                    <a:cubicBezTo>
                      <a:pt x="177014" y="120370"/>
                      <a:pt x="174762" y="122623"/>
                      <a:pt x="172187" y="122623"/>
                    </a:cubicBezTo>
                    <a:lnTo>
                      <a:pt x="9655" y="122623"/>
                    </a:lnTo>
                    <a:cubicBezTo>
                      <a:pt x="7081" y="122623"/>
                      <a:pt x="4828" y="120370"/>
                      <a:pt x="4828" y="117795"/>
                    </a:cubicBezTo>
                    <a:lnTo>
                      <a:pt x="4828" y="9655"/>
                    </a:lnTo>
                    <a:cubicBezTo>
                      <a:pt x="4828" y="7081"/>
                      <a:pt x="7081" y="4828"/>
                      <a:pt x="9655" y="4828"/>
                    </a:cubicBezTo>
                    <a:lnTo>
                      <a:pt x="171543" y="4828"/>
                    </a:lnTo>
                    <a:cubicBezTo>
                      <a:pt x="174118" y="4828"/>
                      <a:pt x="176371" y="7081"/>
                      <a:pt x="176371" y="9655"/>
                    </a:cubicBezTo>
                    <a:lnTo>
                      <a:pt x="177014" y="117795"/>
                    </a:lnTo>
                    <a:close/>
                  </a:path>
                </a:pathLst>
              </a:custGeom>
              <a:grp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87" name="Freeform: Shape 56">
                <a:extLst>
                  <a:ext uri="{FF2B5EF4-FFF2-40B4-BE49-F238E27FC236}">
                    <a16:creationId xmlns:a16="http://schemas.microsoft.com/office/drawing/2014/main" id="{5A1D91C6-D326-6544-AC49-B14B90EDC239}"/>
                  </a:ext>
                </a:extLst>
              </p:cNvPr>
              <p:cNvSpPr/>
              <p:nvPr/>
            </p:nvSpPr>
            <p:spPr>
              <a:xfrm>
                <a:off x="4409436" y="5872325"/>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437" y="136462"/>
                      <a:pt x="4828" y="106852"/>
                      <a:pt x="4828" y="70484"/>
                    </a:cubicBezTo>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94" name="Freeform: Shape 57">
                <a:extLst>
                  <a:ext uri="{FF2B5EF4-FFF2-40B4-BE49-F238E27FC236}">
                    <a16:creationId xmlns:a16="http://schemas.microsoft.com/office/drawing/2014/main" id="{C804FF0E-22CB-854B-8565-F47C11D3001A}"/>
                  </a:ext>
                </a:extLst>
              </p:cNvPr>
              <p:cNvSpPr/>
              <p:nvPr/>
            </p:nvSpPr>
            <p:spPr>
              <a:xfrm>
                <a:off x="4359550" y="6007822"/>
                <a:ext cx="205980" cy="128738"/>
              </a:xfrm>
              <a:custGeom>
                <a:avLst/>
                <a:gdLst>
                  <a:gd name="connsiteX0" fmla="*/ 163175 w 205980"/>
                  <a:gd name="connsiteY0" fmla="*/ 13196 h 128737"/>
                  <a:gd name="connsiteX1" fmla="*/ 120370 w 205980"/>
                  <a:gd name="connsiteY1" fmla="*/ 4828 h 128737"/>
                  <a:gd name="connsiteX2" fmla="*/ 4828 w 205980"/>
                  <a:gd name="connsiteY2" fmla="*/ 124876 h 128737"/>
                  <a:gd name="connsiteX3" fmla="*/ 202762 w 205980"/>
                  <a:gd name="connsiteY3" fmla="*/ 124876 h 128737"/>
                </a:gdLst>
                <a:ahLst/>
                <a:cxnLst>
                  <a:cxn ang="0">
                    <a:pos x="connsiteX0" y="connsiteY0"/>
                  </a:cxn>
                  <a:cxn ang="0">
                    <a:pos x="connsiteX1" y="connsiteY1"/>
                  </a:cxn>
                  <a:cxn ang="0">
                    <a:pos x="connsiteX2" y="connsiteY2"/>
                  </a:cxn>
                  <a:cxn ang="0">
                    <a:pos x="connsiteX3" y="connsiteY3"/>
                  </a:cxn>
                </a:cxnLst>
                <a:rect l="l" t="t" r="r" b="b"/>
                <a:pathLst>
                  <a:path w="205980" h="128737">
                    <a:moveTo>
                      <a:pt x="163175" y="13196"/>
                    </a:moveTo>
                    <a:cubicBezTo>
                      <a:pt x="149980" y="7724"/>
                      <a:pt x="135497" y="4828"/>
                      <a:pt x="120370" y="4828"/>
                    </a:cubicBezTo>
                    <a:cubicBezTo>
                      <a:pt x="56645" y="4828"/>
                      <a:pt x="4828" y="58576"/>
                      <a:pt x="4828" y="124876"/>
                    </a:cubicBezTo>
                    <a:lnTo>
                      <a:pt x="202762" y="124876"/>
                    </a:lnTo>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96" name="Freeform: Shape 58">
                <a:extLst>
                  <a:ext uri="{FF2B5EF4-FFF2-40B4-BE49-F238E27FC236}">
                    <a16:creationId xmlns:a16="http://schemas.microsoft.com/office/drawing/2014/main" id="{D3092824-3C46-0A49-A9C1-F77BB42128D7}"/>
                  </a:ext>
                </a:extLst>
              </p:cNvPr>
              <p:cNvSpPr/>
              <p:nvPr/>
            </p:nvSpPr>
            <p:spPr>
              <a:xfrm>
                <a:off x="4539783" y="5983684"/>
                <a:ext cx="102990" cy="102990"/>
              </a:xfrm>
              <a:custGeom>
                <a:avLst/>
                <a:gdLst>
                  <a:gd name="connsiteX0" fmla="*/ 99450 w 102990"/>
                  <a:gd name="connsiteY0" fmla="*/ 52139 h 102990"/>
                  <a:gd name="connsiteX1" fmla="*/ 52139 w 102990"/>
                  <a:gd name="connsiteY1" fmla="*/ 99450 h 102990"/>
                  <a:gd name="connsiteX2" fmla="*/ 4828 w 102990"/>
                  <a:gd name="connsiteY2" fmla="*/ 52139 h 102990"/>
                  <a:gd name="connsiteX3" fmla="*/ 52139 w 102990"/>
                  <a:gd name="connsiteY3" fmla="*/ 4828 h 102990"/>
                  <a:gd name="connsiteX4" fmla="*/ 99450 w 102990"/>
                  <a:gd name="connsiteY4" fmla="*/ 52139 h 102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90" h="102990">
                    <a:moveTo>
                      <a:pt x="99450" y="52139"/>
                    </a:moveTo>
                    <a:cubicBezTo>
                      <a:pt x="99450" y="78268"/>
                      <a:pt x="78268" y="99450"/>
                      <a:pt x="52139" y="99450"/>
                    </a:cubicBezTo>
                    <a:cubicBezTo>
                      <a:pt x="26010" y="99450"/>
                      <a:pt x="4828" y="78268"/>
                      <a:pt x="4828" y="52139"/>
                    </a:cubicBezTo>
                    <a:cubicBezTo>
                      <a:pt x="4828" y="26010"/>
                      <a:pt x="26010" y="4828"/>
                      <a:pt x="52139" y="4828"/>
                    </a:cubicBezTo>
                    <a:cubicBezTo>
                      <a:pt x="78268" y="4828"/>
                      <a:pt x="99450" y="26010"/>
                      <a:pt x="99450" y="52139"/>
                    </a:cubicBezTo>
                    <a:close/>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97" name="Freeform: Shape 59">
                <a:extLst>
                  <a:ext uri="{FF2B5EF4-FFF2-40B4-BE49-F238E27FC236}">
                    <a16:creationId xmlns:a16="http://schemas.microsoft.com/office/drawing/2014/main" id="{32DA4022-2E7C-D141-A909-6E33CA4A6CAF}"/>
                  </a:ext>
                </a:extLst>
              </p:cNvPr>
              <p:cNvSpPr/>
              <p:nvPr/>
            </p:nvSpPr>
            <p:spPr>
              <a:xfrm>
                <a:off x="4635693" y="6029708"/>
                <a:ext cx="57932" cy="9655"/>
              </a:xfrm>
              <a:custGeom>
                <a:avLst/>
                <a:gdLst>
                  <a:gd name="connsiteX0" fmla="*/ 4828 w 57932"/>
                  <a:gd name="connsiteY0" fmla="*/ 4828 h 9655"/>
                  <a:gd name="connsiteX1" fmla="*/ 56001 w 57932"/>
                  <a:gd name="connsiteY1" fmla="*/ 4828 h 9655"/>
                </a:gdLst>
                <a:ahLst/>
                <a:cxnLst>
                  <a:cxn ang="0">
                    <a:pos x="connsiteX0" y="connsiteY0"/>
                  </a:cxn>
                  <a:cxn ang="0">
                    <a:pos x="connsiteX1" y="connsiteY1"/>
                  </a:cxn>
                </a:cxnLst>
                <a:rect l="l" t="t" r="r" b="b"/>
                <a:pathLst>
                  <a:path w="57932" h="9655">
                    <a:moveTo>
                      <a:pt x="4828" y="4828"/>
                    </a:moveTo>
                    <a:lnTo>
                      <a:pt x="56001" y="4828"/>
                    </a:lnTo>
                  </a:path>
                </a:pathLst>
              </a:custGeom>
              <a:grp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98" name="Freeform: Shape 60">
                <a:extLst>
                  <a:ext uri="{FF2B5EF4-FFF2-40B4-BE49-F238E27FC236}">
                    <a16:creationId xmlns:a16="http://schemas.microsoft.com/office/drawing/2014/main" id="{4A26ACF3-0994-1E48-AE2B-79CA5D9AF5BF}"/>
                  </a:ext>
                </a:extLst>
              </p:cNvPr>
              <p:cNvSpPr/>
              <p:nvPr/>
            </p:nvSpPr>
            <p:spPr>
              <a:xfrm>
                <a:off x="4587094" y="6077985"/>
                <a:ext cx="9655" cy="57932"/>
              </a:xfrm>
              <a:custGeom>
                <a:avLst/>
                <a:gdLst>
                  <a:gd name="connsiteX0" fmla="*/ 4828 w 9655"/>
                  <a:gd name="connsiteY0" fmla="*/ 4828 h 57932"/>
                  <a:gd name="connsiteX1" fmla="*/ 4828 w 9655"/>
                  <a:gd name="connsiteY1" fmla="*/ 56001 h 57932"/>
                </a:gdLst>
                <a:ahLst/>
                <a:cxnLst>
                  <a:cxn ang="0">
                    <a:pos x="connsiteX0" y="connsiteY0"/>
                  </a:cxn>
                  <a:cxn ang="0">
                    <a:pos x="connsiteX1" y="connsiteY1"/>
                  </a:cxn>
                </a:cxnLst>
                <a:rect l="l" t="t" r="r" b="b"/>
                <a:pathLst>
                  <a:path w="9655" h="57932">
                    <a:moveTo>
                      <a:pt x="4828" y="4828"/>
                    </a:moveTo>
                    <a:lnTo>
                      <a:pt x="4828" y="56001"/>
                    </a:lnTo>
                  </a:path>
                </a:pathLst>
              </a:custGeom>
              <a:grp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199" name="Freeform: Shape 61">
                <a:extLst>
                  <a:ext uri="{FF2B5EF4-FFF2-40B4-BE49-F238E27FC236}">
                    <a16:creationId xmlns:a16="http://schemas.microsoft.com/office/drawing/2014/main" id="{F2C5C99C-53F1-1B4E-9DA3-C6B391E43AD7}"/>
                  </a:ext>
                </a:extLst>
              </p:cNvPr>
              <p:cNvSpPr/>
              <p:nvPr/>
            </p:nvSpPr>
            <p:spPr>
              <a:xfrm>
                <a:off x="4564887" y="6127227"/>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00" name="Freeform: Shape 62">
                <a:extLst>
                  <a:ext uri="{FF2B5EF4-FFF2-40B4-BE49-F238E27FC236}">
                    <a16:creationId xmlns:a16="http://schemas.microsoft.com/office/drawing/2014/main" id="{F43F8BEF-454E-4F46-B125-862B4A788E57}"/>
                  </a:ext>
                </a:extLst>
              </p:cNvPr>
              <p:cNvSpPr/>
              <p:nvPr/>
            </p:nvSpPr>
            <p:spPr>
              <a:xfrm>
                <a:off x="4683326" y="6004604"/>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01" name="Freeform: Shape 63">
                <a:extLst>
                  <a:ext uri="{FF2B5EF4-FFF2-40B4-BE49-F238E27FC236}">
                    <a16:creationId xmlns:a16="http://schemas.microsoft.com/office/drawing/2014/main" id="{94802EA2-30CB-234F-A260-76D97DB7E078}"/>
                  </a:ext>
                </a:extLst>
              </p:cNvPr>
              <p:cNvSpPr/>
              <p:nvPr/>
            </p:nvSpPr>
            <p:spPr>
              <a:xfrm>
                <a:off x="4622819" y="6059962"/>
                <a:ext cx="45058" cy="45058"/>
              </a:xfrm>
              <a:custGeom>
                <a:avLst/>
                <a:gdLst>
                  <a:gd name="connsiteX0" fmla="*/ 4828 w 45058"/>
                  <a:gd name="connsiteY0" fmla="*/ 4828 h 45058"/>
                  <a:gd name="connsiteX1" fmla="*/ 41196 w 45058"/>
                  <a:gd name="connsiteY1" fmla="*/ 41196 h 45058"/>
                </a:gdLst>
                <a:ahLst/>
                <a:cxnLst>
                  <a:cxn ang="0">
                    <a:pos x="connsiteX0" y="connsiteY0"/>
                  </a:cxn>
                  <a:cxn ang="0">
                    <a:pos x="connsiteX1" y="connsiteY1"/>
                  </a:cxn>
                </a:cxnLst>
                <a:rect l="l" t="t" r="r" b="b"/>
                <a:pathLst>
                  <a:path w="45058" h="45058">
                    <a:moveTo>
                      <a:pt x="4828" y="4828"/>
                    </a:moveTo>
                    <a:lnTo>
                      <a:pt x="41196" y="41196"/>
                    </a:lnTo>
                  </a:path>
                </a:pathLst>
              </a:custGeom>
              <a:grp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sp>
            <p:nvSpPr>
              <p:cNvPr id="202" name="Freeform: Shape 64">
                <a:extLst>
                  <a:ext uri="{FF2B5EF4-FFF2-40B4-BE49-F238E27FC236}">
                    <a16:creationId xmlns:a16="http://schemas.microsoft.com/office/drawing/2014/main" id="{BB0EBAC9-6DC0-724E-9B48-D7156E0CEB26}"/>
                  </a:ext>
                </a:extLst>
              </p:cNvPr>
              <p:cNvSpPr/>
              <p:nvPr/>
            </p:nvSpPr>
            <p:spPr>
              <a:xfrm>
                <a:off x="4649854" y="6086031"/>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solidFill>
                <a:srgbClr val="232F3E"/>
              </a:solidFill>
              <a:ln w="19050" cap="flat">
                <a:solidFill>
                  <a:schemeClr val="tx1"/>
                </a:solidFill>
                <a:prstDash val="solid"/>
                <a:round/>
              </a:ln>
            </p:spPr>
            <p:txBody>
              <a:bodyPr rtlCol="0" anchor="ctr"/>
              <a:lstStyle/>
              <a:p>
                <a:pPr defTabSz="731491">
                  <a:defRPr/>
                </a:pPr>
                <a:endParaRPr lang="en-US" sz="2400" dirty="0">
                  <a:solidFill>
                    <a:srgbClr val="FFFFFF"/>
                  </a:solidFill>
                  <a:latin typeface="Amazon Ember"/>
                </a:endParaRPr>
              </a:p>
            </p:txBody>
          </p:sp>
        </p:grpSp>
      </p:grpSp>
      <p:sp>
        <p:nvSpPr>
          <p:cNvPr id="302" name="TextBox 301">
            <a:extLst>
              <a:ext uri="{FF2B5EF4-FFF2-40B4-BE49-F238E27FC236}">
                <a16:creationId xmlns:a16="http://schemas.microsoft.com/office/drawing/2014/main" id="{65086775-3EB2-7F45-A39A-B05CF5F9B48F}"/>
              </a:ext>
            </a:extLst>
          </p:cNvPr>
          <p:cNvSpPr txBox="1"/>
          <p:nvPr/>
        </p:nvSpPr>
        <p:spPr>
          <a:xfrm>
            <a:off x="6596579" y="2670068"/>
            <a:ext cx="1112805" cy="369332"/>
          </a:xfrm>
          <a:prstGeom prst="rect">
            <a:avLst/>
          </a:prstGeom>
          <a:noFill/>
        </p:spPr>
        <p:txBody>
          <a:bodyPr wrap="none" rtlCol="0">
            <a:spAutoFit/>
          </a:bodyPr>
          <a:lstStyle/>
          <a:p>
            <a:pPr algn="ctr" defTabSz="731491">
              <a:defRPr/>
            </a:pPr>
            <a:r>
              <a:rPr lang="en-US" sz="18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Mobilize</a:t>
            </a:r>
          </a:p>
        </p:txBody>
      </p:sp>
      <p:sp>
        <p:nvSpPr>
          <p:cNvPr id="303" name="Oval 302">
            <a:extLst>
              <a:ext uri="{FF2B5EF4-FFF2-40B4-BE49-F238E27FC236}">
                <a16:creationId xmlns:a16="http://schemas.microsoft.com/office/drawing/2014/main" id="{7FF29849-5467-FC48-9F68-7622703735DF}"/>
              </a:ext>
            </a:extLst>
          </p:cNvPr>
          <p:cNvSpPr/>
          <p:nvPr/>
        </p:nvSpPr>
        <p:spPr>
          <a:xfrm>
            <a:off x="10104283" y="2333456"/>
            <a:ext cx="1260476" cy="1260476"/>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04" name="Oval 303">
            <a:extLst>
              <a:ext uri="{FF2B5EF4-FFF2-40B4-BE49-F238E27FC236}">
                <a16:creationId xmlns:a16="http://schemas.microsoft.com/office/drawing/2014/main" id="{EE9BC365-FA50-5E4F-A92C-E45731DA8A14}"/>
              </a:ext>
            </a:extLst>
          </p:cNvPr>
          <p:cNvSpPr/>
          <p:nvPr/>
        </p:nvSpPr>
        <p:spPr>
          <a:xfrm>
            <a:off x="5199046" y="2316701"/>
            <a:ext cx="1260476" cy="1260476"/>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05" name="Oval 304">
            <a:extLst>
              <a:ext uri="{FF2B5EF4-FFF2-40B4-BE49-F238E27FC236}">
                <a16:creationId xmlns:a16="http://schemas.microsoft.com/office/drawing/2014/main" id="{5296C3E4-EC8D-CE49-8182-1C8566B431BB}"/>
              </a:ext>
            </a:extLst>
          </p:cNvPr>
          <p:cNvSpPr/>
          <p:nvPr/>
        </p:nvSpPr>
        <p:spPr>
          <a:xfrm>
            <a:off x="7923351" y="2348352"/>
            <a:ext cx="1260476" cy="1260476"/>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cxnSp>
        <p:nvCxnSpPr>
          <p:cNvPr id="306" name="Straight Arrow Connector 305">
            <a:extLst>
              <a:ext uri="{FF2B5EF4-FFF2-40B4-BE49-F238E27FC236}">
                <a16:creationId xmlns:a16="http://schemas.microsoft.com/office/drawing/2014/main" id="{81F591E9-82F9-E346-884C-99890A0E6EE0}"/>
              </a:ext>
            </a:extLst>
          </p:cNvPr>
          <p:cNvCxnSpPr>
            <a:cxnSpLocks/>
          </p:cNvCxnSpPr>
          <p:nvPr/>
        </p:nvCxnSpPr>
        <p:spPr>
          <a:xfrm>
            <a:off x="4582991" y="2928620"/>
            <a:ext cx="346530" cy="2375"/>
          </a:xfrm>
          <a:prstGeom prst="straightConnector1">
            <a:avLst/>
          </a:prstGeom>
          <a:ln w="19050">
            <a:solidFill>
              <a:schemeClr val="tx1"/>
            </a:solidFill>
            <a:tailEnd type="triangle" w="lg" len="med"/>
          </a:ln>
          <a:effectLst>
            <a:outerShdw blurRad="40000" dist="20000" dir="5400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grpSp>
        <p:nvGrpSpPr>
          <p:cNvPr id="307" name="Graphic 412">
            <a:extLst>
              <a:ext uri="{FF2B5EF4-FFF2-40B4-BE49-F238E27FC236}">
                <a16:creationId xmlns:a16="http://schemas.microsoft.com/office/drawing/2014/main" id="{169C2AB5-CA18-0F46-BF61-4ED6F46584E9}"/>
              </a:ext>
            </a:extLst>
          </p:cNvPr>
          <p:cNvGrpSpPr/>
          <p:nvPr/>
        </p:nvGrpSpPr>
        <p:grpSpPr>
          <a:xfrm>
            <a:off x="483265" y="2468228"/>
            <a:ext cx="1011632" cy="991316"/>
            <a:chOff x="4244008" y="5593287"/>
            <a:chExt cx="643689" cy="643689"/>
          </a:xfrm>
        </p:grpSpPr>
        <p:sp>
          <p:nvSpPr>
            <p:cNvPr id="308" name="Freeform: Shape 554">
              <a:extLst>
                <a:ext uri="{FF2B5EF4-FFF2-40B4-BE49-F238E27FC236}">
                  <a16:creationId xmlns:a16="http://schemas.microsoft.com/office/drawing/2014/main" id="{CCF826DC-D2D1-A343-A779-C80C291F8300}"/>
                </a:ext>
              </a:extLst>
            </p:cNvPr>
            <p:cNvSpPr/>
            <p:nvPr/>
          </p:nvSpPr>
          <p:spPr>
            <a:xfrm>
              <a:off x="4380792" y="5645104"/>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116" y="136462"/>
                    <a:pt x="4828" y="106852"/>
                    <a:pt x="4828" y="70484"/>
                  </a:cubicBez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09" name="Freeform: Shape 555">
              <a:extLst>
                <a:ext uri="{FF2B5EF4-FFF2-40B4-BE49-F238E27FC236}">
                  <a16:creationId xmlns:a16="http://schemas.microsoft.com/office/drawing/2014/main" id="{2A14D78B-3E29-B24E-9850-A19AF6C45D9F}"/>
                </a:ext>
              </a:extLst>
            </p:cNvPr>
            <p:cNvSpPr/>
            <p:nvPr/>
          </p:nvSpPr>
          <p:spPr>
            <a:xfrm>
              <a:off x="4330906" y="5780279"/>
              <a:ext cx="199544" cy="128738"/>
            </a:xfrm>
            <a:custGeom>
              <a:avLst/>
              <a:gdLst>
                <a:gd name="connsiteX0" fmla="*/ 195360 w 199543"/>
                <a:gd name="connsiteY0" fmla="*/ 33472 h 128737"/>
                <a:gd name="connsiteX1" fmla="*/ 179589 w 199543"/>
                <a:gd name="connsiteY1" fmla="*/ 21885 h 128737"/>
                <a:gd name="connsiteX2" fmla="*/ 120370 w 199543"/>
                <a:gd name="connsiteY2" fmla="*/ 4828 h 128737"/>
                <a:gd name="connsiteX3" fmla="*/ 4828 w 199543"/>
                <a:gd name="connsiteY3" fmla="*/ 124876 h 128737"/>
                <a:gd name="connsiteX4" fmla="*/ 68553 w 199543"/>
                <a:gd name="connsiteY4" fmla="*/ 124876 h 128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543" h="128737">
                  <a:moveTo>
                    <a:pt x="195360" y="33472"/>
                  </a:moveTo>
                  <a:cubicBezTo>
                    <a:pt x="190532" y="29288"/>
                    <a:pt x="185382" y="25104"/>
                    <a:pt x="179589" y="21885"/>
                  </a:cubicBezTo>
                  <a:cubicBezTo>
                    <a:pt x="162210" y="11265"/>
                    <a:pt x="141933" y="4828"/>
                    <a:pt x="120370" y="4828"/>
                  </a:cubicBezTo>
                  <a:cubicBezTo>
                    <a:pt x="56645" y="4828"/>
                    <a:pt x="4828" y="58576"/>
                    <a:pt x="4828" y="124876"/>
                  </a:cubicBezTo>
                  <a:lnTo>
                    <a:pt x="68553" y="124876"/>
                  </a:ln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0" name="Freeform: Shape 556">
              <a:extLst>
                <a:ext uri="{FF2B5EF4-FFF2-40B4-BE49-F238E27FC236}">
                  <a16:creationId xmlns:a16="http://schemas.microsoft.com/office/drawing/2014/main" id="{A6EB68CD-BF61-AE44-8FCD-7B4466D640C2}"/>
                </a:ext>
              </a:extLst>
            </p:cNvPr>
            <p:cNvSpPr/>
            <p:nvPr/>
          </p:nvSpPr>
          <p:spPr>
            <a:xfrm>
              <a:off x="4557806" y="5918994"/>
              <a:ext cx="241383" cy="28966"/>
            </a:xfrm>
            <a:custGeom>
              <a:avLst/>
              <a:gdLst>
                <a:gd name="connsiteX0" fmla="*/ 4828 w 241383"/>
                <a:gd name="connsiteY0" fmla="*/ 24138 h 28966"/>
                <a:gd name="connsiteX1" fmla="*/ 224004 w 241383"/>
                <a:gd name="connsiteY1" fmla="*/ 24138 h 28966"/>
                <a:gd name="connsiteX2" fmla="*/ 236556 w 241383"/>
                <a:gd name="connsiteY2" fmla="*/ 19633 h 28966"/>
                <a:gd name="connsiteX3" fmla="*/ 238165 w 241383"/>
                <a:gd name="connsiteY3" fmla="*/ 18345 h 28966"/>
                <a:gd name="connsiteX4" fmla="*/ 238165 w 241383"/>
                <a:gd name="connsiteY4" fmla="*/ 4828 h 28966"/>
                <a:gd name="connsiteX5" fmla="*/ 168003 w 241383"/>
                <a:gd name="connsiteY5" fmla="*/ 4828 h 2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383" h="28966">
                  <a:moveTo>
                    <a:pt x="4828" y="24138"/>
                  </a:moveTo>
                  <a:lnTo>
                    <a:pt x="224004" y="24138"/>
                  </a:lnTo>
                  <a:cubicBezTo>
                    <a:pt x="228510" y="24138"/>
                    <a:pt x="233015" y="22529"/>
                    <a:pt x="236556" y="19633"/>
                  </a:cubicBezTo>
                  <a:lnTo>
                    <a:pt x="238165" y="18345"/>
                  </a:lnTo>
                  <a:lnTo>
                    <a:pt x="238165" y="4828"/>
                  </a:lnTo>
                  <a:lnTo>
                    <a:pt x="168003" y="4828"/>
                  </a:ln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1" name="Freeform: Shape 557">
              <a:extLst>
                <a:ext uri="{FF2B5EF4-FFF2-40B4-BE49-F238E27FC236}">
                  <a16:creationId xmlns:a16="http://schemas.microsoft.com/office/drawing/2014/main" id="{9D9408C1-BFCC-FB49-B24C-50008FFF2E2C}"/>
                </a:ext>
              </a:extLst>
            </p:cNvPr>
            <p:cNvSpPr/>
            <p:nvPr/>
          </p:nvSpPr>
          <p:spPr>
            <a:xfrm>
              <a:off x="4568105" y="5776738"/>
              <a:ext cx="180233" cy="125519"/>
            </a:xfrm>
            <a:custGeom>
              <a:avLst/>
              <a:gdLst>
                <a:gd name="connsiteX0" fmla="*/ 177014 w 180232"/>
                <a:gd name="connsiteY0" fmla="*/ 117795 h 125519"/>
                <a:gd name="connsiteX1" fmla="*/ 172187 w 180232"/>
                <a:gd name="connsiteY1" fmla="*/ 122623 h 125519"/>
                <a:gd name="connsiteX2" fmla="*/ 9655 w 180232"/>
                <a:gd name="connsiteY2" fmla="*/ 122623 h 125519"/>
                <a:gd name="connsiteX3" fmla="*/ 4828 w 180232"/>
                <a:gd name="connsiteY3" fmla="*/ 117795 h 125519"/>
                <a:gd name="connsiteX4" fmla="*/ 4828 w 180232"/>
                <a:gd name="connsiteY4" fmla="*/ 9655 h 125519"/>
                <a:gd name="connsiteX5" fmla="*/ 9655 w 180232"/>
                <a:gd name="connsiteY5" fmla="*/ 4828 h 125519"/>
                <a:gd name="connsiteX6" fmla="*/ 171543 w 180232"/>
                <a:gd name="connsiteY6" fmla="*/ 4828 h 125519"/>
                <a:gd name="connsiteX7" fmla="*/ 176371 w 180232"/>
                <a:gd name="connsiteY7" fmla="*/ 9655 h 125519"/>
                <a:gd name="connsiteX8" fmla="*/ 177014 w 180232"/>
                <a:gd name="connsiteY8" fmla="*/ 117795 h 12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232" h="125519">
                  <a:moveTo>
                    <a:pt x="177014" y="117795"/>
                  </a:moveTo>
                  <a:cubicBezTo>
                    <a:pt x="177014" y="120370"/>
                    <a:pt x="174762" y="122623"/>
                    <a:pt x="172187" y="122623"/>
                  </a:cubicBezTo>
                  <a:lnTo>
                    <a:pt x="9655" y="122623"/>
                  </a:lnTo>
                  <a:cubicBezTo>
                    <a:pt x="7081" y="122623"/>
                    <a:pt x="4828" y="120370"/>
                    <a:pt x="4828" y="117795"/>
                  </a:cubicBezTo>
                  <a:lnTo>
                    <a:pt x="4828" y="9655"/>
                  </a:lnTo>
                  <a:cubicBezTo>
                    <a:pt x="4828" y="7081"/>
                    <a:pt x="7081" y="4828"/>
                    <a:pt x="9655" y="4828"/>
                  </a:cubicBezTo>
                  <a:lnTo>
                    <a:pt x="171543" y="4828"/>
                  </a:lnTo>
                  <a:cubicBezTo>
                    <a:pt x="174118" y="4828"/>
                    <a:pt x="176371" y="7081"/>
                    <a:pt x="176371" y="9655"/>
                  </a:cubicBezTo>
                  <a:lnTo>
                    <a:pt x="177014" y="117795"/>
                  </a:lnTo>
                  <a:close/>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2" name="Freeform: Shape 558">
              <a:extLst>
                <a:ext uri="{FF2B5EF4-FFF2-40B4-BE49-F238E27FC236}">
                  <a16:creationId xmlns:a16="http://schemas.microsoft.com/office/drawing/2014/main" id="{7760D16A-8A6B-F249-97CE-297C5C413754}"/>
                </a:ext>
              </a:extLst>
            </p:cNvPr>
            <p:cNvSpPr/>
            <p:nvPr/>
          </p:nvSpPr>
          <p:spPr>
            <a:xfrm>
              <a:off x="4540749" y="5752600"/>
              <a:ext cx="234946" cy="173796"/>
            </a:xfrm>
            <a:custGeom>
              <a:avLst/>
              <a:gdLst>
                <a:gd name="connsiteX0" fmla="*/ 4828 w 234946"/>
                <a:gd name="connsiteY0" fmla="*/ 130025 h 173796"/>
                <a:gd name="connsiteX1" fmla="*/ 4828 w 234946"/>
                <a:gd name="connsiteY1" fmla="*/ 10299 h 173796"/>
                <a:gd name="connsiteX2" fmla="*/ 10299 w 234946"/>
                <a:gd name="connsiteY2" fmla="*/ 4828 h 173796"/>
                <a:gd name="connsiteX3" fmla="*/ 226900 w 234946"/>
                <a:gd name="connsiteY3" fmla="*/ 4828 h 173796"/>
                <a:gd name="connsiteX4" fmla="*/ 232372 w 234946"/>
                <a:gd name="connsiteY4" fmla="*/ 10299 h 173796"/>
                <a:gd name="connsiteX5" fmla="*/ 232372 w 234946"/>
                <a:gd name="connsiteY5" fmla="*/ 165750 h 173796"/>
                <a:gd name="connsiteX6" fmla="*/ 226900 w 234946"/>
                <a:gd name="connsiteY6" fmla="*/ 171221 h 173796"/>
                <a:gd name="connsiteX7" fmla="*/ 26391 w 234946"/>
                <a:gd name="connsiteY7" fmla="*/ 171221 h 17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946" h="173796">
                  <a:moveTo>
                    <a:pt x="4828" y="130025"/>
                  </a:moveTo>
                  <a:lnTo>
                    <a:pt x="4828" y="10299"/>
                  </a:lnTo>
                  <a:cubicBezTo>
                    <a:pt x="4828" y="7402"/>
                    <a:pt x="7402" y="4828"/>
                    <a:pt x="10299" y="4828"/>
                  </a:cubicBezTo>
                  <a:lnTo>
                    <a:pt x="226900" y="4828"/>
                  </a:lnTo>
                  <a:cubicBezTo>
                    <a:pt x="229797" y="4828"/>
                    <a:pt x="232372" y="7402"/>
                    <a:pt x="232372" y="10299"/>
                  </a:cubicBezTo>
                  <a:lnTo>
                    <a:pt x="232372" y="165750"/>
                  </a:lnTo>
                  <a:cubicBezTo>
                    <a:pt x="232372" y="168647"/>
                    <a:pt x="229797" y="171221"/>
                    <a:pt x="226900" y="171221"/>
                  </a:cubicBezTo>
                  <a:lnTo>
                    <a:pt x="26391" y="171221"/>
                  </a:ln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3" name="Freeform: Shape 559">
              <a:extLst>
                <a:ext uri="{FF2B5EF4-FFF2-40B4-BE49-F238E27FC236}">
                  <a16:creationId xmlns:a16="http://schemas.microsoft.com/office/drawing/2014/main" id="{28901D49-74C1-094F-83F7-C761072E557B}"/>
                </a:ext>
              </a:extLst>
            </p:cNvPr>
            <p:cNvSpPr/>
            <p:nvPr/>
          </p:nvSpPr>
          <p:spPr>
            <a:xfrm>
              <a:off x="4409436" y="5872326"/>
              <a:ext cx="138393" cy="138393"/>
            </a:xfrm>
            <a:custGeom>
              <a:avLst/>
              <a:gdLst>
                <a:gd name="connsiteX0" fmla="*/ 4828 w 138393"/>
                <a:gd name="connsiteY0" fmla="*/ 70484 h 138393"/>
                <a:gd name="connsiteX1" fmla="*/ 70484 w 138393"/>
                <a:gd name="connsiteY1" fmla="*/ 4828 h 138393"/>
                <a:gd name="connsiteX2" fmla="*/ 136140 w 138393"/>
                <a:gd name="connsiteY2" fmla="*/ 70484 h 138393"/>
                <a:gd name="connsiteX3" fmla="*/ 70484 w 138393"/>
                <a:gd name="connsiteY3" fmla="*/ 136140 h 138393"/>
                <a:gd name="connsiteX4" fmla="*/ 4828 w 138393"/>
                <a:gd name="connsiteY4" fmla="*/ 70484 h 13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93" h="138393">
                  <a:moveTo>
                    <a:pt x="4828" y="70484"/>
                  </a:moveTo>
                  <a:cubicBezTo>
                    <a:pt x="4828" y="34116"/>
                    <a:pt x="34437" y="4828"/>
                    <a:pt x="70484" y="4828"/>
                  </a:cubicBezTo>
                  <a:cubicBezTo>
                    <a:pt x="106852" y="4828"/>
                    <a:pt x="136140" y="34437"/>
                    <a:pt x="136140" y="70484"/>
                  </a:cubicBezTo>
                  <a:cubicBezTo>
                    <a:pt x="136140" y="106852"/>
                    <a:pt x="106531" y="136140"/>
                    <a:pt x="70484" y="136140"/>
                  </a:cubicBezTo>
                  <a:cubicBezTo>
                    <a:pt x="34437" y="136462"/>
                    <a:pt x="4828" y="106852"/>
                    <a:pt x="4828" y="70484"/>
                  </a:cubicBez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4" name="Freeform: Shape 560">
              <a:extLst>
                <a:ext uri="{FF2B5EF4-FFF2-40B4-BE49-F238E27FC236}">
                  <a16:creationId xmlns:a16="http://schemas.microsoft.com/office/drawing/2014/main" id="{A6E4853D-588A-D241-8CA0-E9056A820D34}"/>
                </a:ext>
              </a:extLst>
            </p:cNvPr>
            <p:cNvSpPr/>
            <p:nvPr/>
          </p:nvSpPr>
          <p:spPr>
            <a:xfrm>
              <a:off x="4359550" y="6007823"/>
              <a:ext cx="205980" cy="128738"/>
            </a:xfrm>
            <a:custGeom>
              <a:avLst/>
              <a:gdLst>
                <a:gd name="connsiteX0" fmla="*/ 163175 w 205980"/>
                <a:gd name="connsiteY0" fmla="*/ 13196 h 128737"/>
                <a:gd name="connsiteX1" fmla="*/ 120370 w 205980"/>
                <a:gd name="connsiteY1" fmla="*/ 4828 h 128737"/>
                <a:gd name="connsiteX2" fmla="*/ 4828 w 205980"/>
                <a:gd name="connsiteY2" fmla="*/ 124876 h 128737"/>
                <a:gd name="connsiteX3" fmla="*/ 202762 w 205980"/>
                <a:gd name="connsiteY3" fmla="*/ 124876 h 128737"/>
              </a:gdLst>
              <a:ahLst/>
              <a:cxnLst>
                <a:cxn ang="0">
                  <a:pos x="connsiteX0" y="connsiteY0"/>
                </a:cxn>
                <a:cxn ang="0">
                  <a:pos x="connsiteX1" y="connsiteY1"/>
                </a:cxn>
                <a:cxn ang="0">
                  <a:pos x="connsiteX2" y="connsiteY2"/>
                </a:cxn>
                <a:cxn ang="0">
                  <a:pos x="connsiteX3" y="connsiteY3"/>
                </a:cxn>
              </a:cxnLst>
              <a:rect l="l" t="t" r="r" b="b"/>
              <a:pathLst>
                <a:path w="205980" h="128737">
                  <a:moveTo>
                    <a:pt x="163175" y="13196"/>
                  </a:moveTo>
                  <a:cubicBezTo>
                    <a:pt x="149980" y="7724"/>
                    <a:pt x="135497" y="4828"/>
                    <a:pt x="120370" y="4828"/>
                  </a:cubicBezTo>
                  <a:cubicBezTo>
                    <a:pt x="56645" y="4828"/>
                    <a:pt x="4828" y="58576"/>
                    <a:pt x="4828" y="124876"/>
                  </a:cubicBezTo>
                  <a:lnTo>
                    <a:pt x="202762" y="124876"/>
                  </a:lnTo>
                </a:path>
              </a:pathLst>
            </a:custGeom>
            <a:ln>
              <a:solidFill>
                <a:schemeClr val="tx1"/>
              </a:solidFill>
            </a:ln>
          </p:spPr>
          <p:txBody>
            <a:bodyPr rtlCol="0" anchor="ctr"/>
            <a:lstStyle/>
            <a:p>
              <a:pPr defTabSz="731504">
                <a:defRPr/>
              </a:pPr>
              <a:endParaRPr lang="en-US" sz="1800" dirty="0">
                <a:solidFill>
                  <a:srgbClr val="FFFFFF"/>
                </a:solidFill>
              </a:endParaRPr>
            </a:p>
          </p:txBody>
        </p:sp>
        <p:sp>
          <p:nvSpPr>
            <p:cNvPr id="315" name="Freeform: Shape 561">
              <a:extLst>
                <a:ext uri="{FF2B5EF4-FFF2-40B4-BE49-F238E27FC236}">
                  <a16:creationId xmlns:a16="http://schemas.microsoft.com/office/drawing/2014/main" id="{89B6C178-4128-9347-91AC-8992591B6837}"/>
                </a:ext>
              </a:extLst>
            </p:cNvPr>
            <p:cNvSpPr/>
            <p:nvPr/>
          </p:nvSpPr>
          <p:spPr>
            <a:xfrm>
              <a:off x="4539783" y="5983684"/>
              <a:ext cx="102990" cy="102990"/>
            </a:xfrm>
            <a:custGeom>
              <a:avLst/>
              <a:gdLst>
                <a:gd name="connsiteX0" fmla="*/ 99450 w 102990"/>
                <a:gd name="connsiteY0" fmla="*/ 52139 h 102990"/>
                <a:gd name="connsiteX1" fmla="*/ 52139 w 102990"/>
                <a:gd name="connsiteY1" fmla="*/ 99450 h 102990"/>
                <a:gd name="connsiteX2" fmla="*/ 4828 w 102990"/>
                <a:gd name="connsiteY2" fmla="*/ 52139 h 102990"/>
                <a:gd name="connsiteX3" fmla="*/ 52139 w 102990"/>
                <a:gd name="connsiteY3" fmla="*/ 4828 h 102990"/>
                <a:gd name="connsiteX4" fmla="*/ 99450 w 102990"/>
                <a:gd name="connsiteY4" fmla="*/ 52139 h 102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90" h="102990">
                  <a:moveTo>
                    <a:pt x="99450" y="52139"/>
                  </a:moveTo>
                  <a:cubicBezTo>
                    <a:pt x="99450" y="78268"/>
                    <a:pt x="78268" y="99450"/>
                    <a:pt x="52139" y="99450"/>
                  </a:cubicBezTo>
                  <a:cubicBezTo>
                    <a:pt x="26010" y="99450"/>
                    <a:pt x="4828" y="78268"/>
                    <a:pt x="4828" y="52139"/>
                  </a:cubicBezTo>
                  <a:cubicBezTo>
                    <a:pt x="4828" y="26010"/>
                    <a:pt x="26010" y="4828"/>
                    <a:pt x="52139" y="4828"/>
                  </a:cubicBezTo>
                  <a:cubicBezTo>
                    <a:pt x="78268" y="4828"/>
                    <a:pt x="99450" y="26010"/>
                    <a:pt x="99450" y="52139"/>
                  </a:cubicBezTo>
                  <a:close/>
                </a:path>
              </a:pathLst>
            </a:custGeom>
            <a:noFill/>
            <a:ln w="19050" cap="flat">
              <a:solidFill>
                <a:srgbClr val="FFC000"/>
              </a:solidFill>
              <a:prstDash val="solid"/>
              <a:round/>
            </a:ln>
          </p:spPr>
          <p:txBody>
            <a:bodyPr rtlCol="0" anchor="ctr"/>
            <a:lstStyle/>
            <a:p>
              <a:pPr defTabSz="731504">
                <a:defRPr/>
              </a:pPr>
              <a:endParaRPr lang="en-US" sz="1800" dirty="0">
                <a:solidFill>
                  <a:srgbClr val="FF9900"/>
                </a:solidFill>
              </a:endParaRPr>
            </a:p>
          </p:txBody>
        </p:sp>
        <p:sp>
          <p:nvSpPr>
            <p:cNvPr id="316" name="Freeform: Shape 562">
              <a:extLst>
                <a:ext uri="{FF2B5EF4-FFF2-40B4-BE49-F238E27FC236}">
                  <a16:creationId xmlns:a16="http://schemas.microsoft.com/office/drawing/2014/main" id="{7D357A63-89A2-934E-B150-97F0F9F60D1E}"/>
                </a:ext>
              </a:extLst>
            </p:cNvPr>
            <p:cNvSpPr/>
            <p:nvPr/>
          </p:nvSpPr>
          <p:spPr>
            <a:xfrm>
              <a:off x="4635693" y="6029708"/>
              <a:ext cx="57932" cy="9655"/>
            </a:xfrm>
            <a:custGeom>
              <a:avLst/>
              <a:gdLst>
                <a:gd name="connsiteX0" fmla="*/ 4828 w 57932"/>
                <a:gd name="connsiteY0" fmla="*/ 4828 h 9655"/>
                <a:gd name="connsiteX1" fmla="*/ 56001 w 57932"/>
                <a:gd name="connsiteY1" fmla="*/ 4828 h 9655"/>
              </a:gdLst>
              <a:ahLst/>
              <a:cxnLst>
                <a:cxn ang="0">
                  <a:pos x="connsiteX0" y="connsiteY0"/>
                </a:cxn>
                <a:cxn ang="0">
                  <a:pos x="connsiteX1" y="connsiteY1"/>
                </a:cxn>
              </a:cxnLst>
              <a:rect l="l" t="t" r="r" b="b"/>
              <a:pathLst>
                <a:path w="57932" h="9655">
                  <a:moveTo>
                    <a:pt x="4828" y="4828"/>
                  </a:moveTo>
                  <a:lnTo>
                    <a:pt x="56001" y="4828"/>
                  </a:lnTo>
                </a:path>
              </a:pathLst>
            </a:custGeom>
            <a:ln w="19050" cap="flat">
              <a:solidFill>
                <a:srgbClr val="FFC000"/>
              </a:solidFill>
              <a:prstDash val="solid"/>
              <a:round/>
            </a:ln>
          </p:spPr>
          <p:txBody>
            <a:bodyPr rtlCol="0" anchor="ctr"/>
            <a:lstStyle/>
            <a:p>
              <a:pPr defTabSz="731504">
                <a:defRPr/>
              </a:pPr>
              <a:endParaRPr lang="en-US" sz="1800" dirty="0">
                <a:solidFill>
                  <a:srgbClr val="FFFFFF"/>
                </a:solidFill>
              </a:endParaRPr>
            </a:p>
          </p:txBody>
        </p:sp>
        <p:sp>
          <p:nvSpPr>
            <p:cNvPr id="317" name="Freeform: Shape 563">
              <a:extLst>
                <a:ext uri="{FF2B5EF4-FFF2-40B4-BE49-F238E27FC236}">
                  <a16:creationId xmlns:a16="http://schemas.microsoft.com/office/drawing/2014/main" id="{1D811A98-2852-354C-BD14-5B35C8D8D1C1}"/>
                </a:ext>
              </a:extLst>
            </p:cNvPr>
            <p:cNvSpPr/>
            <p:nvPr/>
          </p:nvSpPr>
          <p:spPr>
            <a:xfrm>
              <a:off x="4587094" y="6077985"/>
              <a:ext cx="9655" cy="57932"/>
            </a:xfrm>
            <a:custGeom>
              <a:avLst/>
              <a:gdLst>
                <a:gd name="connsiteX0" fmla="*/ 4828 w 9655"/>
                <a:gd name="connsiteY0" fmla="*/ 4828 h 57932"/>
                <a:gd name="connsiteX1" fmla="*/ 4828 w 9655"/>
                <a:gd name="connsiteY1" fmla="*/ 56001 h 57932"/>
              </a:gdLst>
              <a:ahLst/>
              <a:cxnLst>
                <a:cxn ang="0">
                  <a:pos x="connsiteX0" y="connsiteY0"/>
                </a:cxn>
                <a:cxn ang="0">
                  <a:pos x="connsiteX1" y="connsiteY1"/>
                </a:cxn>
              </a:cxnLst>
              <a:rect l="l" t="t" r="r" b="b"/>
              <a:pathLst>
                <a:path w="9655" h="57932">
                  <a:moveTo>
                    <a:pt x="4828" y="4828"/>
                  </a:moveTo>
                  <a:lnTo>
                    <a:pt x="4828" y="56001"/>
                  </a:lnTo>
                </a:path>
              </a:pathLst>
            </a:custGeom>
            <a:ln w="19050" cap="flat">
              <a:solidFill>
                <a:srgbClr val="FFC000"/>
              </a:solidFill>
              <a:prstDash val="solid"/>
              <a:round/>
            </a:ln>
          </p:spPr>
          <p:txBody>
            <a:bodyPr rtlCol="0" anchor="ctr"/>
            <a:lstStyle/>
            <a:p>
              <a:pPr defTabSz="731504">
                <a:defRPr/>
              </a:pPr>
              <a:endParaRPr lang="en-US" sz="1800" dirty="0">
                <a:solidFill>
                  <a:srgbClr val="FF9900"/>
                </a:solidFill>
              </a:endParaRPr>
            </a:p>
          </p:txBody>
        </p:sp>
        <p:sp>
          <p:nvSpPr>
            <p:cNvPr id="318" name="Freeform: Shape 564">
              <a:extLst>
                <a:ext uri="{FF2B5EF4-FFF2-40B4-BE49-F238E27FC236}">
                  <a16:creationId xmlns:a16="http://schemas.microsoft.com/office/drawing/2014/main" id="{104E8A00-A460-C64F-AE3D-52594D2823EF}"/>
                </a:ext>
              </a:extLst>
            </p:cNvPr>
            <p:cNvSpPr/>
            <p:nvPr/>
          </p:nvSpPr>
          <p:spPr>
            <a:xfrm>
              <a:off x="4564887" y="6127227"/>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C000"/>
              </a:solidFill>
              <a:prstDash val="solid"/>
              <a:round/>
            </a:ln>
          </p:spPr>
          <p:txBody>
            <a:bodyPr rtlCol="0" anchor="ctr"/>
            <a:lstStyle/>
            <a:p>
              <a:pPr defTabSz="731504">
                <a:defRPr/>
              </a:pPr>
              <a:endParaRPr lang="en-US" sz="1800" dirty="0">
                <a:solidFill>
                  <a:srgbClr val="FF9900"/>
                </a:solidFill>
              </a:endParaRPr>
            </a:p>
          </p:txBody>
        </p:sp>
        <p:sp>
          <p:nvSpPr>
            <p:cNvPr id="319" name="Freeform: Shape 565">
              <a:extLst>
                <a:ext uri="{FF2B5EF4-FFF2-40B4-BE49-F238E27FC236}">
                  <a16:creationId xmlns:a16="http://schemas.microsoft.com/office/drawing/2014/main" id="{4460103D-4122-DD45-8129-3196ABBFB3E1}"/>
                </a:ext>
              </a:extLst>
            </p:cNvPr>
            <p:cNvSpPr/>
            <p:nvPr/>
          </p:nvSpPr>
          <p:spPr>
            <a:xfrm>
              <a:off x="4683326" y="6004604"/>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C000"/>
              </a:solidFill>
              <a:prstDash val="solid"/>
              <a:round/>
            </a:ln>
          </p:spPr>
          <p:txBody>
            <a:bodyPr rtlCol="0" anchor="ctr"/>
            <a:lstStyle/>
            <a:p>
              <a:pPr defTabSz="731504">
                <a:defRPr/>
              </a:pPr>
              <a:endParaRPr lang="en-US" sz="1800" dirty="0">
                <a:solidFill>
                  <a:srgbClr val="FF9900"/>
                </a:solidFill>
              </a:endParaRPr>
            </a:p>
          </p:txBody>
        </p:sp>
        <p:sp>
          <p:nvSpPr>
            <p:cNvPr id="320" name="Freeform: Shape 566">
              <a:extLst>
                <a:ext uri="{FF2B5EF4-FFF2-40B4-BE49-F238E27FC236}">
                  <a16:creationId xmlns:a16="http://schemas.microsoft.com/office/drawing/2014/main" id="{20C06C1B-A45D-0142-AF57-D39540A414D7}"/>
                </a:ext>
              </a:extLst>
            </p:cNvPr>
            <p:cNvSpPr/>
            <p:nvPr/>
          </p:nvSpPr>
          <p:spPr>
            <a:xfrm>
              <a:off x="4622819" y="6059962"/>
              <a:ext cx="45058" cy="45058"/>
            </a:xfrm>
            <a:custGeom>
              <a:avLst/>
              <a:gdLst>
                <a:gd name="connsiteX0" fmla="*/ 4828 w 45058"/>
                <a:gd name="connsiteY0" fmla="*/ 4828 h 45058"/>
                <a:gd name="connsiteX1" fmla="*/ 41196 w 45058"/>
                <a:gd name="connsiteY1" fmla="*/ 41196 h 45058"/>
              </a:gdLst>
              <a:ahLst/>
              <a:cxnLst>
                <a:cxn ang="0">
                  <a:pos x="connsiteX0" y="connsiteY0"/>
                </a:cxn>
                <a:cxn ang="0">
                  <a:pos x="connsiteX1" y="connsiteY1"/>
                </a:cxn>
              </a:cxnLst>
              <a:rect l="l" t="t" r="r" b="b"/>
              <a:pathLst>
                <a:path w="45058" h="45058">
                  <a:moveTo>
                    <a:pt x="4828" y="4828"/>
                  </a:moveTo>
                  <a:lnTo>
                    <a:pt x="41196" y="41196"/>
                  </a:lnTo>
                </a:path>
              </a:pathLst>
            </a:custGeom>
            <a:ln w="19050" cap="flat">
              <a:solidFill>
                <a:srgbClr val="FFC000"/>
              </a:solidFill>
              <a:prstDash val="solid"/>
              <a:round/>
            </a:ln>
          </p:spPr>
          <p:txBody>
            <a:bodyPr rtlCol="0" anchor="ctr"/>
            <a:lstStyle/>
            <a:p>
              <a:pPr defTabSz="731504">
                <a:defRPr/>
              </a:pPr>
              <a:endParaRPr lang="en-US" sz="1800" dirty="0">
                <a:solidFill>
                  <a:srgbClr val="FFFFFF"/>
                </a:solidFill>
              </a:endParaRPr>
            </a:p>
          </p:txBody>
        </p:sp>
        <p:sp>
          <p:nvSpPr>
            <p:cNvPr id="321" name="Freeform: Shape 567">
              <a:extLst>
                <a:ext uri="{FF2B5EF4-FFF2-40B4-BE49-F238E27FC236}">
                  <a16:creationId xmlns:a16="http://schemas.microsoft.com/office/drawing/2014/main" id="{BE8CC5F5-FBFF-034E-B185-AC58219A7524}"/>
                </a:ext>
              </a:extLst>
            </p:cNvPr>
            <p:cNvSpPr/>
            <p:nvPr/>
          </p:nvSpPr>
          <p:spPr>
            <a:xfrm>
              <a:off x="4649854" y="6086031"/>
              <a:ext cx="57932" cy="57932"/>
            </a:xfrm>
            <a:custGeom>
              <a:avLst/>
              <a:gdLst>
                <a:gd name="connsiteX0" fmla="*/ 53104 w 57932"/>
                <a:gd name="connsiteY0" fmla="*/ 28966 h 57932"/>
                <a:gd name="connsiteX1" fmla="*/ 28966 w 57932"/>
                <a:gd name="connsiteY1" fmla="*/ 53104 h 57932"/>
                <a:gd name="connsiteX2" fmla="*/ 4828 w 57932"/>
                <a:gd name="connsiteY2" fmla="*/ 28966 h 57932"/>
                <a:gd name="connsiteX3" fmla="*/ 28966 w 57932"/>
                <a:gd name="connsiteY3" fmla="*/ 4828 h 57932"/>
                <a:gd name="connsiteX4" fmla="*/ 53104 w 57932"/>
                <a:gd name="connsiteY4" fmla="*/ 28966 h 57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32" h="57932">
                  <a:moveTo>
                    <a:pt x="53104" y="28966"/>
                  </a:moveTo>
                  <a:cubicBezTo>
                    <a:pt x="53104" y="42297"/>
                    <a:pt x="42297" y="53104"/>
                    <a:pt x="28966" y="53104"/>
                  </a:cubicBezTo>
                  <a:cubicBezTo>
                    <a:pt x="15635" y="53104"/>
                    <a:pt x="4828" y="42297"/>
                    <a:pt x="4828" y="28966"/>
                  </a:cubicBezTo>
                  <a:cubicBezTo>
                    <a:pt x="4828" y="15635"/>
                    <a:pt x="15635" y="4828"/>
                    <a:pt x="28966" y="4828"/>
                  </a:cubicBezTo>
                  <a:cubicBezTo>
                    <a:pt x="42297" y="4828"/>
                    <a:pt x="53104" y="15635"/>
                    <a:pt x="53104" y="28966"/>
                  </a:cubicBezTo>
                  <a:close/>
                </a:path>
              </a:pathLst>
            </a:custGeom>
            <a:noFill/>
            <a:ln w="19050" cap="flat">
              <a:solidFill>
                <a:srgbClr val="FFC000"/>
              </a:solidFill>
              <a:prstDash val="solid"/>
              <a:round/>
            </a:ln>
          </p:spPr>
          <p:txBody>
            <a:bodyPr rtlCol="0" anchor="ctr"/>
            <a:lstStyle/>
            <a:p>
              <a:pPr defTabSz="731504">
                <a:defRPr/>
              </a:pPr>
              <a:endParaRPr lang="en-US" sz="1800" dirty="0">
                <a:solidFill>
                  <a:srgbClr val="FF9900"/>
                </a:solidFill>
              </a:endParaRPr>
            </a:p>
          </p:txBody>
        </p:sp>
      </p:grpSp>
      <p:sp>
        <p:nvSpPr>
          <p:cNvPr id="322" name="Oval 321">
            <a:extLst>
              <a:ext uri="{FF2B5EF4-FFF2-40B4-BE49-F238E27FC236}">
                <a16:creationId xmlns:a16="http://schemas.microsoft.com/office/drawing/2014/main" id="{52544D46-1214-0F40-B346-7C6B86871A20}"/>
              </a:ext>
            </a:extLst>
          </p:cNvPr>
          <p:cNvSpPr/>
          <p:nvPr/>
        </p:nvSpPr>
        <p:spPr>
          <a:xfrm>
            <a:off x="320820" y="2327213"/>
            <a:ext cx="1260476" cy="1260476"/>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23" name="Rectangle: Rounded Corners 25">
            <a:extLst>
              <a:ext uri="{FF2B5EF4-FFF2-40B4-BE49-F238E27FC236}">
                <a16:creationId xmlns:a16="http://schemas.microsoft.com/office/drawing/2014/main" id="{956DBFC4-0F8C-584A-89AF-78CBAF68415A}"/>
              </a:ext>
            </a:extLst>
          </p:cNvPr>
          <p:cNvSpPr/>
          <p:nvPr/>
        </p:nvSpPr>
        <p:spPr>
          <a:xfrm>
            <a:off x="129723" y="2123004"/>
            <a:ext cx="4396080" cy="1666481"/>
          </a:xfrm>
          <a:prstGeom prst="roundRect">
            <a:avLst>
              <a:gd name="adj" fmla="val 50000"/>
            </a:avLst>
          </a:prstGeom>
          <a:noFill/>
          <a:ln w="25400">
            <a:solidFill>
              <a:srgbClr val="2E27A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38" name="TextBox 337">
            <a:extLst>
              <a:ext uri="{FF2B5EF4-FFF2-40B4-BE49-F238E27FC236}">
                <a16:creationId xmlns:a16="http://schemas.microsoft.com/office/drawing/2014/main" id="{2D77BB0A-D900-5C47-B63E-3601EFAA16A2}"/>
              </a:ext>
            </a:extLst>
          </p:cNvPr>
          <p:cNvSpPr txBox="1"/>
          <p:nvPr/>
        </p:nvSpPr>
        <p:spPr>
          <a:xfrm>
            <a:off x="1284457" y="2732771"/>
            <a:ext cx="1893971" cy="369332"/>
          </a:xfrm>
          <a:prstGeom prst="rect">
            <a:avLst/>
          </a:prstGeom>
          <a:noFill/>
        </p:spPr>
        <p:txBody>
          <a:bodyPr wrap="square" rtlCol="0">
            <a:spAutoFit/>
          </a:bodyPr>
          <a:lstStyle/>
          <a:p>
            <a:pPr algn="ctr" defTabSz="731491">
              <a:defRPr/>
            </a:pPr>
            <a:r>
              <a:rPr lang="en-US" sz="18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Assess</a:t>
            </a:r>
          </a:p>
        </p:txBody>
      </p:sp>
      <p:sp>
        <p:nvSpPr>
          <p:cNvPr id="339" name="Oval 338">
            <a:extLst>
              <a:ext uri="{FF2B5EF4-FFF2-40B4-BE49-F238E27FC236}">
                <a16:creationId xmlns:a16="http://schemas.microsoft.com/office/drawing/2014/main" id="{CA8922A8-CEFF-5448-85AB-3B27D967E1E7}"/>
              </a:ext>
            </a:extLst>
          </p:cNvPr>
          <p:cNvSpPr/>
          <p:nvPr/>
        </p:nvSpPr>
        <p:spPr>
          <a:xfrm>
            <a:off x="12780533" y="2313017"/>
            <a:ext cx="1260476" cy="1260476"/>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grpSp>
        <p:nvGrpSpPr>
          <p:cNvPr id="340" name="Group 339">
            <a:extLst>
              <a:ext uri="{FF2B5EF4-FFF2-40B4-BE49-F238E27FC236}">
                <a16:creationId xmlns:a16="http://schemas.microsoft.com/office/drawing/2014/main" id="{83BA8FE9-C64A-2647-A90E-F4C47EA20FF8}"/>
              </a:ext>
            </a:extLst>
          </p:cNvPr>
          <p:cNvGrpSpPr/>
          <p:nvPr/>
        </p:nvGrpSpPr>
        <p:grpSpPr>
          <a:xfrm>
            <a:off x="10383080" y="2578522"/>
            <a:ext cx="722164" cy="741402"/>
            <a:chOff x="11775659" y="4756671"/>
            <a:chExt cx="483729" cy="496616"/>
          </a:xfrm>
        </p:grpSpPr>
        <p:grpSp>
          <p:nvGrpSpPr>
            <p:cNvPr id="341" name="Graphic 268">
              <a:extLst>
                <a:ext uri="{FF2B5EF4-FFF2-40B4-BE49-F238E27FC236}">
                  <a16:creationId xmlns:a16="http://schemas.microsoft.com/office/drawing/2014/main" id="{4E266E10-1C3E-034D-81A4-6353CA7776F9}"/>
                </a:ext>
              </a:extLst>
            </p:cNvPr>
            <p:cNvGrpSpPr/>
            <p:nvPr/>
          </p:nvGrpSpPr>
          <p:grpSpPr>
            <a:xfrm>
              <a:off x="11775659" y="4756671"/>
              <a:ext cx="483729" cy="496616"/>
              <a:chOff x="4562059" y="6255271"/>
              <a:chExt cx="483729" cy="496616"/>
            </a:xfrm>
          </p:grpSpPr>
          <p:sp>
            <p:nvSpPr>
              <p:cNvPr id="345" name="Freeform: Shape 486">
                <a:extLst>
                  <a:ext uri="{FF2B5EF4-FFF2-40B4-BE49-F238E27FC236}">
                    <a16:creationId xmlns:a16="http://schemas.microsoft.com/office/drawing/2014/main" id="{FA5EA36F-C218-1949-AE94-434CD7997B4E}"/>
                  </a:ext>
                </a:extLst>
              </p:cNvPr>
              <p:cNvSpPr/>
              <p:nvPr/>
            </p:nvSpPr>
            <p:spPr>
              <a:xfrm>
                <a:off x="4566562" y="6542841"/>
                <a:ext cx="80461" cy="138393"/>
              </a:xfrm>
              <a:custGeom>
                <a:avLst/>
                <a:gdLst>
                  <a:gd name="connsiteX0" fmla="*/ 1617 w 80461"/>
                  <a:gd name="connsiteY0" fmla="*/ 1617 h 138393"/>
                  <a:gd name="connsiteX1" fmla="*/ 79825 w 80461"/>
                  <a:gd name="connsiteY1" fmla="*/ 139367 h 138393"/>
                </a:gdLst>
                <a:ahLst/>
                <a:cxnLst>
                  <a:cxn ang="0">
                    <a:pos x="connsiteX0" y="connsiteY0"/>
                  </a:cxn>
                  <a:cxn ang="0">
                    <a:pos x="connsiteX1" y="connsiteY1"/>
                  </a:cxn>
                </a:cxnLst>
                <a:rect l="l" t="t" r="r" b="b"/>
                <a:pathLst>
                  <a:path w="80461" h="138393">
                    <a:moveTo>
                      <a:pt x="1617" y="1617"/>
                    </a:moveTo>
                    <a:cubicBezTo>
                      <a:pt x="9342" y="45066"/>
                      <a:pt x="29296" y="99458"/>
                      <a:pt x="79825" y="13936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46" name="Freeform: Shape 487">
                <a:extLst>
                  <a:ext uri="{FF2B5EF4-FFF2-40B4-BE49-F238E27FC236}">
                    <a16:creationId xmlns:a16="http://schemas.microsoft.com/office/drawing/2014/main" id="{6B4DADFA-9854-BA4C-8156-F6C52B3EA386}"/>
                  </a:ext>
                </a:extLst>
              </p:cNvPr>
              <p:cNvSpPr/>
              <p:nvPr/>
            </p:nvSpPr>
            <p:spPr>
              <a:xfrm>
                <a:off x="4562059" y="6283113"/>
                <a:ext cx="131956" cy="231728"/>
              </a:xfrm>
              <a:custGeom>
                <a:avLst/>
                <a:gdLst>
                  <a:gd name="connsiteX0" fmla="*/ 132926 w 131956"/>
                  <a:gd name="connsiteY0" fmla="*/ 1617 h 231728"/>
                  <a:gd name="connsiteX1" fmla="*/ 121340 w 131956"/>
                  <a:gd name="connsiteY1" fmla="*/ 8054 h 231728"/>
                  <a:gd name="connsiteX2" fmla="*/ 2579 w 131956"/>
                  <a:gd name="connsiteY2" fmla="*/ 191506 h 231728"/>
                  <a:gd name="connsiteX3" fmla="*/ 2258 w 131956"/>
                  <a:gd name="connsiteY3" fmla="*/ 230127 h 231728"/>
                </a:gdLst>
                <a:ahLst/>
                <a:cxnLst>
                  <a:cxn ang="0">
                    <a:pos x="connsiteX0" y="connsiteY0"/>
                  </a:cxn>
                  <a:cxn ang="0">
                    <a:pos x="connsiteX1" y="connsiteY1"/>
                  </a:cxn>
                  <a:cxn ang="0">
                    <a:pos x="connsiteX2" y="connsiteY2"/>
                  </a:cxn>
                  <a:cxn ang="0">
                    <a:pos x="connsiteX3" y="connsiteY3"/>
                  </a:cxn>
                </a:cxnLst>
                <a:rect l="l" t="t" r="r" b="b"/>
                <a:pathLst>
                  <a:path w="131956" h="231728">
                    <a:moveTo>
                      <a:pt x="132926" y="1617"/>
                    </a:moveTo>
                    <a:cubicBezTo>
                      <a:pt x="129064" y="3548"/>
                      <a:pt x="125202" y="5801"/>
                      <a:pt x="121340" y="8054"/>
                    </a:cubicBezTo>
                    <a:cubicBezTo>
                      <a:pt x="70810" y="37342"/>
                      <a:pt x="11591" y="102998"/>
                      <a:pt x="2579" y="191506"/>
                    </a:cubicBezTo>
                    <a:cubicBezTo>
                      <a:pt x="2579" y="191506"/>
                      <a:pt x="648" y="206954"/>
                      <a:pt x="2258" y="23012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47" name="Freeform: Shape 488">
                <a:extLst>
                  <a:ext uri="{FF2B5EF4-FFF2-40B4-BE49-F238E27FC236}">
                    <a16:creationId xmlns:a16="http://schemas.microsoft.com/office/drawing/2014/main" id="{B31B87A0-7261-DD43-8386-19E3D289E898}"/>
                  </a:ext>
                </a:extLst>
              </p:cNvPr>
              <p:cNvSpPr/>
              <p:nvPr/>
            </p:nvSpPr>
            <p:spPr>
              <a:xfrm>
                <a:off x="4721369" y="6255271"/>
                <a:ext cx="280005" cy="106209"/>
              </a:xfrm>
              <a:custGeom>
                <a:avLst/>
                <a:gdLst>
                  <a:gd name="connsiteX0" fmla="*/ 281300 w 280004"/>
                  <a:gd name="connsiteY0" fmla="*/ 105737 h 106208"/>
                  <a:gd name="connsiteX1" fmla="*/ 1617 w 280004"/>
                  <a:gd name="connsiteY1" fmla="*/ 16908 h 106208"/>
                </a:gdLst>
                <a:ahLst/>
                <a:cxnLst>
                  <a:cxn ang="0">
                    <a:pos x="connsiteX0" y="connsiteY0"/>
                  </a:cxn>
                  <a:cxn ang="0">
                    <a:pos x="connsiteX1" y="connsiteY1"/>
                  </a:cxn>
                </a:cxnLst>
                <a:rect l="l" t="t" r="r" b="b"/>
                <a:pathLst>
                  <a:path w="280004" h="106208">
                    <a:moveTo>
                      <a:pt x="281300" y="105737"/>
                    </a:moveTo>
                    <a:cubicBezTo>
                      <a:pt x="240104" y="41368"/>
                      <a:pt x="127137" y="-30404"/>
                      <a:pt x="1617" y="16908"/>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48" name="Freeform: Shape 489">
                <a:extLst>
                  <a:ext uri="{FF2B5EF4-FFF2-40B4-BE49-F238E27FC236}">
                    <a16:creationId xmlns:a16="http://schemas.microsoft.com/office/drawing/2014/main" id="{60622C66-9FBA-A344-9756-B87AED494E60}"/>
                  </a:ext>
                </a:extLst>
              </p:cNvPr>
              <p:cNvSpPr/>
              <p:nvPr/>
            </p:nvSpPr>
            <p:spPr>
              <a:xfrm>
                <a:off x="4966139" y="6325122"/>
                <a:ext cx="45058" cy="41840"/>
              </a:xfrm>
              <a:custGeom>
                <a:avLst/>
                <a:gdLst>
                  <a:gd name="connsiteX0" fmla="*/ 45541 w 45058"/>
                  <a:gd name="connsiteY0" fmla="*/ 3379 h 41839"/>
                  <a:gd name="connsiteX1" fmla="*/ 39104 w 45058"/>
                  <a:gd name="connsiteY1" fmla="*/ 2414 h 41839"/>
                  <a:gd name="connsiteX2" fmla="*/ 34598 w 45058"/>
                  <a:gd name="connsiteY2" fmla="*/ 33955 h 41839"/>
                  <a:gd name="connsiteX3" fmla="*/ 3701 w 45058"/>
                  <a:gd name="connsiteY3" fmla="*/ 27196 h 41839"/>
                  <a:gd name="connsiteX4" fmla="*/ 2414 w 45058"/>
                  <a:gd name="connsiteY4" fmla="*/ 33311 h 41839"/>
                  <a:gd name="connsiteX5" fmla="*/ 40070 w 45058"/>
                  <a:gd name="connsiteY5" fmla="*/ 41679 h 4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58" h="41839">
                    <a:moveTo>
                      <a:pt x="45541" y="3379"/>
                    </a:moveTo>
                    <a:lnTo>
                      <a:pt x="39104" y="2414"/>
                    </a:lnTo>
                    <a:lnTo>
                      <a:pt x="34598" y="33955"/>
                    </a:lnTo>
                    <a:lnTo>
                      <a:pt x="3701" y="27196"/>
                    </a:lnTo>
                    <a:lnTo>
                      <a:pt x="2414" y="33311"/>
                    </a:lnTo>
                    <a:lnTo>
                      <a:pt x="40070" y="41679"/>
                    </a:lnTo>
                    <a:close/>
                  </a:path>
                </a:pathLst>
              </a:custGeom>
              <a:solidFill>
                <a:schemeClr val="tx1"/>
              </a:solidFill>
              <a:ln w="15875" cap="flat">
                <a:solidFill>
                  <a:schemeClr val="tx1"/>
                </a:solidFill>
                <a:prstDash val="solid"/>
                <a:miter/>
              </a:ln>
            </p:spPr>
            <p:txBody>
              <a:bodyPr rtlCol="0" anchor="ctr"/>
              <a:lstStyle/>
              <a:p>
                <a:pPr defTabSz="731504">
                  <a:defRPr/>
                </a:pPr>
                <a:endParaRPr lang="en-US" sz="1800" dirty="0">
                  <a:solidFill>
                    <a:srgbClr val="FFFFFF"/>
                  </a:solidFill>
                </a:endParaRPr>
              </a:p>
            </p:txBody>
          </p:sp>
          <p:sp>
            <p:nvSpPr>
              <p:cNvPr id="349" name="Freeform: Shape 490">
                <a:extLst>
                  <a:ext uri="{FF2B5EF4-FFF2-40B4-BE49-F238E27FC236}">
                    <a16:creationId xmlns:a16="http://schemas.microsoft.com/office/drawing/2014/main" id="{CF51FC6D-5E26-1946-B6F7-6CF13F56BC34}"/>
                  </a:ext>
                </a:extLst>
              </p:cNvPr>
              <p:cNvSpPr/>
              <p:nvPr/>
            </p:nvSpPr>
            <p:spPr>
              <a:xfrm>
                <a:off x="5032914" y="6426655"/>
                <a:ext cx="12874" cy="86898"/>
              </a:xfrm>
              <a:custGeom>
                <a:avLst/>
                <a:gdLst>
                  <a:gd name="connsiteX0" fmla="*/ 12238 w 12873"/>
                  <a:gd name="connsiteY0" fmla="*/ 86584 h 86898"/>
                  <a:gd name="connsiteX1" fmla="*/ 1617 w 12873"/>
                  <a:gd name="connsiteY1" fmla="*/ 1617 h 86898"/>
                </a:gdLst>
                <a:ahLst/>
                <a:cxnLst>
                  <a:cxn ang="0">
                    <a:pos x="connsiteX0" y="connsiteY0"/>
                  </a:cxn>
                  <a:cxn ang="0">
                    <a:pos x="connsiteX1" y="connsiteY1"/>
                  </a:cxn>
                </a:cxnLst>
                <a:rect l="l" t="t" r="r" b="b"/>
                <a:pathLst>
                  <a:path w="12873" h="86898">
                    <a:moveTo>
                      <a:pt x="12238" y="86584"/>
                    </a:moveTo>
                    <a:cubicBezTo>
                      <a:pt x="13847" y="60193"/>
                      <a:pt x="10629" y="31549"/>
                      <a:pt x="1617"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50" name="Freeform: Shape 491">
                <a:extLst>
                  <a:ext uri="{FF2B5EF4-FFF2-40B4-BE49-F238E27FC236}">
                    <a16:creationId xmlns:a16="http://schemas.microsoft.com/office/drawing/2014/main" id="{1EC43E67-C46F-9E4B-B39A-23622A46E073}"/>
                  </a:ext>
                </a:extLst>
              </p:cNvPr>
              <p:cNvSpPr/>
              <p:nvPr/>
            </p:nvSpPr>
            <p:spPr>
              <a:xfrm>
                <a:off x="5025190" y="6531255"/>
                <a:ext cx="19311" cy="61150"/>
              </a:xfrm>
              <a:custGeom>
                <a:avLst/>
                <a:gdLst>
                  <a:gd name="connsiteX0" fmla="*/ 1617 w 19310"/>
                  <a:gd name="connsiteY0" fmla="*/ 60193 h 61150"/>
                  <a:gd name="connsiteX1" fmla="*/ 18353 w 19310"/>
                  <a:gd name="connsiteY1" fmla="*/ 1617 h 61150"/>
                </a:gdLst>
                <a:ahLst/>
                <a:cxnLst>
                  <a:cxn ang="0">
                    <a:pos x="connsiteX0" y="connsiteY0"/>
                  </a:cxn>
                  <a:cxn ang="0">
                    <a:pos x="connsiteX1" y="connsiteY1"/>
                  </a:cxn>
                </a:cxnLst>
                <a:rect l="l" t="t" r="r" b="b"/>
                <a:pathLst>
                  <a:path w="19310" h="61150">
                    <a:moveTo>
                      <a:pt x="1617" y="60193"/>
                    </a:moveTo>
                    <a:cubicBezTo>
                      <a:pt x="9342" y="42170"/>
                      <a:pt x="15135" y="22537"/>
                      <a:pt x="18353"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51" name="Freeform: Shape 492">
                <a:extLst>
                  <a:ext uri="{FF2B5EF4-FFF2-40B4-BE49-F238E27FC236}">
                    <a16:creationId xmlns:a16="http://schemas.microsoft.com/office/drawing/2014/main" id="{018171BC-1CE0-1941-8393-C236D902A20F}"/>
                  </a:ext>
                </a:extLst>
              </p:cNvPr>
              <p:cNvSpPr/>
              <p:nvPr/>
            </p:nvSpPr>
            <p:spPr>
              <a:xfrm>
                <a:off x="4701736" y="6612038"/>
                <a:ext cx="315408" cy="128738"/>
              </a:xfrm>
              <a:custGeom>
                <a:avLst/>
                <a:gdLst>
                  <a:gd name="connsiteX0" fmla="*/ 1617 w 315407"/>
                  <a:gd name="connsiteY0" fmla="*/ 106539 h 128737"/>
                  <a:gd name="connsiteX1" fmla="*/ 224012 w 315407"/>
                  <a:gd name="connsiteY1" fmla="*/ 95274 h 128737"/>
                  <a:gd name="connsiteX2" fmla="*/ 314450 w 315407"/>
                  <a:gd name="connsiteY2" fmla="*/ 1617 h 128737"/>
                </a:gdLst>
                <a:ahLst/>
                <a:cxnLst>
                  <a:cxn ang="0">
                    <a:pos x="connsiteX0" y="connsiteY0"/>
                  </a:cxn>
                  <a:cxn ang="0">
                    <a:pos x="connsiteX1" y="connsiteY1"/>
                  </a:cxn>
                  <a:cxn ang="0">
                    <a:pos x="connsiteX2" y="connsiteY2"/>
                  </a:cxn>
                </a:cxnLst>
                <a:rect l="l" t="t" r="r" b="b"/>
                <a:pathLst>
                  <a:path w="315407" h="128737">
                    <a:moveTo>
                      <a:pt x="1617" y="106539"/>
                    </a:moveTo>
                    <a:cubicBezTo>
                      <a:pt x="62768" y="135183"/>
                      <a:pt x="141941" y="142585"/>
                      <a:pt x="224012" y="95274"/>
                    </a:cubicBezTo>
                    <a:cubicBezTo>
                      <a:pt x="255553" y="76929"/>
                      <a:pt x="290312" y="44744"/>
                      <a:pt x="314450"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52" name="Freeform: Shape 493">
                <a:extLst>
                  <a:ext uri="{FF2B5EF4-FFF2-40B4-BE49-F238E27FC236}">
                    <a16:creationId xmlns:a16="http://schemas.microsoft.com/office/drawing/2014/main" id="{C9FACB6A-182B-F648-9D18-04058ACF3A47}"/>
                  </a:ext>
                </a:extLst>
              </p:cNvPr>
              <p:cNvSpPr/>
              <p:nvPr/>
            </p:nvSpPr>
            <p:spPr>
              <a:xfrm>
                <a:off x="4694503" y="6700392"/>
                <a:ext cx="41840" cy="51495"/>
              </a:xfrm>
              <a:custGeom>
                <a:avLst/>
                <a:gdLst>
                  <a:gd name="connsiteX0" fmla="*/ 17541 w 41839"/>
                  <a:gd name="connsiteY0" fmla="*/ 50691 h 51495"/>
                  <a:gd name="connsiteX1" fmla="*/ 23656 w 41839"/>
                  <a:gd name="connsiteY1" fmla="*/ 48116 h 51495"/>
                  <a:gd name="connsiteX2" fmla="*/ 11104 w 41839"/>
                  <a:gd name="connsiteY2" fmla="*/ 18828 h 51495"/>
                  <a:gd name="connsiteX3" fmla="*/ 41035 w 41839"/>
                  <a:gd name="connsiteY3" fmla="*/ 8529 h 51495"/>
                  <a:gd name="connsiteX4" fmla="*/ 39104 w 41839"/>
                  <a:gd name="connsiteY4" fmla="*/ 2414 h 51495"/>
                  <a:gd name="connsiteX5" fmla="*/ 2414 w 41839"/>
                  <a:gd name="connsiteY5" fmla="*/ 14966 h 5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39" h="51495">
                    <a:moveTo>
                      <a:pt x="17541" y="50691"/>
                    </a:moveTo>
                    <a:lnTo>
                      <a:pt x="23656" y="48116"/>
                    </a:lnTo>
                    <a:lnTo>
                      <a:pt x="11104" y="18828"/>
                    </a:lnTo>
                    <a:lnTo>
                      <a:pt x="41035" y="8529"/>
                    </a:lnTo>
                    <a:lnTo>
                      <a:pt x="39104" y="2414"/>
                    </a:lnTo>
                    <a:lnTo>
                      <a:pt x="2414" y="14966"/>
                    </a:lnTo>
                    <a:close/>
                  </a:path>
                </a:pathLst>
              </a:custGeom>
              <a:solidFill>
                <a:schemeClr val="tx1"/>
              </a:solidFill>
              <a:ln w="15875" cap="flat">
                <a:solidFill>
                  <a:schemeClr val="tx1"/>
                </a:solidFill>
                <a:prstDash val="solid"/>
                <a:miter/>
              </a:ln>
            </p:spPr>
            <p:txBody>
              <a:bodyPr rtlCol="0" anchor="ctr"/>
              <a:lstStyle/>
              <a:p>
                <a:pPr defTabSz="731504">
                  <a:defRPr/>
                </a:pPr>
                <a:endParaRPr lang="en-US" sz="1800" dirty="0">
                  <a:solidFill>
                    <a:srgbClr val="FFFFFF"/>
                  </a:solidFill>
                </a:endParaRPr>
              </a:p>
            </p:txBody>
          </p:sp>
        </p:grpSp>
        <p:grpSp>
          <p:nvGrpSpPr>
            <p:cNvPr id="342" name="Graphic 244">
              <a:extLst>
                <a:ext uri="{FF2B5EF4-FFF2-40B4-BE49-F238E27FC236}">
                  <a16:creationId xmlns:a16="http://schemas.microsoft.com/office/drawing/2014/main" id="{EA532067-031D-D245-B2EF-80B586F684D7}"/>
                </a:ext>
              </a:extLst>
            </p:cNvPr>
            <p:cNvGrpSpPr/>
            <p:nvPr/>
          </p:nvGrpSpPr>
          <p:grpSpPr>
            <a:xfrm>
              <a:off x="11885192" y="4863122"/>
              <a:ext cx="274189" cy="274189"/>
              <a:chOff x="7761796" y="567771"/>
              <a:chExt cx="164141" cy="164141"/>
            </a:xfrm>
          </p:grpSpPr>
          <p:sp>
            <p:nvSpPr>
              <p:cNvPr id="343" name="Freeform: Shape 484">
                <a:extLst>
                  <a:ext uri="{FF2B5EF4-FFF2-40B4-BE49-F238E27FC236}">
                    <a16:creationId xmlns:a16="http://schemas.microsoft.com/office/drawing/2014/main" id="{AB4265D2-8356-2E4E-86A4-FDB31830372B}"/>
                  </a:ext>
                </a:extLst>
              </p:cNvPr>
              <p:cNvSpPr/>
              <p:nvPr/>
            </p:nvSpPr>
            <p:spPr>
              <a:xfrm>
                <a:off x="7761796" y="567771"/>
                <a:ext cx="164141" cy="164141"/>
              </a:xfrm>
              <a:custGeom>
                <a:avLst/>
                <a:gdLst>
                  <a:gd name="connsiteX0" fmla="*/ 19311 w 164140"/>
                  <a:gd name="connsiteY0" fmla="*/ 128094 h 164140"/>
                  <a:gd name="connsiteX1" fmla="*/ 22529 w 164140"/>
                  <a:gd name="connsiteY1" fmla="*/ 131634 h 164140"/>
                  <a:gd name="connsiteX2" fmla="*/ 25748 w 164140"/>
                  <a:gd name="connsiteY2" fmla="*/ 135175 h 164140"/>
                  <a:gd name="connsiteX3" fmla="*/ 28966 w 164140"/>
                  <a:gd name="connsiteY3" fmla="*/ 138715 h 164140"/>
                  <a:gd name="connsiteX4" fmla="*/ 50530 w 164140"/>
                  <a:gd name="connsiteY4" fmla="*/ 127772 h 164140"/>
                  <a:gd name="connsiteX5" fmla="*/ 65978 w 164140"/>
                  <a:gd name="connsiteY5" fmla="*/ 135497 h 164140"/>
                  <a:gd name="connsiteX6" fmla="*/ 70162 w 164140"/>
                  <a:gd name="connsiteY6" fmla="*/ 159313 h 164140"/>
                  <a:gd name="connsiteX7" fmla="*/ 74990 w 164140"/>
                  <a:gd name="connsiteY7" fmla="*/ 159635 h 164140"/>
                  <a:gd name="connsiteX8" fmla="*/ 79817 w 164140"/>
                  <a:gd name="connsiteY8" fmla="*/ 159957 h 164140"/>
                  <a:gd name="connsiteX9" fmla="*/ 84645 w 164140"/>
                  <a:gd name="connsiteY9" fmla="*/ 160279 h 164140"/>
                  <a:gd name="connsiteX10" fmla="*/ 92048 w 164140"/>
                  <a:gd name="connsiteY10" fmla="*/ 137106 h 164140"/>
                  <a:gd name="connsiteX11" fmla="*/ 108140 w 164140"/>
                  <a:gd name="connsiteY11" fmla="*/ 131634 h 164140"/>
                  <a:gd name="connsiteX12" fmla="*/ 128094 w 164140"/>
                  <a:gd name="connsiteY12" fmla="*/ 145474 h 164140"/>
                  <a:gd name="connsiteX13" fmla="*/ 131634 w 164140"/>
                  <a:gd name="connsiteY13" fmla="*/ 142255 h 164140"/>
                  <a:gd name="connsiteX14" fmla="*/ 135175 w 164140"/>
                  <a:gd name="connsiteY14" fmla="*/ 139037 h 164140"/>
                  <a:gd name="connsiteX15" fmla="*/ 138715 w 164140"/>
                  <a:gd name="connsiteY15" fmla="*/ 135818 h 164140"/>
                  <a:gd name="connsiteX16" fmla="*/ 127772 w 164140"/>
                  <a:gd name="connsiteY16" fmla="*/ 114255 h 164140"/>
                  <a:gd name="connsiteX17" fmla="*/ 135497 w 164140"/>
                  <a:gd name="connsiteY17" fmla="*/ 99128 h 164140"/>
                  <a:gd name="connsiteX18" fmla="*/ 159313 w 164140"/>
                  <a:gd name="connsiteY18" fmla="*/ 94944 h 164140"/>
                  <a:gd name="connsiteX19" fmla="*/ 159635 w 164140"/>
                  <a:gd name="connsiteY19" fmla="*/ 90116 h 164140"/>
                  <a:gd name="connsiteX20" fmla="*/ 159957 w 164140"/>
                  <a:gd name="connsiteY20" fmla="*/ 85289 h 164140"/>
                  <a:gd name="connsiteX21" fmla="*/ 160279 w 164140"/>
                  <a:gd name="connsiteY21" fmla="*/ 80461 h 164140"/>
                  <a:gd name="connsiteX22" fmla="*/ 137106 w 164140"/>
                  <a:gd name="connsiteY22" fmla="*/ 73059 h 164140"/>
                  <a:gd name="connsiteX23" fmla="*/ 131634 w 164140"/>
                  <a:gd name="connsiteY23" fmla="*/ 56966 h 164140"/>
                  <a:gd name="connsiteX24" fmla="*/ 145474 w 164140"/>
                  <a:gd name="connsiteY24" fmla="*/ 37012 h 164140"/>
                  <a:gd name="connsiteX25" fmla="*/ 142255 w 164140"/>
                  <a:gd name="connsiteY25" fmla="*/ 33472 h 164140"/>
                  <a:gd name="connsiteX26" fmla="*/ 139037 w 164140"/>
                  <a:gd name="connsiteY26" fmla="*/ 29932 h 164140"/>
                  <a:gd name="connsiteX27" fmla="*/ 135818 w 164140"/>
                  <a:gd name="connsiteY27" fmla="*/ 26391 h 164140"/>
                  <a:gd name="connsiteX28" fmla="*/ 114255 w 164140"/>
                  <a:gd name="connsiteY28" fmla="*/ 37334 h 164140"/>
                  <a:gd name="connsiteX29" fmla="*/ 98806 w 164140"/>
                  <a:gd name="connsiteY29" fmla="*/ 29610 h 164140"/>
                  <a:gd name="connsiteX30" fmla="*/ 94622 w 164140"/>
                  <a:gd name="connsiteY30" fmla="*/ 5793 h 164140"/>
                  <a:gd name="connsiteX31" fmla="*/ 89795 w 164140"/>
                  <a:gd name="connsiteY31" fmla="*/ 5471 h 164140"/>
                  <a:gd name="connsiteX32" fmla="*/ 84967 w 164140"/>
                  <a:gd name="connsiteY32" fmla="*/ 5150 h 164140"/>
                  <a:gd name="connsiteX33" fmla="*/ 80139 w 164140"/>
                  <a:gd name="connsiteY33" fmla="*/ 4828 h 164140"/>
                  <a:gd name="connsiteX34" fmla="*/ 72737 w 164140"/>
                  <a:gd name="connsiteY34" fmla="*/ 27679 h 164140"/>
                  <a:gd name="connsiteX35" fmla="*/ 56323 w 164140"/>
                  <a:gd name="connsiteY35" fmla="*/ 33150 h 164140"/>
                  <a:gd name="connsiteX36" fmla="*/ 36690 w 164140"/>
                  <a:gd name="connsiteY36" fmla="*/ 19311 h 164140"/>
                  <a:gd name="connsiteX37" fmla="*/ 33150 w 164140"/>
                  <a:gd name="connsiteY37" fmla="*/ 22529 h 164140"/>
                  <a:gd name="connsiteX38" fmla="*/ 29610 w 164140"/>
                  <a:gd name="connsiteY38" fmla="*/ 25748 h 164140"/>
                  <a:gd name="connsiteX39" fmla="*/ 26069 w 164140"/>
                  <a:gd name="connsiteY39" fmla="*/ 28966 h 164140"/>
                  <a:gd name="connsiteX40" fmla="*/ 37012 w 164140"/>
                  <a:gd name="connsiteY40" fmla="*/ 50208 h 164140"/>
                  <a:gd name="connsiteX41" fmla="*/ 29288 w 164140"/>
                  <a:gd name="connsiteY41" fmla="*/ 65656 h 164140"/>
                  <a:gd name="connsiteX42" fmla="*/ 5793 w 164140"/>
                  <a:gd name="connsiteY42" fmla="*/ 69840 h 164140"/>
                  <a:gd name="connsiteX43" fmla="*/ 5471 w 164140"/>
                  <a:gd name="connsiteY43" fmla="*/ 74668 h 164140"/>
                  <a:gd name="connsiteX44" fmla="*/ 5150 w 164140"/>
                  <a:gd name="connsiteY44" fmla="*/ 79496 h 164140"/>
                  <a:gd name="connsiteX45" fmla="*/ 4828 w 164140"/>
                  <a:gd name="connsiteY45" fmla="*/ 84323 h 164140"/>
                  <a:gd name="connsiteX46" fmla="*/ 27679 w 164140"/>
                  <a:gd name="connsiteY46" fmla="*/ 91726 h 164140"/>
                  <a:gd name="connsiteX47" fmla="*/ 33150 w 164140"/>
                  <a:gd name="connsiteY47" fmla="*/ 108140 h 164140"/>
                  <a:gd name="connsiteX48" fmla="*/ 19311 w 164140"/>
                  <a:gd name="connsiteY48" fmla="*/ 12809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4140" h="164140">
                    <a:moveTo>
                      <a:pt x="19311" y="128094"/>
                    </a:moveTo>
                    <a:lnTo>
                      <a:pt x="22529" y="131634"/>
                    </a:lnTo>
                    <a:lnTo>
                      <a:pt x="25748" y="135175"/>
                    </a:lnTo>
                    <a:lnTo>
                      <a:pt x="28966" y="138715"/>
                    </a:lnTo>
                    <a:lnTo>
                      <a:pt x="50530" y="127772"/>
                    </a:lnTo>
                    <a:cubicBezTo>
                      <a:pt x="55357" y="130991"/>
                      <a:pt x="60507" y="133565"/>
                      <a:pt x="65978" y="135497"/>
                    </a:cubicBezTo>
                    <a:lnTo>
                      <a:pt x="70162" y="159313"/>
                    </a:lnTo>
                    <a:lnTo>
                      <a:pt x="74990" y="159635"/>
                    </a:lnTo>
                    <a:lnTo>
                      <a:pt x="79817" y="159957"/>
                    </a:lnTo>
                    <a:lnTo>
                      <a:pt x="84645" y="160279"/>
                    </a:lnTo>
                    <a:lnTo>
                      <a:pt x="92048" y="137106"/>
                    </a:lnTo>
                    <a:cubicBezTo>
                      <a:pt x="97519" y="136140"/>
                      <a:pt x="102990" y="134209"/>
                      <a:pt x="108140" y="131634"/>
                    </a:cubicBezTo>
                    <a:lnTo>
                      <a:pt x="128094" y="145474"/>
                    </a:lnTo>
                    <a:lnTo>
                      <a:pt x="131634" y="142255"/>
                    </a:lnTo>
                    <a:lnTo>
                      <a:pt x="135175" y="139037"/>
                    </a:lnTo>
                    <a:lnTo>
                      <a:pt x="138715" y="135818"/>
                    </a:lnTo>
                    <a:lnTo>
                      <a:pt x="127772" y="114255"/>
                    </a:lnTo>
                    <a:cubicBezTo>
                      <a:pt x="130991" y="109427"/>
                      <a:pt x="133565" y="104278"/>
                      <a:pt x="135497" y="99128"/>
                    </a:cubicBezTo>
                    <a:lnTo>
                      <a:pt x="159313" y="94944"/>
                    </a:lnTo>
                    <a:lnTo>
                      <a:pt x="159635" y="90116"/>
                    </a:lnTo>
                    <a:lnTo>
                      <a:pt x="159957" y="85289"/>
                    </a:lnTo>
                    <a:lnTo>
                      <a:pt x="160279" y="80461"/>
                    </a:lnTo>
                    <a:lnTo>
                      <a:pt x="137106" y="73059"/>
                    </a:lnTo>
                    <a:cubicBezTo>
                      <a:pt x="136140" y="67587"/>
                      <a:pt x="134209" y="62116"/>
                      <a:pt x="131634" y="56966"/>
                    </a:cubicBezTo>
                    <a:lnTo>
                      <a:pt x="145474" y="37012"/>
                    </a:lnTo>
                    <a:lnTo>
                      <a:pt x="142255" y="33472"/>
                    </a:lnTo>
                    <a:lnTo>
                      <a:pt x="139037" y="29932"/>
                    </a:lnTo>
                    <a:lnTo>
                      <a:pt x="135818" y="26391"/>
                    </a:lnTo>
                    <a:lnTo>
                      <a:pt x="114255" y="37334"/>
                    </a:lnTo>
                    <a:cubicBezTo>
                      <a:pt x="109427" y="33794"/>
                      <a:pt x="104278" y="31541"/>
                      <a:pt x="98806" y="29610"/>
                    </a:cubicBezTo>
                    <a:lnTo>
                      <a:pt x="94622" y="5793"/>
                    </a:lnTo>
                    <a:lnTo>
                      <a:pt x="89795" y="5471"/>
                    </a:lnTo>
                    <a:lnTo>
                      <a:pt x="84967" y="5150"/>
                    </a:lnTo>
                    <a:lnTo>
                      <a:pt x="80139" y="4828"/>
                    </a:lnTo>
                    <a:lnTo>
                      <a:pt x="72737" y="27679"/>
                    </a:lnTo>
                    <a:cubicBezTo>
                      <a:pt x="66944" y="28644"/>
                      <a:pt x="61472" y="30575"/>
                      <a:pt x="56323" y="33150"/>
                    </a:cubicBezTo>
                    <a:lnTo>
                      <a:pt x="36690" y="19311"/>
                    </a:lnTo>
                    <a:lnTo>
                      <a:pt x="33150" y="22529"/>
                    </a:lnTo>
                    <a:lnTo>
                      <a:pt x="29610" y="25748"/>
                    </a:lnTo>
                    <a:lnTo>
                      <a:pt x="26069" y="28966"/>
                    </a:lnTo>
                    <a:lnTo>
                      <a:pt x="37012" y="50208"/>
                    </a:lnTo>
                    <a:cubicBezTo>
                      <a:pt x="33472" y="55035"/>
                      <a:pt x="30897" y="60185"/>
                      <a:pt x="29288" y="65656"/>
                    </a:cubicBezTo>
                    <a:lnTo>
                      <a:pt x="5793" y="69840"/>
                    </a:lnTo>
                    <a:lnTo>
                      <a:pt x="5471" y="74668"/>
                    </a:lnTo>
                    <a:lnTo>
                      <a:pt x="5150" y="79496"/>
                    </a:lnTo>
                    <a:lnTo>
                      <a:pt x="4828" y="84323"/>
                    </a:lnTo>
                    <a:lnTo>
                      <a:pt x="27679" y="91726"/>
                    </a:lnTo>
                    <a:cubicBezTo>
                      <a:pt x="28644" y="97197"/>
                      <a:pt x="30575" y="102990"/>
                      <a:pt x="33150" y="108140"/>
                    </a:cubicBezTo>
                    <a:lnTo>
                      <a:pt x="19311" y="128094"/>
                    </a:lnTo>
                    <a:close/>
                  </a:path>
                </a:pathLst>
              </a:custGeom>
              <a:noFill/>
              <a:ln w="15875" cap="flat">
                <a:solidFill>
                  <a:srgbClr val="FDC500"/>
                </a:solidFill>
                <a:prstDash val="solid"/>
                <a:round/>
              </a:ln>
            </p:spPr>
            <p:txBody>
              <a:bodyPr rtlCol="0" anchor="ctr"/>
              <a:lstStyle/>
              <a:p>
                <a:pPr defTabSz="731504">
                  <a:defRPr/>
                </a:pPr>
                <a:endParaRPr lang="en-US" sz="1800" dirty="0">
                  <a:solidFill>
                    <a:srgbClr val="FFFFFF"/>
                  </a:solidFill>
                </a:endParaRPr>
              </a:p>
            </p:txBody>
          </p:sp>
          <p:sp>
            <p:nvSpPr>
              <p:cNvPr id="344" name="Freeform: Shape 485">
                <a:extLst>
                  <a:ext uri="{FF2B5EF4-FFF2-40B4-BE49-F238E27FC236}">
                    <a16:creationId xmlns:a16="http://schemas.microsoft.com/office/drawing/2014/main" id="{693C2B16-E715-944D-9EFC-6149044436A2}"/>
                  </a:ext>
                </a:extLst>
              </p:cNvPr>
              <p:cNvSpPr/>
              <p:nvPr/>
            </p:nvSpPr>
            <p:spPr>
              <a:xfrm>
                <a:off x="7808463" y="614438"/>
                <a:ext cx="70806" cy="70806"/>
              </a:xfrm>
              <a:custGeom>
                <a:avLst/>
                <a:gdLst>
                  <a:gd name="connsiteX0" fmla="*/ 66622 w 70805"/>
                  <a:gd name="connsiteY0" fmla="*/ 35725 h 70805"/>
                  <a:gd name="connsiteX1" fmla="*/ 35725 w 70805"/>
                  <a:gd name="connsiteY1" fmla="*/ 66622 h 70805"/>
                  <a:gd name="connsiteX2" fmla="*/ 4828 w 70805"/>
                  <a:gd name="connsiteY2" fmla="*/ 35725 h 70805"/>
                  <a:gd name="connsiteX3" fmla="*/ 35725 w 70805"/>
                  <a:gd name="connsiteY3" fmla="*/ 4828 h 70805"/>
                  <a:gd name="connsiteX4" fmla="*/ 66622 w 70805"/>
                  <a:gd name="connsiteY4" fmla="*/ 35725 h 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05" h="70805">
                    <a:moveTo>
                      <a:pt x="66622" y="35725"/>
                    </a:moveTo>
                    <a:cubicBezTo>
                      <a:pt x="66622" y="52789"/>
                      <a:pt x="52789" y="66622"/>
                      <a:pt x="35725" y="66622"/>
                    </a:cubicBezTo>
                    <a:cubicBezTo>
                      <a:pt x="18661" y="66622"/>
                      <a:pt x="4828" y="52789"/>
                      <a:pt x="4828" y="35725"/>
                    </a:cubicBezTo>
                    <a:cubicBezTo>
                      <a:pt x="4828" y="18661"/>
                      <a:pt x="18661" y="4828"/>
                      <a:pt x="35725" y="4828"/>
                    </a:cubicBezTo>
                    <a:cubicBezTo>
                      <a:pt x="52789" y="4828"/>
                      <a:pt x="66622" y="18661"/>
                      <a:pt x="66622" y="35725"/>
                    </a:cubicBezTo>
                    <a:close/>
                  </a:path>
                </a:pathLst>
              </a:custGeom>
              <a:noFill/>
              <a:ln w="15875" cap="flat">
                <a:solidFill>
                  <a:srgbClr val="FDC500"/>
                </a:solidFill>
                <a:prstDash val="solid"/>
                <a:round/>
              </a:ln>
            </p:spPr>
            <p:txBody>
              <a:bodyPr rtlCol="0" anchor="ctr"/>
              <a:lstStyle/>
              <a:p>
                <a:pPr defTabSz="731504">
                  <a:defRPr/>
                </a:pPr>
                <a:endParaRPr lang="en-US" sz="1800" dirty="0">
                  <a:solidFill>
                    <a:srgbClr val="FFFFFF"/>
                  </a:solidFill>
                </a:endParaRPr>
              </a:p>
            </p:txBody>
          </p:sp>
        </p:grpSp>
      </p:grpSp>
      <p:grpSp>
        <p:nvGrpSpPr>
          <p:cNvPr id="353" name="Group 352">
            <a:extLst>
              <a:ext uri="{FF2B5EF4-FFF2-40B4-BE49-F238E27FC236}">
                <a16:creationId xmlns:a16="http://schemas.microsoft.com/office/drawing/2014/main" id="{C3FD526A-405D-B148-8863-EB68F2400CB6}"/>
              </a:ext>
            </a:extLst>
          </p:cNvPr>
          <p:cNvGrpSpPr>
            <a:grpSpLocks noChangeAspect="1"/>
          </p:cNvGrpSpPr>
          <p:nvPr/>
        </p:nvGrpSpPr>
        <p:grpSpPr>
          <a:xfrm>
            <a:off x="12956906" y="2540298"/>
            <a:ext cx="1011510" cy="755933"/>
            <a:chOff x="16128616" y="3322519"/>
            <a:chExt cx="562056" cy="420042"/>
          </a:xfrm>
        </p:grpSpPr>
        <p:sp>
          <p:nvSpPr>
            <p:cNvPr id="354" name="Freeform: Shape 642">
              <a:extLst>
                <a:ext uri="{FF2B5EF4-FFF2-40B4-BE49-F238E27FC236}">
                  <a16:creationId xmlns:a16="http://schemas.microsoft.com/office/drawing/2014/main" id="{0BD2ED47-AD11-6445-9A8A-1425D1DCAF3E}"/>
                </a:ext>
              </a:extLst>
            </p:cNvPr>
            <p:cNvSpPr/>
            <p:nvPr/>
          </p:nvSpPr>
          <p:spPr>
            <a:xfrm>
              <a:off x="16494347" y="3546236"/>
              <a:ext cx="196325" cy="196325"/>
            </a:xfrm>
            <a:custGeom>
              <a:avLst/>
              <a:gdLst>
                <a:gd name="connsiteX0" fmla="*/ 23173 w 196325"/>
                <a:gd name="connsiteY0" fmla="*/ 154164 h 196325"/>
                <a:gd name="connsiteX1" fmla="*/ 27035 w 196325"/>
                <a:gd name="connsiteY1" fmla="*/ 158669 h 196325"/>
                <a:gd name="connsiteX2" fmla="*/ 30897 w 196325"/>
                <a:gd name="connsiteY2" fmla="*/ 163175 h 196325"/>
                <a:gd name="connsiteX3" fmla="*/ 34759 w 196325"/>
                <a:gd name="connsiteY3" fmla="*/ 167681 h 196325"/>
                <a:gd name="connsiteX4" fmla="*/ 60829 w 196325"/>
                <a:gd name="connsiteY4" fmla="*/ 154164 h 196325"/>
                <a:gd name="connsiteX5" fmla="*/ 79496 w 196325"/>
                <a:gd name="connsiteY5" fmla="*/ 163497 h 196325"/>
                <a:gd name="connsiteX6" fmla="*/ 84645 w 196325"/>
                <a:gd name="connsiteY6" fmla="*/ 192463 h 196325"/>
                <a:gd name="connsiteX7" fmla="*/ 90438 w 196325"/>
                <a:gd name="connsiteY7" fmla="*/ 192785 h 196325"/>
                <a:gd name="connsiteX8" fmla="*/ 96231 w 196325"/>
                <a:gd name="connsiteY8" fmla="*/ 193107 h 196325"/>
                <a:gd name="connsiteX9" fmla="*/ 102025 w 196325"/>
                <a:gd name="connsiteY9" fmla="*/ 193429 h 196325"/>
                <a:gd name="connsiteX10" fmla="*/ 111036 w 196325"/>
                <a:gd name="connsiteY10" fmla="*/ 165428 h 196325"/>
                <a:gd name="connsiteX11" fmla="*/ 130669 w 196325"/>
                <a:gd name="connsiteY11" fmla="*/ 158669 h 196325"/>
                <a:gd name="connsiteX12" fmla="*/ 154807 w 196325"/>
                <a:gd name="connsiteY12" fmla="*/ 175405 h 196325"/>
                <a:gd name="connsiteX13" fmla="*/ 159313 w 196325"/>
                <a:gd name="connsiteY13" fmla="*/ 171543 h 196325"/>
                <a:gd name="connsiteX14" fmla="*/ 163819 w 196325"/>
                <a:gd name="connsiteY14" fmla="*/ 167681 h 196325"/>
                <a:gd name="connsiteX15" fmla="*/ 168325 w 196325"/>
                <a:gd name="connsiteY15" fmla="*/ 163819 h 196325"/>
                <a:gd name="connsiteX16" fmla="*/ 154807 w 196325"/>
                <a:gd name="connsiteY16" fmla="*/ 137749 h 196325"/>
                <a:gd name="connsiteX17" fmla="*/ 164141 w 196325"/>
                <a:gd name="connsiteY17" fmla="*/ 119082 h 196325"/>
                <a:gd name="connsiteX18" fmla="*/ 193107 w 196325"/>
                <a:gd name="connsiteY18" fmla="*/ 113933 h 196325"/>
                <a:gd name="connsiteX19" fmla="*/ 193429 w 196325"/>
                <a:gd name="connsiteY19" fmla="*/ 108140 h 196325"/>
                <a:gd name="connsiteX20" fmla="*/ 193750 w 196325"/>
                <a:gd name="connsiteY20" fmla="*/ 102347 h 196325"/>
                <a:gd name="connsiteX21" fmla="*/ 194072 w 196325"/>
                <a:gd name="connsiteY21" fmla="*/ 96553 h 196325"/>
                <a:gd name="connsiteX22" fmla="*/ 166072 w 196325"/>
                <a:gd name="connsiteY22" fmla="*/ 87542 h 196325"/>
                <a:gd name="connsiteX23" fmla="*/ 159313 w 196325"/>
                <a:gd name="connsiteY23" fmla="*/ 67909 h 196325"/>
                <a:gd name="connsiteX24" fmla="*/ 176049 w 196325"/>
                <a:gd name="connsiteY24" fmla="*/ 43771 h 196325"/>
                <a:gd name="connsiteX25" fmla="*/ 172187 w 196325"/>
                <a:gd name="connsiteY25" fmla="*/ 39265 h 196325"/>
                <a:gd name="connsiteX26" fmla="*/ 168325 w 196325"/>
                <a:gd name="connsiteY26" fmla="*/ 34759 h 196325"/>
                <a:gd name="connsiteX27" fmla="*/ 164463 w 196325"/>
                <a:gd name="connsiteY27" fmla="*/ 30253 h 196325"/>
                <a:gd name="connsiteX28" fmla="*/ 138393 w 196325"/>
                <a:gd name="connsiteY28" fmla="*/ 43771 h 196325"/>
                <a:gd name="connsiteX29" fmla="*/ 119726 w 196325"/>
                <a:gd name="connsiteY29" fmla="*/ 34437 h 196325"/>
                <a:gd name="connsiteX30" fmla="*/ 114577 w 196325"/>
                <a:gd name="connsiteY30" fmla="*/ 5793 h 196325"/>
                <a:gd name="connsiteX31" fmla="*/ 108783 w 196325"/>
                <a:gd name="connsiteY31" fmla="*/ 5471 h 196325"/>
                <a:gd name="connsiteX32" fmla="*/ 102990 w 196325"/>
                <a:gd name="connsiteY32" fmla="*/ 5150 h 196325"/>
                <a:gd name="connsiteX33" fmla="*/ 97197 w 196325"/>
                <a:gd name="connsiteY33" fmla="*/ 4828 h 196325"/>
                <a:gd name="connsiteX34" fmla="*/ 88185 w 196325"/>
                <a:gd name="connsiteY34" fmla="*/ 32506 h 196325"/>
                <a:gd name="connsiteX35" fmla="*/ 68231 w 196325"/>
                <a:gd name="connsiteY35" fmla="*/ 39265 h 196325"/>
                <a:gd name="connsiteX36" fmla="*/ 44093 w 196325"/>
                <a:gd name="connsiteY36" fmla="*/ 22529 h 196325"/>
                <a:gd name="connsiteX37" fmla="*/ 39587 w 196325"/>
                <a:gd name="connsiteY37" fmla="*/ 26391 h 196325"/>
                <a:gd name="connsiteX38" fmla="*/ 35081 w 196325"/>
                <a:gd name="connsiteY38" fmla="*/ 30253 h 196325"/>
                <a:gd name="connsiteX39" fmla="*/ 30575 w 196325"/>
                <a:gd name="connsiteY39" fmla="*/ 34116 h 196325"/>
                <a:gd name="connsiteX40" fmla="*/ 43771 w 196325"/>
                <a:gd name="connsiteY40" fmla="*/ 60185 h 196325"/>
                <a:gd name="connsiteX41" fmla="*/ 34437 w 196325"/>
                <a:gd name="connsiteY41" fmla="*/ 79174 h 196325"/>
                <a:gd name="connsiteX42" fmla="*/ 5793 w 196325"/>
                <a:gd name="connsiteY42" fmla="*/ 84323 h 196325"/>
                <a:gd name="connsiteX43" fmla="*/ 5471 w 196325"/>
                <a:gd name="connsiteY43" fmla="*/ 90116 h 196325"/>
                <a:gd name="connsiteX44" fmla="*/ 5150 w 196325"/>
                <a:gd name="connsiteY44" fmla="*/ 95910 h 196325"/>
                <a:gd name="connsiteX45" fmla="*/ 4828 w 196325"/>
                <a:gd name="connsiteY45" fmla="*/ 101703 h 196325"/>
                <a:gd name="connsiteX46" fmla="*/ 32828 w 196325"/>
                <a:gd name="connsiteY46" fmla="*/ 110715 h 196325"/>
                <a:gd name="connsiteX47" fmla="*/ 39587 w 196325"/>
                <a:gd name="connsiteY47" fmla="*/ 130669 h 196325"/>
                <a:gd name="connsiteX48" fmla="*/ 23173 w 196325"/>
                <a:gd name="connsiteY48" fmla="*/ 154164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3173" y="154164"/>
                  </a:moveTo>
                  <a:lnTo>
                    <a:pt x="27035" y="158669"/>
                  </a:lnTo>
                  <a:lnTo>
                    <a:pt x="30897" y="163175"/>
                  </a:lnTo>
                  <a:lnTo>
                    <a:pt x="34759" y="167681"/>
                  </a:lnTo>
                  <a:lnTo>
                    <a:pt x="60829" y="154164"/>
                  </a:lnTo>
                  <a:cubicBezTo>
                    <a:pt x="66622" y="158347"/>
                    <a:pt x="73059" y="161244"/>
                    <a:pt x="79496" y="163497"/>
                  </a:cubicBezTo>
                  <a:lnTo>
                    <a:pt x="84645" y="192463"/>
                  </a:lnTo>
                  <a:lnTo>
                    <a:pt x="90438" y="192785"/>
                  </a:lnTo>
                  <a:lnTo>
                    <a:pt x="96231" y="193107"/>
                  </a:lnTo>
                  <a:lnTo>
                    <a:pt x="102025" y="193429"/>
                  </a:lnTo>
                  <a:lnTo>
                    <a:pt x="111036" y="165428"/>
                  </a:lnTo>
                  <a:cubicBezTo>
                    <a:pt x="117795" y="164141"/>
                    <a:pt x="124554" y="161888"/>
                    <a:pt x="130669" y="158669"/>
                  </a:cubicBezTo>
                  <a:lnTo>
                    <a:pt x="154807" y="175405"/>
                  </a:lnTo>
                  <a:lnTo>
                    <a:pt x="159313" y="171543"/>
                  </a:lnTo>
                  <a:lnTo>
                    <a:pt x="163819" y="167681"/>
                  </a:lnTo>
                  <a:lnTo>
                    <a:pt x="168325" y="163819"/>
                  </a:lnTo>
                  <a:lnTo>
                    <a:pt x="154807" y="137749"/>
                  </a:lnTo>
                  <a:cubicBezTo>
                    <a:pt x="158991" y="131956"/>
                    <a:pt x="161888" y="125841"/>
                    <a:pt x="164141" y="119082"/>
                  </a:cubicBezTo>
                  <a:lnTo>
                    <a:pt x="193107" y="113933"/>
                  </a:lnTo>
                  <a:lnTo>
                    <a:pt x="193429" y="108140"/>
                  </a:lnTo>
                  <a:lnTo>
                    <a:pt x="193750" y="102347"/>
                  </a:lnTo>
                  <a:lnTo>
                    <a:pt x="194072" y="96553"/>
                  </a:lnTo>
                  <a:lnTo>
                    <a:pt x="166072" y="87542"/>
                  </a:lnTo>
                  <a:cubicBezTo>
                    <a:pt x="164784" y="80783"/>
                    <a:pt x="162853" y="74024"/>
                    <a:pt x="159313" y="67909"/>
                  </a:cubicBezTo>
                  <a:lnTo>
                    <a:pt x="176049" y="43771"/>
                  </a:lnTo>
                  <a:lnTo>
                    <a:pt x="172187" y="39265"/>
                  </a:lnTo>
                  <a:lnTo>
                    <a:pt x="168325" y="34759"/>
                  </a:lnTo>
                  <a:lnTo>
                    <a:pt x="164463" y="30253"/>
                  </a:lnTo>
                  <a:lnTo>
                    <a:pt x="138393" y="43771"/>
                  </a:lnTo>
                  <a:cubicBezTo>
                    <a:pt x="132600" y="39587"/>
                    <a:pt x="126163" y="36690"/>
                    <a:pt x="119726" y="34437"/>
                  </a:cubicBezTo>
                  <a:lnTo>
                    <a:pt x="114577" y="5793"/>
                  </a:lnTo>
                  <a:lnTo>
                    <a:pt x="108783" y="5471"/>
                  </a:lnTo>
                  <a:lnTo>
                    <a:pt x="102990" y="5150"/>
                  </a:lnTo>
                  <a:lnTo>
                    <a:pt x="97197" y="4828"/>
                  </a:lnTo>
                  <a:lnTo>
                    <a:pt x="88185" y="32506"/>
                  </a:lnTo>
                  <a:cubicBezTo>
                    <a:pt x="81427" y="33794"/>
                    <a:pt x="74668" y="36047"/>
                    <a:pt x="68231" y="39265"/>
                  </a:cubicBezTo>
                  <a:lnTo>
                    <a:pt x="44093" y="22529"/>
                  </a:lnTo>
                  <a:lnTo>
                    <a:pt x="39587" y="26391"/>
                  </a:lnTo>
                  <a:lnTo>
                    <a:pt x="35081" y="30253"/>
                  </a:lnTo>
                  <a:lnTo>
                    <a:pt x="30575" y="34116"/>
                  </a:lnTo>
                  <a:lnTo>
                    <a:pt x="43771" y="60185"/>
                  </a:lnTo>
                  <a:cubicBezTo>
                    <a:pt x="39587" y="65978"/>
                    <a:pt x="36690" y="72415"/>
                    <a:pt x="34437" y="79174"/>
                  </a:cubicBezTo>
                  <a:lnTo>
                    <a:pt x="5793" y="84323"/>
                  </a:lnTo>
                  <a:lnTo>
                    <a:pt x="5471" y="90116"/>
                  </a:lnTo>
                  <a:lnTo>
                    <a:pt x="5150" y="95910"/>
                  </a:lnTo>
                  <a:lnTo>
                    <a:pt x="4828" y="101703"/>
                  </a:lnTo>
                  <a:lnTo>
                    <a:pt x="32828" y="110715"/>
                  </a:lnTo>
                  <a:cubicBezTo>
                    <a:pt x="34115" y="117473"/>
                    <a:pt x="36368" y="124232"/>
                    <a:pt x="39587" y="130669"/>
                  </a:cubicBezTo>
                  <a:lnTo>
                    <a:pt x="23173" y="154164"/>
                  </a:lnTo>
                  <a:close/>
                </a:path>
              </a:pathLst>
            </a:custGeom>
            <a:noFill/>
            <a:ln w="19050" cap="flat">
              <a:solidFill>
                <a:schemeClr val="tx1"/>
              </a:solidFill>
              <a:prstDash val="solid"/>
              <a:round/>
            </a:ln>
          </p:spPr>
          <p:txBody>
            <a:bodyPr rtlCol="0" anchor="ctr"/>
            <a:lstStyle/>
            <a:p>
              <a:endParaRPr lang="en-US" sz="3400" dirty="0"/>
            </a:p>
          </p:txBody>
        </p:sp>
        <p:sp>
          <p:nvSpPr>
            <p:cNvPr id="355" name="Freeform: Shape 643">
              <a:extLst>
                <a:ext uri="{FF2B5EF4-FFF2-40B4-BE49-F238E27FC236}">
                  <a16:creationId xmlns:a16="http://schemas.microsoft.com/office/drawing/2014/main" id="{0308654C-6D81-4547-9771-744549647388}"/>
                </a:ext>
              </a:extLst>
            </p:cNvPr>
            <p:cNvSpPr/>
            <p:nvPr/>
          </p:nvSpPr>
          <p:spPr>
            <a:xfrm>
              <a:off x="16551635" y="3602559"/>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9050" cap="flat">
              <a:solidFill>
                <a:srgbClr val="FDC500"/>
              </a:solidFill>
              <a:prstDash val="solid"/>
              <a:round/>
            </a:ln>
          </p:spPr>
          <p:txBody>
            <a:bodyPr rtlCol="0" anchor="ctr"/>
            <a:lstStyle/>
            <a:p>
              <a:endParaRPr lang="en-US" sz="3400" dirty="0"/>
            </a:p>
          </p:txBody>
        </p:sp>
        <p:sp>
          <p:nvSpPr>
            <p:cNvPr id="356" name="Freeform: Shape 644">
              <a:extLst>
                <a:ext uri="{FF2B5EF4-FFF2-40B4-BE49-F238E27FC236}">
                  <a16:creationId xmlns:a16="http://schemas.microsoft.com/office/drawing/2014/main" id="{0479F005-9D20-534C-B975-D1AFB5EEB93D}"/>
                </a:ext>
              </a:extLst>
            </p:cNvPr>
            <p:cNvSpPr/>
            <p:nvPr/>
          </p:nvSpPr>
          <p:spPr>
            <a:xfrm>
              <a:off x="16270343" y="3465453"/>
              <a:ext cx="289660" cy="202762"/>
            </a:xfrm>
            <a:custGeom>
              <a:avLst/>
              <a:gdLst>
                <a:gd name="connsiteX0" fmla="*/ 288051 w 289660"/>
                <a:gd name="connsiteY0" fmla="*/ 93657 h 202762"/>
                <a:gd name="connsiteX1" fmla="*/ 288051 w 289660"/>
                <a:gd name="connsiteY1" fmla="*/ 12552 h 202762"/>
                <a:gd name="connsiteX2" fmla="*/ 280327 w 289660"/>
                <a:gd name="connsiteY2" fmla="*/ 4828 h 202762"/>
                <a:gd name="connsiteX3" fmla="*/ 12552 w 289660"/>
                <a:gd name="connsiteY3" fmla="*/ 4828 h 202762"/>
                <a:gd name="connsiteX4" fmla="*/ 4828 w 289660"/>
                <a:gd name="connsiteY4" fmla="*/ 12552 h 202762"/>
                <a:gd name="connsiteX5" fmla="*/ 4828 w 289660"/>
                <a:gd name="connsiteY5" fmla="*/ 190854 h 202762"/>
                <a:gd name="connsiteX6" fmla="*/ 12552 w 289660"/>
                <a:gd name="connsiteY6" fmla="*/ 198578 h 202762"/>
                <a:gd name="connsiteX7" fmla="*/ 225613 w 289660"/>
                <a:gd name="connsiteY7" fmla="*/ 198578 h 20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60" h="202762">
                  <a:moveTo>
                    <a:pt x="288051" y="93657"/>
                  </a:moveTo>
                  <a:lnTo>
                    <a:pt x="288051" y="12552"/>
                  </a:lnTo>
                  <a:cubicBezTo>
                    <a:pt x="288051" y="8046"/>
                    <a:pt x="284511" y="4828"/>
                    <a:pt x="280327" y="4828"/>
                  </a:cubicBezTo>
                  <a:lnTo>
                    <a:pt x="12552" y="4828"/>
                  </a:lnTo>
                  <a:cubicBezTo>
                    <a:pt x="8046" y="4828"/>
                    <a:pt x="4828" y="8368"/>
                    <a:pt x="4828" y="12552"/>
                  </a:cubicBezTo>
                  <a:lnTo>
                    <a:pt x="4828" y="190854"/>
                  </a:lnTo>
                  <a:cubicBezTo>
                    <a:pt x="4828" y="195360"/>
                    <a:pt x="8368" y="198578"/>
                    <a:pt x="12552" y="198578"/>
                  </a:cubicBezTo>
                  <a:lnTo>
                    <a:pt x="225613" y="198578"/>
                  </a:lnTo>
                </a:path>
              </a:pathLst>
            </a:custGeom>
            <a:noFill/>
            <a:ln w="19050" cap="flat">
              <a:solidFill>
                <a:schemeClr val="tx1"/>
              </a:solidFill>
              <a:prstDash val="solid"/>
              <a:round/>
            </a:ln>
          </p:spPr>
          <p:txBody>
            <a:bodyPr rtlCol="0" anchor="ctr"/>
            <a:lstStyle/>
            <a:p>
              <a:endParaRPr lang="en-US" sz="3400" dirty="0"/>
            </a:p>
          </p:txBody>
        </p:sp>
        <p:sp>
          <p:nvSpPr>
            <p:cNvPr id="357" name="Freeform: Shape 645">
              <a:extLst>
                <a:ext uri="{FF2B5EF4-FFF2-40B4-BE49-F238E27FC236}">
                  <a16:creationId xmlns:a16="http://schemas.microsoft.com/office/drawing/2014/main" id="{51ECD519-95F9-6A47-B3CC-77CFC482B74D}"/>
                </a:ext>
              </a:extLst>
            </p:cNvPr>
            <p:cNvSpPr/>
            <p:nvPr/>
          </p:nvSpPr>
          <p:spPr>
            <a:xfrm>
              <a:off x="16215630" y="3682055"/>
              <a:ext cx="296097" cy="35403"/>
            </a:xfrm>
            <a:custGeom>
              <a:avLst/>
              <a:gdLst>
                <a:gd name="connsiteX0" fmla="*/ 291913 w 296096"/>
                <a:gd name="connsiteY0" fmla="*/ 33472 h 35402"/>
                <a:gd name="connsiteX1" fmla="*/ 28000 w 296096"/>
                <a:gd name="connsiteY1" fmla="*/ 33472 h 35402"/>
                <a:gd name="connsiteX2" fmla="*/ 4828 w 296096"/>
                <a:gd name="connsiteY2" fmla="*/ 23495 h 35402"/>
                <a:gd name="connsiteX3" fmla="*/ 4828 w 296096"/>
                <a:gd name="connsiteY3" fmla="*/ 4828 h 35402"/>
                <a:gd name="connsiteX4" fmla="*/ 42483 w 296096"/>
                <a:gd name="connsiteY4" fmla="*/ 4828 h 3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96" h="35402">
                  <a:moveTo>
                    <a:pt x="291913" y="33472"/>
                  </a:moveTo>
                  <a:lnTo>
                    <a:pt x="28000" y="33472"/>
                  </a:lnTo>
                  <a:cubicBezTo>
                    <a:pt x="28000" y="33472"/>
                    <a:pt x="11265" y="33472"/>
                    <a:pt x="4828" y="23495"/>
                  </a:cubicBezTo>
                  <a:lnTo>
                    <a:pt x="4828" y="4828"/>
                  </a:lnTo>
                  <a:lnTo>
                    <a:pt x="42483" y="4828"/>
                  </a:lnTo>
                </a:path>
              </a:pathLst>
            </a:custGeom>
            <a:noFill/>
            <a:ln w="19050" cap="flat">
              <a:solidFill>
                <a:schemeClr val="tx1"/>
              </a:solidFill>
              <a:prstDash val="solid"/>
              <a:round/>
            </a:ln>
          </p:spPr>
          <p:txBody>
            <a:bodyPr rtlCol="0" anchor="ctr"/>
            <a:lstStyle/>
            <a:p>
              <a:endParaRPr lang="en-US" sz="3400" dirty="0"/>
            </a:p>
          </p:txBody>
        </p:sp>
        <p:sp>
          <p:nvSpPr>
            <p:cNvPr id="358" name="Freeform: Shape 646">
              <a:extLst>
                <a:ext uri="{FF2B5EF4-FFF2-40B4-BE49-F238E27FC236}">
                  <a16:creationId xmlns:a16="http://schemas.microsoft.com/office/drawing/2014/main" id="{24FCD8DE-0EDF-0047-BE8C-D4942E082139}"/>
                </a:ext>
              </a:extLst>
            </p:cNvPr>
            <p:cNvSpPr/>
            <p:nvPr/>
          </p:nvSpPr>
          <p:spPr>
            <a:xfrm>
              <a:off x="16249745" y="3447108"/>
              <a:ext cx="331500" cy="241383"/>
            </a:xfrm>
            <a:custGeom>
              <a:avLst/>
              <a:gdLst>
                <a:gd name="connsiteX0" fmla="*/ 327638 w 331499"/>
                <a:gd name="connsiteY0" fmla="*/ 93335 h 241383"/>
                <a:gd name="connsiteX1" fmla="*/ 327638 w 331499"/>
                <a:gd name="connsiteY1" fmla="*/ 12552 h 241383"/>
                <a:gd name="connsiteX2" fmla="*/ 319913 w 331499"/>
                <a:gd name="connsiteY2" fmla="*/ 4828 h 241383"/>
                <a:gd name="connsiteX3" fmla="*/ 12552 w 331499"/>
                <a:gd name="connsiteY3" fmla="*/ 4828 h 241383"/>
                <a:gd name="connsiteX4" fmla="*/ 4828 w 331499"/>
                <a:gd name="connsiteY4" fmla="*/ 12552 h 241383"/>
                <a:gd name="connsiteX5" fmla="*/ 4828 w 331499"/>
                <a:gd name="connsiteY5" fmla="*/ 232050 h 241383"/>
                <a:gd name="connsiteX6" fmla="*/ 12552 w 331499"/>
                <a:gd name="connsiteY6" fmla="*/ 239774 h 241383"/>
                <a:gd name="connsiteX7" fmla="*/ 255223 w 331499"/>
                <a:gd name="connsiteY7" fmla="*/ 239774 h 24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499" h="241383">
                  <a:moveTo>
                    <a:pt x="327638" y="93335"/>
                  </a:moveTo>
                  <a:lnTo>
                    <a:pt x="327638" y="12552"/>
                  </a:lnTo>
                  <a:cubicBezTo>
                    <a:pt x="327638" y="8046"/>
                    <a:pt x="324097" y="4828"/>
                    <a:pt x="319913" y="4828"/>
                  </a:cubicBezTo>
                  <a:lnTo>
                    <a:pt x="12552" y="4828"/>
                  </a:lnTo>
                  <a:cubicBezTo>
                    <a:pt x="8046" y="4828"/>
                    <a:pt x="4828" y="8368"/>
                    <a:pt x="4828" y="12552"/>
                  </a:cubicBezTo>
                  <a:lnTo>
                    <a:pt x="4828" y="232050"/>
                  </a:lnTo>
                  <a:cubicBezTo>
                    <a:pt x="4828" y="236556"/>
                    <a:pt x="8368" y="239774"/>
                    <a:pt x="12552" y="239774"/>
                  </a:cubicBezTo>
                  <a:lnTo>
                    <a:pt x="255223" y="239774"/>
                  </a:lnTo>
                </a:path>
              </a:pathLst>
            </a:custGeom>
            <a:noFill/>
            <a:ln w="19050" cap="flat">
              <a:solidFill>
                <a:schemeClr val="tx1"/>
              </a:solidFill>
              <a:prstDash val="solid"/>
              <a:round/>
            </a:ln>
          </p:spPr>
          <p:txBody>
            <a:bodyPr rtlCol="0" anchor="ctr"/>
            <a:lstStyle/>
            <a:p>
              <a:endParaRPr lang="en-US" sz="3400" dirty="0"/>
            </a:p>
          </p:txBody>
        </p:sp>
        <p:sp>
          <p:nvSpPr>
            <p:cNvPr id="359" name="Freeform: Shape 647">
              <a:extLst>
                <a:ext uri="{FF2B5EF4-FFF2-40B4-BE49-F238E27FC236}">
                  <a16:creationId xmlns:a16="http://schemas.microsoft.com/office/drawing/2014/main" id="{F3EDAF3A-A1C5-9D42-9063-49CCD2741573}"/>
                </a:ext>
              </a:extLst>
            </p:cNvPr>
            <p:cNvSpPr/>
            <p:nvPr/>
          </p:nvSpPr>
          <p:spPr>
            <a:xfrm>
              <a:off x="16267296" y="3425256"/>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0" name="Freeform: Shape 648">
              <a:extLst>
                <a:ext uri="{FF2B5EF4-FFF2-40B4-BE49-F238E27FC236}">
                  <a16:creationId xmlns:a16="http://schemas.microsoft.com/office/drawing/2014/main" id="{235CC12A-52F7-EB4F-B64D-CE8CE262606E}"/>
                </a:ext>
              </a:extLst>
            </p:cNvPr>
            <p:cNvSpPr/>
            <p:nvPr/>
          </p:nvSpPr>
          <p:spPr>
            <a:xfrm>
              <a:off x="16238773" y="3385466"/>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1" name="Freeform: Shape 649">
              <a:extLst>
                <a:ext uri="{FF2B5EF4-FFF2-40B4-BE49-F238E27FC236}">
                  <a16:creationId xmlns:a16="http://schemas.microsoft.com/office/drawing/2014/main" id="{2092AFFE-2FFD-744C-B5ED-AD41EBFCCA29}"/>
                </a:ext>
              </a:extLst>
            </p:cNvPr>
            <p:cNvSpPr/>
            <p:nvPr/>
          </p:nvSpPr>
          <p:spPr>
            <a:xfrm>
              <a:off x="16278276" y="3342270"/>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2" name="Freeform: Shape 650">
              <a:extLst>
                <a:ext uri="{FF2B5EF4-FFF2-40B4-BE49-F238E27FC236}">
                  <a16:creationId xmlns:a16="http://schemas.microsoft.com/office/drawing/2014/main" id="{67141E61-3E67-1F40-AA06-FD4B27192985}"/>
                </a:ext>
              </a:extLst>
            </p:cNvPr>
            <p:cNvSpPr/>
            <p:nvPr/>
          </p:nvSpPr>
          <p:spPr>
            <a:xfrm>
              <a:off x="16128616" y="3322519"/>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3" name="Freeform: Shape 651">
              <a:extLst>
                <a:ext uri="{FF2B5EF4-FFF2-40B4-BE49-F238E27FC236}">
                  <a16:creationId xmlns:a16="http://schemas.microsoft.com/office/drawing/2014/main" id="{1D19480C-5D90-544E-8BF5-476F26D3DF3A}"/>
                </a:ext>
              </a:extLst>
            </p:cNvPr>
            <p:cNvSpPr/>
            <p:nvPr/>
          </p:nvSpPr>
          <p:spPr>
            <a:xfrm>
              <a:off x="16310091" y="3408172"/>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4" name="Freeform: Shape 652">
              <a:extLst>
                <a:ext uri="{FF2B5EF4-FFF2-40B4-BE49-F238E27FC236}">
                  <a16:creationId xmlns:a16="http://schemas.microsoft.com/office/drawing/2014/main" id="{F69C946C-F49C-D943-B225-9EC0C39EBC54}"/>
                </a:ext>
              </a:extLst>
            </p:cNvPr>
            <p:cNvSpPr/>
            <p:nvPr/>
          </p:nvSpPr>
          <p:spPr>
            <a:xfrm>
              <a:off x="16211922" y="3429238"/>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5" name="Freeform: Shape 653">
              <a:extLst>
                <a:ext uri="{FF2B5EF4-FFF2-40B4-BE49-F238E27FC236}">
                  <a16:creationId xmlns:a16="http://schemas.microsoft.com/office/drawing/2014/main" id="{5A0F5DD8-1B12-EC4E-BFE1-761855CBCA95}"/>
                </a:ext>
              </a:extLst>
            </p:cNvPr>
            <p:cNvSpPr/>
            <p:nvPr/>
          </p:nvSpPr>
          <p:spPr>
            <a:xfrm>
              <a:off x="16205476" y="3495108"/>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6" name="Freeform: Shape 654">
              <a:extLst>
                <a:ext uri="{FF2B5EF4-FFF2-40B4-BE49-F238E27FC236}">
                  <a16:creationId xmlns:a16="http://schemas.microsoft.com/office/drawing/2014/main" id="{48975F40-0E29-AF48-A073-35D3E5E298B0}"/>
                </a:ext>
              </a:extLst>
            </p:cNvPr>
            <p:cNvSpPr/>
            <p:nvPr/>
          </p:nvSpPr>
          <p:spPr>
            <a:xfrm>
              <a:off x="16161959" y="3455605"/>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7" name="Freeform: Shape 655">
              <a:extLst>
                <a:ext uri="{FF2B5EF4-FFF2-40B4-BE49-F238E27FC236}">
                  <a16:creationId xmlns:a16="http://schemas.microsoft.com/office/drawing/2014/main" id="{EB479E90-85D9-9E4D-B743-44A5A2F4F938}"/>
                </a:ext>
              </a:extLst>
            </p:cNvPr>
            <p:cNvSpPr/>
            <p:nvPr/>
          </p:nvSpPr>
          <p:spPr>
            <a:xfrm>
              <a:off x="16185093" y="3381569"/>
              <a:ext cx="28966" cy="28966"/>
            </a:xfrm>
            <a:custGeom>
              <a:avLst/>
              <a:gdLst>
                <a:gd name="connsiteX0" fmla="*/ 25104 w 28966"/>
                <a:gd name="connsiteY0" fmla="*/ 25104 h 28966"/>
                <a:gd name="connsiteX1" fmla="*/ 4828 w 28966"/>
                <a:gd name="connsiteY1" fmla="*/ 25104 h 28966"/>
                <a:gd name="connsiteX2" fmla="*/ 4828 w 28966"/>
                <a:gd name="connsiteY2" fmla="*/ 4828 h 28966"/>
                <a:gd name="connsiteX3" fmla="*/ 25104 w 28966"/>
                <a:gd name="connsiteY3" fmla="*/ 4828 h 28966"/>
              </a:gdLst>
              <a:ahLst/>
              <a:cxnLst>
                <a:cxn ang="0">
                  <a:pos x="connsiteX0" y="connsiteY0"/>
                </a:cxn>
                <a:cxn ang="0">
                  <a:pos x="connsiteX1" y="connsiteY1"/>
                </a:cxn>
                <a:cxn ang="0">
                  <a:pos x="connsiteX2" y="connsiteY2"/>
                </a:cxn>
                <a:cxn ang="0">
                  <a:pos x="connsiteX3" y="connsiteY3"/>
                </a:cxn>
              </a:cxnLst>
              <a:rect l="l" t="t" r="r" b="b"/>
              <a:pathLst>
                <a:path w="28966" h="28966">
                  <a:moveTo>
                    <a:pt x="25104" y="25104"/>
                  </a:moveTo>
                  <a:lnTo>
                    <a:pt x="4828" y="25104"/>
                  </a:lnTo>
                  <a:lnTo>
                    <a:pt x="4828" y="4828"/>
                  </a:lnTo>
                  <a:lnTo>
                    <a:pt x="25104" y="4828"/>
                  </a:lnTo>
                  <a:close/>
                </a:path>
              </a:pathLst>
            </a:custGeom>
            <a:noFill/>
            <a:ln w="19050" cap="flat">
              <a:solidFill>
                <a:srgbClr val="FDC500"/>
              </a:solidFill>
              <a:prstDash val="solid"/>
              <a:round/>
            </a:ln>
          </p:spPr>
          <p:txBody>
            <a:bodyPr rtlCol="0" anchor="ctr"/>
            <a:lstStyle/>
            <a:p>
              <a:endParaRPr lang="en-US" sz="3400" dirty="0">
                <a:solidFill>
                  <a:schemeClr val="accent1"/>
                </a:solidFill>
              </a:endParaRPr>
            </a:p>
          </p:txBody>
        </p:sp>
        <p:sp>
          <p:nvSpPr>
            <p:cNvPr id="368" name="Freeform: Shape 656">
              <a:extLst>
                <a:ext uri="{FF2B5EF4-FFF2-40B4-BE49-F238E27FC236}">
                  <a16:creationId xmlns:a16="http://schemas.microsoft.com/office/drawing/2014/main" id="{C03284B6-40EC-984A-91A7-7FBF10CB61AE}"/>
                </a:ext>
              </a:extLst>
            </p:cNvPr>
            <p:cNvSpPr/>
            <p:nvPr/>
          </p:nvSpPr>
          <p:spPr>
            <a:xfrm>
              <a:off x="16330367" y="3509707"/>
              <a:ext cx="80461" cy="9655"/>
            </a:xfrm>
            <a:custGeom>
              <a:avLst/>
              <a:gdLst>
                <a:gd name="connsiteX0" fmla="*/ 2414 w 80461"/>
                <a:gd name="connsiteY0" fmla="*/ 2414 h 9655"/>
                <a:gd name="connsiteX1" fmla="*/ 78691 w 80461"/>
                <a:gd name="connsiteY1" fmla="*/ 2414 h 9655"/>
                <a:gd name="connsiteX2" fmla="*/ 78691 w 80461"/>
                <a:gd name="connsiteY2" fmla="*/ 8207 h 9655"/>
                <a:gd name="connsiteX3" fmla="*/ 2414 w 80461"/>
                <a:gd name="connsiteY3" fmla="*/ 8207 h 9655"/>
              </a:gdLst>
              <a:ahLst/>
              <a:cxnLst>
                <a:cxn ang="0">
                  <a:pos x="connsiteX0" y="connsiteY0"/>
                </a:cxn>
                <a:cxn ang="0">
                  <a:pos x="connsiteX1" y="connsiteY1"/>
                </a:cxn>
                <a:cxn ang="0">
                  <a:pos x="connsiteX2" y="connsiteY2"/>
                </a:cxn>
                <a:cxn ang="0">
                  <a:pos x="connsiteX3" y="connsiteY3"/>
                </a:cxn>
              </a:cxnLst>
              <a:rect l="l" t="t" r="r" b="b"/>
              <a:pathLst>
                <a:path w="80461" h="9655">
                  <a:moveTo>
                    <a:pt x="2414" y="2414"/>
                  </a:moveTo>
                  <a:lnTo>
                    <a:pt x="78691" y="2414"/>
                  </a:lnTo>
                  <a:lnTo>
                    <a:pt x="78691"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69" name="Freeform: Shape 657">
              <a:extLst>
                <a:ext uri="{FF2B5EF4-FFF2-40B4-BE49-F238E27FC236}">
                  <a16:creationId xmlns:a16="http://schemas.microsoft.com/office/drawing/2014/main" id="{170A487E-6871-7C42-B073-F678C50FE982}"/>
                </a:ext>
              </a:extLst>
            </p:cNvPr>
            <p:cNvSpPr/>
            <p:nvPr/>
          </p:nvSpPr>
          <p:spPr>
            <a:xfrm>
              <a:off x="16414728" y="3509506"/>
              <a:ext cx="57932" cy="9655"/>
            </a:xfrm>
            <a:custGeom>
              <a:avLst/>
              <a:gdLst>
                <a:gd name="connsiteX0" fmla="*/ 57771 w 57932"/>
                <a:gd name="connsiteY0" fmla="*/ 8207 h 9655"/>
                <a:gd name="connsiteX1" fmla="*/ 2414 w 57932"/>
                <a:gd name="connsiteY1" fmla="*/ 8207 h 9655"/>
                <a:gd name="connsiteX2" fmla="*/ 2414 w 57932"/>
                <a:gd name="connsiteY2" fmla="*/ 2414 h 9655"/>
                <a:gd name="connsiteX3" fmla="*/ 57771 w 57932"/>
                <a:gd name="connsiteY3" fmla="*/ 2414 h 9655"/>
              </a:gdLst>
              <a:ahLst/>
              <a:cxnLst>
                <a:cxn ang="0">
                  <a:pos x="connsiteX0" y="connsiteY0"/>
                </a:cxn>
                <a:cxn ang="0">
                  <a:pos x="connsiteX1" y="connsiteY1"/>
                </a:cxn>
                <a:cxn ang="0">
                  <a:pos x="connsiteX2" y="connsiteY2"/>
                </a:cxn>
                <a:cxn ang="0">
                  <a:pos x="connsiteX3" y="connsiteY3"/>
                </a:cxn>
              </a:cxnLst>
              <a:rect l="l" t="t" r="r" b="b"/>
              <a:pathLst>
                <a:path w="57932" h="9655">
                  <a:moveTo>
                    <a:pt x="57771" y="8207"/>
                  </a:moveTo>
                  <a:lnTo>
                    <a:pt x="2414" y="8207"/>
                  </a:lnTo>
                  <a:lnTo>
                    <a:pt x="2414" y="2414"/>
                  </a:lnTo>
                  <a:lnTo>
                    <a:pt x="57771" y="2414"/>
                  </a:lnTo>
                  <a:close/>
                </a:path>
              </a:pathLst>
            </a:custGeom>
            <a:solidFill>
              <a:schemeClr val="tx1"/>
            </a:solidFill>
            <a:ln w="9525" cap="flat">
              <a:noFill/>
              <a:prstDash val="solid"/>
              <a:miter/>
            </a:ln>
          </p:spPr>
          <p:txBody>
            <a:bodyPr rtlCol="0" anchor="ctr"/>
            <a:lstStyle/>
            <a:p>
              <a:endParaRPr lang="en-US" sz="3400" dirty="0"/>
            </a:p>
          </p:txBody>
        </p:sp>
        <p:sp>
          <p:nvSpPr>
            <p:cNvPr id="370" name="Freeform: Shape 658">
              <a:extLst>
                <a:ext uri="{FF2B5EF4-FFF2-40B4-BE49-F238E27FC236}">
                  <a16:creationId xmlns:a16="http://schemas.microsoft.com/office/drawing/2014/main" id="{08599074-FAF1-AA48-87D3-D723E3A28B49}"/>
                </a:ext>
              </a:extLst>
            </p:cNvPr>
            <p:cNvSpPr/>
            <p:nvPr/>
          </p:nvSpPr>
          <p:spPr>
            <a:xfrm>
              <a:off x="16350322" y="3535776"/>
              <a:ext cx="106209" cy="9655"/>
            </a:xfrm>
            <a:custGeom>
              <a:avLst/>
              <a:gdLst>
                <a:gd name="connsiteX0" fmla="*/ 2414 w 106208"/>
                <a:gd name="connsiteY0" fmla="*/ 2414 h 9655"/>
                <a:gd name="connsiteX1" fmla="*/ 104760 w 106208"/>
                <a:gd name="connsiteY1" fmla="*/ 2414 h 9655"/>
                <a:gd name="connsiteX2" fmla="*/ 104760 w 106208"/>
                <a:gd name="connsiteY2" fmla="*/ 8207 h 9655"/>
                <a:gd name="connsiteX3" fmla="*/ 2414 w 106208"/>
                <a:gd name="connsiteY3" fmla="*/ 8207 h 9655"/>
              </a:gdLst>
              <a:ahLst/>
              <a:cxnLst>
                <a:cxn ang="0">
                  <a:pos x="connsiteX0" y="connsiteY0"/>
                </a:cxn>
                <a:cxn ang="0">
                  <a:pos x="connsiteX1" y="connsiteY1"/>
                </a:cxn>
                <a:cxn ang="0">
                  <a:pos x="connsiteX2" y="connsiteY2"/>
                </a:cxn>
                <a:cxn ang="0">
                  <a:pos x="connsiteX3" y="connsiteY3"/>
                </a:cxn>
              </a:cxnLst>
              <a:rect l="l" t="t" r="r" b="b"/>
              <a:pathLst>
                <a:path w="106208" h="9655">
                  <a:moveTo>
                    <a:pt x="2414" y="2414"/>
                  </a:moveTo>
                  <a:lnTo>
                    <a:pt x="104760" y="2414"/>
                  </a:lnTo>
                  <a:lnTo>
                    <a:pt x="104760"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1" name="Freeform: Shape 659">
              <a:extLst>
                <a:ext uri="{FF2B5EF4-FFF2-40B4-BE49-F238E27FC236}">
                  <a16:creationId xmlns:a16="http://schemas.microsoft.com/office/drawing/2014/main" id="{97DEA49F-02E4-944F-9B62-C09C3103B74B}"/>
                </a:ext>
              </a:extLst>
            </p:cNvPr>
            <p:cNvSpPr/>
            <p:nvPr/>
          </p:nvSpPr>
          <p:spPr>
            <a:xfrm>
              <a:off x="16494739" y="3536044"/>
              <a:ext cx="35403" cy="9655"/>
            </a:xfrm>
            <a:custGeom>
              <a:avLst/>
              <a:gdLst>
                <a:gd name="connsiteX0" fmla="*/ 33955 w 35402"/>
                <a:gd name="connsiteY0" fmla="*/ 8207 h 9655"/>
                <a:gd name="connsiteX1" fmla="*/ 2414 w 35402"/>
                <a:gd name="connsiteY1" fmla="*/ 8207 h 9655"/>
                <a:gd name="connsiteX2" fmla="*/ 2414 w 35402"/>
                <a:gd name="connsiteY2" fmla="*/ 2414 h 9655"/>
                <a:gd name="connsiteX3" fmla="*/ 33955 w 35402"/>
                <a:gd name="connsiteY3" fmla="*/ 2414 h 9655"/>
              </a:gdLst>
              <a:ahLst/>
              <a:cxnLst>
                <a:cxn ang="0">
                  <a:pos x="connsiteX0" y="connsiteY0"/>
                </a:cxn>
                <a:cxn ang="0">
                  <a:pos x="connsiteX1" y="connsiteY1"/>
                </a:cxn>
                <a:cxn ang="0">
                  <a:pos x="connsiteX2" y="connsiteY2"/>
                </a:cxn>
                <a:cxn ang="0">
                  <a:pos x="connsiteX3" y="connsiteY3"/>
                </a:cxn>
              </a:cxnLst>
              <a:rect l="l" t="t" r="r" b="b"/>
              <a:pathLst>
                <a:path w="35402" h="9655">
                  <a:moveTo>
                    <a:pt x="33955" y="8207"/>
                  </a:moveTo>
                  <a:lnTo>
                    <a:pt x="2414" y="8207"/>
                  </a:lnTo>
                  <a:lnTo>
                    <a:pt x="2414" y="2414"/>
                  </a:lnTo>
                  <a:lnTo>
                    <a:pt x="33955" y="2414"/>
                  </a:lnTo>
                  <a:close/>
                </a:path>
              </a:pathLst>
            </a:custGeom>
            <a:solidFill>
              <a:schemeClr val="tx1"/>
            </a:solidFill>
            <a:ln w="9525" cap="flat">
              <a:noFill/>
              <a:prstDash val="solid"/>
              <a:miter/>
            </a:ln>
          </p:spPr>
          <p:txBody>
            <a:bodyPr rtlCol="0" anchor="ctr"/>
            <a:lstStyle/>
            <a:p>
              <a:endParaRPr lang="en-US" sz="3400" dirty="0"/>
            </a:p>
          </p:txBody>
        </p:sp>
        <p:sp>
          <p:nvSpPr>
            <p:cNvPr id="372" name="Freeform: Shape 660">
              <a:extLst>
                <a:ext uri="{FF2B5EF4-FFF2-40B4-BE49-F238E27FC236}">
                  <a16:creationId xmlns:a16="http://schemas.microsoft.com/office/drawing/2014/main" id="{9E6294D7-D255-434B-A33E-747FCE6BB9DB}"/>
                </a:ext>
              </a:extLst>
            </p:cNvPr>
            <p:cNvSpPr/>
            <p:nvPr/>
          </p:nvSpPr>
          <p:spPr>
            <a:xfrm>
              <a:off x="16457174" y="3535776"/>
              <a:ext cx="35403" cy="9655"/>
            </a:xfrm>
            <a:custGeom>
              <a:avLst/>
              <a:gdLst>
                <a:gd name="connsiteX0" fmla="*/ 2414 w 35402"/>
                <a:gd name="connsiteY0" fmla="*/ 2414 h 9655"/>
                <a:gd name="connsiteX1" fmla="*/ 34598 w 35402"/>
                <a:gd name="connsiteY1" fmla="*/ 2414 h 9655"/>
                <a:gd name="connsiteX2" fmla="*/ 34598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598" y="2414"/>
                  </a:lnTo>
                  <a:lnTo>
                    <a:pt x="34598"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3" name="Freeform: Shape 661">
              <a:extLst>
                <a:ext uri="{FF2B5EF4-FFF2-40B4-BE49-F238E27FC236}">
                  <a16:creationId xmlns:a16="http://schemas.microsoft.com/office/drawing/2014/main" id="{763B040D-6E10-F247-9090-A03FC509F258}"/>
                </a:ext>
              </a:extLst>
            </p:cNvPr>
            <p:cNvSpPr/>
            <p:nvPr/>
          </p:nvSpPr>
          <p:spPr>
            <a:xfrm>
              <a:off x="16384437" y="3562167"/>
              <a:ext cx="93335" cy="9655"/>
            </a:xfrm>
            <a:custGeom>
              <a:avLst/>
              <a:gdLst>
                <a:gd name="connsiteX0" fmla="*/ 2414 w 93334"/>
                <a:gd name="connsiteY0" fmla="*/ 2414 h 9655"/>
                <a:gd name="connsiteX1" fmla="*/ 92208 w 93334"/>
                <a:gd name="connsiteY1" fmla="*/ 2414 h 9655"/>
                <a:gd name="connsiteX2" fmla="*/ 92208 w 93334"/>
                <a:gd name="connsiteY2" fmla="*/ 8207 h 9655"/>
                <a:gd name="connsiteX3" fmla="*/ 2414 w 93334"/>
                <a:gd name="connsiteY3" fmla="*/ 8207 h 9655"/>
              </a:gdLst>
              <a:ahLst/>
              <a:cxnLst>
                <a:cxn ang="0">
                  <a:pos x="connsiteX0" y="connsiteY0"/>
                </a:cxn>
                <a:cxn ang="0">
                  <a:pos x="connsiteX1" y="connsiteY1"/>
                </a:cxn>
                <a:cxn ang="0">
                  <a:pos x="connsiteX2" y="connsiteY2"/>
                </a:cxn>
                <a:cxn ang="0">
                  <a:pos x="connsiteX3" y="connsiteY3"/>
                </a:cxn>
              </a:cxnLst>
              <a:rect l="l" t="t" r="r" b="b"/>
              <a:pathLst>
                <a:path w="93334" h="9655">
                  <a:moveTo>
                    <a:pt x="2414" y="2414"/>
                  </a:moveTo>
                  <a:lnTo>
                    <a:pt x="92208" y="2414"/>
                  </a:lnTo>
                  <a:lnTo>
                    <a:pt x="92208"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4" name="Freeform: Shape 662">
              <a:extLst>
                <a:ext uri="{FF2B5EF4-FFF2-40B4-BE49-F238E27FC236}">
                  <a16:creationId xmlns:a16="http://schemas.microsoft.com/office/drawing/2014/main" id="{C527228B-3C68-9041-947D-1DF2C1FC4E6C}"/>
                </a:ext>
              </a:extLst>
            </p:cNvPr>
            <p:cNvSpPr/>
            <p:nvPr/>
          </p:nvSpPr>
          <p:spPr>
            <a:xfrm>
              <a:off x="16359778" y="3562258"/>
              <a:ext cx="22529" cy="9655"/>
            </a:xfrm>
            <a:custGeom>
              <a:avLst/>
              <a:gdLst>
                <a:gd name="connsiteX0" fmla="*/ 21081 w 22529"/>
                <a:gd name="connsiteY0" fmla="*/ 8207 h 9655"/>
                <a:gd name="connsiteX1" fmla="*/ 2414 w 22529"/>
                <a:gd name="connsiteY1" fmla="*/ 8207 h 9655"/>
                <a:gd name="connsiteX2" fmla="*/ 2414 w 22529"/>
                <a:gd name="connsiteY2" fmla="*/ 2414 h 9655"/>
                <a:gd name="connsiteX3" fmla="*/ 21081 w 22529"/>
                <a:gd name="connsiteY3" fmla="*/ 2414 h 9655"/>
              </a:gdLst>
              <a:ahLst/>
              <a:cxnLst>
                <a:cxn ang="0">
                  <a:pos x="connsiteX0" y="connsiteY0"/>
                </a:cxn>
                <a:cxn ang="0">
                  <a:pos x="connsiteX1" y="connsiteY1"/>
                </a:cxn>
                <a:cxn ang="0">
                  <a:pos x="connsiteX2" y="connsiteY2"/>
                </a:cxn>
                <a:cxn ang="0">
                  <a:pos x="connsiteX3" y="connsiteY3"/>
                </a:cxn>
              </a:cxnLst>
              <a:rect l="l" t="t" r="r" b="b"/>
              <a:pathLst>
                <a:path w="22529" h="9655">
                  <a:moveTo>
                    <a:pt x="21081" y="8207"/>
                  </a:moveTo>
                  <a:lnTo>
                    <a:pt x="2414" y="8207"/>
                  </a:lnTo>
                  <a:lnTo>
                    <a:pt x="2414" y="2414"/>
                  </a:lnTo>
                  <a:lnTo>
                    <a:pt x="21081" y="2414"/>
                  </a:lnTo>
                  <a:close/>
                </a:path>
              </a:pathLst>
            </a:custGeom>
            <a:solidFill>
              <a:schemeClr val="tx1"/>
            </a:solidFill>
            <a:ln w="9525" cap="flat">
              <a:noFill/>
              <a:prstDash val="solid"/>
              <a:miter/>
            </a:ln>
          </p:spPr>
          <p:txBody>
            <a:bodyPr rtlCol="0" anchor="ctr"/>
            <a:lstStyle/>
            <a:p>
              <a:endParaRPr lang="en-US" sz="3400" dirty="0"/>
            </a:p>
          </p:txBody>
        </p:sp>
        <p:sp>
          <p:nvSpPr>
            <p:cNvPr id="375" name="Freeform: Shape 663">
              <a:extLst>
                <a:ext uri="{FF2B5EF4-FFF2-40B4-BE49-F238E27FC236}">
                  <a16:creationId xmlns:a16="http://schemas.microsoft.com/office/drawing/2014/main" id="{4859A84B-DA27-9747-917B-C528654DB6CC}"/>
                </a:ext>
              </a:extLst>
            </p:cNvPr>
            <p:cNvSpPr/>
            <p:nvPr/>
          </p:nvSpPr>
          <p:spPr>
            <a:xfrm>
              <a:off x="16330367" y="3582444"/>
              <a:ext cx="64369" cy="9655"/>
            </a:xfrm>
            <a:custGeom>
              <a:avLst/>
              <a:gdLst>
                <a:gd name="connsiteX0" fmla="*/ 2414 w 64368"/>
                <a:gd name="connsiteY0" fmla="*/ 2414 h 9655"/>
                <a:gd name="connsiteX1" fmla="*/ 63564 w 64368"/>
                <a:gd name="connsiteY1" fmla="*/ 2414 h 9655"/>
                <a:gd name="connsiteX2" fmla="*/ 63564 w 64368"/>
                <a:gd name="connsiteY2" fmla="*/ 8207 h 9655"/>
                <a:gd name="connsiteX3" fmla="*/ 2414 w 64368"/>
                <a:gd name="connsiteY3" fmla="*/ 8207 h 9655"/>
              </a:gdLst>
              <a:ahLst/>
              <a:cxnLst>
                <a:cxn ang="0">
                  <a:pos x="connsiteX0" y="connsiteY0"/>
                </a:cxn>
                <a:cxn ang="0">
                  <a:pos x="connsiteX1" y="connsiteY1"/>
                </a:cxn>
                <a:cxn ang="0">
                  <a:pos x="connsiteX2" y="connsiteY2"/>
                </a:cxn>
                <a:cxn ang="0">
                  <a:pos x="connsiteX3" y="connsiteY3"/>
                </a:cxn>
              </a:cxnLst>
              <a:rect l="l" t="t" r="r" b="b"/>
              <a:pathLst>
                <a:path w="64368" h="9655">
                  <a:moveTo>
                    <a:pt x="2414" y="2414"/>
                  </a:moveTo>
                  <a:lnTo>
                    <a:pt x="63564" y="2414"/>
                  </a:lnTo>
                  <a:lnTo>
                    <a:pt x="63564"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6" name="Freeform: Shape 664">
              <a:extLst>
                <a:ext uri="{FF2B5EF4-FFF2-40B4-BE49-F238E27FC236}">
                  <a16:creationId xmlns:a16="http://schemas.microsoft.com/office/drawing/2014/main" id="{B7BAEB4F-80BD-7C47-9826-924D56A48845}"/>
                </a:ext>
              </a:extLst>
            </p:cNvPr>
            <p:cNvSpPr/>
            <p:nvPr/>
          </p:nvSpPr>
          <p:spPr>
            <a:xfrm>
              <a:off x="16396346" y="3582444"/>
              <a:ext cx="25748" cy="9655"/>
            </a:xfrm>
            <a:custGeom>
              <a:avLst/>
              <a:gdLst>
                <a:gd name="connsiteX0" fmla="*/ 2414 w 25747"/>
                <a:gd name="connsiteY0" fmla="*/ 2414 h 9655"/>
                <a:gd name="connsiteX1" fmla="*/ 23334 w 25747"/>
                <a:gd name="connsiteY1" fmla="*/ 2414 h 9655"/>
                <a:gd name="connsiteX2" fmla="*/ 23334 w 25747"/>
                <a:gd name="connsiteY2" fmla="*/ 8207 h 9655"/>
                <a:gd name="connsiteX3" fmla="*/ 2414 w 25747"/>
                <a:gd name="connsiteY3" fmla="*/ 8207 h 9655"/>
              </a:gdLst>
              <a:ahLst/>
              <a:cxnLst>
                <a:cxn ang="0">
                  <a:pos x="connsiteX0" y="connsiteY0"/>
                </a:cxn>
                <a:cxn ang="0">
                  <a:pos x="connsiteX1" y="connsiteY1"/>
                </a:cxn>
                <a:cxn ang="0">
                  <a:pos x="connsiteX2" y="connsiteY2"/>
                </a:cxn>
                <a:cxn ang="0">
                  <a:pos x="connsiteX3" y="connsiteY3"/>
                </a:cxn>
              </a:cxnLst>
              <a:rect l="l" t="t" r="r" b="b"/>
              <a:pathLst>
                <a:path w="25747" h="9655">
                  <a:moveTo>
                    <a:pt x="2414" y="2414"/>
                  </a:moveTo>
                  <a:lnTo>
                    <a:pt x="23334" y="2414"/>
                  </a:lnTo>
                  <a:lnTo>
                    <a:pt x="23334"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7" name="Freeform: Shape 665">
              <a:extLst>
                <a:ext uri="{FF2B5EF4-FFF2-40B4-BE49-F238E27FC236}">
                  <a16:creationId xmlns:a16="http://schemas.microsoft.com/office/drawing/2014/main" id="{464621F3-A1AF-2A4F-BC0F-750A91E1A9F6}"/>
                </a:ext>
              </a:extLst>
            </p:cNvPr>
            <p:cNvSpPr/>
            <p:nvPr/>
          </p:nvSpPr>
          <p:spPr>
            <a:xfrm>
              <a:off x="16423059" y="3582444"/>
              <a:ext cx="86898" cy="9655"/>
            </a:xfrm>
            <a:custGeom>
              <a:avLst/>
              <a:gdLst>
                <a:gd name="connsiteX0" fmla="*/ 2414 w 86898"/>
                <a:gd name="connsiteY0" fmla="*/ 2414 h 9655"/>
                <a:gd name="connsiteX1" fmla="*/ 86093 w 86898"/>
                <a:gd name="connsiteY1" fmla="*/ 2414 h 9655"/>
                <a:gd name="connsiteX2" fmla="*/ 86093 w 86898"/>
                <a:gd name="connsiteY2" fmla="*/ 8207 h 9655"/>
                <a:gd name="connsiteX3" fmla="*/ 2414 w 86898"/>
                <a:gd name="connsiteY3" fmla="*/ 8207 h 9655"/>
              </a:gdLst>
              <a:ahLst/>
              <a:cxnLst>
                <a:cxn ang="0">
                  <a:pos x="connsiteX0" y="connsiteY0"/>
                </a:cxn>
                <a:cxn ang="0">
                  <a:pos x="connsiteX1" y="connsiteY1"/>
                </a:cxn>
                <a:cxn ang="0">
                  <a:pos x="connsiteX2" y="connsiteY2"/>
                </a:cxn>
                <a:cxn ang="0">
                  <a:pos x="connsiteX3" y="connsiteY3"/>
                </a:cxn>
              </a:cxnLst>
              <a:rect l="l" t="t" r="r" b="b"/>
              <a:pathLst>
                <a:path w="86898" h="9655">
                  <a:moveTo>
                    <a:pt x="2414" y="2414"/>
                  </a:moveTo>
                  <a:lnTo>
                    <a:pt x="86093" y="2414"/>
                  </a:lnTo>
                  <a:lnTo>
                    <a:pt x="86093"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8" name="Freeform: Shape 666">
              <a:extLst>
                <a:ext uri="{FF2B5EF4-FFF2-40B4-BE49-F238E27FC236}">
                  <a16:creationId xmlns:a16="http://schemas.microsoft.com/office/drawing/2014/main" id="{3EF7F4BE-A488-4548-BCBB-0854E6261E36}"/>
                </a:ext>
              </a:extLst>
            </p:cNvPr>
            <p:cNvSpPr/>
            <p:nvPr/>
          </p:nvSpPr>
          <p:spPr>
            <a:xfrm>
              <a:off x="16350322" y="3608835"/>
              <a:ext cx="35403" cy="9655"/>
            </a:xfrm>
            <a:custGeom>
              <a:avLst/>
              <a:gdLst>
                <a:gd name="connsiteX0" fmla="*/ 2414 w 35402"/>
                <a:gd name="connsiteY0" fmla="*/ 2414 h 9655"/>
                <a:gd name="connsiteX1" fmla="*/ 34276 w 35402"/>
                <a:gd name="connsiteY1" fmla="*/ 2414 h 9655"/>
                <a:gd name="connsiteX2" fmla="*/ 34276 w 35402"/>
                <a:gd name="connsiteY2" fmla="*/ 8207 h 9655"/>
                <a:gd name="connsiteX3" fmla="*/ 2414 w 35402"/>
                <a:gd name="connsiteY3" fmla="*/ 8207 h 9655"/>
              </a:gdLst>
              <a:ahLst/>
              <a:cxnLst>
                <a:cxn ang="0">
                  <a:pos x="connsiteX0" y="connsiteY0"/>
                </a:cxn>
                <a:cxn ang="0">
                  <a:pos x="connsiteX1" y="connsiteY1"/>
                </a:cxn>
                <a:cxn ang="0">
                  <a:pos x="connsiteX2" y="connsiteY2"/>
                </a:cxn>
                <a:cxn ang="0">
                  <a:pos x="connsiteX3" y="connsiteY3"/>
                </a:cxn>
              </a:cxnLst>
              <a:rect l="l" t="t" r="r" b="b"/>
              <a:pathLst>
                <a:path w="35402" h="9655">
                  <a:moveTo>
                    <a:pt x="2414" y="2414"/>
                  </a:moveTo>
                  <a:lnTo>
                    <a:pt x="34276" y="2414"/>
                  </a:lnTo>
                  <a:lnTo>
                    <a:pt x="34276" y="8207"/>
                  </a:lnTo>
                  <a:lnTo>
                    <a:pt x="2414" y="8207"/>
                  </a:lnTo>
                  <a:close/>
                </a:path>
              </a:pathLst>
            </a:custGeom>
            <a:solidFill>
              <a:schemeClr val="tx1"/>
            </a:solidFill>
            <a:ln w="9525" cap="flat">
              <a:noFill/>
              <a:prstDash val="solid"/>
              <a:miter/>
            </a:ln>
          </p:spPr>
          <p:txBody>
            <a:bodyPr rtlCol="0" anchor="ctr"/>
            <a:lstStyle/>
            <a:p>
              <a:endParaRPr lang="en-US" sz="3400" dirty="0"/>
            </a:p>
          </p:txBody>
        </p:sp>
        <p:sp>
          <p:nvSpPr>
            <p:cNvPr id="379" name="Freeform: Shape 667">
              <a:extLst>
                <a:ext uri="{FF2B5EF4-FFF2-40B4-BE49-F238E27FC236}">
                  <a16:creationId xmlns:a16="http://schemas.microsoft.com/office/drawing/2014/main" id="{3C2132AE-AF5E-1243-AE29-20627A0FC352}"/>
                </a:ext>
              </a:extLst>
            </p:cNvPr>
            <p:cNvSpPr/>
            <p:nvPr/>
          </p:nvSpPr>
          <p:spPr>
            <a:xfrm>
              <a:off x="16391529" y="3608927"/>
              <a:ext cx="77243" cy="9655"/>
            </a:xfrm>
            <a:custGeom>
              <a:avLst/>
              <a:gdLst>
                <a:gd name="connsiteX0" fmla="*/ 77725 w 77242"/>
                <a:gd name="connsiteY0" fmla="*/ 8207 h 9655"/>
                <a:gd name="connsiteX1" fmla="*/ 2414 w 77242"/>
                <a:gd name="connsiteY1" fmla="*/ 8207 h 9655"/>
                <a:gd name="connsiteX2" fmla="*/ 2414 w 77242"/>
                <a:gd name="connsiteY2" fmla="*/ 2414 h 9655"/>
                <a:gd name="connsiteX3" fmla="*/ 77725 w 77242"/>
                <a:gd name="connsiteY3" fmla="*/ 2414 h 9655"/>
              </a:gdLst>
              <a:ahLst/>
              <a:cxnLst>
                <a:cxn ang="0">
                  <a:pos x="connsiteX0" y="connsiteY0"/>
                </a:cxn>
                <a:cxn ang="0">
                  <a:pos x="connsiteX1" y="connsiteY1"/>
                </a:cxn>
                <a:cxn ang="0">
                  <a:pos x="connsiteX2" y="connsiteY2"/>
                </a:cxn>
                <a:cxn ang="0">
                  <a:pos x="connsiteX3" y="connsiteY3"/>
                </a:cxn>
              </a:cxnLst>
              <a:rect l="l" t="t" r="r" b="b"/>
              <a:pathLst>
                <a:path w="77242" h="9655">
                  <a:moveTo>
                    <a:pt x="77725" y="8207"/>
                  </a:moveTo>
                  <a:lnTo>
                    <a:pt x="2414" y="8207"/>
                  </a:lnTo>
                  <a:lnTo>
                    <a:pt x="2414" y="2414"/>
                  </a:lnTo>
                  <a:lnTo>
                    <a:pt x="77725" y="2414"/>
                  </a:lnTo>
                  <a:close/>
                </a:path>
              </a:pathLst>
            </a:custGeom>
            <a:solidFill>
              <a:schemeClr val="tx1"/>
            </a:solidFill>
            <a:ln w="9525" cap="flat">
              <a:noFill/>
              <a:prstDash val="solid"/>
              <a:miter/>
            </a:ln>
          </p:spPr>
          <p:txBody>
            <a:bodyPr rtlCol="0" anchor="ctr"/>
            <a:lstStyle/>
            <a:p>
              <a:endParaRPr lang="en-US" sz="3400" dirty="0"/>
            </a:p>
          </p:txBody>
        </p:sp>
        <p:sp>
          <p:nvSpPr>
            <p:cNvPr id="380" name="Freeform: Shape 668">
              <a:extLst>
                <a:ext uri="{FF2B5EF4-FFF2-40B4-BE49-F238E27FC236}">
                  <a16:creationId xmlns:a16="http://schemas.microsoft.com/office/drawing/2014/main" id="{385F4E0F-6400-A947-85B4-ED3EC4D74DD1}"/>
                </a:ext>
              </a:extLst>
            </p:cNvPr>
            <p:cNvSpPr/>
            <p:nvPr/>
          </p:nvSpPr>
          <p:spPr>
            <a:xfrm>
              <a:off x="16303332" y="3491684"/>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1" name="Freeform: Shape 669">
              <a:extLst>
                <a:ext uri="{FF2B5EF4-FFF2-40B4-BE49-F238E27FC236}">
                  <a16:creationId xmlns:a16="http://schemas.microsoft.com/office/drawing/2014/main" id="{F514C35B-FA0B-BD4F-A9F6-1CD5FE0BA14F}"/>
                </a:ext>
              </a:extLst>
            </p:cNvPr>
            <p:cNvSpPr/>
            <p:nvPr/>
          </p:nvSpPr>
          <p:spPr>
            <a:xfrm>
              <a:off x="16303332" y="3513891"/>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2" name="Freeform: Shape 670">
              <a:extLst>
                <a:ext uri="{FF2B5EF4-FFF2-40B4-BE49-F238E27FC236}">
                  <a16:creationId xmlns:a16="http://schemas.microsoft.com/office/drawing/2014/main" id="{12A6CDAF-4D48-FD44-9D01-9173AE1CA5D8}"/>
                </a:ext>
              </a:extLst>
            </p:cNvPr>
            <p:cNvSpPr/>
            <p:nvPr/>
          </p:nvSpPr>
          <p:spPr>
            <a:xfrm>
              <a:off x="16303332" y="3536098"/>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3" name="Freeform: Shape 671">
              <a:extLst>
                <a:ext uri="{FF2B5EF4-FFF2-40B4-BE49-F238E27FC236}">
                  <a16:creationId xmlns:a16="http://schemas.microsoft.com/office/drawing/2014/main" id="{31E2D6C3-46BF-3345-B027-9D0A79C9B1CA}"/>
                </a:ext>
              </a:extLst>
            </p:cNvPr>
            <p:cNvSpPr/>
            <p:nvPr/>
          </p:nvSpPr>
          <p:spPr>
            <a:xfrm>
              <a:off x="16303332" y="3558627"/>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4" name="Freeform: Shape 672">
              <a:extLst>
                <a:ext uri="{FF2B5EF4-FFF2-40B4-BE49-F238E27FC236}">
                  <a16:creationId xmlns:a16="http://schemas.microsoft.com/office/drawing/2014/main" id="{C7F7C897-3AE9-364A-9C38-1A2AA3C06FD5}"/>
                </a:ext>
              </a:extLst>
            </p:cNvPr>
            <p:cNvSpPr/>
            <p:nvPr/>
          </p:nvSpPr>
          <p:spPr>
            <a:xfrm>
              <a:off x="16303332" y="3580834"/>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173"/>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5" name="Freeform: Shape 673">
              <a:extLst>
                <a:ext uri="{FF2B5EF4-FFF2-40B4-BE49-F238E27FC236}">
                  <a16:creationId xmlns:a16="http://schemas.microsoft.com/office/drawing/2014/main" id="{A8244EE9-9EF8-E043-9578-B5DDDC4FB0BD}"/>
                </a:ext>
              </a:extLst>
            </p:cNvPr>
            <p:cNvSpPr/>
            <p:nvPr/>
          </p:nvSpPr>
          <p:spPr>
            <a:xfrm>
              <a:off x="16303332" y="3603042"/>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endParaRPr lang="en-US" sz="3400" dirty="0"/>
            </a:p>
          </p:txBody>
        </p:sp>
        <p:sp>
          <p:nvSpPr>
            <p:cNvPr id="386" name="Freeform: Shape 674">
              <a:extLst>
                <a:ext uri="{FF2B5EF4-FFF2-40B4-BE49-F238E27FC236}">
                  <a16:creationId xmlns:a16="http://schemas.microsoft.com/office/drawing/2014/main" id="{7554134D-D208-994C-AF0B-7D3FB6E0E3E8}"/>
                </a:ext>
              </a:extLst>
            </p:cNvPr>
            <p:cNvSpPr/>
            <p:nvPr/>
          </p:nvSpPr>
          <p:spPr>
            <a:xfrm>
              <a:off x="16303332" y="3625249"/>
              <a:ext cx="12874" cy="12874"/>
            </a:xfrm>
            <a:custGeom>
              <a:avLst/>
              <a:gdLst>
                <a:gd name="connsiteX0" fmla="*/ 7563 w 12873"/>
                <a:gd name="connsiteY0" fmla="*/ 10782 h 12873"/>
                <a:gd name="connsiteX1" fmla="*/ 5632 w 12873"/>
                <a:gd name="connsiteY1" fmla="*/ 10782 h 12873"/>
                <a:gd name="connsiteX2" fmla="*/ 2414 w 12873"/>
                <a:gd name="connsiteY2" fmla="*/ 7563 h 12873"/>
                <a:gd name="connsiteX3" fmla="*/ 2414 w 12873"/>
                <a:gd name="connsiteY3" fmla="*/ 5632 h 12873"/>
                <a:gd name="connsiteX4" fmla="*/ 5632 w 12873"/>
                <a:gd name="connsiteY4" fmla="*/ 2414 h 12873"/>
                <a:gd name="connsiteX5" fmla="*/ 7563 w 12873"/>
                <a:gd name="connsiteY5" fmla="*/ 2414 h 12873"/>
                <a:gd name="connsiteX6" fmla="*/ 10782 w 12873"/>
                <a:gd name="connsiteY6" fmla="*/ 5632 h 12873"/>
                <a:gd name="connsiteX7" fmla="*/ 10782 w 12873"/>
                <a:gd name="connsiteY7" fmla="*/ 7563 h 12873"/>
                <a:gd name="connsiteX8" fmla="*/ 7563 w 12873"/>
                <a:gd name="connsiteY8" fmla="*/ 10782 h 1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 h="12873">
                  <a:moveTo>
                    <a:pt x="7563" y="10782"/>
                  </a:moveTo>
                  <a:lnTo>
                    <a:pt x="5632" y="10782"/>
                  </a:lnTo>
                  <a:cubicBezTo>
                    <a:pt x="3701" y="10782"/>
                    <a:pt x="2414" y="9494"/>
                    <a:pt x="2414" y="7563"/>
                  </a:cubicBezTo>
                  <a:lnTo>
                    <a:pt x="2414" y="5632"/>
                  </a:lnTo>
                  <a:cubicBezTo>
                    <a:pt x="2414" y="3701"/>
                    <a:pt x="3701" y="2414"/>
                    <a:pt x="5632" y="2414"/>
                  </a:cubicBezTo>
                  <a:lnTo>
                    <a:pt x="7563" y="2414"/>
                  </a:lnTo>
                  <a:cubicBezTo>
                    <a:pt x="9494" y="2414"/>
                    <a:pt x="10782" y="3701"/>
                    <a:pt x="10782" y="5632"/>
                  </a:cubicBezTo>
                  <a:lnTo>
                    <a:pt x="10782" y="7563"/>
                  </a:lnTo>
                  <a:cubicBezTo>
                    <a:pt x="10782" y="9494"/>
                    <a:pt x="9173" y="10782"/>
                    <a:pt x="7563" y="10782"/>
                  </a:cubicBezTo>
                  <a:close/>
                </a:path>
              </a:pathLst>
            </a:custGeom>
            <a:solidFill>
              <a:schemeClr val="tx1"/>
            </a:solidFill>
            <a:ln w="9525" cap="flat">
              <a:noFill/>
              <a:prstDash val="solid"/>
              <a:miter/>
            </a:ln>
          </p:spPr>
          <p:txBody>
            <a:bodyPr rtlCol="0" anchor="ctr"/>
            <a:lstStyle/>
            <a:p>
              <a:endParaRPr lang="en-US" sz="3400" dirty="0"/>
            </a:p>
          </p:txBody>
        </p:sp>
      </p:grpSp>
      <p:sp>
        <p:nvSpPr>
          <p:cNvPr id="387" name="Rectangle: Rounded Corners 25">
            <a:extLst>
              <a:ext uri="{FF2B5EF4-FFF2-40B4-BE49-F238E27FC236}">
                <a16:creationId xmlns:a16="http://schemas.microsoft.com/office/drawing/2014/main" id="{D39F0ABC-1A98-0541-B5D7-3D1C9CF439DD}"/>
              </a:ext>
            </a:extLst>
          </p:cNvPr>
          <p:cNvSpPr/>
          <p:nvPr/>
        </p:nvSpPr>
        <p:spPr>
          <a:xfrm>
            <a:off x="4977121" y="2115273"/>
            <a:ext cx="4396080" cy="1666481"/>
          </a:xfrm>
          <a:prstGeom prst="roundRect">
            <a:avLst>
              <a:gd name="adj" fmla="val 50000"/>
            </a:avLst>
          </a:prstGeom>
          <a:noFill/>
          <a:ln w="25400">
            <a:solidFill>
              <a:srgbClr val="2E27A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88" name="Rectangle: Rounded Corners 25">
            <a:extLst>
              <a:ext uri="{FF2B5EF4-FFF2-40B4-BE49-F238E27FC236}">
                <a16:creationId xmlns:a16="http://schemas.microsoft.com/office/drawing/2014/main" id="{1C9A7C77-B9D8-1C46-8F02-2BB9CAD7D1B0}"/>
              </a:ext>
            </a:extLst>
          </p:cNvPr>
          <p:cNvSpPr/>
          <p:nvPr/>
        </p:nvSpPr>
        <p:spPr>
          <a:xfrm>
            <a:off x="9841829" y="2136593"/>
            <a:ext cx="4396080" cy="1666481"/>
          </a:xfrm>
          <a:prstGeom prst="roundRect">
            <a:avLst>
              <a:gd name="adj" fmla="val 50000"/>
            </a:avLst>
          </a:prstGeom>
          <a:noFill/>
          <a:ln w="25400">
            <a:solidFill>
              <a:srgbClr val="2E27A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491">
              <a:defRPr/>
            </a:pPr>
            <a:endParaRPr lang="en-US" dirty="0">
              <a:solidFill>
                <a:srgbClr val="FFFFFF"/>
              </a:solidFill>
              <a:latin typeface="Amazon Ember"/>
            </a:endParaRPr>
          </a:p>
        </p:txBody>
      </p:sp>
      <p:sp>
        <p:nvSpPr>
          <p:cNvPr id="389" name="TextBox 388">
            <a:extLst>
              <a:ext uri="{FF2B5EF4-FFF2-40B4-BE49-F238E27FC236}">
                <a16:creationId xmlns:a16="http://schemas.microsoft.com/office/drawing/2014/main" id="{17128D9E-37FE-D043-88E3-CDAB81B97E5A}"/>
              </a:ext>
            </a:extLst>
          </p:cNvPr>
          <p:cNvSpPr txBox="1"/>
          <p:nvPr/>
        </p:nvSpPr>
        <p:spPr>
          <a:xfrm>
            <a:off x="11271222" y="2553447"/>
            <a:ext cx="1590499" cy="830997"/>
          </a:xfrm>
          <a:prstGeom prst="rect">
            <a:avLst/>
          </a:prstGeom>
          <a:noFill/>
        </p:spPr>
        <p:txBody>
          <a:bodyPr wrap="none" rtlCol="0">
            <a:spAutoFit/>
          </a:bodyPr>
          <a:lstStyle/>
          <a:p>
            <a:pPr algn="ctr" defTabSz="731491">
              <a:defRPr/>
            </a:pPr>
            <a:r>
              <a:rPr lang="en-US" sz="16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Migration </a:t>
            </a:r>
          </a:p>
          <a:p>
            <a:pPr algn="ctr" defTabSz="731491">
              <a:defRPr/>
            </a:pPr>
            <a:r>
              <a:rPr lang="en-US" sz="16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&amp;</a:t>
            </a:r>
          </a:p>
          <a:p>
            <a:pPr algn="ctr" defTabSz="731491">
              <a:defRPr/>
            </a:pPr>
            <a:r>
              <a:rPr lang="en-US" sz="16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Modernization</a:t>
            </a:r>
          </a:p>
        </p:txBody>
      </p:sp>
      <p:cxnSp>
        <p:nvCxnSpPr>
          <p:cNvPr id="390" name="Straight Arrow Connector 389">
            <a:extLst>
              <a:ext uri="{FF2B5EF4-FFF2-40B4-BE49-F238E27FC236}">
                <a16:creationId xmlns:a16="http://schemas.microsoft.com/office/drawing/2014/main" id="{51D7BDBF-4219-7A4D-BB5E-DF74B043F5AF}"/>
              </a:ext>
            </a:extLst>
          </p:cNvPr>
          <p:cNvCxnSpPr>
            <a:cxnSpLocks/>
          </p:cNvCxnSpPr>
          <p:nvPr/>
        </p:nvCxnSpPr>
        <p:spPr>
          <a:xfrm>
            <a:off x="9434625" y="2934090"/>
            <a:ext cx="346530" cy="2375"/>
          </a:xfrm>
          <a:prstGeom prst="straightConnector1">
            <a:avLst/>
          </a:prstGeom>
          <a:ln w="19050">
            <a:solidFill>
              <a:schemeClr val="tx1"/>
            </a:solidFill>
            <a:tailEnd type="triangle" w="lg" len="med"/>
          </a:ln>
          <a:effectLst>
            <a:outerShdw blurRad="40000" dist="20000" dir="5400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156" name="TextBox 155">
            <a:extLst>
              <a:ext uri="{FF2B5EF4-FFF2-40B4-BE49-F238E27FC236}">
                <a16:creationId xmlns:a16="http://schemas.microsoft.com/office/drawing/2014/main" id="{CB4FE1B4-179D-664D-928A-81BCE192DA53}"/>
              </a:ext>
            </a:extLst>
          </p:cNvPr>
          <p:cNvSpPr txBox="1"/>
          <p:nvPr/>
        </p:nvSpPr>
        <p:spPr>
          <a:xfrm rot="20294682">
            <a:off x="-58795" y="3768435"/>
            <a:ext cx="14845731" cy="538609"/>
          </a:xfrm>
          <a:prstGeom prst="rect">
            <a:avLst/>
          </a:prstGeom>
          <a:solidFill>
            <a:schemeClr val="tx2"/>
          </a:solidFill>
        </p:spPr>
        <p:txBody>
          <a:bodyPr wrap="non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Update the timeframe headings based on MRA recommended next steps</a:t>
            </a:r>
          </a:p>
        </p:txBody>
      </p:sp>
      <p:pic>
        <p:nvPicPr>
          <p:cNvPr id="158" name="Graphic 157">
            <a:extLst>
              <a:ext uri="{FF2B5EF4-FFF2-40B4-BE49-F238E27FC236}">
                <a16:creationId xmlns:a16="http://schemas.microsoft.com/office/drawing/2014/main" id="{41016E6A-71EF-7642-8B96-ACAFA531FD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18402" y="2159997"/>
            <a:ext cx="1640875" cy="1640875"/>
          </a:xfrm>
          <a:prstGeom prst="rect">
            <a:avLst/>
          </a:prstGeom>
        </p:spPr>
      </p:pic>
    </p:spTree>
    <p:extLst>
      <p:ext uri="{BB962C8B-B14F-4D97-AF65-F5344CB8AC3E}">
        <p14:creationId xmlns:p14="http://schemas.microsoft.com/office/powerpoint/2010/main" val="364371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2366" y="194055"/>
            <a:ext cx="12593638" cy="871538"/>
          </a:xfrm>
        </p:spPr>
        <p:txBody>
          <a:bodyPr/>
          <a:lstStyle/>
          <a:p>
            <a:r>
              <a:rPr lang="en-US" sz="3600" dirty="0"/>
              <a:t>Agenda</a:t>
            </a:r>
          </a:p>
        </p:txBody>
      </p:sp>
      <p:sp>
        <p:nvSpPr>
          <p:cNvPr id="36" name="Text Placeholder 3">
            <a:extLst>
              <a:ext uri="{FF2B5EF4-FFF2-40B4-BE49-F238E27FC236}">
                <a16:creationId xmlns:a16="http://schemas.microsoft.com/office/drawing/2014/main" id="{73684AEF-87D0-0AC2-2B4B-0D749063C7B4}"/>
              </a:ext>
            </a:extLst>
          </p:cNvPr>
          <p:cNvSpPr txBox="1">
            <a:spLocks/>
          </p:cNvSpPr>
          <p:nvPr/>
        </p:nvSpPr>
        <p:spPr>
          <a:xfrm>
            <a:off x="551222" y="1442234"/>
            <a:ext cx="6400800" cy="4520212"/>
          </a:xfrm>
          <a:prstGeom prst="rect">
            <a:avLst/>
          </a:prstGeom>
        </p:spPr>
        <p:txBody>
          <a:bodyPr vert="horz" wrap="square" lIns="0" tIns="45720" rIns="0" bIns="45720" rtlCol="0">
            <a:spAutoFit/>
          </a:bodyPr>
          <a:lstStyle>
            <a:lvl1pPr marL="274320" indent="-274320" algn="l" defTabSz="1097280" rtl="0" eaLnBrk="1" latinLnBrk="0" hangingPunct="1">
              <a:lnSpc>
                <a:spcPct val="90000"/>
              </a:lnSpc>
              <a:spcBef>
                <a:spcPts val="0"/>
              </a:spcBef>
              <a:spcAft>
                <a:spcPts val="1440"/>
              </a:spcAft>
              <a:buSzPct val="90000"/>
              <a:buFont typeface="Arial" panose="020B0604020202020204" pitchFamily="34" charset="0"/>
              <a:buChar char="•"/>
              <a:defRPr sz="3360" kern="1200" baseline="0">
                <a:solidFill>
                  <a:schemeClr val="tx1"/>
                </a:solidFill>
                <a:latin typeface="Amazon Ember Display" panose="020F0603020204020204" pitchFamily="34" charset="0"/>
                <a:ea typeface="+mn-ea"/>
                <a:cs typeface="+mn-cs"/>
              </a:defRPr>
            </a:lvl1pPr>
            <a:lvl2pPr marL="617220" indent="-274320" algn="l" defTabSz="1097280" rtl="0" eaLnBrk="1" latinLnBrk="0" hangingPunct="1">
              <a:lnSpc>
                <a:spcPct val="90000"/>
              </a:lnSpc>
              <a:spcBef>
                <a:spcPts val="0"/>
              </a:spcBef>
              <a:spcAft>
                <a:spcPts val="1440"/>
              </a:spcAft>
              <a:buSzPct val="90000"/>
              <a:buFont typeface="Wingdings" panose="05000000000000000000" pitchFamily="2" charset="2"/>
              <a:buChar char="§"/>
              <a:defRPr sz="2880" kern="1200" baseline="0">
                <a:solidFill>
                  <a:schemeClr val="tx1"/>
                </a:solidFill>
                <a:latin typeface="Amazon Ember Display" panose="020F0603020204020204" pitchFamily="34" charset="0"/>
                <a:ea typeface="+mn-ea"/>
                <a:cs typeface="+mn-cs"/>
              </a:defRPr>
            </a:lvl2pPr>
            <a:lvl3pPr marL="1028700" indent="-274320" algn="l" defTabSz="1097280" rtl="0" eaLnBrk="1" latinLnBrk="0" hangingPunct="1">
              <a:lnSpc>
                <a:spcPct val="90000"/>
              </a:lnSpc>
              <a:spcBef>
                <a:spcPts val="0"/>
              </a:spcBef>
              <a:spcAft>
                <a:spcPts val="1440"/>
              </a:spcAft>
              <a:buFont typeface="Amazon Ember" panose="020B0603020204020204" pitchFamily="34" charset="0"/>
              <a:buChar char="–"/>
              <a:defRPr sz="2400" kern="1200" baseline="0">
                <a:solidFill>
                  <a:schemeClr val="tx1"/>
                </a:solidFill>
                <a:latin typeface="Amazon Ember Display" panose="020F0603020204020204" pitchFamily="34" charset="0"/>
                <a:ea typeface="+mn-ea"/>
                <a:cs typeface="+mn-cs"/>
              </a:defRPr>
            </a:lvl3pPr>
            <a:lvl4pPr marL="123634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4pPr>
            <a:lvl5pPr marL="144208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endParaRPr lang="en-US" sz="2400" dirty="0"/>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MRA results</a:t>
            </a:r>
          </a:p>
          <a:p>
            <a:pPr marL="457200" indent="-457200">
              <a:buFontTx/>
              <a:buAutoNum type="arabicParenR"/>
            </a:pPr>
            <a:endPar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Actions to Accelerate Momentum</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Mobilize your Organization</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Next steps</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37" name="Group 36">
            <a:extLst>
              <a:ext uri="{FF2B5EF4-FFF2-40B4-BE49-F238E27FC236}">
                <a16:creationId xmlns:a16="http://schemas.microsoft.com/office/drawing/2014/main" id="{192E384A-4627-43D4-376E-EF9603583290}"/>
              </a:ext>
            </a:extLst>
          </p:cNvPr>
          <p:cNvGrpSpPr>
            <a:grpSpLocks noChangeAspect="1"/>
          </p:cNvGrpSpPr>
          <p:nvPr/>
        </p:nvGrpSpPr>
        <p:grpSpPr>
          <a:xfrm>
            <a:off x="9105900" y="1442234"/>
            <a:ext cx="3234899" cy="4202130"/>
            <a:chOff x="-580230" y="3214241"/>
            <a:chExt cx="379337" cy="492759"/>
          </a:xfrm>
        </p:grpSpPr>
        <p:sp>
          <p:nvSpPr>
            <p:cNvPr id="38" name="Freeform: Shape 19">
              <a:extLst>
                <a:ext uri="{FF2B5EF4-FFF2-40B4-BE49-F238E27FC236}">
                  <a16:creationId xmlns:a16="http://schemas.microsoft.com/office/drawing/2014/main" id="{F0A33801-4D1C-23C8-8F9D-F5330C3A588B}"/>
                </a:ext>
              </a:extLst>
            </p:cNvPr>
            <p:cNvSpPr/>
            <p:nvPr/>
          </p:nvSpPr>
          <p:spPr>
            <a:xfrm>
              <a:off x="-445055" y="3291484"/>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9" name="Freeform: Shape 20">
              <a:extLst>
                <a:ext uri="{FF2B5EF4-FFF2-40B4-BE49-F238E27FC236}">
                  <a16:creationId xmlns:a16="http://schemas.microsoft.com/office/drawing/2014/main" id="{C10AA8A6-354F-89AC-03D6-D76432978648}"/>
                </a:ext>
              </a:extLst>
            </p:cNvPr>
            <p:cNvSpPr/>
            <p:nvPr/>
          </p:nvSpPr>
          <p:spPr>
            <a:xfrm>
              <a:off x="-396778" y="323838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0" name="Freeform: Shape 21">
              <a:extLst>
                <a:ext uri="{FF2B5EF4-FFF2-40B4-BE49-F238E27FC236}">
                  <a16:creationId xmlns:a16="http://schemas.microsoft.com/office/drawing/2014/main" id="{1658B82B-2C08-E392-BAF7-DC8C89F9F1EB}"/>
                </a:ext>
              </a:extLst>
            </p:cNvPr>
            <p:cNvSpPr/>
            <p:nvPr/>
          </p:nvSpPr>
          <p:spPr>
            <a:xfrm>
              <a:off x="-580230" y="3214241"/>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1" name="Freeform: Shape 22">
              <a:extLst>
                <a:ext uri="{FF2B5EF4-FFF2-40B4-BE49-F238E27FC236}">
                  <a16:creationId xmlns:a16="http://schemas.microsoft.com/office/drawing/2014/main" id="{378D339D-A66F-CA52-41E8-FD18FB3145A1}"/>
                </a:ext>
              </a:extLst>
            </p:cNvPr>
            <p:cNvSpPr/>
            <p:nvPr/>
          </p:nvSpPr>
          <p:spPr>
            <a:xfrm>
              <a:off x="-357738" y="331925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2" name="Freeform: Shape 23">
              <a:extLst>
                <a:ext uri="{FF2B5EF4-FFF2-40B4-BE49-F238E27FC236}">
                  <a16:creationId xmlns:a16="http://schemas.microsoft.com/office/drawing/2014/main" id="{3E8F795C-89E5-2D7F-18D2-492479ACA294}"/>
                </a:ext>
              </a:extLst>
            </p:cNvPr>
            <p:cNvSpPr/>
            <p:nvPr/>
          </p:nvSpPr>
          <p:spPr>
            <a:xfrm>
              <a:off x="-477958" y="334504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3" name="Freeform: Shape 24">
              <a:extLst>
                <a:ext uri="{FF2B5EF4-FFF2-40B4-BE49-F238E27FC236}">
                  <a16:creationId xmlns:a16="http://schemas.microsoft.com/office/drawing/2014/main" id="{DEB53E1F-688A-2996-77A0-9A198810A947}"/>
                </a:ext>
              </a:extLst>
            </p:cNvPr>
            <p:cNvSpPr/>
            <p:nvPr/>
          </p:nvSpPr>
          <p:spPr>
            <a:xfrm>
              <a:off x="-410206" y="334018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4" name="Freeform: Shape 25">
              <a:extLst>
                <a:ext uri="{FF2B5EF4-FFF2-40B4-BE49-F238E27FC236}">
                  <a16:creationId xmlns:a16="http://schemas.microsoft.com/office/drawing/2014/main" id="{AA44C723-9F61-6AD8-506F-373C34478E22}"/>
                </a:ext>
              </a:extLst>
            </p:cNvPr>
            <p:cNvSpPr/>
            <p:nvPr/>
          </p:nvSpPr>
          <p:spPr>
            <a:xfrm>
              <a:off x="-486099" y="3425809"/>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5" name="Freeform: Shape 26">
              <a:extLst>
                <a:ext uri="{FF2B5EF4-FFF2-40B4-BE49-F238E27FC236}">
                  <a16:creationId xmlns:a16="http://schemas.microsoft.com/office/drawing/2014/main" id="{5030163A-3F3C-3F5F-6B75-9EB019A6F110}"/>
                </a:ext>
              </a:extLst>
            </p:cNvPr>
            <p:cNvSpPr/>
            <p:nvPr/>
          </p:nvSpPr>
          <p:spPr>
            <a:xfrm>
              <a:off x="-539203" y="3377533"/>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6" name="Freeform: Shape 27">
              <a:extLst>
                <a:ext uri="{FF2B5EF4-FFF2-40B4-BE49-F238E27FC236}">
                  <a16:creationId xmlns:a16="http://schemas.microsoft.com/office/drawing/2014/main" id="{E1572B27-3B63-A692-30F3-44DC44F2A828}"/>
                </a:ext>
              </a:extLst>
            </p:cNvPr>
            <p:cNvSpPr/>
            <p:nvPr/>
          </p:nvSpPr>
          <p:spPr>
            <a:xfrm>
              <a:off x="-510762" y="328680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7" name="Freeform: Shape 28">
              <a:extLst>
                <a:ext uri="{FF2B5EF4-FFF2-40B4-BE49-F238E27FC236}">
                  <a16:creationId xmlns:a16="http://schemas.microsoft.com/office/drawing/2014/main" id="{E4B02D52-A6D3-DD2B-944F-24F840755302}"/>
                </a:ext>
              </a:extLst>
            </p:cNvPr>
            <p:cNvSpPr/>
            <p:nvPr/>
          </p:nvSpPr>
          <p:spPr>
            <a:xfrm>
              <a:off x="-439058" y="3365845"/>
              <a:ext cx="238165" cy="341155"/>
            </a:xfrm>
            <a:custGeom>
              <a:avLst/>
              <a:gdLst>
                <a:gd name="connsiteX0" fmla="*/ 4828 w 238164"/>
                <a:gd name="connsiteY0" fmla="*/ 327638 h 341155"/>
                <a:gd name="connsiteX1" fmla="*/ 4828 w 238164"/>
                <a:gd name="connsiteY1" fmla="*/ 13839 h 341155"/>
                <a:gd name="connsiteX2" fmla="*/ 13839 w 238164"/>
                <a:gd name="connsiteY2" fmla="*/ 4828 h 341155"/>
                <a:gd name="connsiteX3" fmla="*/ 158669 w 238164"/>
                <a:gd name="connsiteY3" fmla="*/ 4828 h 341155"/>
                <a:gd name="connsiteX4" fmla="*/ 235912 w 238164"/>
                <a:gd name="connsiteY4" fmla="*/ 82070 h 341155"/>
                <a:gd name="connsiteX5" fmla="*/ 235912 w 238164"/>
                <a:gd name="connsiteY5" fmla="*/ 327638 h 341155"/>
                <a:gd name="connsiteX6" fmla="*/ 226900 w 238164"/>
                <a:gd name="connsiteY6" fmla="*/ 336649 h 341155"/>
                <a:gd name="connsiteX7" fmla="*/ 13839 w 238164"/>
                <a:gd name="connsiteY7" fmla="*/ 336649 h 341155"/>
                <a:gd name="connsiteX8" fmla="*/ 4828 w 238164"/>
                <a:gd name="connsiteY8" fmla="*/ 327638 h 34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64" h="341155">
                  <a:moveTo>
                    <a:pt x="4828" y="327638"/>
                  </a:moveTo>
                  <a:lnTo>
                    <a:pt x="4828" y="13839"/>
                  </a:lnTo>
                  <a:cubicBezTo>
                    <a:pt x="4828" y="8690"/>
                    <a:pt x="9012" y="4828"/>
                    <a:pt x="13839" y="4828"/>
                  </a:cubicBezTo>
                  <a:lnTo>
                    <a:pt x="158669" y="4828"/>
                  </a:lnTo>
                  <a:lnTo>
                    <a:pt x="235912" y="82070"/>
                  </a:lnTo>
                  <a:lnTo>
                    <a:pt x="235912" y="327638"/>
                  </a:lnTo>
                  <a:cubicBezTo>
                    <a:pt x="235912" y="332787"/>
                    <a:pt x="231728" y="336649"/>
                    <a:pt x="226900" y="336649"/>
                  </a:cubicBezTo>
                  <a:lnTo>
                    <a:pt x="13839" y="336649"/>
                  </a:lnTo>
                  <a:cubicBezTo>
                    <a:pt x="9012" y="336649"/>
                    <a:pt x="4828" y="332465"/>
                    <a:pt x="4828" y="327638"/>
                  </a:cubicBezTo>
                  <a:close/>
                </a:path>
              </a:pathLst>
            </a:custGeom>
            <a:noFill/>
            <a:ln w="19050" cap="flat">
              <a:solidFill>
                <a:schemeClr val="tx1"/>
              </a:solidFill>
              <a:prstDash val="solid"/>
              <a:round/>
            </a:ln>
          </p:spPr>
          <p:txBody>
            <a:bodyPr rtlCol="0" anchor="ctr"/>
            <a:lstStyle/>
            <a:p>
              <a:endParaRPr lang="en-US" dirty="0"/>
            </a:p>
          </p:txBody>
        </p:sp>
        <p:sp>
          <p:nvSpPr>
            <p:cNvPr id="48" name="Freeform: Shape 29">
              <a:extLst>
                <a:ext uri="{FF2B5EF4-FFF2-40B4-BE49-F238E27FC236}">
                  <a16:creationId xmlns:a16="http://schemas.microsoft.com/office/drawing/2014/main" id="{F4225EA2-A818-69A9-0AC4-A0CF6DEB145A}"/>
                </a:ext>
              </a:extLst>
            </p:cNvPr>
            <p:cNvSpPr/>
            <p:nvPr/>
          </p:nvSpPr>
          <p:spPr>
            <a:xfrm>
              <a:off x="-284894" y="3365845"/>
              <a:ext cx="83680" cy="86898"/>
            </a:xfrm>
            <a:custGeom>
              <a:avLst/>
              <a:gdLst>
                <a:gd name="connsiteX0" fmla="*/ 4828 w 83679"/>
                <a:gd name="connsiteY0" fmla="*/ 82070 h 86898"/>
                <a:gd name="connsiteX1" fmla="*/ 81749 w 83679"/>
                <a:gd name="connsiteY1" fmla="*/ 82070 h 86898"/>
                <a:gd name="connsiteX2" fmla="*/ 4828 w 83679"/>
                <a:gd name="connsiteY2" fmla="*/ 4828 h 86898"/>
              </a:gdLst>
              <a:ahLst/>
              <a:cxnLst>
                <a:cxn ang="0">
                  <a:pos x="connsiteX0" y="connsiteY0"/>
                </a:cxn>
                <a:cxn ang="0">
                  <a:pos x="connsiteX1" y="connsiteY1"/>
                </a:cxn>
                <a:cxn ang="0">
                  <a:pos x="connsiteX2" y="connsiteY2"/>
                </a:cxn>
              </a:cxnLst>
              <a:rect l="l" t="t" r="r" b="b"/>
              <a:pathLst>
                <a:path w="83679" h="86898">
                  <a:moveTo>
                    <a:pt x="4828" y="82070"/>
                  </a:moveTo>
                  <a:lnTo>
                    <a:pt x="81749" y="82070"/>
                  </a:lnTo>
                  <a:lnTo>
                    <a:pt x="4828" y="4828"/>
                  </a:lnTo>
                  <a:close/>
                </a:path>
              </a:pathLst>
            </a:custGeom>
            <a:noFill/>
            <a:ln w="19050" cap="flat">
              <a:solidFill>
                <a:schemeClr val="tx1"/>
              </a:solidFill>
              <a:prstDash val="solid"/>
              <a:round/>
            </a:ln>
          </p:spPr>
          <p:txBody>
            <a:bodyPr rtlCol="0" anchor="ctr"/>
            <a:lstStyle/>
            <a:p>
              <a:endParaRPr lang="en-US" dirty="0"/>
            </a:p>
          </p:txBody>
        </p:sp>
        <p:sp>
          <p:nvSpPr>
            <p:cNvPr id="49" name="Freeform: Shape 30">
              <a:extLst>
                <a:ext uri="{FF2B5EF4-FFF2-40B4-BE49-F238E27FC236}">
                  <a16:creationId xmlns:a16="http://schemas.microsoft.com/office/drawing/2014/main" id="{476C78EF-1FC6-1D9C-A13A-70E7FE836BEA}"/>
                </a:ext>
              </a:extLst>
            </p:cNvPr>
            <p:cNvSpPr/>
            <p:nvPr/>
          </p:nvSpPr>
          <p:spPr>
            <a:xfrm>
              <a:off x="-337999" y="3550584"/>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0" name="Freeform: Shape 31">
              <a:extLst>
                <a:ext uri="{FF2B5EF4-FFF2-40B4-BE49-F238E27FC236}">
                  <a16:creationId xmlns:a16="http://schemas.microsoft.com/office/drawing/2014/main" id="{9076BC15-0052-294F-ED50-C8390C958B25}"/>
                </a:ext>
              </a:extLst>
            </p:cNvPr>
            <p:cNvSpPr/>
            <p:nvPr/>
          </p:nvSpPr>
          <p:spPr>
            <a:xfrm>
              <a:off x="-337999" y="3641022"/>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1" name="Freeform: Shape 35">
              <a:extLst>
                <a:ext uri="{FF2B5EF4-FFF2-40B4-BE49-F238E27FC236}">
                  <a16:creationId xmlns:a16="http://schemas.microsoft.com/office/drawing/2014/main" id="{7BEAF588-49B9-DC10-91AE-AD4BB8FA4BA9}"/>
                </a:ext>
              </a:extLst>
            </p:cNvPr>
            <p:cNvSpPr/>
            <p:nvPr/>
          </p:nvSpPr>
          <p:spPr>
            <a:xfrm>
              <a:off x="-337999" y="3507135"/>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2" name="Freeform: Shape 36">
              <a:extLst>
                <a:ext uri="{FF2B5EF4-FFF2-40B4-BE49-F238E27FC236}">
                  <a16:creationId xmlns:a16="http://schemas.microsoft.com/office/drawing/2014/main" id="{CF2C78AB-A7C6-7E96-92B2-CD7F21527BDA}"/>
                </a:ext>
              </a:extLst>
            </p:cNvPr>
            <p:cNvSpPr/>
            <p:nvPr/>
          </p:nvSpPr>
          <p:spPr>
            <a:xfrm>
              <a:off x="-337999" y="3597573"/>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3" name="Freeform: Shape 37">
              <a:extLst>
                <a:ext uri="{FF2B5EF4-FFF2-40B4-BE49-F238E27FC236}">
                  <a16:creationId xmlns:a16="http://schemas.microsoft.com/office/drawing/2014/main" id="{EFDF1DD5-B838-D0C7-F454-6F9E2F742E37}"/>
                </a:ext>
              </a:extLst>
            </p:cNvPr>
            <p:cNvSpPr/>
            <p:nvPr/>
          </p:nvSpPr>
          <p:spPr>
            <a:xfrm>
              <a:off x="-337999" y="3460146"/>
              <a:ext cx="38621" cy="9655"/>
            </a:xfrm>
            <a:custGeom>
              <a:avLst/>
              <a:gdLst>
                <a:gd name="connsiteX0" fmla="*/ 4828 w 38621"/>
                <a:gd name="connsiteY0" fmla="*/ 4828 h 9655"/>
                <a:gd name="connsiteX1" fmla="*/ 36368 w 38621"/>
                <a:gd name="connsiteY1" fmla="*/ 4828 h 9655"/>
              </a:gdLst>
              <a:ahLst/>
              <a:cxnLst>
                <a:cxn ang="0">
                  <a:pos x="connsiteX0" y="connsiteY0"/>
                </a:cxn>
                <a:cxn ang="0">
                  <a:pos x="connsiteX1" y="connsiteY1"/>
                </a:cxn>
              </a:cxnLst>
              <a:rect l="l" t="t" r="r" b="b"/>
              <a:pathLst>
                <a:path w="38621" h="9655">
                  <a:moveTo>
                    <a:pt x="4828" y="4828"/>
                  </a:moveTo>
                  <a:lnTo>
                    <a:pt x="36368" y="4828"/>
                  </a:lnTo>
                </a:path>
              </a:pathLst>
            </a:custGeom>
            <a:ln w="19050" cap="flat">
              <a:solidFill>
                <a:schemeClr val="tx1"/>
              </a:solidFill>
              <a:prstDash val="solid"/>
              <a:round/>
            </a:ln>
          </p:spPr>
          <p:txBody>
            <a:bodyPr rtlCol="0" anchor="ctr"/>
            <a:lstStyle/>
            <a:p>
              <a:endParaRPr lang="en-US" dirty="0"/>
            </a:p>
          </p:txBody>
        </p:sp>
        <p:sp>
          <p:nvSpPr>
            <p:cNvPr id="54" name="Freeform: Shape 38">
              <a:extLst>
                <a:ext uri="{FF2B5EF4-FFF2-40B4-BE49-F238E27FC236}">
                  <a16:creationId xmlns:a16="http://schemas.microsoft.com/office/drawing/2014/main" id="{3E81E1FA-BECD-6CDC-663E-D69A4AA954D4}"/>
                </a:ext>
              </a:extLst>
            </p:cNvPr>
            <p:cNvSpPr/>
            <p:nvPr/>
          </p:nvSpPr>
          <p:spPr>
            <a:xfrm>
              <a:off x="-405908" y="3443088"/>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6" name="Freeform: Shape 39">
              <a:extLst>
                <a:ext uri="{FF2B5EF4-FFF2-40B4-BE49-F238E27FC236}">
                  <a16:creationId xmlns:a16="http://schemas.microsoft.com/office/drawing/2014/main" id="{99130D88-3EA8-83DE-75F8-9D3E3123B328}"/>
                </a:ext>
              </a:extLst>
            </p:cNvPr>
            <p:cNvSpPr/>
            <p:nvPr/>
          </p:nvSpPr>
          <p:spPr>
            <a:xfrm>
              <a:off x="-405908" y="3621712"/>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7" name="Freeform: Shape 40">
              <a:extLst>
                <a:ext uri="{FF2B5EF4-FFF2-40B4-BE49-F238E27FC236}">
                  <a16:creationId xmlns:a16="http://schemas.microsoft.com/office/drawing/2014/main" id="{742EDA8C-E1A3-EE77-5AED-B4A8AB5228BD}"/>
                </a:ext>
              </a:extLst>
            </p:cNvPr>
            <p:cNvSpPr/>
            <p:nvPr/>
          </p:nvSpPr>
          <p:spPr>
            <a:xfrm>
              <a:off x="-398827" y="3532239"/>
              <a:ext cx="45058" cy="45058"/>
            </a:xfrm>
            <a:custGeom>
              <a:avLst/>
              <a:gdLst>
                <a:gd name="connsiteX0" fmla="*/ 4828 w 45058"/>
                <a:gd name="connsiteY0" fmla="*/ 4828 h 45058"/>
                <a:gd name="connsiteX1" fmla="*/ 40874 w 45058"/>
                <a:gd name="connsiteY1" fmla="*/ 40874 h 45058"/>
              </a:gdLst>
              <a:ahLst/>
              <a:cxnLst>
                <a:cxn ang="0">
                  <a:pos x="connsiteX0" y="connsiteY0"/>
                </a:cxn>
                <a:cxn ang="0">
                  <a:pos x="connsiteX1" y="connsiteY1"/>
                </a:cxn>
              </a:cxnLst>
              <a:rect l="l" t="t" r="r" b="b"/>
              <a:pathLst>
                <a:path w="45058" h="45058">
                  <a:moveTo>
                    <a:pt x="4828" y="4828"/>
                  </a:moveTo>
                  <a:lnTo>
                    <a:pt x="40874" y="40874"/>
                  </a:lnTo>
                </a:path>
              </a:pathLst>
            </a:custGeom>
            <a:ln w="19050" cap="flat">
              <a:solidFill>
                <a:schemeClr val="tx1"/>
              </a:solidFill>
              <a:prstDash val="solid"/>
              <a:round/>
            </a:ln>
          </p:spPr>
          <p:txBody>
            <a:bodyPr rtlCol="0" anchor="ctr"/>
            <a:lstStyle/>
            <a:p>
              <a:endParaRPr lang="en-US" dirty="0"/>
            </a:p>
          </p:txBody>
        </p:sp>
        <p:sp>
          <p:nvSpPr>
            <p:cNvPr id="68" name="Freeform: Shape 41">
              <a:extLst>
                <a:ext uri="{FF2B5EF4-FFF2-40B4-BE49-F238E27FC236}">
                  <a16:creationId xmlns:a16="http://schemas.microsoft.com/office/drawing/2014/main" id="{D459B4B1-B1CF-6F55-689B-1D842362A6B7}"/>
                </a:ext>
              </a:extLst>
            </p:cNvPr>
            <p:cNvSpPr/>
            <p:nvPr/>
          </p:nvSpPr>
          <p:spPr>
            <a:xfrm>
              <a:off x="-398827" y="3532239"/>
              <a:ext cx="45058" cy="45058"/>
            </a:xfrm>
            <a:custGeom>
              <a:avLst/>
              <a:gdLst>
                <a:gd name="connsiteX0" fmla="*/ 40874 w 45058"/>
                <a:gd name="connsiteY0" fmla="*/ 4828 h 45058"/>
                <a:gd name="connsiteX1" fmla="*/ 4828 w 45058"/>
                <a:gd name="connsiteY1" fmla="*/ 41196 h 45058"/>
              </a:gdLst>
              <a:ahLst/>
              <a:cxnLst>
                <a:cxn ang="0">
                  <a:pos x="connsiteX0" y="connsiteY0"/>
                </a:cxn>
                <a:cxn ang="0">
                  <a:pos x="connsiteX1" y="connsiteY1"/>
                </a:cxn>
              </a:cxnLst>
              <a:rect l="l" t="t" r="r" b="b"/>
              <a:pathLst>
                <a:path w="45058" h="45058">
                  <a:moveTo>
                    <a:pt x="40874" y="4828"/>
                  </a:moveTo>
                  <a:lnTo>
                    <a:pt x="4828" y="41196"/>
                  </a:lnTo>
                </a:path>
              </a:pathLst>
            </a:custGeom>
            <a:ln w="19050" cap="flat">
              <a:solidFill>
                <a:schemeClr val="tx1"/>
              </a:solidFill>
              <a:prstDash val="solid"/>
              <a:round/>
            </a:ln>
          </p:spPr>
          <p:txBody>
            <a:bodyPr rtlCol="0" anchor="ctr"/>
            <a:lstStyle/>
            <a:p>
              <a:endParaRPr lang="en-US" dirty="0"/>
            </a:p>
          </p:txBody>
        </p:sp>
      </p:grpSp>
    </p:spTree>
    <p:extLst>
      <p:ext uri="{BB962C8B-B14F-4D97-AF65-F5344CB8AC3E}">
        <p14:creationId xmlns:p14="http://schemas.microsoft.com/office/powerpoint/2010/main" val="264678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35" presetClass="path" presetSubtype="0" decel="100000" fill="hold" nodeType="withEffect">
                                  <p:stCondLst>
                                    <p:cond delay="200"/>
                                  </p:stCondLst>
                                  <p:childTnLst>
                                    <p:animMotion origin="layout" path="M 3.22917E-6 3.64198E-6 L 3.22917E-6 0.01504 " pathEditMode="relative" rAng="0" ptsTypes="AA">
                                      <p:cBhvr>
                                        <p:cTn id="9" dur="500" spd="-100000" fill="hold"/>
                                        <p:tgtEl>
                                          <p:spTgt spid="37"/>
                                        </p:tgtEl>
                                        <p:attrNameLst>
                                          <p:attrName>ppt_x</p:attrName>
                                          <p:attrName>ppt_y</p:attrName>
                                        </p:attrNameLst>
                                      </p:cBhvr>
                                      <p:rCtr x="0" y="7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C94641-D8F7-6948-9659-B8972E9AC8AD}"/>
              </a:ext>
            </a:extLst>
          </p:cNvPr>
          <p:cNvSpPr/>
          <p:nvPr/>
        </p:nvSpPr>
        <p:spPr>
          <a:xfrm>
            <a:off x="1830887" y="2785756"/>
            <a:ext cx="6942976" cy="2419301"/>
          </a:xfrm>
          <a:prstGeom prst="rect">
            <a:avLst/>
          </a:prstGeom>
          <a:gradFill>
            <a:gsLst>
              <a:gs pos="0">
                <a:schemeClr val="accent1">
                  <a:lumMod val="60000"/>
                  <a:lumOff val="40000"/>
                </a:schemeClr>
              </a:gs>
              <a:gs pos="38000">
                <a:schemeClr val="accent1">
                  <a:lumMod val="40000"/>
                  <a:lumOff val="60000"/>
                </a:schemeClr>
              </a:gs>
              <a:gs pos="70000">
                <a:schemeClr val="accent6">
                  <a:lumMod val="40000"/>
                  <a:lumOff val="60000"/>
                </a:schemeClr>
              </a:gs>
              <a:gs pos="100000">
                <a:schemeClr val="accent6">
                  <a:lumMod val="60000"/>
                  <a:lumOff val="4000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vert="vert" rtlCol="0" anchor="t"/>
          <a:lstStyle/>
          <a:p>
            <a:pPr algn="ctr"/>
            <a:r>
              <a:rPr lang="en-US" sz="1200" b="1" dirty="0">
                <a:solidFill>
                  <a:schemeClr val="tx1"/>
                </a:solidFill>
              </a:rPr>
              <a:t>Pre-Mobilize EBA</a:t>
            </a:r>
          </a:p>
        </p:txBody>
      </p:sp>
      <p:sp>
        <p:nvSpPr>
          <p:cNvPr id="2" name="Title 1"/>
          <p:cNvSpPr>
            <a:spLocks noGrp="1"/>
          </p:cNvSpPr>
          <p:nvPr>
            <p:ph type="title" idx="4294967295"/>
          </p:nvPr>
        </p:nvSpPr>
        <p:spPr>
          <a:xfrm>
            <a:off x="647700" y="198438"/>
            <a:ext cx="13982700" cy="1079500"/>
          </a:xfrm>
        </p:spPr>
        <p:txBody>
          <a:bodyPr>
            <a:normAutofit/>
          </a:bodyPr>
          <a:lstStyle/>
          <a:p>
            <a:r>
              <a:rPr lang="en-US" dirty="0"/>
              <a:t>Post-MRA Cloud Migration Journey – Assess Phase</a:t>
            </a:r>
          </a:p>
        </p:txBody>
      </p:sp>
      <p:pic>
        <p:nvPicPr>
          <p:cNvPr id="9" name="Graphic 8">
            <a:extLst>
              <a:ext uri="{FF2B5EF4-FFF2-40B4-BE49-F238E27FC236}">
                <a16:creationId xmlns:a16="http://schemas.microsoft.com/office/drawing/2014/main" id="{9BA904E6-735B-E64B-87D4-CA2C84D69E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75396" y="0"/>
            <a:ext cx="1393371" cy="1393371"/>
          </a:xfrm>
          <a:prstGeom prst="rect">
            <a:avLst/>
          </a:prstGeom>
        </p:spPr>
      </p:pic>
      <p:sp>
        <p:nvSpPr>
          <p:cNvPr id="10" name="TextBox 9">
            <a:extLst>
              <a:ext uri="{FF2B5EF4-FFF2-40B4-BE49-F238E27FC236}">
                <a16:creationId xmlns:a16="http://schemas.microsoft.com/office/drawing/2014/main" id="{89D77E34-BF12-F945-9B5B-EFB6D8794913}"/>
              </a:ext>
            </a:extLst>
          </p:cNvPr>
          <p:cNvSpPr txBox="1"/>
          <p:nvPr/>
        </p:nvSpPr>
        <p:spPr>
          <a:xfrm>
            <a:off x="456752" y="993333"/>
            <a:ext cx="12846293"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Create and sustain momentum with accelerators that address critical path items, catalyze your team in to action and delivery capability quickly</a:t>
            </a:r>
          </a:p>
        </p:txBody>
      </p:sp>
      <p:graphicFrame>
        <p:nvGraphicFramePr>
          <p:cNvPr id="7" name="Table 3">
            <a:extLst>
              <a:ext uri="{FF2B5EF4-FFF2-40B4-BE49-F238E27FC236}">
                <a16:creationId xmlns:a16="http://schemas.microsoft.com/office/drawing/2014/main" id="{41AA6982-9609-3C43-B6E4-A8AB37D1DE04}"/>
              </a:ext>
            </a:extLst>
          </p:cNvPr>
          <p:cNvGraphicFramePr>
            <a:graphicFrameLocks noGrp="1"/>
          </p:cNvGraphicFramePr>
          <p:nvPr/>
        </p:nvGraphicFramePr>
        <p:xfrm>
          <a:off x="1832158" y="1641622"/>
          <a:ext cx="6522979" cy="5878956"/>
        </p:xfrm>
        <a:graphic>
          <a:graphicData uri="http://schemas.openxmlformats.org/drawingml/2006/table">
            <a:tbl>
              <a:tblPr firstRow="1" firstCol="1" bandRow="1">
                <a:tableStyleId>{5940675A-B579-460E-94D1-54222C63F5DA}</a:tableStyleId>
              </a:tblPr>
              <a:tblGrid>
                <a:gridCol w="1627782">
                  <a:extLst>
                    <a:ext uri="{9D8B030D-6E8A-4147-A177-3AD203B41FA5}">
                      <a16:colId xmlns:a16="http://schemas.microsoft.com/office/drawing/2014/main" val="1345181805"/>
                    </a:ext>
                  </a:extLst>
                </a:gridCol>
                <a:gridCol w="1641423">
                  <a:extLst>
                    <a:ext uri="{9D8B030D-6E8A-4147-A177-3AD203B41FA5}">
                      <a16:colId xmlns:a16="http://schemas.microsoft.com/office/drawing/2014/main" val="3842254298"/>
                    </a:ext>
                  </a:extLst>
                </a:gridCol>
                <a:gridCol w="1633928">
                  <a:extLst>
                    <a:ext uri="{9D8B030D-6E8A-4147-A177-3AD203B41FA5}">
                      <a16:colId xmlns:a16="http://schemas.microsoft.com/office/drawing/2014/main" val="1484075571"/>
                    </a:ext>
                  </a:extLst>
                </a:gridCol>
                <a:gridCol w="1619846">
                  <a:extLst>
                    <a:ext uri="{9D8B030D-6E8A-4147-A177-3AD203B41FA5}">
                      <a16:colId xmlns:a16="http://schemas.microsoft.com/office/drawing/2014/main" val="255111226"/>
                    </a:ext>
                  </a:extLst>
                </a:gridCol>
              </a:tblGrid>
              <a:tr h="34203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927044"/>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764479"/>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670356"/>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4186102"/>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54133"/>
                  </a:ext>
                </a:extLst>
              </a:tr>
              <a:tr h="60124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2211527"/>
                  </a:ext>
                </a:extLst>
              </a:tr>
              <a:tr h="63267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070308"/>
                  </a:ext>
                </a:extLst>
              </a:tr>
              <a:tr h="61783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906302"/>
                  </a:ext>
                </a:extLst>
              </a:tr>
              <a:tr h="57829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872097"/>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4042632"/>
                  </a:ext>
                </a:extLst>
              </a:tr>
            </a:tbl>
          </a:graphicData>
        </a:graphic>
      </p:graphicFrame>
      <p:sp>
        <p:nvSpPr>
          <p:cNvPr id="13" name="Rectangle 12">
            <a:extLst>
              <a:ext uri="{FF2B5EF4-FFF2-40B4-BE49-F238E27FC236}">
                <a16:creationId xmlns:a16="http://schemas.microsoft.com/office/drawing/2014/main" id="{25657F0F-3A8C-D54A-9C16-A145A2869120}"/>
              </a:ext>
            </a:extLst>
          </p:cNvPr>
          <p:cNvSpPr/>
          <p:nvPr/>
        </p:nvSpPr>
        <p:spPr>
          <a:xfrm>
            <a:off x="1241780" y="7061732"/>
            <a:ext cx="635110" cy="307777"/>
          </a:xfrm>
          <a:prstGeom prst="rect">
            <a:avLst/>
          </a:prstGeom>
        </p:spPr>
        <p:txBody>
          <a:bodyPr wrap="none">
            <a:spAutoFit/>
          </a:bodyPr>
          <a:lstStyle/>
          <a:p>
            <a:r>
              <a:rPr lang="en-US" sz="1400" dirty="0">
                <a:solidFill>
                  <a:srgbClr val="F8F8F8"/>
                </a:solidFill>
              </a:rPr>
              <a:t>Week</a:t>
            </a:r>
            <a:endParaRPr lang="en-US" sz="1400" dirty="0"/>
          </a:p>
        </p:txBody>
      </p:sp>
      <p:sp>
        <p:nvSpPr>
          <p:cNvPr id="27" name="Rounded Rectangle">
            <a:extLst>
              <a:ext uri="{FF2B5EF4-FFF2-40B4-BE49-F238E27FC236}">
                <a16:creationId xmlns:a16="http://schemas.microsoft.com/office/drawing/2014/main" id="{A4BE4650-8B7B-6E44-B6F9-B5B6E1EACAC6}"/>
              </a:ext>
            </a:extLst>
          </p:cNvPr>
          <p:cNvSpPr/>
          <p:nvPr/>
        </p:nvSpPr>
        <p:spPr>
          <a:xfrm>
            <a:off x="1910218" y="2243666"/>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Identify single threaded leader</a:t>
            </a:r>
            <a:endParaRPr sz="1100" kern="1200" dirty="0">
              <a:solidFill>
                <a:schemeClr val="bg1"/>
              </a:solidFill>
              <a:sym typeface="Helvetica Neue Medium"/>
            </a:endParaRPr>
          </a:p>
        </p:txBody>
      </p:sp>
      <p:sp>
        <p:nvSpPr>
          <p:cNvPr id="56" name="Rounded Rectangle">
            <a:extLst>
              <a:ext uri="{FF2B5EF4-FFF2-40B4-BE49-F238E27FC236}">
                <a16:creationId xmlns:a16="http://schemas.microsoft.com/office/drawing/2014/main" id="{A96C9B8E-8F07-B147-81A7-A6AB68DF5283}"/>
              </a:ext>
            </a:extLst>
          </p:cNvPr>
          <p:cNvSpPr/>
          <p:nvPr/>
        </p:nvSpPr>
        <p:spPr>
          <a:xfrm>
            <a:off x="6804556" y="2230318"/>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Document CCOE roles &amp; responsibilities</a:t>
            </a:r>
            <a:endParaRPr sz="1100" kern="1200" dirty="0">
              <a:solidFill>
                <a:schemeClr val="bg1"/>
              </a:solidFill>
              <a:sym typeface="Helvetica Neue Medium"/>
            </a:endParaRPr>
          </a:p>
        </p:txBody>
      </p:sp>
      <p:sp>
        <p:nvSpPr>
          <p:cNvPr id="57" name="Rounded Rectangle">
            <a:extLst>
              <a:ext uri="{FF2B5EF4-FFF2-40B4-BE49-F238E27FC236}">
                <a16:creationId xmlns:a16="http://schemas.microsoft.com/office/drawing/2014/main" id="{BD6F9ECB-EE30-764B-9F0A-54606F39C4F5}"/>
              </a:ext>
            </a:extLst>
          </p:cNvPr>
          <p:cNvSpPr/>
          <p:nvPr/>
        </p:nvSpPr>
        <p:spPr>
          <a:xfrm>
            <a:off x="2663889" y="3472184"/>
            <a:ext cx="729571" cy="1651789"/>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Establish platform requirements</a:t>
            </a:r>
            <a:endParaRPr sz="1000" kern="1200" dirty="0">
              <a:solidFill>
                <a:schemeClr val="bg1"/>
              </a:solidFill>
              <a:sym typeface="Helvetica Neue Medium"/>
            </a:endParaRPr>
          </a:p>
        </p:txBody>
      </p:sp>
      <p:sp>
        <p:nvSpPr>
          <p:cNvPr id="61" name="Rounded Rectangle">
            <a:extLst>
              <a:ext uri="{FF2B5EF4-FFF2-40B4-BE49-F238E27FC236}">
                <a16:creationId xmlns:a16="http://schemas.microsoft.com/office/drawing/2014/main" id="{BD64224E-3DE1-2449-9BCB-83C039F98034}"/>
              </a:ext>
            </a:extLst>
          </p:cNvPr>
          <p:cNvSpPr/>
          <p:nvPr/>
        </p:nvSpPr>
        <p:spPr>
          <a:xfrm>
            <a:off x="1886161" y="4680851"/>
            <a:ext cx="704837" cy="442153"/>
          </a:xfrm>
          <a:prstGeom prst="roundRect">
            <a:avLst>
              <a:gd name="adj" fmla="val 22203"/>
            </a:avLst>
          </a:prstGeom>
          <a:solidFill>
            <a:schemeClr val="accent6"/>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Evaluate AWS AMS</a:t>
            </a:r>
            <a:endParaRPr sz="1000" kern="1200" dirty="0">
              <a:solidFill>
                <a:schemeClr val="bg1"/>
              </a:solidFill>
              <a:latin typeface="+mn-lt"/>
              <a:ea typeface="+mn-ea"/>
              <a:cs typeface="+mn-cs"/>
              <a:sym typeface="Helvetica Neue Medium"/>
            </a:endParaRPr>
          </a:p>
        </p:txBody>
      </p:sp>
      <p:sp>
        <p:nvSpPr>
          <p:cNvPr id="62" name="Rounded Rectangle">
            <a:extLst>
              <a:ext uri="{FF2B5EF4-FFF2-40B4-BE49-F238E27FC236}">
                <a16:creationId xmlns:a16="http://schemas.microsoft.com/office/drawing/2014/main" id="{FBCFAE5A-1A9D-B540-93AF-302518439CC9}"/>
              </a:ext>
            </a:extLst>
          </p:cNvPr>
          <p:cNvSpPr/>
          <p:nvPr/>
        </p:nvSpPr>
        <p:spPr>
          <a:xfrm>
            <a:off x="2652320" y="6512022"/>
            <a:ext cx="1461684"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Install an automated discovery tool</a:t>
            </a:r>
            <a:endParaRPr sz="1100" kern="1200" dirty="0">
              <a:solidFill>
                <a:schemeClr val="bg1"/>
              </a:solidFill>
              <a:latin typeface="+mn-lt"/>
              <a:ea typeface="+mn-ea"/>
              <a:cs typeface="+mn-cs"/>
              <a:sym typeface="Helvetica Neue Medium"/>
            </a:endParaRPr>
          </a:p>
        </p:txBody>
      </p:sp>
      <p:sp>
        <p:nvSpPr>
          <p:cNvPr id="63" name="Rounded Rectangle">
            <a:extLst>
              <a:ext uri="{FF2B5EF4-FFF2-40B4-BE49-F238E27FC236}">
                <a16:creationId xmlns:a16="http://schemas.microsoft.com/office/drawing/2014/main" id="{9A488F6E-6102-6E47-9C21-0CEF086FF06A}"/>
              </a:ext>
            </a:extLst>
          </p:cNvPr>
          <p:cNvSpPr/>
          <p:nvPr/>
        </p:nvSpPr>
        <p:spPr>
          <a:xfrm>
            <a:off x="1921478" y="5913058"/>
            <a:ext cx="1461684"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Determine Delivery Model</a:t>
            </a:r>
            <a:endParaRPr sz="1200" kern="1200" dirty="0">
              <a:solidFill>
                <a:schemeClr val="bg1"/>
              </a:solidFill>
              <a:sym typeface="Helvetica Neue Medium"/>
            </a:endParaRPr>
          </a:p>
        </p:txBody>
      </p:sp>
      <p:sp>
        <p:nvSpPr>
          <p:cNvPr id="65" name="Rounded Rectangle">
            <a:extLst>
              <a:ext uri="{FF2B5EF4-FFF2-40B4-BE49-F238E27FC236}">
                <a16:creationId xmlns:a16="http://schemas.microsoft.com/office/drawing/2014/main" id="{85A7548B-FD7D-3C4D-8D69-C2EBF3635B24}"/>
              </a:ext>
            </a:extLst>
          </p:cNvPr>
          <p:cNvSpPr/>
          <p:nvPr/>
        </p:nvSpPr>
        <p:spPr>
          <a:xfrm>
            <a:off x="1926360" y="7074077"/>
            <a:ext cx="4745286"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b="1" dirty="0">
                <a:solidFill>
                  <a:schemeClr val="bg1"/>
                </a:solidFill>
                <a:sym typeface="Helvetica Neue Medium"/>
              </a:rPr>
              <a:t>Rapid Migration Business Case</a:t>
            </a:r>
            <a:endParaRPr sz="1200" kern="1200" dirty="0">
              <a:solidFill>
                <a:schemeClr val="bg1"/>
              </a:solidFill>
              <a:sym typeface="Helvetica Neue Medium"/>
            </a:endParaRPr>
          </a:p>
        </p:txBody>
      </p:sp>
      <p:pic>
        <p:nvPicPr>
          <p:cNvPr id="28" name="Picture 27">
            <a:extLst>
              <a:ext uri="{FF2B5EF4-FFF2-40B4-BE49-F238E27FC236}">
                <a16:creationId xmlns:a16="http://schemas.microsoft.com/office/drawing/2014/main" id="{53DC45F3-A7C6-9C4B-AAA0-B1727C5967F0}"/>
              </a:ext>
            </a:extLst>
          </p:cNvPr>
          <p:cNvPicPr>
            <a:picLocks noChangeAspect="1"/>
          </p:cNvPicPr>
          <p:nvPr/>
        </p:nvPicPr>
        <p:blipFill>
          <a:blip r:embed="rId5"/>
          <a:stretch>
            <a:fillRect/>
          </a:stretch>
        </p:blipFill>
        <p:spPr>
          <a:xfrm>
            <a:off x="1728085" y="1356793"/>
            <a:ext cx="210467" cy="290104"/>
          </a:xfrm>
          <a:prstGeom prst="rect">
            <a:avLst/>
          </a:prstGeom>
        </p:spPr>
      </p:pic>
      <p:sp>
        <p:nvSpPr>
          <p:cNvPr id="29" name="Rounded Rectangle">
            <a:extLst>
              <a:ext uri="{FF2B5EF4-FFF2-40B4-BE49-F238E27FC236}">
                <a16:creationId xmlns:a16="http://schemas.microsoft.com/office/drawing/2014/main" id="{E466EE85-6AB1-1244-8BD5-802D09704FF7}"/>
              </a:ext>
            </a:extLst>
          </p:cNvPr>
          <p:cNvSpPr/>
          <p:nvPr/>
        </p:nvSpPr>
        <p:spPr>
          <a:xfrm>
            <a:off x="1866160" y="1676281"/>
            <a:ext cx="155770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1</a:t>
            </a:r>
            <a:endParaRPr sz="900" kern="1200" dirty="0">
              <a:solidFill>
                <a:srgbClr val="000000"/>
              </a:solidFill>
              <a:latin typeface="+mn-lt"/>
              <a:ea typeface="+mn-ea"/>
              <a:cs typeface="+mn-cs"/>
              <a:sym typeface="Helvetica Neue Medium"/>
            </a:endParaRPr>
          </a:p>
        </p:txBody>
      </p:sp>
      <p:sp>
        <p:nvSpPr>
          <p:cNvPr id="30" name="Rounded Rectangle">
            <a:extLst>
              <a:ext uri="{FF2B5EF4-FFF2-40B4-BE49-F238E27FC236}">
                <a16:creationId xmlns:a16="http://schemas.microsoft.com/office/drawing/2014/main" id="{25F7F7AE-CC62-CA48-BE2F-41817EA8B560}"/>
              </a:ext>
            </a:extLst>
          </p:cNvPr>
          <p:cNvSpPr/>
          <p:nvPr/>
        </p:nvSpPr>
        <p:spPr>
          <a:xfrm>
            <a:off x="3499984" y="1683766"/>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2</a:t>
            </a:r>
            <a:endParaRPr sz="900" kern="1200" dirty="0">
              <a:solidFill>
                <a:srgbClr val="000000"/>
              </a:solidFill>
              <a:latin typeface="+mn-lt"/>
              <a:ea typeface="+mn-ea"/>
              <a:cs typeface="+mn-cs"/>
              <a:sym typeface="Helvetica Neue Medium"/>
            </a:endParaRPr>
          </a:p>
        </p:txBody>
      </p:sp>
      <p:sp>
        <p:nvSpPr>
          <p:cNvPr id="31" name="Rounded Rectangle">
            <a:extLst>
              <a:ext uri="{FF2B5EF4-FFF2-40B4-BE49-F238E27FC236}">
                <a16:creationId xmlns:a16="http://schemas.microsoft.com/office/drawing/2014/main" id="{4BA315B1-BA50-014C-A700-5C315B83208C}"/>
              </a:ext>
            </a:extLst>
          </p:cNvPr>
          <p:cNvSpPr/>
          <p:nvPr/>
        </p:nvSpPr>
        <p:spPr>
          <a:xfrm>
            <a:off x="5141081" y="1687629"/>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3</a:t>
            </a:r>
            <a:endParaRPr sz="900" kern="1200" dirty="0">
              <a:solidFill>
                <a:srgbClr val="000000"/>
              </a:solidFill>
              <a:latin typeface="+mn-lt"/>
              <a:ea typeface="+mn-ea"/>
              <a:cs typeface="+mn-cs"/>
              <a:sym typeface="Helvetica Neue Medium"/>
            </a:endParaRPr>
          </a:p>
        </p:txBody>
      </p:sp>
      <p:sp>
        <p:nvSpPr>
          <p:cNvPr id="32" name="Rounded Rectangle">
            <a:extLst>
              <a:ext uri="{FF2B5EF4-FFF2-40B4-BE49-F238E27FC236}">
                <a16:creationId xmlns:a16="http://schemas.microsoft.com/office/drawing/2014/main" id="{3BA0C5BA-87A8-0E49-8E49-14235C81C415}"/>
              </a:ext>
            </a:extLst>
          </p:cNvPr>
          <p:cNvSpPr/>
          <p:nvPr/>
        </p:nvSpPr>
        <p:spPr>
          <a:xfrm>
            <a:off x="6756549" y="1676281"/>
            <a:ext cx="1557698"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4</a:t>
            </a:r>
            <a:endParaRPr sz="900" kern="1200" dirty="0">
              <a:solidFill>
                <a:srgbClr val="000000"/>
              </a:solidFill>
              <a:latin typeface="+mn-lt"/>
              <a:ea typeface="+mn-ea"/>
              <a:cs typeface="+mn-cs"/>
              <a:sym typeface="Helvetica Neue Medium"/>
            </a:endParaRPr>
          </a:p>
        </p:txBody>
      </p:sp>
      <p:sp>
        <p:nvSpPr>
          <p:cNvPr id="34" name="Rounded Rectangle">
            <a:extLst>
              <a:ext uri="{FF2B5EF4-FFF2-40B4-BE49-F238E27FC236}">
                <a16:creationId xmlns:a16="http://schemas.microsoft.com/office/drawing/2014/main" id="{365B6D16-774E-2C4E-96F7-E8037374005D}"/>
              </a:ext>
            </a:extLst>
          </p:cNvPr>
          <p:cNvSpPr/>
          <p:nvPr/>
        </p:nvSpPr>
        <p:spPr>
          <a:xfrm>
            <a:off x="6804556" y="7074077"/>
            <a:ext cx="1461684"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Share Initial Business Case</a:t>
            </a:r>
            <a:endParaRPr sz="1200" kern="1200" dirty="0">
              <a:solidFill>
                <a:schemeClr val="bg1"/>
              </a:solidFill>
              <a:sym typeface="Helvetica Neue Medium"/>
            </a:endParaRPr>
          </a:p>
        </p:txBody>
      </p:sp>
      <p:sp>
        <p:nvSpPr>
          <p:cNvPr id="35" name="Rounded Rectangle">
            <a:extLst>
              <a:ext uri="{FF2B5EF4-FFF2-40B4-BE49-F238E27FC236}">
                <a16:creationId xmlns:a16="http://schemas.microsoft.com/office/drawing/2014/main" id="{675E93FA-ACB1-014A-80AE-632C0535CC4D}"/>
              </a:ext>
            </a:extLst>
          </p:cNvPr>
          <p:cNvSpPr/>
          <p:nvPr/>
        </p:nvSpPr>
        <p:spPr>
          <a:xfrm>
            <a:off x="3563040" y="2239548"/>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b="1" dirty="0">
                <a:solidFill>
                  <a:schemeClr val="bg1"/>
                </a:solidFill>
                <a:sym typeface="Helvetica Neue Medium"/>
              </a:rPr>
              <a:t>CCOE Foundations</a:t>
            </a:r>
          </a:p>
        </p:txBody>
      </p:sp>
      <p:sp>
        <p:nvSpPr>
          <p:cNvPr id="36" name="Rounded Rectangle">
            <a:extLst>
              <a:ext uri="{FF2B5EF4-FFF2-40B4-BE49-F238E27FC236}">
                <a16:creationId xmlns:a16="http://schemas.microsoft.com/office/drawing/2014/main" id="{B459A012-BC81-8245-950C-4039F1A55DF9}"/>
              </a:ext>
            </a:extLst>
          </p:cNvPr>
          <p:cNvSpPr/>
          <p:nvPr/>
        </p:nvSpPr>
        <p:spPr>
          <a:xfrm>
            <a:off x="5209962" y="2235856"/>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chemeClr val="bg1"/>
                </a:solidFill>
                <a:sym typeface="Helvetica Neue Medium"/>
              </a:rPr>
              <a:t>Engage the AWS Training team for a learning needs assessment</a:t>
            </a:r>
            <a:endParaRPr sz="900" kern="1200" dirty="0">
              <a:solidFill>
                <a:schemeClr val="bg1"/>
              </a:solidFill>
              <a:sym typeface="Helvetica Neue Medium"/>
            </a:endParaRPr>
          </a:p>
        </p:txBody>
      </p:sp>
      <p:pic>
        <p:nvPicPr>
          <p:cNvPr id="37" name="Picture 36">
            <a:extLst>
              <a:ext uri="{FF2B5EF4-FFF2-40B4-BE49-F238E27FC236}">
                <a16:creationId xmlns:a16="http://schemas.microsoft.com/office/drawing/2014/main" id="{A9D69B28-A2B8-F147-96CA-58013AD0F11C}"/>
              </a:ext>
            </a:extLst>
          </p:cNvPr>
          <p:cNvPicPr>
            <a:picLocks noChangeAspect="1"/>
          </p:cNvPicPr>
          <p:nvPr/>
        </p:nvPicPr>
        <p:blipFill>
          <a:blip r:embed="rId5"/>
          <a:stretch>
            <a:fillRect/>
          </a:stretch>
        </p:blipFill>
        <p:spPr>
          <a:xfrm>
            <a:off x="3350096" y="1351520"/>
            <a:ext cx="210467" cy="290104"/>
          </a:xfrm>
          <a:prstGeom prst="rect">
            <a:avLst/>
          </a:prstGeom>
        </p:spPr>
      </p:pic>
      <p:pic>
        <p:nvPicPr>
          <p:cNvPr id="38" name="Picture 37">
            <a:extLst>
              <a:ext uri="{FF2B5EF4-FFF2-40B4-BE49-F238E27FC236}">
                <a16:creationId xmlns:a16="http://schemas.microsoft.com/office/drawing/2014/main" id="{62507B8F-44F2-6C4E-B342-8E088BDBDDFE}"/>
              </a:ext>
            </a:extLst>
          </p:cNvPr>
          <p:cNvPicPr>
            <a:picLocks noChangeAspect="1"/>
          </p:cNvPicPr>
          <p:nvPr/>
        </p:nvPicPr>
        <p:blipFill>
          <a:blip r:embed="rId5"/>
          <a:stretch>
            <a:fillRect/>
          </a:stretch>
        </p:blipFill>
        <p:spPr>
          <a:xfrm>
            <a:off x="4988415" y="1375333"/>
            <a:ext cx="210467" cy="290104"/>
          </a:xfrm>
          <a:prstGeom prst="rect">
            <a:avLst/>
          </a:prstGeom>
        </p:spPr>
      </p:pic>
      <p:pic>
        <p:nvPicPr>
          <p:cNvPr id="39" name="Picture 38">
            <a:extLst>
              <a:ext uri="{FF2B5EF4-FFF2-40B4-BE49-F238E27FC236}">
                <a16:creationId xmlns:a16="http://schemas.microsoft.com/office/drawing/2014/main" id="{BB97CEA6-7510-AB44-937F-2B7050A89CEA}"/>
              </a:ext>
            </a:extLst>
          </p:cNvPr>
          <p:cNvPicPr>
            <a:picLocks noChangeAspect="1"/>
          </p:cNvPicPr>
          <p:nvPr/>
        </p:nvPicPr>
        <p:blipFill>
          <a:blip r:embed="rId5"/>
          <a:stretch>
            <a:fillRect/>
          </a:stretch>
        </p:blipFill>
        <p:spPr>
          <a:xfrm>
            <a:off x="6622001" y="1370060"/>
            <a:ext cx="210467" cy="290104"/>
          </a:xfrm>
          <a:prstGeom prst="rect">
            <a:avLst/>
          </a:prstGeom>
        </p:spPr>
      </p:pic>
      <p:pic>
        <p:nvPicPr>
          <p:cNvPr id="40" name="Picture 39">
            <a:extLst>
              <a:ext uri="{FF2B5EF4-FFF2-40B4-BE49-F238E27FC236}">
                <a16:creationId xmlns:a16="http://schemas.microsoft.com/office/drawing/2014/main" id="{BC72A180-2947-9E4D-BC18-20F833BCD527}"/>
              </a:ext>
            </a:extLst>
          </p:cNvPr>
          <p:cNvPicPr>
            <a:picLocks noChangeAspect="1"/>
          </p:cNvPicPr>
          <p:nvPr/>
        </p:nvPicPr>
        <p:blipFill>
          <a:blip r:embed="rId5"/>
          <a:stretch>
            <a:fillRect/>
          </a:stretch>
        </p:blipFill>
        <p:spPr>
          <a:xfrm>
            <a:off x="8253625" y="1375333"/>
            <a:ext cx="210467" cy="290104"/>
          </a:xfrm>
          <a:prstGeom prst="rect">
            <a:avLst/>
          </a:prstGeom>
        </p:spPr>
      </p:pic>
      <p:sp>
        <p:nvSpPr>
          <p:cNvPr id="41" name="TextBox 40">
            <a:extLst>
              <a:ext uri="{FF2B5EF4-FFF2-40B4-BE49-F238E27FC236}">
                <a16:creationId xmlns:a16="http://schemas.microsoft.com/office/drawing/2014/main" id="{4A694DED-0DB3-954B-9277-8F2B3B541B8B}"/>
              </a:ext>
            </a:extLst>
          </p:cNvPr>
          <p:cNvSpPr txBox="1"/>
          <p:nvPr/>
        </p:nvSpPr>
        <p:spPr>
          <a:xfrm>
            <a:off x="456752" y="1622740"/>
            <a:ext cx="1469608" cy="430887"/>
          </a:xfrm>
          <a:prstGeom prst="rect">
            <a:avLst/>
          </a:prstGeom>
          <a:noFill/>
        </p:spPr>
        <p:txBody>
          <a:bodyPr wrap="square" rtlCol="0">
            <a:spAutoFit/>
          </a:bodyPr>
          <a:lstStyle/>
          <a:p>
            <a:pPr defTabSz="1097280" hangingPunct="1"/>
            <a:r>
              <a:rPr lang="en-US" sz="1100" kern="1200" dirty="0">
                <a:solidFill>
                  <a:schemeClr val="tx1"/>
                </a:solidFill>
                <a:latin typeface="+mn-lt"/>
                <a:ea typeface="+mn-ea"/>
                <a:cs typeface="+mn-cs"/>
              </a:rPr>
              <a:t>Weekly Customer Executive  Meeting </a:t>
            </a:r>
          </a:p>
        </p:txBody>
      </p:sp>
      <p:graphicFrame>
        <p:nvGraphicFramePr>
          <p:cNvPr id="43" name="Table 3">
            <a:extLst>
              <a:ext uri="{FF2B5EF4-FFF2-40B4-BE49-F238E27FC236}">
                <a16:creationId xmlns:a16="http://schemas.microsoft.com/office/drawing/2014/main" id="{9EC42696-2C3D-BF45-8D20-9E772A708A5C}"/>
              </a:ext>
            </a:extLst>
          </p:cNvPr>
          <p:cNvGraphicFramePr>
            <a:graphicFrameLocks noGrp="1"/>
          </p:cNvGraphicFramePr>
          <p:nvPr/>
        </p:nvGraphicFramePr>
        <p:xfrm>
          <a:off x="516438" y="2170907"/>
          <a:ext cx="1314449" cy="5459399"/>
        </p:xfrm>
        <a:graphic>
          <a:graphicData uri="http://schemas.openxmlformats.org/drawingml/2006/table">
            <a:tbl>
              <a:tblPr firstRow="1" firstCol="1" bandRow="1">
                <a:tableStyleId>{5940675A-B579-460E-94D1-54222C63F5DA}</a:tableStyleId>
              </a:tblPr>
              <a:tblGrid>
                <a:gridCol w="1314449">
                  <a:extLst>
                    <a:ext uri="{9D8B030D-6E8A-4147-A177-3AD203B41FA5}">
                      <a16:colId xmlns:a16="http://schemas.microsoft.com/office/drawing/2014/main" val="2919571111"/>
                    </a:ext>
                  </a:extLst>
                </a:gridCol>
              </a:tblGrid>
              <a:tr h="610718">
                <a:tc>
                  <a:txBody>
                    <a:bodyPr/>
                    <a:lstStyle/>
                    <a:p>
                      <a:pPr algn="ctr"/>
                      <a:r>
                        <a:rPr lang="en-US" sz="1200" b="1" dirty="0">
                          <a:solidFill>
                            <a:schemeClr val="bg1"/>
                          </a:solidFill>
                        </a:rPr>
                        <a:t>People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38764479"/>
                  </a:ext>
                </a:extLst>
              </a:tr>
              <a:tr h="606872">
                <a:tc>
                  <a:txBody>
                    <a:bodyPr/>
                    <a:lstStyle/>
                    <a:p>
                      <a:pPr algn="ctr"/>
                      <a:r>
                        <a:rPr lang="en-US" sz="1200" b="1" dirty="0">
                          <a:solidFill>
                            <a:schemeClr val="bg1"/>
                          </a:solidFill>
                        </a:rPr>
                        <a:t>Mobilize Accelerator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37098806"/>
                  </a:ext>
                </a:extLst>
              </a:tr>
              <a:tr h="1824629">
                <a:tc>
                  <a:txBody>
                    <a:bodyPr/>
                    <a:lstStyle/>
                    <a:p>
                      <a:pPr algn="ctr"/>
                      <a:r>
                        <a:rPr lang="en-US" sz="1200" b="1" dirty="0">
                          <a:solidFill>
                            <a:schemeClr val="bg1"/>
                          </a:solidFill>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914186102"/>
                  </a:ext>
                </a:extLst>
              </a:tr>
              <a:tr h="1235485">
                <a:tc>
                  <a:txBody>
                    <a:bodyPr/>
                    <a:lstStyle/>
                    <a:p>
                      <a:pPr algn="ctr"/>
                      <a:r>
                        <a:rPr lang="en-US" sz="1200" b="1" dirty="0">
                          <a:solidFill>
                            <a:schemeClr val="bg1"/>
                          </a:solidFill>
                        </a:rPr>
                        <a:t>Migration &amp; Modernization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68070308"/>
                  </a:ext>
                </a:extLst>
              </a:tr>
              <a:tr h="1181695">
                <a:tc>
                  <a:txBody>
                    <a:bodyPr/>
                    <a:lstStyle/>
                    <a:p>
                      <a:pPr algn="ctr"/>
                      <a:r>
                        <a:rPr lang="en-US" sz="1200" b="1" dirty="0">
                          <a:solidFill>
                            <a:schemeClr val="bg1"/>
                          </a:solidFill>
                        </a:rPr>
                        <a:t>Portfolio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66FF"/>
                    </a:solidFill>
                  </a:tcPr>
                </a:tc>
                <a:extLst>
                  <a:ext uri="{0D108BD9-81ED-4DB2-BD59-A6C34878D82A}">
                    <a16:rowId xmlns:a16="http://schemas.microsoft.com/office/drawing/2014/main" val="702872097"/>
                  </a:ext>
                </a:extLst>
              </a:tr>
            </a:tbl>
          </a:graphicData>
        </a:graphic>
      </p:graphicFrame>
      <p:sp>
        <p:nvSpPr>
          <p:cNvPr id="33" name="Rounded Rectangle">
            <a:extLst>
              <a:ext uri="{FF2B5EF4-FFF2-40B4-BE49-F238E27FC236}">
                <a16:creationId xmlns:a16="http://schemas.microsoft.com/office/drawing/2014/main" id="{254929AA-2299-2343-9991-E6DE4E9B809C}"/>
              </a:ext>
            </a:extLst>
          </p:cNvPr>
          <p:cNvSpPr/>
          <p:nvPr/>
        </p:nvSpPr>
        <p:spPr>
          <a:xfrm>
            <a:off x="5224981" y="5913057"/>
            <a:ext cx="1461684"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Identify Pilot Apps</a:t>
            </a:r>
            <a:endParaRPr sz="1200" kern="1200" dirty="0">
              <a:solidFill>
                <a:schemeClr val="bg1"/>
              </a:solidFill>
              <a:sym typeface="Helvetica Neue Medium"/>
            </a:endParaRPr>
          </a:p>
        </p:txBody>
      </p:sp>
      <p:sp>
        <p:nvSpPr>
          <p:cNvPr id="42" name="Rounded Rectangle">
            <a:extLst>
              <a:ext uri="{FF2B5EF4-FFF2-40B4-BE49-F238E27FC236}">
                <a16:creationId xmlns:a16="http://schemas.microsoft.com/office/drawing/2014/main" id="{7796D665-680D-CE40-A6C9-2A98BA34ECE8}"/>
              </a:ext>
            </a:extLst>
          </p:cNvPr>
          <p:cNvSpPr/>
          <p:nvPr/>
        </p:nvSpPr>
        <p:spPr>
          <a:xfrm>
            <a:off x="1906402" y="4071569"/>
            <a:ext cx="704837"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800" dirty="0">
                <a:solidFill>
                  <a:schemeClr val="bg1"/>
                </a:solidFill>
                <a:sym typeface="Helvetica Neue Medium"/>
              </a:rPr>
              <a:t>3</a:t>
            </a:r>
            <a:r>
              <a:rPr lang="en-US" sz="800" baseline="30000" dirty="0">
                <a:solidFill>
                  <a:schemeClr val="bg1"/>
                </a:solidFill>
                <a:sym typeface="Helvetica Neue Medium"/>
              </a:rPr>
              <a:t>rd</a:t>
            </a:r>
            <a:r>
              <a:rPr lang="en-US" sz="800" dirty="0">
                <a:solidFill>
                  <a:schemeClr val="bg1"/>
                </a:solidFill>
                <a:sym typeface="Helvetica Neue Medium"/>
              </a:rPr>
              <a:t> party risk assessment</a:t>
            </a:r>
            <a:endParaRPr sz="800" kern="1200" dirty="0">
              <a:solidFill>
                <a:schemeClr val="bg1"/>
              </a:solidFill>
              <a:sym typeface="Helvetica Neue Medium"/>
            </a:endParaRPr>
          </a:p>
        </p:txBody>
      </p:sp>
      <p:sp>
        <p:nvSpPr>
          <p:cNvPr id="44" name="Rounded Rectangle">
            <a:extLst>
              <a:ext uri="{FF2B5EF4-FFF2-40B4-BE49-F238E27FC236}">
                <a16:creationId xmlns:a16="http://schemas.microsoft.com/office/drawing/2014/main" id="{867FC4CC-C6E9-5C44-820E-FE81C6EABA1C}"/>
              </a:ext>
            </a:extLst>
          </p:cNvPr>
          <p:cNvSpPr/>
          <p:nvPr/>
        </p:nvSpPr>
        <p:spPr>
          <a:xfrm>
            <a:off x="3560562" y="4682956"/>
            <a:ext cx="1461684"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Current State Discovery</a:t>
            </a:r>
            <a:endParaRPr sz="1000" kern="1200" dirty="0">
              <a:solidFill>
                <a:schemeClr val="bg1"/>
              </a:solidFill>
              <a:sym typeface="Helvetica Neue Medium"/>
            </a:endParaRPr>
          </a:p>
        </p:txBody>
      </p:sp>
      <p:sp>
        <p:nvSpPr>
          <p:cNvPr id="45" name="Rounded Rectangle">
            <a:extLst>
              <a:ext uri="{FF2B5EF4-FFF2-40B4-BE49-F238E27FC236}">
                <a16:creationId xmlns:a16="http://schemas.microsoft.com/office/drawing/2014/main" id="{9370A44A-B441-E341-99E6-B9E48E6216C2}"/>
              </a:ext>
            </a:extLst>
          </p:cNvPr>
          <p:cNvSpPr/>
          <p:nvPr/>
        </p:nvSpPr>
        <p:spPr>
          <a:xfrm>
            <a:off x="3560563" y="4071569"/>
            <a:ext cx="4705676"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Security Baseline Design</a:t>
            </a:r>
            <a:endParaRPr sz="1000" kern="1200" dirty="0">
              <a:solidFill>
                <a:schemeClr val="bg1"/>
              </a:solidFill>
              <a:sym typeface="Helvetica Neue Medium"/>
            </a:endParaRPr>
          </a:p>
        </p:txBody>
      </p:sp>
      <p:sp>
        <p:nvSpPr>
          <p:cNvPr id="46" name="Rounded Rectangle">
            <a:extLst>
              <a:ext uri="{FF2B5EF4-FFF2-40B4-BE49-F238E27FC236}">
                <a16:creationId xmlns:a16="http://schemas.microsoft.com/office/drawing/2014/main" id="{BBF815D8-C14A-6244-B784-5C5E724C4CD1}"/>
              </a:ext>
            </a:extLst>
          </p:cNvPr>
          <p:cNvSpPr/>
          <p:nvPr/>
        </p:nvSpPr>
        <p:spPr>
          <a:xfrm>
            <a:off x="3560561" y="3457265"/>
            <a:ext cx="4705677"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Network Baseline Design</a:t>
            </a:r>
            <a:endParaRPr sz="1000" kern="1200" dirty="0">
              <a:solidFill>
                <a:schemeClr val="bg1"/>
              </a:solidFill>
              <a:sym typeface="Helvetica Neue Medium"/>
            </a:endParaRPr>
          </a:p>
        </p:txBody>
      </p:sp>
      <p:sp>
        <p:nvSpPr>
          <p:cNvPr id="47" name="Rounded Rectangle">
            <a:extLst>
              <a:ext uri="{FF2B5EF4-FFF2-40B4-BE49-F238E27FC236}">
                <a16:creationId xmlns:a16="http://schemas.microsoft.com/office/drawing/2014/main" id="{4740DED6-69A3-9947-BF53-1109142B363F}"/>
              </a:ext>
            </a:extLst>
          </p:cNvPr>
          <p:cNvSpPr/>
          <p:nvPr/>
        </p:nvSpPr>
        <p:spPr>
          <a:xfrm>
            <a:off x="5166934" y="4683651"/>
            <a:ext cx="3099303"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Ops Baseline Design</a:t>
            </a:r>
            <a:endParaRPr sz="1000" kern="1200" dirty="0">
              <a:solidFill>
                <a:schemeClr val="bg1"/>
              </a:solidFill>
              <a:sym typeface="Helvetica Neue Medium"/>
            </a:endParaRPr>
          </a:p>
        </p:txBody>
      </p:sp>
      <p:sp>
        <p:nvSpPr>
          <p:cNvPr id="48" name="Rounded Rectangle">
            <a:extLst>
              <a:ext uri="{FF2B5EF4-FFF2-40B4-BE49-F238E27FC236}">
                <a16:creationId xmlns:a16="http://schemas.microsoft.com/office/drawing/2014/main" id="{BB573EE8-15A8-BB4A-8AF4-7EF05EE8E750}"/>
              </a:ext>
            </a:extLst>
          </p:cNvPr>
          <p:cNvSpPr/>
          <p:nvPr/>
        </p:nvSpPr>
        <p:spPr>
          <a:xfrm>
            <a:off x="3584822" y="5265209"/>
            <a:ext cx="1437425"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b="1" dirty="0">
                <a:solidFill>
                  <a:schemeClr val="bg1"/>
                </a:solidFill>
                <a:sym typeface="Helvetica Neue Medium"/>
              </a:rPr>
              <a:t>Migration Immersion Day</a:t>
            </a:r>
            <a:endParaRPr sz="1200" b="1" kern="1200" dirty="0">
              <a:solidFill>
                <a:schemeClr val="bg1"/>
              </a:solidFill>
              <a:sym typeface="Helvetica Neue Medium"/>
            </a:endParaRPr>
          </a:p>
        </p:txBody>
      </p:sp>
      <p:sp>
        <p:nvSpPr>
          <p:cNvPr id="50" name="Rounded Rectangle">
            <a:extLst>
              <a:ext uri="{FF2B5EF4-FFF2-40B4-BE49-F238E27FC236}">
                <a16:creationId xmlns:a16="http://schemas.microsoft.com/office/drawing/2014/main" id="{4BA6B730-09C8-B445-923A-17602C0FBF1F}"/>
              </a:ext>
            </a:extLst>
          </p:cNvPr>
          <p:cNvSpPr/>
          <p:nvPr/>
        </p:nvSpPr>
        <p:spPr>
          <a:xfrm>
            <a:off x="1906402" y="2824176"/>
            <a:ext cx="1469608" cy="500827"/>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Procure Tools</a:t>
            </a:r>
            <a:br>
              <a:rPr lang="en-US" sz="900" kern="1200" dirty="0">
                <a:solidFill>
                  <a:srgbClr val="000000"/>
                </a:solidFill>
                <a:latin typeface="+mn-lt"/>
                <a:ea typeface="+mn-ea"/>
                <a:cs typeface="+mn-cs"/>
                <a:sym typeface="Helvetica Neue Medium"/>
              </a:rPr>
            </a:br>
            <a:r>
              <a:rPr lang="en-US" sz="900" kern="1200" dirty="0">
                <a:solidFill>
                  <a:srgbClr val="000000"/>
                </a:solidFill>
                <a:latin typeface="+mn-lt"/>
                <a:ea typeface="+mn-ea"/>
                <a:cs typeface="+mn-cs"/>
                <a:sym typeface="Helvetica Neue Medium"/>
              </a:rPr>
              <a:t>&amp; Deploy Delivery Kits </a:t>
            </a:r>
            <a:endParaRPr sz="900" kern="1200" dirty="0">
              <a:solidFill>
                <a:srgbClr val="000000"/>
              </a:solidFill>
              <a:latin typeface="+mn-lt"/>
              <a:ea typeface="+mn-ea"/>
              <a:cs typeface="+mn-cs"/>
              <a:sym typeface="Helvetica Neue Medium"/>
            </a:endParaRPr>
          </a:p>
        </p:txBody>
      </p:sp>
      <p:sp>
        <p:nvSpPr>
          <p:cNvPr id="51" name="Rounded Rectangle">
            <a:extLst>
              <a:ext uri="{FF2B5EF4-FFF2-40B4-BE49-F238E27FC236}">
                <a16:creationId xmlns:a16="http://schemas.microsoft.com/office/drawing/2014/main" id="{CC327C5F-5A04-5948-B5F3-00E20C0D0227}"/>
              </a:ext>
            </a:extLst>
          </p:cNvPr>
          <p:cNvSpPr/>
          <p:nvPr/>
        </p:nvSpPr>
        <p:spPr>
          <a:xfrm>
            <a:off x="3584822" y="2830011"/>
            <a:ext cx="1437425" cy="261092"/>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Load Tailored Backlogs</a:t>
            </a:r>
            <a:endParaRPr sz="900" kern="1200" dirty="0">
              <a:solidFill>
                <a:srgbClr val="000000"/>
              </a:solidFill>
              <a:latin typeface="+mn-lt"/>
              <a:ea typeface="+mn-ea"/>
              <a:cs typeface="+mn-cs"/>
              <a:sym typeface="Helvetica Neue Medium"/>
            </a:endParaRPr>
          </a:p>
        </p:txBody>
      </p:sp>
      <p:sp>
        <p:nvSpPr>
          <p:cNvPr id="52" name="Rounded Rectangle">
            <a:extLst>
              <a:ext uri="{FF2B5EF4-FFF2-40B4-BE49-F238E27FC236}">
                <a16:creationId xmlns:a16="http://schemas.microsoft.com/office/drawing/2014/main" id="{44C92856-8C2E-6147-A5B3-87ECACAE6F9F}"/>
              </a:ext>
            </a:extLst>
          </p:cNvPr>
          <p:cNvSpPr/>
          <p:nvPr/>
        </p:nvSpPr>
        <p:spPr>
          <a:xfrm>
            <a:off x="3584822" y="3117729"/>
            <a:ext cx="1437424" cy="215219"/>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Ceremonies Begin</a:t>
            </a:r>
            <a:endParaRPr sz="900" kern="1200" dirty="0">
              <a:solidFill>
                <a:srgbClr val="000000"/>
              </a:solidFill>
              <a:latin typeface="+mn-lt"/>
              <a:ea typeface="+mn-ea"/>
              <a:cs typeface="+mn-cs"/>
              <a:sym typeface="Helvetica Neue Medium"/>
            </a:endParaRPr>
          </a:p>
        </p:txBody>
      </p:sp>
      <p:sp>
        <p:nvSpPr>
          <p:cNvPr id="53" name="Rounded Rectangle">
            <a:extLst>
              <a:ext uri="{FF2B5EF4-FFF2-40B4-BE49-F238E27FC236}">
                <a16:creationId xmlns:a16="http://schemas.microsoft.com/office/drawing/2014/main" id="{727BBEF4-9C8B-0B49-BC5A-A769181907CA}"/>
              </a:ext>
            </a:extLst>
          </p:cNvPr>
          <p:cNvSpPr/>
          <p:nvPr/>
        </p:nvSpPr>
        <p:spPr>
          <a:xfrm>
            <a:off x="5224981" y="2845385"/>
            <a:ext cx="3041256" cy="479618"/>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Weekly Sprint Cadence (Stand-ups, Demo, Retro, Planning)  </a:t>
            </a:r>
            <a:endParaRPr sz="900" kern="1200" dirty="0">
              <a:solidFill>
                <a:srgbClr val="000000"/>
              </a:solidFill>
              <a:latin typeface="+mn-lt"/>
              <a:ea typeface="+mn-ea"/>
              <a:cs typeface="+mn-cs"/>
              <a:sym typeface="Helvetica Neue Medium"/>
            </a:endParaRPr>
          </a:p>
        </p:txBody>
      </p:sp>
      <p:grpSp>
        <p:nvGrpSpPr>
          <p:cNvPr id="5" name="Group 4">
            <a:extLst>
              <a:ext uri="{FF2B5EF4-FFF2-40B4-BE49-F238E27FC236}">
                <a16:creationId xmlns:a16="http://schemas.microsoft.com/office/drawing/2014/main" id="{8E42E41D-E46D-AD46-BEE7-EDF8671CDA52}"/>
              </a:ext>
            </a:extLst>
          </p:cNvPr>
          <p:cNvGrpSpPr/>
          <p:nvPr/>
        </p:nvGrpSpPr>
        <p:grpSpPr>
          <a:xfrm>
            <a:off x="0" y="0"/>
            <a:ext cx="14630400" cy="8245155"/>
            <a:chOff x="0" y="0"/>
            <a:chExt cx="14630400" cy="8245155"/>
          </a:xfrm>
        </p:grpSpPr>
        <p:sp>
          <p:nvSpPr>
            <p:cNvPr id="6" name="TextBox 5">
              <a:extLst>
                <a:ext uri="{FF2B5EF4-FFF2-40B4-BE49-F238E27FC236}">
                  <a16:creationId xmlns:a16="http://schemas.microsoft.com/office/drawing/2014/main" id="{DDA3EEDE-8204-C346-A6C2-C601B3917635}"/>
                </a:ext>
              </a:extLst>
            </p:cNvPr>
            <p:cNvSpPr txBox="1"/>
            <p:nvPr/>
          </p:nvSpPr>
          <p:spPr>
            <a:xfrm rot="20294682">
              <a:off x="2061440" y="3025909"/>
              <a:ext cx="10507518" cy="1938992"/>
            </a:xfrm>
            <a:prstGeom prst="rect">
              <a:avLst/>
            </a:prstGeom>
            <a:solidFill>
              <a:schemeClr val="tx2"/>
            </a:solidFill>
          </p:spPr>
          <p:txBody>
            <a:bodyPr wrap="square" rtlCol="0">
              <a:spAutoFit/>
            </a:bodyPr>
            <a:lstStyle/>
            <a:p>
              <a:r>
                <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(Pick one of 3 based on delivery model) Modify based on MRA recommended actions: add/delete workstreams, workshops, briefings and otherwise based on focus areas from the recommendations, and high level critical actions for the customer to visualize MRA Prioritized List of Actions from slide 16. Highlight accelerators from AWS (EBA Parties, Workshops, Briefings) that are intended to create and sustain the momentum.</a:t>
              </a:r>
            </a:p>
          </p:txBody>
        </p:sp>
        <p:grpSp>
          <p:nvGrpSpPr>
            <p:cNvPr id="3" name="Group 2">
              <a:extLst>
                <a:ext uri="{FF2B5EF4-FFF2-40B4-BE49-F238E27FC236}">
                  <a16:creationId xmlns:a16="http://schemas.microsoft.com/office/drawing/2014/main" id="{C40C6426-E00B-DF4C-813F-6793466A1B4E}"/>
                </a:ext>
              </a:extLst>
            </p:cNvPr>
            <p:cNvGrpSpPr/>
            <p:nvPr/>
          </p:nvGrpSpPr>
          <p:grpSpPr>
            <a:xfrm>
              <a:off x="0" y="0"/>
              <a:ext cx="14630400" cy="8245155"/>
              <a:chOff x="0" y="0"/>
              <a:chExt cx="14630400" cy="8245155"/>
            </a:xfrm>
          </p:grpSpPr>
          <p:sp>
            <p:nvSpPr>
              <p:cNvPr id="54" name="Rectangle 53">
                <a:extLst>
                  <a:ext uri="{FF2B5EF4-FFF2-40B4-BE49-F238E27FC236}">
                    <a16:creationId xmlns:a16="http://schemas.microsoft.com/office/drawing/2014/main" id="{CB7E1848-EEE0-FF4D-81D3-5B0C939C6FDA}"/>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1" name="TextBox 10">
                <a:extLst>
                  <a:ext uri="{FF2B5EF4-FFF2-40B4-BE49-F238E27FC236}">
                    <a16:creationId xmlns:a16="http://schemas.microsoft.com/office/drawing/2014/main" id="{42E90488-0489-7E4A-9514-0F6AEB7910E3}"/>
                  </a:ext>
                </a:extLst>
              </p:cNvPr>
              <p:cNvSpPr txBox="1"/>
              <p:nvPr/>
            </p:nvSpPr>
            <p:spPr>
              <a:xfrm>
                <a:off x="1" y="7537269"/>
                <a:ext cx="14630399" cy="707886"/>
              </a:xfrm>
              <a:prstGeom prst="rect">
                <a:avLst/>
              </a:prstGeom>
              <a:solidFill>
                <a:srgbClr val="FF0000"/>
              </a:solid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FACILITATOR: Use this slide for customers which will engage with AWS ProServe for Mobilize and which don’t have a scalable and secure platform (LZ, Sec, Ops) built</a:t>
                </a:r>
              </a:p>
            </p:txBody>
          </p:sp>
        </p:grpSp>
      </p:grpSp>
    </p:spTree>
    <p:extLst>
      <p:ext uri="{BB962C8B-B14F-4D97-AF65-F5344CB8AC3E}">
        <p14:creationId xmlns:p14="http://schemas.microsoft.com/office/powerpoint/2010/main" val="279339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C94641-D8F7-6948-9659-B8972E9AC8AD}"/>
              </a:ext>
            </a:extLst>
          </p:cNvPr>
          <p:cNvSpPr/>
          <p:nvPr/>
        </p:nvSpPr>
        <p:spPr>
          <a:xfrm>
            <a:off x="1638300" y="2756932"/>
            <a:ext cx="7135563" cy="3068134"/>
          </a:xfrm>
          <a:prstGeom prst="rect">
            <a:avLst/>
          </a:prstGeom>
          <a:gradFill>
            <a:gsLst>
              <a:gs pos="0">
                <a:schemeClr val="accent1">
                  <a:lumMod val="60000"/>
                  <a:lumOff val="40000"/>
                </a:schemeClr>
              </a:gs>
              <a:gs pos="28000">
                <a:schemeClr val="accent1">
                  <a:lumMod val="40000"/>
                  <a:lumOff val="60000"/>
                </a:schemeClr>
              </a:gs>
              <a:gs pos="63000">
                <a:schemeClr val="accent6">
                  <a:lumMod val="40000"/>
                  <a:lumOff val="60000"/>
                </a:schemeClr>
              </a:gs>
              <a:gs pos="100000">
                <a:schemeClr val="accent4">
                  <a:lumMod val="20000"/>
                  <a:lumOff val="8000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vert="vert" rtlCol="0" anchor="t"/>
          <a:lstStyle/>
          <a:p>
            <a:pPr algn="ctr"/>
            <a:r>
              <a:rPr lang="en-US" sz="1400" b="1" dirty="0">
                <a:solidFill>
                  <a:schemeClr val="tx1"/>
                </a:solidFill>
              </a:rPr>
              <a:t>   Pre-Mobilize EBA</a:t>
            </a:r>
          </a:p>
        </p:txBody>
      </p:sp>
      <p:sp>
        <p:nvSpPr>
          <p:cNvPr id="2" name="Title 1"/>
          <p:cNvSpPr>
            <a:spLocks noGrp="1"/>
          </p:cNvSpPr>
          <p:nvPr>
            <p:ph type="title" idx="4294967295"/>
          </p:nvPr>
        </p:nvSpPr>
        <p:spPr>
          <a:xfrm>
            <a:off x="647700" y="198438"/>
            <a:ext cx="13982700" cy="1079500"/>
          </a:xfrm>
        </p:spPr>
        <p:txBody>
          <a:bodyPr>
            <a:normAutofit/>
          </a:bodyPr>
          <a:lstStyle/>
          <a:p>
            <a:r>
              <a:rPr lang="en-US" dirty="0"/>
              <a:t>Post-MRA Cloud Migration Journey – Assess Phase</a:t>
            </a:r>
          </a:p>
        </p:txBody>
      </p:sp>
      <p:pic>
        <p:nvPicPr>
          <p:cNvPr id="9" name="Graphic 8">
            <a:extLst>
              <a:ext uri="{FF2B5EF4-FFF2-40B4-BE49-F238E27FC236}">
                <a16:creationId xmlns:a16="http://schemas.microsoft.com/office/drawing/2014/main" id="{9BA904E6-735B-E64B-87D4-CA2C84D69E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75396" y="0"/>
            <a:ext cx="1393371" cy="1393371"/>
          </a:xfrm>
          <a:prstGeom prst="rect">
            <a:avLst/>
          </a:prstGeom>
        </p:spPr>
      </p:pic>
      <p:sp>
        <p:nvSpPr>
          <p:cNvPr id="10" name="TextBox 9">
            <a:extLst>
              <a:ext uri="{FF2B5EF4-FFF2-40B4-BE49-F238E27FC236}">
                <a16:creationId xmlns:a16="http://schemas.microsoft.com/office/drawing/2014/main" id="{89D77E34-BF12-F945-9B5B-EFB6D8794913}"/>
              </a:ext>
            </a:extLst>
          </p:cNvPr>
          <p:cNvSpPr txBox="1"/>
          <p:nvPr/>
        </p:nvSpPr>
        <p:spPr>
          <a:xfrm>
            <a:off x="450525" y="954203"/>
            <a:ext cx="12834551"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Create and sustain momentum with accelerators that address critical path items, catalyze your team in to action and delivery capability quickly</a:t>
            </a:r>
          </a:p>
        </p:txBody>
      </p:sp>
      <p:graphicFrame>
        <p:nvGraphicFramePr>
          <p:cNvPr id="7" name="Table 3">
            <a:extLst>
              <a:ext uri="{FF2B5EF4-FFF2-40B4-BE49-F238E27FC236}">
                <a16:creationId xmlns:a16="http://schemas.microsoft.com/office/drawing/2014/main" id="{41AA6982-9609-3C43-B6E4-A8AB37D1DE04}"/>
              </a:ext>
            </a:extLst>
          </p:cNvPr>
          <p:cNvGraphicFramePr>
            <a:graphicFrameLocks noGrp="1"/>
          </p:cNvGraphicFramePr>
          <p:nvPr/>
        </p:nvGraphicFramePr>
        <p:xfrm>
          <a:off x="1832158" y="1631790"/>
          <a:ext cx="6522979" cy="5878956"/>
        </p:xfrm>
        <a:graphic>
          <a:graphicData uri="http://schemas.openxmlformats.org/drawingml/2006/table">
            <a:tbl>
              <a:tblPr firstRow="1" firstCol="1" bandRow="1">
                <a:tableStyleId>{5940675A-B579-460E-94D1-54222C63F5DA}</a:tableStyleId>
              </a:tblPr>
              <a:tblGrid>
                <a:gridCol w="1627782">
                  <a:extLst>
                    <a:ext uri="{9D8B030D-6E8A-4147-A177-3AD203B41FA5}">
                      <a16:colId xmlns:a16="http://schemas.microsoft.com/office/drawing/2014/main" val="1345181805"/>
                    </a:ext>
                  </a:extLst>
                </a:gridCol>
                <a:gridCol w="1641423">
                  <a:extLst>
                    <a:ext uri="{9D8B030D-6E8A-4147-A177-3AD203B41FA5}">
                      <a16:colId xmlns:a16="http://schemas.microsoft.com/office/drawing/2014/main" val="3842254298"/>
                    </a:ext>
                  </a:extLst>
                </a:gridCol>
                <a:gridCol w="1633928">
                  <a:extLst>
                    <a:ext uri="{9D8B030D-6E8A-4147-A177-3AD203B41FA5}">
                      <a16:colId xmlns:a16="http://schemas.microsoft.com/office/drawing/2014/main" val="1484075571"/>
                    </a:ext>
                  </a:extLst>
                </a:gridCol>
                <a:gridCol w="1619846">
                  <a:extLst>
                    <a:ext uri="{9D8B030D-6E8A-4147-A177-3AD203B41FA5}">
                      <a16:colId xmlns:a16="http://schemas.microsoft.com/office/drawing/2014/main" val="255111226"/>
                    </a:ext>
                  </a:extLst>
                </a:gridCol>
              </a:tblGrid>
              <a:tr h="34203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927044"/>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764479"/>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670356"/>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4186102"/>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54133"/>
                  </a:ext>
                </a:extLst>
              </a:tr>
              <a:tr h="60124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2211527"/>
                  </a:ext>
                </a:extLst>
              </a:tr>
              <a:tr h="63267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070308"/>
                  </a:ext>
                </a:extLst>
              </a:tr>
              <a:tr h="61783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906302"/>
                  </a:ext>
                </a:extLst>
              </a:tr>
              <a:tr h="57829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872097"/>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4042632"/>
                  </a:ext>
                </a:extLst>
              </a:tr>
            </a:tbl>
          </a:graphicData>
        </a:graphic>
      </p:graphicFrame>
      <p:sp>
        <p:nvSpPr>
          <p:cNvPr id="13" name="Rectangle 12">
            <a:extLst>
              <a:ext uri="{FF2B5EF4-FFF2-40B4-BE49-F238E27FC236}">
                <a16:creationId xmlns:a16="http://schemas.microsoft.com/office/drawing/2014/main" id="{25657F0F-3A8C-D54A-9C16-A145A2869120}"/>
              </a:ext>
            </a:extLst>
          </p:cNvPr>
          <p:cNvSpPr/>
          <p:nvPr/>
        </p:nvSpPr>
        <p:spPr>
          <a:xfrm>
            <a:off x="1241780" y="7051900"/>
            <a:ext cx="635110" cy="307777"/>
          </a:xfrm>
          <a:prstGeom prst="rect">
            <a:avLst/>
          </a:prstGeom>
        </p:spPr>
        <p:txBody>
          <a:bodyPr wrap="none">
            <a:spAutoFit/>
          </a:bodyPr>
          <a:lstStyle/>
          <a:p>
            <a:r>
              <a:rPr lang="en-US" sz="1400" dirty="0">
                <a:solidFill>
                  <a:srgbClr val="F8F8F8"/>
                </a:solidFill>
              </a:rPr>
              <a:t>Week</a:t>
            </a:r>
            <a:endParaRPr lang="en-US" sz="1400" dirty="0"/>
          </a:p>
        </p:txBody>
      </p:sp>
      <p:sp>
        <p:nvSpPr>
          <p:cNvPr id="27" name="Rounded Rectangle">
            <a:extLst>
              <a:ext uri="{FF2B5EF4-FFF2-40B4-BE49-F238E27FC236}">
                <a16:creationId xmlns:a16="http://schemas.microsoft.com/office/drawing/2014/main" id="{A4BE4650-8B7B-6E44-B6F9-B5B6E1EACAC6}"/>
              </a:ext>
            </a:extLst>
          </p:cNvPr>
          <p:cNvSpPr/>
          <p:nvPr/>
        </p:nvSpPr>
        <p:spPr>
          <a:xfrm>
            <a:off x="1921478" y="2245502"/>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Identify single threaded leader</a:t>
            </a:r>
            <a:endParaRPr sz="1100" kern="1200" dirty="0">
              <a:solidFill>
                <a:schemeClr val="bg1"/>
              </a:solidFill>
              <a:sym typeface="Helvetica Neue Medium"/>
            </a:endParaRPr>
          </a:p>
        </p:txBody>
      </p:sp>
      <p:sp>
        <p:nvSpPr>
          <p:cNvPr id="56" name="Rounded Rectangle">
            <a:extLst>
              <a:ext uri="{FF2B5EF4-FFF2-40B4-BE49-F238E27FC236}">
                <a16:creationId xmlns:a16="http://schemas.microsoft.com/office/drawing/2014/main" id="{A96C9B8E-8F07-B147-81A7-A6AB68DF5283}"/>
              </a:ext>
            </a:extLst>
          </p:cNvPr>
          <p:cNvSpPr/>
          <p:nvPr/>
        </p:nvSpPr>
        <p:spPr>
          <a:xfrm>
            <a:off x="6804556" y="2242788"/>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Document CCOE roles &amp; responsibilities</a:t>
            </a:r>
            <a:endParaRPr sz="1100" kern="1200" dirty="0">
              <a:solidFill>
                <a:schemeClr val="bg1"/>
              </a:solidFill>
              <a:sym typeface="Helvetica Neue Medium"/>
            </a:endParaRPr>
          </a:p>
        </p:txBody>
      </p:sp>
      <p:sp>
        <p:nvSpPr>
          <p:cNvPr id="57" name="Rounded Rectangle">
            <a:extLst>
              <a:ext uri="{FF2B5EF4-FFF2-40B4-BE49-F238E27FC236}">
                <a16:creationId xmlns:a16="http://schemas.microsoft.com/office/drawing/2014/main" id="{BD6F9ECB-EE30-764B-9F0A-54606F39C4F5}"/>
              </a:ext>
            </a:extLst>
          </p:cNvPr>
          <p:cNvSpPr/>
          <p:nvPr/>
        </p:nvSpPr>
        <p:spPr>
          <a:xfrm>
            <a:off x="2663889" y="3430682"/>
            <a:ext cx="729571" cy="1683459"/>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Validate platform requirements</a:t>
            </a:r>
            <a:endParaRPr sz="1000" kern="1200" dirty="0">
              <a:solidFill>
                <a:schemeClr val="bg1"/>
              </a:solidFill>
              <a:sym typeface="Helvetica Neue Medium"/>
            </a:endParaRPr>
          </a:p>
        </p:txBody>
      </p:sp>
      <p:sp>
        <p:nvSpPr>
          <p:cNvPr id="61" name="Rounded Rectangle">
            <a:extLst>
              <a:ext uri="{FF2B5EF4-FFF2-40B4-BE49-F238E27FC236}">
                <a16:creationId xmlns:a16="http://schemas.microsoft.com/office/drawing/2014/main" id="{BD64224E-3DE1-2449-9BCB-83C039F98034}"/>
              </a:ext>
            </a:extLst>
          </p:cNvPr>
          <p:cNvSpPr/>
          <p:nvPr/>
        </p:nvSpPr>
        <p:spPr>
          <a:xfrm>
            <a:off x="1886161" y="4671019"/>
            <a:ext cx="704837" cy="442153"/>
          </a:xfrm>
          <a:prstGeom prst="roundRect">
            <a:avLst>
              <a:gd name="adj" fmla="val 22203"/>
            </a:avLst>
          </a:prstGeom>
          <a:solidFill>
            <a:schemeClr val="accent6"/>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Evaluate AWS AMS</a:t>
            </a:r>
            <a:endParaRPr sz="1000" kern="1200" dirty="0">
              <a:solidFill>
                <a:schemeClr val="bg1"/>
              </a:solidFill>
              <a:latin typeface="+mn-lt"/>
              <a:ea typeface="+mn-ea"/>
              <a:cs typeface="+mn-cs"/>
              <a:sym typeface="Helvetica Neue Medium"/>
            </a:endParaRPr>
          </a:p>
        </p:txBody>
      </p:sp>
      <p:sp>
        <p:nvSpPr>
          <p:cNvPr id="62" name="Rounded Rectangle">
            <a:extLst>
              <a:ext uri="{FF2B5EF4-FFF2-40B4-BE49-F238E27FC236}">
                <a16:creationId xmlns:a16="http://schemas.microsoft.com/office/drawing/2014/main" id="{FBCFAE5A-1A9D-B540-93AF-302518439CC9}"/>
              </a:ext>
            </a:extLst>
          </p:cNvPr>
          <p:cNvSpPr/>
          <p:nvPr/>
        </p:nvSpPr>
        <p:spPr>
          <a:xfrm>
            <a:off x="2652320" y="6502190"/>
            <a:ext cx="1461684"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dirty="0">
                <a:solidFill>
                  <a:schemeClr val="bg1"/>
                </a:solidFill>
                <a:sym typeface="Helvetica Neue Medium"/>
              </a:rPr>
              <a:t>Install an automated discovery tool</a:t>
            </a:r>
            <a:endParaRPr sz="1100" kern="1200" dirty="0">
              <a:solidFill>
                <a:schemeClr val="bg1"/>
              </a:solidFill>
              <a:latin typeface="+mn-lt"/>
              <a:ea typeface="+mn-ea"/>
              <a:cs typeface="+mn-cs"/>
              <a:sym typeface="Helvetica Neue Medium"/>
            </a:endParaRPr>
          </a:p>
        </p:txBody>
      </p:sp>
      <p:sp>
        <p:nvSpPr>
          <p:cNvPr id="63" name="Rounded Rectangle">
            <a:extLst>
              <a:ext uri="{FF2B5EF4-FFF2-40B4-BE49-F238E27FC236}">
                <a16:creationId xmlns:a16="http://schemas.microsoft.com/office/drawing/2014/main" id="{9A488F6E-6102-6E47-9C21-0CEF086FF06A}"/>
              </a:ext>
            </a:extLst>
          </p:cNvPr>
          <p:cNvSpPr/>
          <p:nvPr/>
        </p:nvSpPr>
        <p:spPr>
          <a:xfrm>
            <a:off x="1921478" y="5903226"/>
            <a:ext cx="1428618"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Determine Delivery Model</a:t>
            </a:r>
            <a:endParaRPr sz="1200" kern="1200" dirty="0">
              <a:solidFill>
                <a:schemeClr val="bg1"/>
              </a:solidFill>
              <a:sym typeface="Helvetica Neue Medium"/>
            </a:endParaRPr>
          </a:p>
        </p:txBody>
      </p:sp>
      <p:sp>
        <p:nvSpPr>
          <p:cNvPr id="65" name="Rounded Rectangle">
            <a:extLst>
              <a:ext uri="{FF2B5EF4-FFF2-40B4-BE49-F238E27FC236}">
                <a16:creationId xmlns:a16="http://schemas.microsoft.com/office/drawing/2014/main" id="{85A7548B-FD7D-3C4D-8D69-C2EBF3635B24}"/>
              </a:ext>
            </a:extLst>
          </p:cNvPr>
          <p:cNvSpPr/>
          <p:nvPr/>
        </p:nvSpPr>
        <p:spPr>
          <a:xfrm>
            <a:off x="1926360" y="7064245"/>
            <a:ext cx="4745286"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b="1" dirty="0">
                <a:solidFill>
                  <a:schemeClr val="bg1"/>
                </a:solidFill>
                <a:sym typeface="Helvetica Neue Medium"/>
              </a:rPr>
              <a:t>Rapid Migration Business Case</a:t>
            </a:r>
            <a:endParaRPr sz="1200" kern="1200" dirty="0">
              <a:solidFill>
                <a:schemeClr val="bg1"/>
              </a:solidFill>
              <a:sym typeface="Helvetica Neue Medium"/>
            </a:endParaRPr>
          </a:p>
        </p:txBody>
      </p:sp>
      <p:pic>
        <p:nvPicPr>
          <p:cNvPr id="28" name="Picture 27">
            <a:extLst>
              <a:ext uri="{FF2B5EF4-FFF2-40B4-BE49-F238E27FC236}">
                <a16:creationId xmlns:a16="http://schemas.microsoft.com/office/drawing/2014/main" id="{53DC45F3-A7C6-9C4B-AAA0-B1727C5967F0}"/>
              </a:ext>
            </a:extLst>
          </p:cNvPr>
          <p:cNvPicPr>
            <a:picLocks noChangeAspect="1"/>
          </p:cNvPicPr>
          <p:nvPr/>
        </p:nvPicPr>
        <p:blipFill>
          <a:blip r:embed="rId5"/>
          <a:stretch>
            <a:fillRect/>
          </a:stretch>
        </p:blipFill>
        <p:spPr>
          <a:xfrm>
            <a:off x="1728085" y="1346961"/>
            <a:ext cx="210467" cy="290104"/>
          </a:xfrm>
          <a:prstGeom prst="rect">
            <a:avLst/>
          </a:prstGeom>
        </p:spPr>
      </p:pic>
      <p:sp>
        <p:nvSpPr>
          <p:cNvPr id="29" name="Rounded Rectangle">
            <a:extLst>
              <a:ext uri="{FF2B5EF4-FFF2-40B4-BE49-F238E27FC236}">
                <a16:creationId xmlns:a16="http://schemas.microsoft.com/office/drawing/2014/main" id="{E466EE85-6AB1-1244-8BD5-802D09704FF7}"/>
              </a:ext>
            </a:extLst>
          </p:cNvPr>
          <p:cNvSpPr/>
          <p:nvPr/>
        </p:nvSpPr>
        <p:spPr>
          <a:xfrm>
            <a:off x="1866160" y="1666449"/>
            <a:ext cx="155770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1</a:t>
            </a:r>
            <a:endParaRPr sz="900" kern="1200" dirty="0">
              <a:solidFill>
                <a:srgbClr val="000000"/>
              </a:solidFill>
              <a:latin typeface="+mn-lt"/>
              <a:ea typeface="+mn-ea"/>
              <a:cs typeface="+mn-cs"/>
              <a:sym typeface="Helvetica Neue Medium"/>
            </a:endParaRPr>
          </a:p>
        </p:txBody>
      </p:sp>
      <p:sp>
        <p:nvSpPr>
          <p:cNvPr id="30" name="Rounded Rectangle">
            <a:extLst>
              <a:ext uri="{FF2B5EF4-FFF2-40B4-BE49-F238E27FC236}">
                <a16:creationId xmlns:a16="http://schemas.microsoft.com/office/drawing/2014/main" id="{25F7F7AE-CC62-CA48-BE2F-41817EA8B560}"/>
              </a:ext>
            </a:extLst>
          </p:cNvPr>
          <p:cNvSpPr/>
          <p:nvPr/>
        </p:nvSpPr>
        <p:spPr>
          <a:xfrm>
            <a:off x="3499984" y="1673934"/>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2</a:t>
            </a:r>
            <a:endParaRPr sz="900" kern="1200" dirty="0">
              <a:solidFill>
                <a:srgbClr val="000000"/>
              </a:solidFill>
              <a:latin typeface="+mn-lt"/>
              <a:ea typeface="+mn-ea"/>
              <a:cs typeface="+mn-cs"/>
              <a:sym typeface="Helvetica Neue Medium"/>
            </a:endParaRPr>
          </a:p>
        </p:txBody>
      </p:sp>
      <p:sp>
        <p:nvSpPr>
          <p:cNvPr id="31" name="Rounded Rectangle">
            <a:extLst>
              <a:ext uri="{FF2B5EF4-FFF2-40B4-BE49-F238E27FC236}">
                <a16:creationId xmlns:a16="http://schemas.microsoft.com/office/drawing/2014/main" id="{4BA315B1-BA50-014C-A700-5C315B83208C}"/>
              </a:ext>
            </a:extLst>
          </p:cNvPr>
          <p:cNvSpPr/>
          <p:nvPr/>
        </p:nvSpPr>
        <p:spPr>
          <a:xfrm>
            <a:off x="5141081" y="1677797"/>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3</a:t>
            </a:r>
            <a:endParaRPr sz="900" kern="1200" dirty="0">
              <a:solidFill>
                <a:srgbClr val="000000"/>
              </a:solidFill>
              <a:latin typeface="+mn-lt"/>
              <a:ea typeface="+mn-ea"/>
              <a:cs typeface="+mn-cs"/>
              <a:sym typeface="Helvetica Neue Medium"/>
            </a:endParaRPr>
          </a:p>
        </p:txBody>
      </p:sp>
      <p:sp>
        <p:nvSpPr>
          <p:cNvPr id="32" name="Rounded Rectangle">
            <a:extLst>
              <a:ext uri="{FF2B5EF4-FFF2-40B4-BE49-F238E27FC236}">
                <a16:creationId xmlns:a16="http://schemas.microsoft.com/office/drawing/2014/main" id="{3BA0C5BA-87A8-0E49-8E49-14235C81C415}"/>
              </a:ext>
            </a:extLst>
          </p:cNvPr>
          <p:cNvSpPr/>
          <p:nvPr/>
        </p:nvSpPr>
        <p:spPr>
          <a:xfrm>
            <a:off x="6756549" y="1666449"/>
            <a:ext cx="1557698"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4</a:t>
            </a:r>
            <a:endParaRPr sz="900" kern="1200" dirty="0">
              <a:solidFill>
                <a:srgbClr val="000000"/>
              </a:solidFill>
              <a:latin typeface="+mn-lt"/>
              <a:ea typeface="+mn-ea"/>
              <a:cs typeface="+mn-cs"/>
              <a:sym typeface="Helvetica Neue Medium"/>
            </a:endParaRPr>
          </a:p>
        </p:txBody>
      </p:sp>
      <p:sp>
        <p:nvSpPr>
          <p:cNvPr id="34" name="Rounded Rectangle">
            <a:extLst>
              <a:ext uri="{FF2B5EF4-FFF2-40B4-BE49-F238E27FC236}">
                <a16:creationId xmlns:a16="http://schemas.microsoft.com/office/drawing/2014/main" id="{365B6D16-774E-2C4E-96F7-E8037374005D}"/>
              </a:ext>
            </a:extLst>
          </p:cNvPr>
          <p:cNvSpPr/>
          <p:nvPr/>
        </p:nvSpPr>
        <p:spPr>
          <a:xfrm>
            <a:off x="6804556" y="7064245"/>
            <a:ext cx="1461684"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Share Initial Business Case</a:t>
            </a:r>
            <a:endParaRPr sz="1200" kern="1200" dirty="0">
              <a:solidFill>
                <a:schemeClr val="bg1"/>
              </a:solidFill>
              <a:sym typeface="Helvetica Neue Medium"/>
            </a:endParaRPr>
          </a:p>
        </p:txBody>
      </p:sp>
      <p:sp>
        <p:nvSpPr>
          <p:cNvPr id="35" name="Rounded Rectangle">
            <a:extLst>
              <a:ext uri="{FF2B5EF4-FFF2-40B4-BE49-F238E27FC236}">
                <a16:creationId xmlns:a16="http://schemas.microsoft.com/office/drawing/2014/main" id="{675E93FA-ACB1-014A-80AE-632C0535CC4D}"/>
              </a:ext>
            </a:extLst>
          </p:cNvPr>
          <p:cNvSpPr/>
          <p:nvPr/>
        </p:nvSpPr>
        <p:spPr>
          <a:xfrm>
            <a:off x="3560563" y="2239806"/>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b="1" dirty="0">
                <a:solidFill>
                  <a:schemeClr val="bg1"/>
                </a:solidFill>
                <a:sym typeface="Helvetica Neue Medium"/>
              </a:rPr>
              <a:t>CCOE Foundations</a:t>
            </a:r>
          </a:p>
        </p:txBody>
      </p:sp>
      <p:sp>
        <p:nvSpPr>
          <p:cNvPr id="36" name="Rounded Rectangle">
            <a:extLst>
              <a:ext uri="{FF2B5EF4-FFF2-40B4-BE49-F238E27FC236}">
                <a16:creationId xmlns:a16="http://schemas.microsoft.com/office/drawing/2014/main" id="{B459A012-BC81-8245-950C-4039F1A55DF9}"/>
              </a:ext>
            </a:extLst>
          </p:cNvPr>
          <p:cNvSpPr/>
          <p:nvPr/>
        </p:nvSpPr>
        <p:spPr>
          <a:xfrm>
            <a:off x="5206843" y="2239806"/>
            <a:ext cx="1461684" cy="453020"/>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chemeClr val="bg1"/>
                </a:solidFill>
                <a:sym typeface="Helvetica Neue Medium"/>
              </a:rPr>
              <a:t>Engage the AWS Training team for a learning needs assessment</a:t>
            </a:r>
            <a:endParaRPr sz="900" kern="1200" dirty="0">
              <a:solidFill>
                <a:schemeClr val="bg1"/>
              </a:solidFill>
              <a:sym typeface="Helvetica Neue Medium"/>
            </a:endParaRPr>
          </a:p>
        </p:txBody>
      </p:sp>
      <p:pic>
        <p:nvPicPr>
          <p:cNvPr id="37" name="Picture 36">
            <a:extLst>
              <a:ext uri="{FF2B5EF4-FFF2-40B4-BE49-F238E27FC236}">
                <a16:creationId xmlns:a16="http://schemas.microsoft.com/office/drawing/2014/main" id="{A9D69B28-A2B8-F147-96CA-58013AD0F11C}"/>
              </a:ext>
            </a:extLst>
          </p:cNvPr>
          <p:cNvPicPr>
            <a:picLocks noChangeAspect="1"/>
          </p:cNvPicPr>
          <p:nvPr/>
        </p:nvPicPr>
        <p:blipFill>
          <a:blip r:embed="rId5"/>
          <a:stretch>
            <a:fillRect/>
          </a:stretch>
        </p:blipFill>
        <p:spPr>
          <a:xfrm>
            <a:off x="3350096" y="1341688"/>
            <a:ext cx="210467" cy="290104"/>
          </a:xfrm>
          <a:prstGeom prst="rect">
            <a:avLst/>
          </a:prstGeom>
        </p:spPr>
      </p:pic>
      <p:pic>
        <p:nvPicPr>
          <p:cNvPr id="38" name="Picture 37">
            <a:extLst>
              <a:ext uri="{FF2B5EF4-FFF2-40B4-BE49-F238E27FC236}">
                <a16:creationId xmlns:a16="http://schemas.microsoft.com/office/drawing/2014/main" id="{62507B8F-44F2-6C4E-B342-8E088BDBDDFE}"/>
              </a:ext>
            </a:extLst>
          </p:cNvPr>
          <p:cNvPicPr>
            <a:picLocks noChangeAspect="1"/>
          </p:cNvPicPr>
          <p:nvPr/>
        </p:nvPicPr>
        <p:blipFill>
          <a:blip r:embed="rId5"/>
          <a:stretch>
            <a:fillRect/>
          </a:stretch>
        </p:blipFill>
        <p:spPr>
          <a:xfrm>
            <a:off x="4988415" y="1365501"/>
            <a:ext cx="210467" cy="290104"/>
          </a:xfrm>
          <a:prstGeom prst="rect">
            <a:avLst/>
          </a:prstGeom>
        </p:spPr>
      </p:pic>
      <p:pic>
        <p:nvPicPr>
          <p:cNvPr id="39" name="Picture 38">
            <a:extLst>
              <a:ext uri="{FF2B5EF4-FFF2-40B4-BE49-F238E27FC236}">
                <a16:creationId xmlns:a16="http://schemas.microsoft.com/office/drawing/2014/main" id="{BB97CEA6-7510-AB44-937F-2B7050A89CEA}"/>
              </a:ext>
            </a:extLst>
          </p:cNvPr>
          <p:cNvPicPr>
            <a:picLocks noChangeAspect="1"/>
          </p:cNvPicPr>
          <p:nvPr/>
        </p:nvPicPr>
        <p:blipFill>
          <a:blip r:embed="rId5"/>
          <a:stretch>
            <a:fillRect/>
          </a:stretch>
        </p:blipFill>
        <p:spPr>
          <a:xfrm>
            <a:off x="6622001" y="1360228"/>
            <a:ext cx="210467" cy="290104"/>
          </a:xfrm>
          <a:prstGeom prst="rect">
            <a:avLst/>
          </a:prstGeom>
        </p:spPr>
      </p:pic>
      <p:pic>
        <p:nvPicPr>
          <p:cNvPr id="40" name="Picture 39">
            <a:extLst>
              <a:ext uri="{FF2B5EF4-FFF2-40B4-BE49-F238E27FC236}">
                <a16:creationId xmlns:a16="http://schemas.microsoft.com/office/drawing/2014/main" id="{BC72A180-2947-9E4D-BC18-20F833BCD527}"/>
              </a:ext>
            </a:extLst>
          </p:cNvPr>
          <p:cNvPicPr>
            <a:picLocks noChangeAspect="1"/>
          </p:cNvPicPr>
          <p:nvPr/>
        </p:nvPicPr>
        <p:blipFill>
          <a:blip r:embed="rId5"/>
          <a:stretch>
            <a:fillRect/>
          </a:stretch>
        </p:blipFill>
        <p:spPr>
          <a:xfrm>
            <a:off x="8253625" y="1365501"/>
            <a:ext cx="210467" cy="290104"/>
          </a:xfrm>
          <a:prstGeom prst="rect">
            <a:avLst/>
          </a:prstGeom>
        </p:spPr>
      </p:pic>
      <p:sp>
        <p:nvSpPr>
          <p:cNvPr id="41" name="TextBox 40">
            <a:extLst>
              <a:ext uri="{FF2B5EF4-FFF2-40B4-BE49-F238E27FC236}">
                <a16:creationId xmlns:a16="http://schemas.microsoft.com/office/drawing/2014/main" id="{4A694DED-0DB3-954B-9277-8F2B3B541B8B}"/>
              </a:ext>
            </a:extLst>
          </p:cNvPr>
          <p:cNvSpPr txBox="1"/>
          <p:nvPr/>
        </p:nvSpPr>
        <p:spPr>
          <a:xfrm>
            <a:off x="450525" y="1610254"/>
            <a:ext cx="1469608" cy="430887"/>
          </a:xfrm>
          <a:prstGeom prst="rect">
            <a:avLst/>
          </a:prstGeom>
          <a:noFill/>
        </p:spPr>
        <p:txBody>
          <a:bodyPr wrap="square" rtlCol="0">
            <a:spAutoFit/>
          </a:bodyPr>
          <a:lstStyle/>
          <a:p>
            <a:pPr defTabSz="1097280" hangingPunct="1"/>
            <a:r>
              <a:rPr lang="en-US" sz="1100" kern="1200" dirty="0">
                <a:solidFill>
                  <a:schemeClr val="tx1"/>
                </a:solidFill>
                <a:latin typeface="+mn-lt"/>
                <a:ea typeface="+mn-ea"/>
                <a:cs typeface="+mn-cs"/>
              </a:rPr>
              <a:t>Weekly Customer Executive  Meeting </a:t>
            </a:r>
          </a:p>
        </p:txBody>
      </p:sp>
      <p:sp>
        <p:nvSpPr>
          <p:cNvPr id="33" name="Rounded Rectangle">
            <a:extLst>
              <a:ext uri="{FF2B5EF4-FFF2-40B4-BE49-F238E27FC236}">
                <a16:creationId xmlns:a16="http://schemas.microsoft.com/office/drawing/2014/main" id="{254929AA-2299-2343-9991-E6DE4E9B809C}"/>
              </a:ext>
            </a:extLst>
          </p:cNvPr>
          <p:cNvSpPr/>
          <p:nvPr/>
        </p:nvSpPr>
        <p:spPr>
          <a:xfrm>
            <a:off x="5224981" y="5903225"/>
            <a:ext cx="1461684"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kern="1200" dirty="0">
                <a:solidFill>
                  <a:schemeClr val="bg1"/>
                </a:solidFill>
                <a:sym typeface="Helvetica Neue Medium"/>
              </a:rPr>
              <a:t>Identify Pilot Apps</a:t>
            </a:r>
            <a:endParaRPr sz="1200" kern="1200" dirty="0">
              <a:solidFill>
                <a:schemeClr val="bg1"/>
              </a:solidFill>
              <a:sym typeface="Helvetica Neue Medium"/>
            </a:endParaRPr>
          </a:p>
        </p:txBody>
      </p:sp>
      <p:sp>
        <p:nvSpPr>
          <p:cNvPr id="42" name="Rounded Rectangle">
            <a:extLst>
              <a:ext uri="{FF2B5EF4-FFF2-40B4-BE49-F238E27FC236}">
                <a16:creationId xmlns:a16="http://schemas.microsoft.com/office/drawing/2014/main" id="{7796D665-680D-CE40-A6C9-2A98BA34ECE8}"/>
              </a:ext>
            </a:extLst>
          </p:cNvPr>
          <p:cNvSpPr/>
          <p:nvPr/>
        </p:nvSpPr>
        <p:spPr>
          <a:xfrm>
            <a:off x="1906402" y="4061737"/>
            <a:ext cx="704837"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800" dirty="0">
                <a:solidFill>
                  <a:schemeClr val="bg1"/>
                </a:solidFill>
                <a:sym typeface="Helvetica Neue Medium"/>
              </a:rPr>
              <a:t>3</a:t>
            </a:r>
            <a:r>
              <a:rPr lang="en-US" sz="800" baseline="30000" dirty="0">
                <a:solidFill>
                  <a:schemeClr val="bg1"/>
                </a:solidFill>
                <a:sym typeface="Helvetica Neue Medium"/>
              </a:rPr>
              <a:t>rd</a:t>
            </a:r>
            <a:r>
              <a:rPr lang="en-US" sz="800" dirty="0">
                <a:solidFill>
                  <a:schemeClr val="bg1"/>
                </a:solidFill>
                <a:sym typeface="Helvetica Neue Medium"/>
              </a:rPr>
              <a:t> party risk assessment</a:t>
            </a:r>
            <a:endParaRPr sz="800" kern="1200" dirty="0">
              <a:solidFill>
                <a:schemeClr val="bg1"/>
              </a:solidFill>
              <a:sym typeface="Helvetica Neue Medium"/>
            </a:endParaRPr>
          </a:p>
        </p:txBody>
      </p:sp>
      <p:sp>
        <p:nvSpPr>
          <p:cNvPr id="45" name="Rounded Rectangle">
            <a:extLst>
              <a:ext uri="{FF2B5EF4-FFF2-40B4-BE49-F238E27FC236}">
                <a16:creationId xmlns:a16="http://schemas.microsoft.com/office/drawing/2014/main" id="{9370A44A-B441-E341-99E6-B9E48E6216C2}"/>
              </a:ext>
            </a:extLst>
          </p:cNvPr>
          <p:cNvSpPr/>
          <p:nvPr/>
        </p:nvSpPr>
        <p:spPr>
          <a:xfrm>
            <a:off x="3542425" y="4047372"/>
            <a:ext cx="3126102"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Security Baseline Validation</a:t>
            </a:r>
            <a:endParaRPr sz="1000" kern="1200" dirty="0">
              <a:solidFill>
                <a:schemeClr val="bg1"/>
              </a:solidFill>
              <a:sym typeface="Helvetica Neue Medium"/>
            </a:endParaRPr>
          </a:p>
        </p:txBody>
      </p:sp>
      <p:sp>
        <p:nvSpPr>
          <p:cNvPr id="46" name="Rounded Rectangle">
            <a:extLst>
              <a:ext uri="{FF2B5EF4-FFF2-40B4-BE49-F238E27FC236}">
                <a16:creationId xmlns:a16="http://schemas.microsoft.com/office/drawing/2014/main" id="{BBF815D8-C14A-6244-B784-5C5E724C4CD1}"/>
              </a:ext>
            </a:extLst>
          </p:cNvPr>
          <p:cNvSpPr/>
          <p:nvPr/>
        </p:nvSpPr>
        <p:spPr>
          <a:xfrm>
            <a:off x="3542301" y="3458393"/>
            <a:ext cx="3138219"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Network Baseline Validation</a:t>
            </a:r>
            <a:endParaRPr sz="1000" kern="1200" dirty="0">
              <a:solidFill>
                <a:schemeClr val="bg1"/>
              </a:solidFill>
              <a:sym typeface="Helvetica Neue Medium"/>
            </a:endParaRPr>
          </a:p>
        </p:txBody>
      </p:sp>
      <p:sp>
        <p:nvSpPr>
          <p:cNvPr id="47" name="Rounded Rectangle">
            <a:extLst>
              <a:ext uri="{FF2B5EF4-FFF2-40B4-BE49-F238E27FC236}">
                <a16:creationId xmlns:a16="http://schemas.microsoft.com/office/drawing/2014/main" id="{4740DED6-69A3-9947-BF53-1109142B363F}"/>
              </a:ext>
            </a:extLst>
          </p:cNvPr>
          <p:cNvSpPr/>
          <p:nvPr/>
        </p:nvSpPr>
        <p:spPr>
          <a:xfrm>
            <a:off x="3560563" y="4661042"/>
            <a:ext cx="3107964" cy="453020"/>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Ops Baseline Validation</a:t>
            </a:r>
            <a:endParaRPr sz="1000" kern="1200" dirty="0">
              <a:solidFill>
                <a:schemeClr val="bg1"/>
              </a:solidFill>
              <a:sym typeface="Helvetica Neue Medium"/>
            </a:endParaRPr>
          </a:p>
        </p:txBody>
      </p:sp>
      <p:sp>
        <p:nvSpPr>
          <p:cNvPr id="48" name="Rounded Rectangle">
            <a:extLst>
              <a:ext uri="{FF2B5EF4-FFF2-40B4-BE49-F238E27FC236}">
                <a16:creationId xmlns:a16="http://schemas.microsoft.com/office/drawing/2014/main" id="{BB573EE8-15A8-BB4A-8AF4-7EF05EE8E750}"/>
              </a:ext>
            </a:extLst>
          </p:cNvPr>
          <p:cNvSpPr/>
          <p:nvPr/>
        </p:nvSpPr>
        <p:spPr>
          <a:xfrm>
            <a:off x="3584822" y="5255377"/>
            <a:ext cx="3037179"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b="1" dirty="0">
                <a:solidFill>
                  <a:schemeClr val="bg1"/>
                </a:solidFill>
                <a:sym typeface="Helvetica Neue Medium"/>
              </a:rPr>
              <a:t>Migration Factory Validation</a:t>
            </a:r>
            <a:endParaRPr sz="1200" b="1" kern="1200" dirty="0">
              <a:solidFill>
                <a:schemeClr val="bg1"/>
              </a:solidFill>
              <a:sym typeface="Helvetica Neue Medium"/>
            </a:endParaRPr>
          </a:p>
        </p:txBody>
      </p:sp>
      <p:sp>
        <p:nvSpPr>
          <p:cNvPr id="50" name="Rounded Rectangle">
            <a:extLst>
              <a:ext uri="{FF2B5EF4-FFF2-40B4-BE49-F238E27FC236}">
                <a16:creationId xmlns:a16="http://schemas.microsoft.com/office/drawing/2014/main" id="{4BA6B730-09C8-B445-923A-17602C0FBF1F}"/>
              </a:ext>
            </a:extLst>
          </p:cNvPr>
          <p:cNvSpPr/>
          <p:nvPr/>
        </p:nvSpPr>
        <p:spPr>
          <a:xfrm>
            <a:off x="1906402" y="2818663"/>
            <a:ext cx="1469608" cy="496508"/>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Procure Tools</a:t>
            </a:r>
            <a:br>
              <a:rPr lang="en-US" sz="900" kern="1200" dirty="0">
                <a:solidFill>
                  <a:srgbClr val="000000"/>
                </a:solidFill>
                <a:latin typeface="+mn-lt"/>
                <a:ea typeface="+mn-ea"/>
                <a:cs typeface="+mn-cs"/>
                <a:sym typeface="Helvetica Neue Medium"/>
              </a:rPr>
            </a:br>
            <a:r>
              <a:rPr lang="en-US" sz="900" kern="1200" dirty="0">
                <a:solidFill>
                  <a:srgbClr val="000000"/>
                </a:solidFill>
                <a:latin typeface="+mn-lt"/>
                <a:ea typeface="+mn-ea"/>
                <a:cs typeface="+mn-cs"/>
                <a:sym typeface="Helvetica Neue Medium"/>
              </a:rPr>
              <a:t>&amp; Deploy Delivery Kits </a:t>
            </a:r>
            <a:endParaRPr sz="900" kern="1200" dirty="0">
              <a:solidFill>
                <a:srgbClr val="000000"/>
              </a:solidFill>
              <a:latin typeface="+mn-lt"/>
              <a:ea typeface="+mn-ea"/>
              <a:cs typeface="+mn-cs"/>
              <a:sym typeface="Helvetica Neue Medium"/>
            </a:endParaRPr>
          </a:p>
        </p:txBody>
      </p:sp>
      <p:sp>
        <p:nvSpPr>
          <p:cNvPr id="51" name="Rounded Rectangle">
            <a:extLst>
              <a:ext uri="{FF2B5EF4-FFF2-40B4-BE49-F238E27FC236}">
                <a16:creationId xmlns:a16="http://schemas.microsoft.com/office/drawing/2014/main" id="{CC327C5F-5A04-5948-B5F3-00E20C0D0227}"/>
              </a:ext>
            </a:extLst>
          </p:cNvPr>
          <p:cNvSpPr/>
          <p:nvPr/>
        </p:nvSpPr>
        <p:spPr>
          <a:xfrm>
            <a:off x="3584822" y="2820179"/>
            <a:ext cx="1437425" cy="261092"/>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Load Tailored Backlogs</a:t>
            </a:r>
            <a:endParaRPr sz="900" kern="1200" dirty="0">
              <a:solidFill>
                <a:srgbClr val="000000"/>
              </a:solidFill>
              <a:latin typeface="+mn-lt"/>
              <a:ea typeface="+mn-ea"/>
              <a:cs typeface="+mn-cs"/>
              <a:sym typeface="Helvetica Neue Medium"/>
            </a:endParaRPr>
          </a:p>
        </p:txBody>
      </p:sp>
      <p:sp>
        <p:nvSpPr>
          <p:cNvPr id="52" name="Rounded Rectangle">
            <a:extLst>
              <a:ext uri="{FF2B5EF4-FFF2-40B4-BE49-F238E27FC236}">
                <a16:creationId xmlns:a16="http://schemas.microsoft.com/office/drawing/2014/main" id="{44C92856-8C2E-6147-A5B3-87ECACAE6F9F}"/>
              </a:ext>
            </a:extLst>
          </p:cNvPr>
          <p:cNvSpPr/>
          <p:nvPr/>
        </p:nvSpPr>
        <p:spPr>
          <a:xfrm>
            <a:off x="3584822" y="3107897"/>
            <a:ext cx="1437424" cy="215219"/>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Ceremonies Begin</a:t>
            </a:r>
            <a:endParaRPr sz="900" kern="1200" dirty="0">
              <a:solidFill>
                <a:srgbClr val="000000"/>
              </a:solidFill>
              <a:latin typeface="+mn-lt"/>
              <a:ea typeface="+mn-ea"/>
              <a:cs typeface="+mn-cs"/>
              <a:sym typeface="Helvetica Neue Medium"/>
            </a:endParaRPr>
          </a:p>
        </p:txBody>
      </p:sp>
      <p:sp>
        <p:nvSpPr>
          <p:cNvPr id="53" name="Rounded Rectangle">
            <a:extLst>
              <a:ext uri="{FF2B5EF4-FFF2-40B4-BE49-F238E27FC236}">
                <a16:creationId xmlns:a16="http://schemas.microsoft.com/office/drawing/2014/main" id="{727BBEF4-9C8B-0B49-BC5A-A769181907CA}"/>
              </a:ext>
            </a:extLst>
          </p:cNvPr>
          <p:cNvSpPr/>
          <p:nvPr/>
        </p:nvSpPr>
        <p:spPr>
          <a:xfrm>
            <a:off x="5224981" y="2835553"/>
            <a:ext cx="3041256" cy="479618"/>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Weekly Sprint Cadence (Stand-ups, Demo, Retro, Planning)  </a:t>
            </a:r>
            <a:endParaRPr sz="900" kern="1200" dirty="0">
              <a:solidFill>
                <a:srgbClr val="000000"/>
              </a:solidFill>
              <a:latin typeface="+mn-lt"/>
              <a:ea typeface="+mn-ea"/>
              <a:cs typeface="+mn-cs"/>
              <a:sym typeface="Helvetica Neue Medium"/>
            </a:endParaRPr>
          </a:p>
        </p:txBody>
      </p:sp>
      <p:sp>
        <p:nvSpPr>
          <p:cNvPr id="49" name="Rounded Rectangle">
            <a:extLst>
              <a:ext uri="{FF2B5EF4-FFF2-40B4-BE49-F238E27FC236}">
                <a16:creationId xmlns:a16="http://schemas.microsoft.com/office/drawing/2014/main" id="{53C21C33-28E5-4041-A974-625BC3B86F1E}"/>
              </a:ext>
            </a:extLst>
          </p:cNvPr>
          <p:cNvSpPr/>
          <p:nvPr/>
        </p:nvSpPr>
        <p:spPr>
          <a:xfrm>
            <a:off x="6804556" y="3430681"/>
            <a:ext cx="1491787" cy="2277715"/>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Stress test foundational platform and migration factory</a:t>
            </a:r>
            <a:endParaRPr sz="1000" kern="1200" dirty="0">
              <a:solidFill>
                <a:schemeClr val="bg1"/>
              </a:solidFill>
              <a:sym typeface="Helvetica Neue Medium"/>
            </a:endParaRPr>
          </a:p>
        </p:txBody>
      </p:sp>
      <p:sp>
        <p:nvSpPr>
          <p:cNvPr id="54" name="Rounded Rectangle">
            <a:extLst>
              <a:ext uri="{FF2B5EF4-FFF2-40B4-BE49-F238E27FC236}">
                <a16:creationId xmlns:a16="http://schemas.microsoft.com/office/drawing/2014/main" id="{7E4FADCA-2DB5-9344-896A-FB8F37B8A1EF}"/>
              </a:ext>
            </a:extLst>
          </p:cNvPr>
          <p:cNvSpPr/>
          <p:nvPr/>
        </p:nvSpPr>
        <p:spPr>
          <a:xfrm>
            <a:off x="1922493" y="5263783"/>
            <a:ext cx="1437425"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200" b="1" dirty="0">
                <a:solidFill>
                  <a:schemeClr val="bg1"/>
                </a:solidFill>
                <a:sym typeface="Helvetica Neue Medium"/>
              </a:rPr>
              <a:t>Migration Immersion Day</a:t>
            </a:r>
            <a:endParaRPr sz="1200" b="1" kern="1200" dirty="0">
              <a:solidFill>
                <a:schemeClr val="bg1"/>
              </a:solidFill>
              <a:sym typeface="Helvetica Neue Medium"/>
            </a:endParaRPr>
          </a:p>
        </p:txBody>
      </p:sp>
      <p:graphicFrame>
        <p:nvGraphicFramePr>
          <p:cNvPr id="60" name="Table 3">
            <a:extLst>
              <a:ext uri="{FF2B5EF4-FFF2-40B4-BE49-F238E27FC236}">
                <a16:creationId xmlns:a16="http://schemas.microsoft.com/office/drawing/2014/main" id="{1E9ACDA7-6A3E-AA47-8714-C9748894BF9A}"/>
              </a:ext>
            </a:extLst>
          </p:cNvPr>
          <p:cNvGraphicFramePr>
            <a:graphicFrameLocks noGrp="1"/>
          </p:cNvGraphicFramePr>
          <p:nvPr/>
        </p:nvGraphicFramePr>
        <p:xfrm>
          <a:off x="516438" y="2161075"/>
          <a:ext cx="1314449" cy="5459399"/>
        </p:xfrm>
        <a:graphic>
          <a:graphicData uri="http://schemas.openxmlformats.org/drawingml/2006/table">
            <a:tbl>
              <a:tblPr firstRow="1" firstCol="1" bandRow="1">
                <a:tableStyleId>{5940675A-B579-460E-94D1-54222C63F5DA}</a:tableStyleId>
              </a:tblPr>
              <a:tblGrid>
                <a:gridCol w="1314449">
                  <a:extLst>
                    <a:ext uri="{9D8B030D-6E8A-4147-A177-3AD203B41FA5}">
                      <a16:colId xmlns:a16="http://schemas.microsoft.com/office/drawing/2014/main" val="2919571111"/>
                    </a:ext>
                  </a:extLst>
                </a:gridCol>
              </a:tblGrid>
              <a:tr h="610718">
                <a:tc>
                  <a:txBody>
                    <a:bodyPr/>
                    <a:lstStyle/>
                    <a:p>
                      <a:pPr algn="ctr"/>
                      <a:r>
                        <a:rPr lang="en-US" sz="1200" b="1" dirty="0">
                          <a:solidFill>
                            <a:schemeClr val="bg1"/>
                          </a:solidFill>
                        </a:rPr>
                        <a:t>People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38764479"/>
                  </a:ext>
                </a:extLst>
              </a:tr>
              <a:tr h="606872">
                <a:tc>
                  <a:txBody>
                    <a:bodyPr/>
                    <a:lstStyle/>
                    <a:p>
                      <a:pPr algn="ctr"/>
                      <a:r>
                        <a:rPr lang="en-US" sz="1200" b="1" dirty="0">
                          <a:solidFill>
                            <a:schemeClr val="bg1"/>
                          </a:solidFill>
                        </a:rPr>
                        <a:t>Mobilize Accelerator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37098806"/>
                  </a:ext>
                </a:extLst>
              </a:tr>
              <a:tr h="1824629">
                <a:tc>
                  <a:txBody>
                    <a:bodyPr/>
                    <a:lstStyle/>
                    <a:p>
                      <a:pPr algn="ctr"/>
                      <a:r>
                        <a:rPr lang="en-US" sz="1200" b="1" dirty="0">
                          <a:solidFill>
                            <a:schemeClr val="bg1"/>
                          </a:solidFill>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914186102"/>
                  </a:ext>
                </a:extLst>
              </a:tr>
              <a:tr h="1235485">
                <a:tc>
                  <a:txBody>
                    <a:bodyPr/>
                    <a:lstStyle/>
                    <a:p>
                      <a:pPr algn="ctr"/>
                      <a:r>
                        <a:rPr lang="en-US" sz="1200" b="1" dirty="0">
                          <a:solidFill>
                            <a:schemeClr val="bg1"/>
                          </a:solidFill>
                        </a:rPr>
                        <a:t>Migration &amp; Modernization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68070308"/>
                  </a:ext>
                </a:extLst>
              </a:tr>
              <a:tr h="1181695">
                <a:tc>
                  <a:txBody>
                    <a:bodyPr/>
                    <a:lstStyle/>
                    <a:p>
                      <a:pPr algn="ctr"/>
                      <a:r>
                        <a:rPr lang="en-US" sz="1200" b="1" dirty="0">
                          <a:solidFill>
                            <a:schemeClr val="bg1"/>
                          </a:solidFill>
                        </a:rPr>
                        <a:t>Portfolio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66FF"/>
                    </a:solidFill>
                  </a:tcPr>
                </a:tc>
                <a:extLst>
                  <a:ext uri="{0D108BD9-81ED-4DB2-BD59-A6C34878D82A}">
                    <a16:rowId xmlns:a16="http://schemas.microsoft.com/office/drawing/2014/main" val="702872097"/>
                  </a:ext>
                </a:extLst>
              </a:tr>
            </a:tbl>
          </a:graphicData>
        </a:graphic>
      </p:graphicFrame>
      <p:grpSp>
        <p:nvGrpSpPr>
          <p:cNvPr id="5" name="Group 4">
            <a:extLst>
              <a:ext uri="{FF2B5EF4-FFF2-40B4-BE49-F238E27FC236}">
                <a16:creationId xmlns:a16="http://schemas.microsoft.com/office/drawing/2014/main" id="{46AAEBFC-A154-B44B-B6AA-9CAE4CB38CAD}"/>
              </a:ext>
            </a:extLst>
          </p:cNvPr>
          <p:cNvGrpSpPr/>
          <p:nvPr/>
        </p:nvGrpSpPr>
        <p:grpSpPr>
          <a:xfrm>
            <a:off x="0" y="0"/>
            <a:ext cx="14630400" cy="8233891"/>
            <a:chOff x="0" y="0"/>
            <a:chExt cx="14630400" cy="8233891"/>
          </a:xfrm>
        </p:grpSpPr>
        <p:sp>
          <p:nvSpPr>
            <p:cNvPr id="6" name="TextBox 5">
              <a:extLst>
                <a:ext uri="{FF2B5EF4-FFF2-40B4-BE49-F238E27FC236}">
                  <a16:creationId xmlns:a16="http://schemas.microsoft.com/office/drawing/2014/main" id="{DDA3EEDE-8204-C346-A6C2-C601B3917635}"/>
                </a:ext>
              </a:extLst>
            </p:cNvPr>
            <p:cNvSpPr txBox="1"/>
            <p:nvPr/>
          </p:nvSpPr>
          <p:spPr>
            <a:xfrm rot="20294682">
              <a:off x="2057208" y="2945591"/>
              <a:ext cx="10507518" cy="1938992"/>
            </a:xfrm>
            <a:prstGeom prst="rect">
              <a:avLst/>
            </a:prstGeom>
            <a:solidFill>
              <a:schemeClr val="tx2"/>
            </a:solidFill>
          </p:spPr>
          <p:txBody>
            <a:bodyPr wrap="square" rtlCol="0">
              <a:spAutoFit/>
            </a:bodyPr>
            <a:lstStyle/>
            <a:p>
              <a:r>
                <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(Pick one of 3 based on delivery model) Modify based on MRA recommended actions: add/delete workstreams, workshops, briefings and otherwise based on focus areas from the recommendations, and high level critical actions for the customer to visualize MRA Prioritized List of Actions from slide 16. Highlight accelerators from AWS (EBA Parties, Workshops, Briefings) that are intended to create and sustain the momentum.</a:t>
              </a:r>
            </a:p>
          </p:txBody>
        </p:sp>
        <p:grpSp>
          <p:nvGrpSpPr>
            <p:cNvPr id="3" name="Group 2">
              <a:extLst>
                <a:ext uri="{FF2B5EF4-FFF2-40B4-BE49-F238E27FC236}">
                  <a16:creationId xmlns:a16="http://schemas.microsoft.com/office/drawing/2014/main" id="{70F9A59E-AA90-2A4D-A36F-9653D7E71082}"/>
                </a:ext>
              </a:extLst>
            </p:cNvPr>
            <p:cNvGrpSpPr/>
            <p:nvPr/>
          </p:nvGrpSpPr>
          <p:grpSpPr>
            <a:xfrm>
              <a:off x="0" y="0"/>
              <a:ext cx="14630400" cy="8233891"/>
              <a:chOff x="0" y="0"/>
              <a:chExt cx="14630400" cy="8233891"/>
            </a:xfrm>
          </p:grpSpPr>
          <p:sp>
            <p:nvSpPr>
              <p:cNvPr id="58" name="Rectangle 57">
                <a:extLst>
                  <a:ext uri="{FF2B5EF4-FFF2-40B4-BE49-F238E27FC236}">
                    <a16:creationId xmlns:a16="http://schemas.microsoft.com/office/drawing/2014/main" id="{E8D57DED-466F-D94C-B80B-789B6225D179}"/>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55" name="TextBox 54">
                <a:extLst>
                  <a:ext uri="{FF2B5EF4-FFF2-40B4-BE49-F238E27FC236}">
                    <a16:creationId xmlns:a16="http://schemas.microsoft.com/office/drawing/2014/main" id="{C97EDC96-2E06-D149-9901-4E66D344A914}"/>
                  </a:ext>
                </a:extLst>
              </p:cNvPr>
              <p:cNvSpPr txBox="1"/>
              <p:nvPr/>
            </p:nvSpPr>
            <p:spPr>
              <a:xfrm>
                <a:off x="0" y="7526005"/>
                <a:ext cx="14630400" cy="707886"/>
              </a:xfrm>
              <a:prstGeom prst="rect">
                <a:avLst/>
              </a:prstGeom>
              <a:solidFill>
                <a:srgbClr val="FF0000"/>
              </a:solid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FACILITATOR: Use this slide for customers which will engage with AWS ProServe for Mobilize and which already have an existing scalable and secure platform (LZ, Sec, Ops) built</a:t>
                </a:r>
              </a:p>
            </p:txBody>
          </p:sp>
        </p:grpSp>
      </p:grpSp>
    </p:spTree>
    <p:extLst>
      <p:ext uri="{BB962C8B-B14F-4D97-AF65-F5344CB8AC3E}">
        <p14:creationId xmlns:p14="http://schemas.microsoft.com/office/powerpoint/2010/main" val="135671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614" y="197771"/>
            <a:ext cx="13982827" cy="1079598"/>
          </a:xfrm>
        </p:spPr>
        <p:txBody>
          <a:bodyPr>
            <a:normAutofit/>
          </a:bodyPr>
          <a:lstStyle/>
          <a:p>
            <a:r>
              <a:rPr lang="en-US" dirty="0"/>
              <a:t>Post-MRA Cloud Migration Journey – Assess Phase</a:t>
            </a:r>
          </a:p>
        </p:txBody>
      </p:sp>
      <p:pic>
        <p:nvPicPr>
          <p:cNvPr id="9" name="Graphic 8">
            <a:extLst>
              <a:ext uri="{FF2B5EF4-FFF2-40B4-BE49-F238E27FC236}">
                <a16:creationId xmlns:a16="http://schemas.microsoft.com/office/drawing/2014/main" id="{9BA904E6-735B-E64B-87D4-CA2C84D69E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75396" y="0"/>
            <a:ext cx="1393371" cy="1393371"/>
          </a:xfrm>
          <a:prstGeom prst="rect">
            <a:avLst/>
          </a:prstGeom>
        </p:spPr>
      </p:pic>
      <p:sp>
        <p:nvSpPr>
          <p:cNvPr id="10" name="TextBox 9">
            <a:extLst>
              <a:ext uri="{FF2B5EF4-FFF2-40B4-BE49-F238E27FC236}">
                <a16:creationId xmlns:a16="http://schemas.microsoft.com/office/drawing/2014/main" id="{89D77E34-BF12-F945-9B5B-EFB6D8794913}"/>
              </a:ext>
            </a:extLst>
          </p:cNvPr>
          <p:cNvSpPr txBox="1"/>
          <p:nvPr/>
        </p:nvSpPr>
        <p:spPr>
          <a:xfrm>
            <a:off x="450525" y="954203"/>
            <a:ext cx="12479545" cy="338554"/>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Create and sustain momentum, address critical path items, catalyze your team in to action and delivery capability quickly</a:t>
            </a:r>
          </a:p>
        </p:txBody>
      </p:sp>
      <p:graphicFrame>
        <p:nvGraphicFramePr>
          <p:cNvPr id="7" name="Table 3">
            <a:extLst>
              <a:ext uri="{FF2B5EF4-FFF2-40B4-BE49-F238E27FC236}">
                <a16:creationId xmlns:a16="http://schemas.microsoft.com/office/drawing/2014/main" id="{41AA6982-9609-3C43-B6E4-A8AB37D1DE04}"/>
              </a:ext>
            </a:extLst>
          </p:cNvPr>
          <p:cNvGraphicFramePr>
            <a:graphicFrameLocks noGrp="1"/>
          </p:cNvGraphicFramePr>
          <p:nvPr/>
        </p:nvGraphicFramePr>
        <p:xfrm>
          <a:off x="1882730" y="1968202"/>
          <a:ext cx="6522979" cy="5245932"/>
        </p:xfrm>
        <a:graphic>
          <a:graphicData uri="http://schemas.openxmlformats.org/drawingml/2006/table">
            <a:tbl>
              <a:tblPr firstRow="1" firstCol="1" bandRow="1">
                <a:tableStyleId>{5940675A-B579-460E-94D1-54222C63F5DA}</a:tableStyleId>
              </a:tblPr>
              <a:tblGrid>
                <a:gridCol w="1627782">
                  <a:extLst>
                    <a:ext uri="{9D8B030D-6E8A-4147-A177-3AD203B41FA5}">
                      <a16:colId xmlns:a16="http://schemas.microsoft.com/office/drawing/2014/main" val="1345181805"/>
                    </a:ext>
                  </a:extLst>
                </a:gridCol>
                <a:gridCol w="1641423">
                  <a:extLst>
                    <a:ext uri="{9D8B030D-6E8A-4147-A177-3AD203B41FA5}">
                      <a16:colId xmlns:a16="http://schemas.microsoft.com/office/drawing/2014/main" val="3842254298"/>
                    </a:ext>
                  </a:extLst>
                </a:gridCol>
                <a:gridCol w="1633928">
                  <a:extLst>
                    <a:ext uri="{9D8B030D-6E8A-4147-A177-3AD203B41FA5}">
                      <a16:colId xmlns:a16="http://schemas.microsoft.com/office/drawing/2014/main" val="1484075571"/>
                    </a:ext>
                  </a:extLst>
                </a:gridCol>
                <a:gridCol w="1619846">
                  <a:extLst>
                    <a:ext uri="{9D8B030D-6E8A-4147-A177-3AD203B41FA5}">
                      <a16:colId xmlns:a16="http://schemas.microsoft.com/office/drawing/2014/main" val="255111226"/>
                    </a:ext>
                  </a:extLst>
                </a:gridCol>
              </a:tblGrid>
              <a:tr h="342039">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927044"/>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764479"/>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4186102"/>
                  </a:ext>
                </a:extLst>
              </a:tr>
              <a:tr h="60565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54133"/>
                  </a:ext>
                </a:extLst>
              </a:tr>
              <a:tr h="601247">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2211527"/>
                  </a:ext>
                </a:extLst>
              </a:tr>
              <a:tr h="63267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070308"/>
                  </a:ext>
                </a:extLst>
              </a:tr>
              <a:tr h="61783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906302"/>
                  </a:ext>
                </a:extLst>
              </a:tr>
              <a:tr h="57829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872097"/>
                  </a:ext>
                </a:extLst>
              </a:tr>
              <a:tr h="57829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3714521"/>
                  </a:ext>
                </a:extLst>
              </a:tr>
            </a:tbl>
          </a:graphicData>
        </a:graphic>
      </p:graphicFrame>
      <p:sp>
        <p:nvSpPr>
          <p:cNvPr id="49" name="Rounded Rectangle">
            <a:extLst>
              <a:ext uri="{FF2B5EF4-FFF2-40B4-BE49-F238E27FC236}">
                <a16:creationId xmlns:a16="http://schemas.microsoft.com/office/drawing/2014/main" id="{AB29A595-BB7D-FB48-B61F-D5C7E78EAE71}"/>
              </a:ext>
            </a:extLst>
          </p:cNvPr>
          <p:cNvSpPr/>
          <p:nvPr/>
        </p:nvSpPr>
        <p:spPr>
          <a:xfrm>
            <a:off x="6848686" y="2553569"/>
            <a:ext cx="1461684" cy="4704220"/>
          </a:xfrm>
          <a:prstGeom prst="roundRect">
            <a:avLst>
              <a:gd name="adj" fmla="val 22203"/>
            </a:avLst>
          </a:prstGeom>
          <a:solidFill>
            <a:schemeClr val="accent6"/>
          </a:solidFill>
          <a:ln w="38100">
            <a:noFill/>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200" b="1" kern="1200" dirty="0">
                <a:solidFill>
                  <a:schemeClr val="bg1"/>
                </a:solidFill>
                <a:latin typeface="+mn-lt"/>
                <a:ea typeface="+mn-ea"/>
                <a:cs typeface="+mn-cs"/>
                <a:sym typeface="Helvetica Neue Medium"/>
              </a:rPr>
              <a:t>Platform</a:t>
            </a:r>
          </a:p>
          <a:p>
            <a:pPr algn="ctr" defTabSz="1097280" hangingPunct="1">
              <a:defRPr sz="3000" b="0">
                <a:latin typeface="+mn-lt"/>
                <a:ea typeface="+mn-ea"/>
                <a:cs typeface="+mn-cs"/>
                <a:sym typeface="Helvetica Neue Medium"/>
              </a:defRPr>
            </a:pPr>
            <a:r>
              <a:rPr lang="en-US" sz="1200" b="1" kern="1200" dirty="0">
                <a:solidFill>
                  <a:schemeClr val="bg1"/>
                </a:solidFill>
                <a:latin typeface="+mn-lt"/>
                <a:ea typeface="+mn-ea"/>
                <a:cs typeface="+mn-cs"/>
                <a:sym typeface="Helvetica Neue Medium"/>
              </a:rPr>
              <a:t>Party</a:t>
            </a:r>
            <a:endParaRPr sz="1200" b="1" kern="1200" dirty="0">
              <a:solidFill>
                <a:schemeClr val="bg1"/>
              </a:solidFill>
              <a:latin typeface="+mn-lt"/>
              <a:ea typeface="+mn-ea"/>
              <a:cs typeface="+mn-cs"/>
              <a:sym typeface="Helvetica Neue Medium"/>
            </a:endParaRPr>
          </a:p>
        </p:txBody>
      </p:sp>
      <p:sp>
        <p:nvSpPr>
          <p:cNvPr id="57" name="Rounded Rectangle">
            <a:extLst>
              <a:ext uri="{FF2B5EF4-FFF2-40B4-BE49-F238E27FC236}">
                <a16:creationId xmlns:a16="http://schemas.microsoft.com/office/drawing/2014/main" id="{BD6F9ECB-EE30-764B-9F0A-54606F39C4F5}"/>
              </a:ext>
            </a:extLst>
          </p:cNvPr>
          <p:cNvSpPr/>
          <p:nvPr/>
        </p:nvSpPr>
        <p:spPr>
          <a:xfrm>
            <a:off x="3602223" y="3163386"/>
            <a:ext cx="1454363" cy="478285"/>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Establish Landing Zone Requirements</a:t>
            </a:r>
            <a:endParaRPr sz="1000" kern="1200" dirty="0">
              <a:solidFill>
                <a:schemeClr val="bg1"/>
              </a:solidFill>
              <a:sym typeface="Helvetica Neue Medium"/>
            </a:endParaRPr>
          </a:p>
        </p:txBody>
      </p:sp>
      <p:sp>
        <p:nvSpPr>
          <p:cNvPr id="58" name="Rounded Rectangle">
            <a:extLst>
              <a:ext uri="{FF2B5EF4-FFF2-40B4-BE49-F238E27FC236}">
                <a16:creationId xmlns:a16="http://schemas.microsoft.com/office/drawing/2014/main" id="{96820E6C-CF9F-EA4C-9C9F-CBE89F89B21C}"/>
              </a:ext>
            </a:extLst>
          </p:cNvPr>
          <p:cNvSpPr/>
          <p:nvPr/>
        </p:nvSpPr>
        <p:spPr>
          <a:xfrm>
            <a:off x="5246063" y="3152489"/>
            <a:ext cx="1461684" cy="478285"/>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Confirm pre-req platform needs to accommodate</a:t>
            </a:r>
            <a:endParaRPr sz="1000" kern="1200" dirty="0">
              <a:solidFill>
                <a:schemeClr val="bg1"/>
              </a:solidFill>
              <a:latin typeface="+mn-lt"/>
              <a:ea typeface="+mn-ea"/>
              <a:cs typeface="+mn-cs"/>
              <a:sym typeface="Helvetica Neue Medium"/>
            </a:endParaRPr>
          </a:p>
        </p:txBody>
      </p:sp>
      <p:sp>
        <p:nvSpPr>
          <p:cNvPr id="59" name="Rounded Rectangle">
            <a:extLst>
              <a:ext uri="{FF2B5EF4-FFF2-40B4-BE49-F238E27FC236}">
                <a16:creationId xmlns:a16="http://schemas.microsoft.com/office/drawing/2014/main" id="{804C9D9D-AA0D-454C-A508-542C8EAEE8C0}"/>
              </a:ext>
            </a:extLst>
          </p:cNvPr>
          <p:cNvSpPr/>
          <p:nvPr/>
        </p:nvSpPr>
        <p:spPr>
          <a:xfrm>
            <a:off x="1985531" y="3783187"/>
            <a:ext cx="1443469" cy="454623"/>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rPr>
              <a:t>Review Sec Controls &amp; Translation to Cloud</a:t>
            </a:r>
          </a:p>
        </p:txBody>
      </p:sp>
      <p:sp>
        <p:nvSpPr>
          <p:cNvPr id="62" name="Rounded Rectangle">
            <a:extLst>
              <a:ext uri="{FF2B5EF4-FFF2-40B4-BE49-F238E27FC236}">
                <a16:creationId xmlns:a16="http://schemas.microsoft.com/office/drawing/2014/main" id="{FBCFAE5A-1A9D-B540-93AF-302518439CC9}"/>
              </a:ext>
            </a:extLst>
          </p:cNvPr>
          <p:cNvSpPr/>
          <p:nvPr/>
        </p:nvSpPr>
        <p:spPr>
          <a:xfrm>
            <a:off x="1957199" y="6226738"/>
            <a:ext cx="956621" cy="439687"/>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Review existing Inventory</a:t>
            </a:r>
            <a:endParaRPr sz="1000" kern="1200" dirty="0">
              <a:solidFill>
                <a:schemeClr val="bg1"/>
              </a:solidFill>
              <a:latin typeface="+mn-lt"/>
              <a:ea typeface="+mn-ea"/>
              <a:cs typeface="+mn-cs"/>
              <a:sym typeface="Helvetica Neue Medium"/>
            </a:endParaRPr>
          </a:p>
        </p:txBody>
      </p:sp>
      <p:pic>
        <p:nvPicPr>
          <p:cNvPr id="28" name="Picture 27">
            <a:extLst>
              <a:ext uri="{FF2B5EF4-FFF2-40B4-BE49-F238E27FC236}">
                <a16:creationId xmlns:a16="http://schemas.microsoft.com/office/drawing/2014/main" id="{53DC45F3-A7C6-9C4B-AAA0-B1727C5967F0}"/>
              </a:ext>
            </a:extLst>
          </p:cNvPr>
          <p:cNvPicPr>
            <a:picLocks noChangeAspect="1"/>
          </p:cNvPicPr>
          <p:nvPr/>
        </p:nvPicPr>
        <p:blipFill>
          <a:blip r:embed="rId5"/>
          <a:stretch>
            <a:fillRect/>
          </a:stretch>
        </p:blipFill>
        <p:spPr>
          <a:xfrm>
            <a:off x="1778657" y="1683373"/>
            <a:ext cx="210467" cy="290104"/>
          </a:xfrm>
          <a:prstGeom prst="rect">
            <a:avLst/>
          </a:prstGeom>
        </p:spPr>
      </p:pic>
      <p:sp>
        <p:nvSpPr>
          <p:cNvPr id="29" name="Rounded Rectangle">
            <a:extLst>
              <a:ext uri="{FF2B5EF4-FFF2-40B4-BE49-F238E27FC236}">
                <a16:creationId xmlns:a16="http://schemas.microsoft.com/office/drawing/2014/main" id="{E466EE85-6AB1-1244-8BD5-802D09704FF7}"/>
              </a:ext>
            </a:extLst>
          </p:cNvPr>
          <p:cNvSpPr/>
          <p:nvPr/>
        </p:nvSpPr>
        <p:spPr>
          <a:xfrm>
            <a:off x="1916732" y="2002861"/>
            <a:ext cx="155770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1</a:t>
            </a:r>
            <a:endParaRPr sz="900" kern="1200" dirty="0">
              <a:solidFill>
                <a:srgbClr val="000000"/>
              </a:solidFill>
              <a:latin typeface="+mn-lt"/>
              <a:ea typeface="+mn-ea"/>
              <a:cs typeface="+mn-cs"/>
              <a:sym typeface="Helvetica Neue Medium"/>
            </a:endParaRPr>
          </a:p>
        </p:txBody>
      </p:sp>
      <p:sp>
        <p:nvSpPr>
          <p:cNvPr id="30" name="Rounded Rectangle">
            <a:extLst>
              <a:ext uri="{FF2B5EF4-FFF2-40B4-BE49-F238E27FC236}">
                <a16:creationId xmlns:a16="http://schemas.microsoft.com/office/drawing/2014/main" id="{25F7F7AE-CC62-CA48-BE2F-41817EA8B560}"/>
              </a:ext>
            </a:extLst>
          </p:cNvPr>
          <p:cNvSpPr/>
          <p:nvPr/>
        </p:nvSpPr>
        <p:spPr>
          <a:xfrm>
            <a:off x="3550556" y="2010346"/>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2</a:t>
            </a:r>
            <a:endParaRPr sz="900" kern="1200" dirty="0">
              <a:solidFill>
                <a:srgbClr val="000000"/>
              </a:solidFill>
              <a:latin typeface="+mn-lt"/>
              <a:ea typeface="+mn-ea"/>
              <a:cs typeface="+mn-cs"/>
              <a:sym typeface="Helvetica Neue Medium"/>
            </a:endParaRPr>
          </a:p>
        </p:txBody>
      </p:sp>
      <p:sp>
        <p:nvSpPr>
          <p:cNvPr id="31" name="Rounded Rectangle">
            <a:extLst>
              <a:ext uri="{FF2B5EF4-FFF2-40B4-BE49-F238E27FC236}">
                <a16:creationId xmlns:a16="http://schemas.microsoft.com/office/drawing/2014/main" id="{4BA315B1-BA50-014C-A700-5C315B83208C}"/>
              </a:ext>
            </a:extLst>
          </p:cNvPr>
          <p:cNvSpPr/>
          <p:nvPr/>
        </p:nvSpPr>
        <p:spPr>
          <a:xfrm>
            <a:off x="5191653" y="2014209"/>
            <a:ext cx="1557699"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3</a:t>
            </a:r>
            <a:endParaRPr sz="900" kern="1200" dirty="0">
              <a:solidFill>
                <a:srgbClr val="000000"/>
              </a:solidFill>
              <a:latin typeface="+mn-lt"/>
              <a:ea typeface="+mn-ea"/>
              <a:cs typeface="+mn-cs"/>
              <a:sym typeface="Helvetica Neue Medium"/>
            </a:endParaRPr>
          </a:p>
        </p:txBody>
      </p:sp>
      <p:sp>
        <p:nvSpPr>
          <p:cNvPr id="32" name="Rounded Rectangle">
            <a:extLst>
              <a:ext uri="{FF2B5EF4-FFF2-40B4-BE49-F238E27FC236}">
                <a16:creationId xmlns:a16="http://schemas.microsoft.com/office/drawing/2014/main" id="{3BA0C5BA-87A8-0E49-8E49-14235C81C415}"/>
              </a:ext>
            </a:extLst>
          </p:cNvPr>
          <p:cNvSpPr/>
          <p:nvPr/>
        </p:nvSpPr>
        <p:spPr>
          <a:xfrm>
            <a:off x="6807121" y="2002861"/>
            <a:ext cx="1557698"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4</a:t>
            </a:r>
            <a:endParaRPr sz="900" kern="1200" dirty="0">
              <a:solidFill>
                <a:srgbClr val="000000"/>
              </a:solidFill>
              <a:latin typeface="+mn-lt"/>
              <a:ea typeface="+mn-ea"/>
              <a:cs typeface="+mn-cs"/>
              <a:sym typeface="Helvetica Neue Medium"/>
            </a:endParaRPr>
          </a:p>
        </p:txBody>
      </p:sp>
      <p:sp>
        <p:nvSpPr>
          <p:cNvPr id="35" name="Rounded Rectangle">
            <a:extLst>
              <a:ext uri="{FF2B5EF4-FFF2-40B4-BE49-F238E27FC236}">
                <a16:creationId xmlns:a16="http://schemas.microsoft.com/office/drawing/2014/main" id="{675E93FA-ACB1-014A-80AE-632C0535CC4D}"/>
              </a:ext>
            </a:extLst>
          </p:cNvPr>
          <p:cNvSpPr/>
          <p:nvPr/>
        </p:nvSpPr>
        <p:spPr>
          <a:xfrm>
            <a:off x="3614691" y="2563682"/>
            <a:ext cx="1454363" cy="446773"/>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463040">
              <a:defRPr/>
            </a:pPr>
            <a:r>
              <a:rPr lang="en-US" sz="1000" dirty="0">
                <a:solidFill>
                  <a:schemeClr val="bg1"/>
                </a:solidFill>
              </a:rPr>
              <a:t>Review COE &amp; Org Structure</a:t>
            </a:r>
          </a:p>
          <a:p>
            <a:pPr algn="ctr" defTabSz="1463040">
              <a:defRPr/>
            </a:pPr>
            <a:r>
              <a:rPr lang="en-US" sz="1000" dirty="0">
                <a:solidFill>
                  <a:schemeClr val="bg1"/>
                </a:solidFill>
              </a:rPr>
              <a:t>Identify Resources</a:t>
            </a:r>
          </a:p>
        </p:txBody>
      </p:sp>
      <p:sp>
        <p:nvSpPr>
          <p:cNvPr id="36" name="Rounded Rectangle">
            <a:extLst>
              <a:ext uri="{FF2B5EF4-FFF2-40B4-BE49-F238E27FC236}">
                <a16:creationId xmlns:a16="http://schemas.microsoft.com/office/drawing/2014/main" id="{B459A012-BC81-8245-950C-4039F1A55DF9}"/>
              </a:ext>
            </a:extLst>
          </p:cNvPr>
          <p:cNvSpPr/>
          <p:nvPr/>
        </p:nvSpPr>
        <p:spPr>
          <a:xfrm>
            <a:off x="5251418" y="2573174"/>
            <a:ext cx="1454363" cy="443534"/>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463040">
              <a:defRPr/>
            </a:pPr>
            <a:r>
              <a:rPr lang="en-US" sz="1000" dirty="0">
                <a:solidFill>
                  <a:schemeClr val="bg1"/>
                </a:solidFill>
              </a:rPr>
              <a:t>Affirm COE Governance Model and Structure</a:t>
            </a:r>
          </a:p>
        </p:txBody>
      </p:sp>
      <p:pic>
        <p:nvPicPr>
          <p:cNvPr id="37" name="Picture 36">
            <a:extLst>
              <a:ext uri="{FF2B5EF4-FFF2-40B4-BE49-F238E27FC236}">
                <a16:creationId xmlns:a16="http://schemas.microsoft.com/office/drawing/2014/main" id="{A9D69B28-A2B8-F147-96CA-58013AD0F11C}"/>
              </a:ext>
            </a:extLst>
          </p:cNvPr>
          <p:cNvPicPr>
            <a:picLocks noChangeAspect="1"/>
          </p:cNvPicPr>
          <p:nvPr/>
        </p:nvPicPr>
        <p:blipFill>
          <a:blip r:embed="rId5"/>
          <a:stretch>
            <a:fillRect/>
          </a:stretch>
        </p:blipFill>
        <p:spPr>
          <a:xfrm>
            <a:off x="3400668" y="1678100"/>
            <a:ext cx="210467" cy="290104"/>
          </a:xfrm>
          <a:prstGeom prst="rect">
            <a:avLst/>
          </a:prstGeom>
        </p:spPr>
      </p:pic>
      <p:pic>
        <p:nvPicPr>
          <p:cNvPr id="38" name="Picture 37">
            <a:extLst>
              <a:ext uri="{FF2B5EF4-FFF2-40B4-BE49-F238E27FC236}">
                <a16:creationId xmlns:a16="http://schemas.microsoft.com/office/drawing/2014/main" id="{62507B8F-44F2-6C4E-B342-8E088BDBDDFE}"/>
              </a:ext>
            </a:extLst>
          </p:cNvPr>
          <p:cNvPicPr>
            <a:picLocks noChangeAspect="1"/>
          </p:cNvPicPr>
          <p:nvPr/>
        </p:nvPicPr>
        <p:blipFill>
          <a:blip r:embed="rId5"/>
          <a:stretch>
            <a:fillRect/>
          </a:stretch>
        </p:blipFill>
        <p:spPr>
          <a:xfrm>
            <a:off x="5038987" y="1701913"/>
            <a:ext cx="210467" cy="290104"/>
          </a:xfrm>
          <a:prstGeom prst="rect">
            <a:avLst/>
          </a:prstGeom>
        </p:spPr>
      </p:pic>
      <p:pic>
        <p:nvPicPr>
          <p:cNvPr id="39" name="Picture 38">
            <a:extLst>
              <a:ext uri="{FF2B5EF4-FFF2-40B4-BE49-F238E27FC236}">
                <a16:creationId xmlns:a16="http://schemas.microsoft.com/office/drawing/2014/main" id="{BB97CEA6-7510-AB44-937F-2B7050A89CEA}"/>
              </a:ext>
            </a:extLst>
          </p:cNvPr>
          <p:cNvPicPr>
            <a:picLocks noChangeAspect="1"/>
          </p:cNvPicPr>
          <p:nvPr/>
        </p:nvPicPr>
        <p:blipFill>
          <a:blip r:embed="rId5"/>
          <a:stretch>
            <a:fillRect/>
          </a:stretch>
        </p:blipFill>
        <p:spPr>
          <a:xfrm>
            <a:off x="6672573" y="1696640"/>
            <a:ext cx="210467" cy="290104"/>
          </a:xfrm>
          <a:prstGeom prst="rect">
            <a:avLst/>
          </a:prstGeom>
        </p:spPr>
      </p:pic>
      <p:pic>
        <p:nvPicPr>
          <p:cNvPr id="40" name="Picture 39">
            <a:extLst>
              <a:ext uri="{FF2B5EF4-FFF2-40B4-BE49-F238E27FC236}">
                <a16:creationId xmlns:a16="http://schemas.microsoft.com/office/drawing/2014/main" id="{BC72A180-2947-9E4D-BC18-20F833BCD527}"/>
              </a:ext>
            </a:extLst>
          </p:cNvPr>
          <p:cNvPicPr>
            <a:picLocks noChangeAspect="1"/>
          </p:cNvPicPr>
          <p:nvPr/>
        </p:nvPicPr>
        <p:blipFill>
          <a:blip r:embed="rId5"/>
          <a:stretch>
            <a:fillRect/>
          </a:stretch>
        </p:blipFill>
        <p:spPr>
          <a:xfrm>
            <a:off x="8283177" y="1701913"/>
            <a:ext cx="210467" cy="290104"/>
          </a:xfrm>
          <a:prstGeom prst="rect">
            <a:avLst/>
          </a:prstGeom>
        </p:spPr>
      </p:pic>
      <p:sp>
        <p:nvSpPr>
          <p:cNvPr id="41" name="TextBox 40">
            <a:extLst>
              <a:ext uri="{FF2B5EF4-FFF2-40B4-BE49-F238E27FC236}">
                <a16:creationId xmlns:a16="http://schemas.microsoft.com/office/drawing/2014/main" id="{4A694DED-0DB3-954B-9277-8F2B3B541B8B}"/>
              </a:ext>
            </a:extLst>
          </p:cNvPr>
          <p:cNvSpPr txBox="1"/>
          <p:nvPr/>
        </p:nvSpPr>
        <p:spPr>
          <a:xfrm>
            <a:off x="564087" y="1929803"/>
            <a:ext cx="1469608" cy="430887"/>
          </a:xfrm>
          <a:prstGeom prst="rect">
            <a:avLst/>
          </a:prstGeom>
          <a:noFill/>
        </p:spPr>
        <p:txBody>
          <a:bodyPr wrap="square" rtlCol="0">
            <a:spAutoFit/>
          </a:bodyPr>
          <a:lstStyle/>
          <a:p>
            <a:pPr defTabSz="1097280" hangingPunct="1"/>
            <a:r>
              <a:rPr lang="en-US" sz="1100" kern="1200" dirty="0">
                <a:solidFill>
                  <a:schemeClr val="tx1"/>
                </a:solidFill>
                <a:latin typeface="+mn-lt"/>
                <a:ea typeface="+mn-ea"/>
                <a:cs typeface="+mn-cs"/>
              </a:rPr>
              <a:t>Weekly Customer Executive  Meeting </a:t>
            </a:r>
          </a:p>
        </p:txBody>
      </p:sp>
      <p:graphicFrame>
        <p:nvGraphicFramePr>
          <p:cNvPr id="43" name="Table 3">
            <a:extLst>
              <a:ext uri="{FF2B5EF4-FFF2-40B4-BE49-F238E27FC236}">
                <a16:creationId xmlns:a16="http://schemas.microsoft.com/office/drawing/2014/main" id="{9EC42696-2C3D-BF45-8D20-9E772A708A5C}"/>
              </a:ext>
            </a:extLst>
          </p:cNvPr>
          <p:cNvGraphicFramePr>
            <a:graphicFrameLocks noGrp="1"/>
          </p:cNvGraphicFramePr>
          <p:nvPr/>
        </p:nvGraphicFramePr>
        <p:xfrm>
          <a:off x="564087" y="2500410"/>
          <a:ext cx="1314449" cy="4823452"/>
        </p:xfrm>
        <a:graphic>
          <a:graphicData uri="http://schemas.openxmlformats.org/drawingml/2006/table">
            <a:tbl>
              <a:tblPr firstRow="1" firstCol="1" bandRow="1">
                <a:tableStyleId>{5940675A-B579-460E-94D1-54222C63F5DA}</a:tableStyleId>
              </a:tblPr>
              <a:tblGrid>
                <a:gridCol w="1314449">
                  <a:extLst>
                    <a:ext uri="{9D8B030D-6E8A-4147-A177-3AD203B41FA5}">
                      <a16:colId xmlns:a16="http://schemas.microsoft.com/office/drawing/2014/main" val="2919571111"/>
                    </a:ext>
                  </a:extLst>
                </a:gridCol>
              </a:tblGrid>
              <a:tr h="607630">
                <a:tc>
                  <a:txBody>
                    <a:bodyPr/>
                    <a:lstStyle/>
                    <a:p>
                      <a:pPr algn="ctr"/>
                      <a:r>
                        <a:rPr lang="en-US" sz="1200" b="1" dirty="0">
                          <a:solidFill>
                            <a:schemeClr val="bg1"/>
                          </a:solidFill>
                        </a:rPr>
                        <a:t>People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38764479"/>
                  </a:ext>
                </a:extLst>
              </a:tr>
              <a:tr h="1806869">
                <a:tc>
                  <a:txBody>
                    <a:bodyPr/>
                    <a:lstStyle/>
                    <a:p>
                      <a:pPr algn="ctr"/>
                      <a:r>
                        <a:rPr lang="en-US" sz="1200" b="1" dirty="0">
                          <a:solidFill>
                            <a:schemeClr val="bg1"/>
                          </a:solidFill>
                        </a:rPr>
                        <a:t>Platform, Ops and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914186102"/>
                  </a:ext>
                </a:extLst>
              </a:tr>
              <a:tr h="1231714">
                <a:tc>
                  <a:txBody>
                    <a:bodyPr/>
                    <a:lstStyle/>
                    <a:p>
                      <a:pPr algn="ctr"/>
                      <a:r>
                        <a:rPr lang="en-US" sz="1200" b="1" dirty="0">
                          <a:solidFill>
                            <a:schemeClr val="bg1"/>
                          </a:solidFill>
                        </a:rPr>
                        <a:t>Migration &amp; Modernization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68070308"/>
                  </a:ext>
                </a:extLst>
              </a:tr>
              <a:tr h="1177239">
                <a:tc>
                  <a:txBody>
                    <a:bodyPr/>
                    <a:lstStyle/>
                    <a:p>
                      <a:pPr algn="ctr"/>
                      <a:r>
                        <a:rPr lang="en-US" sz="1200" b="1" dirty="0">
                          <a:solidFill>
                            <a:schemeClr val="bg1"/>
                          </a:solidFill>
                        </a:rPr>
                        <a:t>Portfolio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66FF"/>
                    </a:solidFill>
                  </a:tcPr>
                </a:tc>
                <a:extLst>
                  <a:ext uri="{0D108BD9-81ED-4DB2-BD59-A6C34878D82A}">
                    <a16:rowId xmlns:a16="http://schemas.microsoft.com/office/drawing/2014/main" val="702872097"/>
                  </a:ext>
                </a:extLst>
              </a:tr>
            </a:tbl>
          </a:graphicData>
        </a:graphic>
      </p:graphicFrame>
      <p:sp>
        <p:nvSpPr>
          <p:cNvPr id="42" name="Rounded Rectangle">
            <a:extLst>
              <a:ext uri="{FF2B5EF4-FFF2-40B4-BE49-F238E27FC236}">
                <a16:creationId xmlns:a16="http://schemas.microsoft.com/office/drawing/2014/main" id="{7796D665-680D-CE40-A6C9-2A98BA34ECE8}"/>
              </a:ext>
            </a:extLst>
          </p:cNvPr>
          <p:cNvSpPr/>
          <p:nvPr/>
        </p:nvSpPr>
        <p:spPr>
          <a:xfrm>
            <a:off x="3609892" y="3770418"/>
            <a:ext cx="1429095" cy="478285"/>
          </a:xfrm>
          <a:prstGeom prst="roundRect">
            <a:avLst>
              <a:gd name="adj" fmla="val 22203"/>
            </a:avLst>
          </a:prstGeom>
          <a:solidFill>
            <a:schemeClr val="accent6"/>
          </a:solidFill>
          <a:ln w="12700">
            <a:noFill/>
            <a:miter lim="400000"/>
          </a:ln>
        </p:spPr>
        <p:txBody>
          <a:bodyPr lIns="42863" tIns="42863" rIns="42863" bIns="42863" anchor="ctr"/>
          <a:lstStyle/>
          <a:p>
            <a:pPr algn="ctr" defTabSz="1463040">
              <a:defRPr/>
            </a:pPr>
            <a:r>
              <a:rPr lang="en-US" sz="1000" dirty="0">
                <a:solidFill>
                  <a:schemeClr val="bg1"/>
                </a:solidFill>
              </a:rPr>
              <a:t>Identify New Cloud Security Controls &amp; Requirements</a:t>
            </a:r>
          </a:p>
        </p:txBody>
      </p:sp>
      <p:sp>
        <p:nvSpPr>
          <p:cNvPr id="46" name="Rounded Rectangle">
            <a:extLst>
              <a:ext uri="{FF2B5EF4-FFF2-40B4-BE49-F238E27FC236}">
                <a16:creationId xmlns:a16="http://schemas.microsoft.com/office/drawing/2014/main" id="{02D78EB4-B30A-AE48-AF81-6866CBD91662}"/>
              </a:ext>
            </a:extLst>
          </p:cNvPr>
          <p:cNvSpPr/>
          <p:nvPr/>
        </p:nvSpPr>
        <p:spPr>
          <a:xfrm>
            <a:off x="1976457" y="4389380"/>
            <a:ext cx="1443469" cy="430887"/>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rPr>
              <a:t>Operations Integration Assessment </a:t>
            </a:r>
          </a:p>
        </p:txBody>
      </p:sp>
      <p:sp>
        <p:nvSpPr>
          <p:cNvPr id="47" name="Rounded Rectangle">
            <a:extLst>
              <a:ext uri="{FF2B5EF4-FFF2-40B4-BE49-F238E27FC236}">
                <a16:creationId xmlns:a16="http://schemas.microsoft.com/office/drawing/2014/main" id="{FD516C0C-6A53-484E-94D1-67CC8EC0243E}"/>
              </a:ext>
            </a:extLst>
          </p:cNvPr>
          <p:cNvSpPr/>
          <p:nvPr/>
        </p:nvSpPr>
        <p:spPr>
          <a:xfrm>
            <a:off x="5249569" y="4396600"/>
            <a:ext cx="1454672" cy="453021"/>
          </a:xfrm>
          <a:prstGeom prst="roundRect">
            <a:avLst>
              <a:gd name="adj" fmla="val 22203"/>
            </a:avLst>
          </a:prstGeom>
          <a:solidFill>
            <a:schemeClr val="accent6"/>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rPr>
              <a:t>Assess Native cloud and 3</a:t>
            </a:r>
            <a:r>
              <a:rPr lang="en-US" sz="1000" baseline="30000" dirty="0">
                <a:solidFill>
                  <a:schemeClr val="bg1"/>
                </a:solidFill>
              </a:rPr>
              <a:t>rd</a:t>
            </a:r>
            <a:r>
              <a:rPr lang="en-US" sz="1000" dirty="0">
                <a:solidFill>
                  <a:schemeClr val="bg1"/>
                </a:solidFill>
              </a:rPr>
              <a:t> Party Tools</a:t>
            </a:r>
          </a:p>
        </p:txBody>
      </p:sp>
      <p:sp>
        <p:nvSpPr>
          <p:cNvPr id="48" name="Rounded Rectangle">
            <a:extLst>
              <a:ext uri="{FF2B5EF4-FFF2-40B4-BE49-F238E27FC236}">
                <a16:creationId xmlns:a16="http://schemas.microsoft.com/office/drawing/2014/main" id="{BC1EF961-265C-2343-B57F-78FD80EF37FC}"/>
              </a:ext>
            </a:extLst>
          </p:cNvPr>
          <p:cNvSpPr/>
          <p:nvPr/>
        </p:nvSpPr>
        <p:spPr>
          <a:xfrm>
            <a:off x="1976457" y="5002308"/>
            <a:ext cx="1461684"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kern="1200" dirty="0">
                <a:solidFill>
                  <a:schemeClr val="bg1"/>
                </a:solidFill>
                <a:sym typeface="Helvetica Neue Medium"/>
              </a:rPr>
              <a:t>Determine App Candidates for Party</a:t>
            </a:r>
            <a:endParaRPr sz="1000" kern="1200" dirty="0">
              <a:solidFill>
                <a:schemeClr val="bg1"/>
              </a:solidFill>
              <a:sym typeface="Helvetica Neue Medium"/>
            </a:endParaRPr>
          </a:p>
        </p:txBody>
      </p:sp>
      <p:sp>
        <p:nvSpPr>
          <p:cNvPr id="50" name="Rounded Rectangle">
            <a:extLst>
              <a:ext uri="{FF2B5EF4-FFF2-40B4-BE49-F238E27FC236}">
                <a16:creationId xmlns:a16="http://schemas.microsoft.com/office/drawing/2014/main" id="{8CBBDEC9-C45C-0142-B69E-FD92A64F5D74}"/>
              </a:ext>
            </a:extLst>
          </p:cNvPr>
          <p:cNvSpPr/>
          <p:nvPr/>
        </p:nvSpPr>
        <p:spPr>
          <a:xfrm>
            <a:off x="3607371" y="5613874"/>
            <a:ext cx="1461684" cy="453021"/>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kern="1200" dirty="0">
                <a:solidFill>
                  <a:schemeClr val="bg1"/>
                </a:solidFill>
                <a:sym typeface="Helvetica Neue Medium"/>
              </a:rPr>
              <a:t>Map Dependencies, SMEs and Migration Types</a:t>
            </a:r>
            <a:endParaRPr sz="1000" kern="1200" dirty="0">
              <a:solidFill>
                <a:schemeClr val="bg1"/>
              </a:solidFill>
              <a:sym typeface="Helvetica Neue Medium"/>
            </a:endParaRPr>
          </a:p>
        </p:txBody>
      </p:sp>
      <p:sp>
        <p:nvSpPr>
          <p:cNvPr id="52" name="Rounded Rectangle">
            <a:extLst>
              <a:ext uri="{FF2B5EF4-FFF2-40B4-BE49-F238E27FC236}">
                <a16:creationId xmlns:a16="http://schemas.microsoft.com/office/drawing/2014/main" id="{0DAF4D6B-3081-CB46-A735-D1DEC4017BEE}"/>
              </a:ext>
            </a:extLst>
          </p:cNvPr>
          <p:cNvSpPr/>
          <p:nvPr/>
        </p:nvSpPr>
        <p:spPr>
          <a:xfrm>
            <a:off x="5230313" y="5002308"/>
            <a:ext cx="1480377"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kern="1200" dirty="0">
                <a:solidFill>
                  <a:schemeClr val="bg1"/>
                </a:solidFill>
                <a:sym typeface="Helvetica Neue Medium"/>
              </a:rPr>
              <a:t>Document Dependencies and Cloud Design</a:t>
            </a:r>
            <a:endParaRPr sz="1000" kern="1200" dirty="0">
              <a:solidFill>
                <a:schemeClr val="bg1"/>
              </a:solidFill>
              <a:sym typeface="Helvetica Neue Medium"/>
            </a:endParaRPr>
          </a:p>
        </p:txBody>
      </p:sp>
      <p:sp>
        <p:nvSpPr>
          <p:cNvPr id="53" name="Rounded Rectangle">
            <a:extLst>
              <a:ext uri="{FF2B5EF4-FFF2-40B4-BE49-F238E27FC236}">
                <a16:creationId xmlns:a16="http://schemas.microsoft.com/office/drawing/2014/main" id="{5CC954AB-DDB6-684B-AF9A-5D6F1E21A30E}"/>
              </a:ext>
            </a:extLst>
          </p:cNvPr>
          <p:cNvSpPr/>
          <p:nvPr/>
        </p:nvSpPr>
        <p:spPr>
          <a:xfrm>
            <a:off x="2967423" y="6219826"/>
            <a:ext cx="1461684"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Install an automated discovery tool</a:t>
            </a:r>
            <a:endParaRPr sz="1000" kern="1200" dirty="0">
              <a:solidFill>
                <a:schemeClr val="bg1"/>
              </a:solidFill>
              <a:latin typeface="+mn-lt"/>
              <a:ea typeface="+mn-ea"/>
              <a:cs typeface="+mn-cs"/>
              <a:sym typeface="Helvetica Neue Medium"/>
            </a:endParaRPr>
          </a:p>
        </p:txBody>
      </p:sp>
      <p:sp>
        <p:nvSpPr>
          <p:cNvPr id="54" name="Rounded Rectangle">
            <a:extLst>
              <a:ext uri="{FF2B5EF4-FFF2-40B4-BE49-F238E27FC236}">
                <a16:creationId xmlns:a16="http://schemas.microsoft.com/office/drawing/2014/main" id="{B2010CFE-D0BF-A942-ABBF-14B7C696B9B9}"/>
              </a:ext>
            </a:extLst>
          </p:cNvPr>
          <p:cNvSpPr/>
          <p:nvPr/>
        </p:nvSpPr>
        <p:spPr>
          <a:xfrm>
            <a:off x="1957200" y="6804769"/>
            <a:ext cx="4745286" cy="453020"/>
          </a:xfrm>
          <a:prstGeom prst="roundRect">
            <a:avLst>
              <a:gd name="adj" fmla="val 22203"/>
            </a:avLst>
          </a:prstGeom>
          <a:solidFill>
            <a:srgbClr val="CC66FF"/>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b="1" dirty="0">
                <a:solidFill>
                  <a:schemeClr val="bg1"/>
                </a:solidFill>
                <a:sym typeface="Helvetica Neue Medium"/>
              </a:rPr>
              <a:t>Rapid Migration Business Case</a:t>
            </a:r>
            <a:endParaRPr sz="1000" kern="1200" dirty="0">
              <a:solidFill>
                <a:schemeClr val="bg1"/>
              </a:solidFill>
              <a:sym typeface="Helvetica Neue Medium"/>
            </a:endParaRPr>
          </a:p>
        </p:txBody>
      </p:sp>
      <p:sp>
        <p:nvSpPr>
          <p:cNvPr id="55" name="Rounded Rectangle">
            <a:extLst>
              <a:ext uri="{FF2B5EF4-FFF2-40B4-BE49-F238E27FC236}">
                <a16:creationId xmlns:a16="http://schemas.microsoft.com/office/drawing/2014/main" id="{328D2ED2-CB7D-914B-8EFA-CA8343616806}"/>
              </a:ext>
            </a:extLst>
          </p:cNvPr>
          <p:cNvSpPr/>
          <p:nvPr/>
        </p:nvSpPr>
        <p:spPr>
          <a:xfrm>
            <a:off x="3607371" y="5007923"/>
            <a:ext cx="1461684" cy="453020"/>
          </a:xfrm>
          <a:prstGeom prst="roundRect">
            <a:avLst>
              <a:gd name="adj" fmla="val 22203"/>
            </a:avLst>
          </a:prstGeom>
          <a:solidFill>
            <a:schemeClr val="accent5">
              <a:lumMod val="20000"/>
              <a:lumOff val="8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kern="1200" dirty="0">
                <a:solidFill>
                  <a:schemeClr val="bg1"/>
                </a:solidFill>
                <a:sym typeface="Helvetica Neue Medium"/>
              </a:rPr>
              <a:t>Identify Pilot Apps</a:t>
            </a:r>
            <a:endParaRPr sz="1000" kern="1200" dirty="0">
              <a:solidFill>
                <a:schemeClr val="bg1"/>
              </a:solidFill>
              <a:sym typeface="Helvetica Neue Medium"/>
            </a:endParaRPr>
          </a:p>
        </p:txBody>
      </p:sp>
      <p:sp>
        <p:nvSpPr>
          <p:cNvPr id="56" name="Rounded Rectangle">
            <a:extLst>
              <a:ext uri="{FF2B5EF4-FFF2-40B4-BE49-F238E27FC236}">
                <a16:creationId xmlns:a16="http://schemas.microsoft.com/office/drawing/2014/main" id="{721752FD-017B-8241-9532-1CF6DCB80489}"/>
              </a:ext>
            </a:extLst>
          </p:cNvPr>
          <p:cNvSpPr/>
          <p:nvPr/>
        </p:nvSpPr>
        <p:spPr>
          <a:xfrm>
            <a:off x="3628502" y="4387047"/>
            <a:ext cx="1410485" cy="446773"/>
          </a:xfrm>
          <a:prstGeom prst="roundRect">
            <a:avLst>
              <a:gd name="adj" fmla="val 22203"/>
            </a:avLst>
          </a:prstGeom>
          <a:solidFill>
            <a:schemeClr val="accent6"/>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1000" dirty="0">
                <a:solidFill>
                  <a:schemeClr val="bg1"/>
                </a:solidFill>
                <a:sym typeface="Helvetica Neue Medium"/>
              </a:rPr>
              <a:t>Evaluate AWS AMS</a:t>
            </a:r>
            <a:endParaRPr sz="1000" kern="1200" dirty="0">
              <a:solidFill>
                <a:schemeClr val="bg1"/>
              </a:solidFill>
              <a:latin typeface="+mn-lt"/>
              <a:ea typeface="+mn-ea"/>
              <a:cs typeface="+mn-cs"/>
              <a:sym typeface="Helvetica Neue Medium"/>
            </a:endParaRPr>
          </a:p>
        </p:txBody>
      </p:sp>
      <p:grpSp>
        <p:nvGrpSpPr>
          <p:cNvPr id="4" name="Group 3">
            <a:extLst>
              <a:ext uri="{FF2B5EF4-FFF2-40B4-BE49-F238E27FC236}">
                <a16:creationId xmlns:a16="http://schemas.microsoft.com/office/drawing/2014/main" id="{C98C4CF0-43F9-7E45-BDDB-2A10EACDE124}"/>
              </a:ext>
            </a:extLst>
          </p:cNvPr>
          <p:cNvGrpSpPr/>
          <p:nvPr/>
        </p:nvGrpSpPr>
        <p:grpSpPr>
          <a:xfrm>
            <a:off x="0" y="0"/>
            <a:ext cx="14630400" cy="8229600"/>
            <a:chOff x="0" y="0"/>
            <a:chExt cx="14630400" cy="8229600"/>
          </a:xfrm>
        </p:grpSpPr>
        <p:grpSp>
          <p:nvGrpSpPr>
            <p:cNvPr id="3" name="Group 2">
              <a:extLst>
                <a:ext uri="{FF2B5EF4-FFF2-40B4-BE49-F238E27FC236}">
                  <a16:creationId xmlns:a16="http://schemas.microsoft.com/office/drawing/2014/main" id="{547F10C6-7150-854D-A65F-2FF0A1A4AA4A}"/>
                </a:ext>
              </a:extLst>
            </p:cNvPr>
            <p:cNvGrpSpPr/>
            <p:nvPr/>
          </p:nvGrpSpPr>
          <p:grpSpPr>
            <a:xfrm>
              <a:off x="0" y="0"/>
              <a:ext cx="14630400" cy="8229600"/>
              <a:chOff x="0" y="0"/>
              <a:chExt cx="14630400" cy="8229600"/>
            </a:xfrm>
          </p:grpSpPr>
          <p:sp>
            <p:nvSpPr>
              <p:cNvPr id="44" name="Rectangle 43">
                <a:extLst>
                  <a:ext uri="{FF2B5EF4-FFF2-40B4-BE49-F238E27FC236}">
                    <a16:creationId xmlns:a16="http://schemas.microsoft.com/office/drawing/2014/main" id="{34A2E814-DD2C-5D4B-99BE-82362B186E5A}"/>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45" name="TextBox 44">
                <a:extLst>
                  <a:ext uri="{FF2B5EF4-FFF2-40B4-BE49-F238E27FC236}">
                    <a16:creationId xmlns:a16="http://schemas.microsoft.com/office/drawing/2014/main" id="{F1E37011-9375-694D-BC73-430816EBDBD8}"/>
                  </a:ext>
                </a:extLst>
              </p:cNvPr>
              <p:cNvSpPr txBox="1"/>
              <p:nvPr/>
            </p:nvSpPr>
            <p:spPr>
              <a:xfrm>
                <a:off x="0" y="7521714"/>
                <a:ext cx="14630400" cy="707886"/>
              </a:xfrm>
              <a:prstGeom prst="rect">
                <a:avLst/>
              </a:prstGeom>
              <a:solidFill>
                <a:srgbClr val="FF0000"/>
              </a:solid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FACILITATOR:  Use this slide for customers which do not know yet if they will leverage AWS ProServe led Mobilize but will benefit from prescriptive guidance provided by AWS via EBA</a:t>
                </a:r>
              </a:p>
            </p:txBody>
          </p:sp>
        </p:grpSp>
        <p:sp>
          <p:nvSpPr>
            <p:cNvPr id="6" name="TextBox 5">
              <a:extLst>
                <a:ext uri="{FF2B5EF4-FFF2-40B4-BE49-F238E27FC236}">
                  <a16:creationId xmlns:a16="http://schemas.microsoft.com/office/drawing/2014/main" id="{DDA3EEDE-8204-C346-A6C2-C601B3917635}"/>
                </a:ext>
              </a:extLst>
            </p:cNvPr>
            <p:cNvSpPr txBox="1"/>
            <p:nvPr/>
          </p:nvSpPr>
          <p:spPr>
            <a:xfrm rot="20294682">
              <a:off x="2077065" y="2770427"/>
              <a:ext cx="10507518" cy="1938992"/>
            </a:xfrm>
            <a:prstGeom prst="rect">
              <a:avLst/>
            </a:prstGeom>
            <a:solidFill>
              <a:schemeClr val="tx2"/>
            </a:solidFill>
          </p:spPr>
          <p:txBody>
            <a:bodyPr wrap="square" rtlCol="0">
              <a:spAutoFit/>
            </a:bodyPr>
            <a:lstStyle/>
            <a:p>
              <a:r>
                <a:rPr lang="en-US" sz="20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(Pick one of 3 based on delivery model) Modify based on MRA recommended actions: add/delete workstreams, workshops, briefings and otherwise based on focus areas from the recommendations, and high level critical actions for the customer to visualize MRA Prioritized List of Actions from slide 16. Highlight accelerators from AWS (EBA Parties, Workshops, Briefings) that are intended to create and sustain the momentum.</a:t>
              </a:r>
            </a:p>
          </p:txBody>
        </p:sp>
      </p:grpSp>
    </p:spTree>
    <p:extLst>
      <p:ext uri="{BB962C8B-B14F-4D97-AF65-F5344CB8AC3E}">
        <p14:creationId xmlns:p14="http://schemas.microsoft.com/office/powerpoint/2010/main" val="319653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2366" y="194055"/>
            <a:ext cx="12593638" cy="871538"/>
          </a:xfrm>
        </p:spPr>
        <p:txBody>
          <a:bodyPr/>
          <a:lstStyle/>
          <a:p>
            <a:r>
              <a:rPr lang="en-US" sz="3600" dirty="0"/>
              <a:t>Agenda</a:t>
            </a:r>
          </a:p>
        </p:txBody>
      </p:sp>
      <p:sp>
        <p:nvSpPr>
          <p:cNvPr id="36" name="Text Placeholder 3">
            <a:extLst>
              <a:ext uri="{FF2B5EF4-FFF2-40B4-BE49-F238E27FC236}">
                <a16:creationId xmlns:a16="http://schemas.microsoft.com/office/drawing/2014/main" id="{86AAED23-310F-8391-7B99-E3C20B392989}"/>
              </a:ext>
            </a:extLst>
          </p:cNvPr>
          <p:cNvSpPr txBox="1">
            <a:spLocks/>
          </p:cNvSpPr>
          <p:nvPr/>
        </p:nvSpPr>
        <p:spPr>
          <a:xfrm>
            <a:off x="551222" y="1442234"/>
            <a:ext cx="6400800" cy="4520212"/>
          </a:xfrm>
          <a:prstGeom prst="rect">
            <a:avLst/>
          </a:prstGeom>
        </p:spPr>
        <p:txBody>
          <a:bodyPr vert="horz" wrap="square" lIns="0" tIns="45720" rIns="0" bIns="45720" rtlCol="0">
            <a:spAutoFit/>
          </a:bodyPr>
          <a:lstStyle>
            <a:lvl1pPr marL="274320" indent="-274320" algn="l" defTabSz="1097280" rtl="0" eaLnBrk="1" latinLnBrk="0" hangingPunct="1">
              <a:lnSpc>
                <a:spcPct val="90000"/>
              </a:lnSpc>
              <a:spcBef>
                <a:spcPts val="0"/>
              </a:spcBef>
              <a:spcAft>
                <a:spcPts val="1440"/>
              </a:spcAft>
              <a:buSzPct val="90000"/>
              <a:buFont typeface="Arial" panose="020B0604020202020204" pitchFamily="34" charset="0"/>
              <a:buChar char="•"/>
              <a:defRPr sz="3360" kern="1200" baseline="0">
                <a:solidFill>
                  <a:schemeClr val="tx1"/>
                </a:solidFill>
                <a:latin typeface="Amazon Ember Display" panose="020F0603020204020204" pitchFamily="34" charset="0"/>
                <a:ea typeface="+mn-ea"/>
                <a:cs typeface="+mn-cs"/>
              </a:defRPr>
            </a:lvl1pPr>
            <a:lvl2pPr marL="617220" indent="-274320" algn="l" defTabSz="1097280" rtl="0" eaLnBrk="1" latinLnBrk="0" hangingPunct="1">
              <a:lnSpc>
                <a:spcPct val="90000"/>
              </a:lnSpc>
              <a:spcBef>
                <a:spcPts val="0"/>
              </a:spcBef>
              <a:spcAft>
                <a:spcPts val="1440"/>
              </a:spcAft>
              <a:buSzPct val="90000"/>
              <a:buFont typeface="Wingdings" panose="05000000000000000000" pitchFamily="2" charset="2"/>
              <a:buChar char="§"/>
              <a:defRPr sz="2880" kern="1200" baseline="0">
                <a:solidFill>
                  <a:schemeClr val="tx1"/>
                </a:solidFill>
                <a:latin typeface="Amazon Ember Display" panose="020F0603020204020204" pitchFamily="34" charset="0"/>
                <a:ea typeface="+mn-ea"/>
                <a:cs typeface="+mn-cs"/>
              </a:defRPr>
            </a:lvl2pPr>
            <a:lvl3pPr marL="1028700" indent="-274320" algn="l" defTabSz="1097280" rtl="0" eaLnBrk="1" latinLnBrk="0" hangingPunct="1">
              <a:lnSpc>
                <a:spcPct val="90000"/>
              </a:lnSpc>
              <a:spcBef>
                <a:spcPts val="0"/>
              </a:spcBef>
              <a:spcAft>
                <a:spcPts val="1440"/>
              </a:spcAft>
              <a:buFont typeface="Amazon Ember" panose="020B0603020204020204" pitchFamily="34" charset="0"/>
              <a:buChar char="–"/>
              <a:defRPr sz="2400" kern="1200" baseline="0">
                <a:solidFill>
                  <a:schemeClr val="tx1"/>
                </a:solidFill>
                <a:latin typeface="Amazon Ember Display" panose="020F0603020204020204" pitchFamily="34" charset="0"/>
                <a:ea typeface="+mn-ea"/>
                <a:cs typeface="+mn-cs"/>
              </a:defRPr>
            </a:lvl3pPr>
            <a:lvl4pPr marL="123634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4pPr>
            <a:lvl5pPr marL="144208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endParaRPr lang="en-US" sz="2400" dirty="0"/>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MRA results</a:t>
            </a:r>
          </a:p>
          <a:p>
            <a:pPr marL="457200" indent="-457200">
              <a:buFontTx/>
              <a:buAutoNum type="arabicParenR"/>
            </a:pPr>
            <a:endPar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Actions to Accelerate Momentum</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Mobilize your Organization</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Next steps</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37" name="Group 36">
            <a:extLst>
              <a:ext uri="{FF2B5EF4-FFF2-40B4-BE49-F238E27FC236}">
                <a16:creationId xmlns:a16="http://schemas.microsoft.com/office/drawing/2014/main" id="{6200F404-5684-63F0-C98B-A15C60939D24}"/>
              </a:ext>
            </a:extLst>
          </p:cNvPr>
          <p:cNvGrpSpPr>
            <a:grpSpLocks noChangeAspect="1"/>
          </p:cNvGrpSpPr>
          <p:nvPr/>
        </p:nvGrpSpPr>
        <p:grpSpPr>
          <a:xfrm>
            <a:off x="9105900" y="1452066"/>
            <a:ext cx="3234899" cy="4202130"/>
            <a:chOff x="-580230" y="3214241"/>
            <a:chExt cx="379337" cy="492759"/>
          </a:xfrm>
        </p:grpSpPr>
        <p:sp>
          <p:nvSpPr>
            <p:cNvPr id="38" name="Freeform: Shape 19">
              <a:extLst>
                <a:ext uri="{FF2B5EF4-FFF2-40B4-BE49-F238E27FC236}">
                  <a16:creationId xmlns:a16="http://schemas.microsoft.com/office/drawing/2014/main" id="{1122A8D4-67BF-ECF8-5856-6E0CE0742B1F}"/>
                </a:ext>
              </a:extLst>
            </p:cNvPr>
            <p:cNvSpPr/>
            <p:nvPr/>
          </p:nvSpPr>
          <p:spPr>
            <a:xfrm>
              <a:off x="-445055" y="3291484"/>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9" name="Freeform: Shape 20">
              <a:extLst>
                <a:ext uri="{FF2B5EF4-FFF2-40B4-BE49-F238E27FC236}">
                  <a16:creationId xmlns:a16="http://schemas.microsoft.com/office/drawing/2014/main" id="{5FF3D394-F70D-C30C-9A27-F6E50B9BE611}"/>
                </a:ext>
              </a:extLst>
            </p:cNvPr>
            <p:cNvSpPr/>
            <p:nvPr/>
          </p:nvSpPr>
          <p:spPr>
            <a:xfrm>
              <a:off x="-396778" y="323838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0" name="Freeform: Shape 21">
              <a:extLst>
                <a:ext uri="{FF2B5EF4-FFF2-40B4-BE49-F238E27FC236}">
                  <a16:creationId xmlns:a16="http://schemas.microsoft.com/office/drawing/2014/main" id="{EA9ED574-FA14-96DA-A56B-4C2245DBD340}"/>
                </a:ext>
              </a:extLst>
            </p:cNvPr>
            <p:cNvSpPr/>
            <p:nvPr/>
          </p:nvSpPr>
          <p:spPr>
            <a:xfrm>
              <a:off x="-580230" y="3214241"/>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1" name="Freeform: Shape 22">
              <a:extLst>
                <a:ext uri="{FF2B5EF4-FFF2-40B4-BE49-F238E27FC236}">
                  <a16:creationId xmlns:a16="http://schemas.microsoft.com/office/drawing/2014/main" id="{09A26A81-E0C4-F99A-E6CB-0F606295E24E}"/>
                </a:ext>
              </a:extLst>
            </p:cNvPr>
            <p:cNvSpPr/>
            <p:nvPr/>
          </p:nvSpPr>
          <p:spPr>
            <a:xfrm>
              <a:off x="-357738" y="331925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2" name="Freeform: Shape 23">
              <a:extLst>
                <a:ext uri="{FF2B5EF4-FFF2-40B4-BE49-F238E27FC236}">
                  <a16:creationId xmlns:a16="http://schemas.microsoft.com/office/drawing/2014/main" id="{30415653-FDBF-3F10-AEF4-452BD269DEFF}"/>
                </a:ext>
              </a:extLst>
            </p:cNvPr>
            <p:cNvSpPr/>
            <p:nvPr/>
          </p:nvSpPr>
          <p:spPr>
            <a:xfrm>
              <a:off x="-477958" y="334504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3" name="Freeform: Shape 24">
              <a:extLst>
                <a:ext uri="{FF2B5EF4-FFF2-40B4-BE49-F238E27FC236}">
                  <a16:creationId xmlns:a16="http://schemas.microsoft.com/office/drawing/2014/main" id="{7ED33EC4-30D9-A441-8FB8-864133E87235}"/>
                </a:ext>
              </a:extLst>
            </p:cNvPr>
            <p:cNvSpPr/>
            <p:nvPr/>
          </p:nvSpPr>
          <p:spPr>
            <a:xfrm>
              <a:off x="-410206" y="334018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4" name="Freeform: Shape 25">
              <a:extLst>
                <a:ext uri="{FF2B5EF4-FFF2-40B4-BE49-F238E27FC236}">
                  <a16:creationId xmlns:a16="http://schemas.microsoft.com/office/drawing/2014/main" id="{4CA4DC44-FAF4-2E58-CD8A-6E67FD7E8984}"/>
                </a:ext>
              </a:extLst>
            </p:cNvPr>
            <p:cNvSpPr/>
            <p:nvPr/>
          </p:nvSpPr>
          <p:spPr>
            <a:xfrm>
              <a:off x="-486099" y="3425809"/>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5" name="Freeform: Shape 26">
              <a:extLst>
                <a:ext uri="{FF2B5EF4-FFF2-40B4-BE49-F238E27FC236}">
                  <a16:creationId xmlns:a16="http://schemas.microsoft.com/office/drawing/2014/main" id="{80BABA69-B251-83F1-A85D-D7CBA6D3C7ED}"/>
                </a:ext>
              </a:extLst>
            </p:cNvPr>
            <p:cNvSpPr/>
            <p:nvPr/>
          </p:nvSpPr>
          <p:spPr>
            <a:xfrm>
              <a:off x="-539203" y="3377533"/>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6" name="Freeform: Shape 27">
              <a:extLst>
                <a:ext uri="{FF2B5EF4-FFF2-40B4-BE49-F238E27FC236}">
                  <a16:creationId xmlns:a16="http://schemas.microsoft.com/office/drawing/2014/main" id="{539A2C2A-1900-906D-174C-E04AB6A00ADD}"/>
                </a:ext>
              </a:extLst>
            </p:cNvPr>
            <p:cNvSpPr/>
            <p:nvPr/>
          </p:nvSpPr>
          <p:spPr>
            <a:xfrm>
              <a:off x="-510762" y="328680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7" name="Freeform: Shape 28">
              <a:extLst>
                <a:ext uri="{FF2B5EF4-FFF2-40B4-BE49-F238E27FC236}">
                  <a16:creationId xmlns:a16="http://schemas.microsoft.com/office/drawing/2014/main" id="{5C7CA44E-6151-223B-45E5-F5A899B5BB0A}"/>
                </a:ext>
              </a:extLst>
            </p:cNvPr>
            <p:cNvSpPr/>
            <p:nvPr/>
          </p:nvSpPr>
          <p:spPr>
            <a:xfrm>
              <a:off x="-439058" y="3365845"/>
              <a:ext cx="238165" cy="341155"/>
            </a:xfrm>
            <a:custGeom>
              <a:avLst/>
              <a:gdLst>
                <a:gd name="connsiteX0" fmla="*/ 4828 w 238164"/>
                <a:gd name="connsiteY0" fmla="*/ 327638 h 341155"/>
                <a:gd name="connsiteX1" fmla="*/ 4828 w 238164"/>
                <a:gd name="connsiteY1" fmla="*/ 13839 h 341155"/>
                <a:gd name="connsiteX2" fmla="*/ 13839 w 238164"/>
                <a:gd name="connsiteY2" fmla="*/ 4828 h 341155"/>
                <a:gd name="connsiteX3" fmla="*/ 158669 w 238164"/>
                <a:gd name="connsiteY3" fmla="*/ 4828 h 341155"/>
                <a:gd name="connsiteX4" fmla="*/ 235912 w 238164"/>
                <a:gd name="connsiteY4" fmla="*/ 82070 h 341155"/>
                <a:gd name="connsiteX5" fmla="*/ 235912 w 238164"/>
                <a:gd name="connsiteY5" fmla="*/ 327638 h 341155"/>
                <a:gd name="connsiteX6" fmla="*/ 226900 w 238164"/>
                <a:gd name="connsiteY6" fmla="*/ 336649 h 341155"/>
                <a:gd name="connsiteX7" fmla="*/ 13839 w 238164"/>
                <a:gd name="connsiteY7" fmla="*/ 336649 h 341155"/>
                <a:gd name="connsiteX8" fmla="*/ 4828 w 238164"/>
                <a:gd name="connsiteY8" fmla="*/ 327638 h 34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64" h="341155">
                  <a:moveTo>
                    <a:pt x="4828" y="327638"/>
                  </a:moveTo>
                  <a:lnTo>
                    <a:pt x="4828" y="13839"/>
                  </a:lnTo>
                  <a:cubicBezTo>
                    <a:pt x="4828" y="8690"/>
                    <a:pt x="9012" y="4828"/>
                    <a:pt x="13839" y="4828"/>
                  </a:cubicBezTo>
                  <a:lnTo>
                    <a:pt x="158669" y="4828"/>
                  </a:lnTo>
                  <a:lnTo>
                    <a:pt x="235912" y="82070"/>
                  </a:lnTo>
                  <a:lnTo>
                    <a:pt x="235912" y="327638"/>
                  </a:lnTo>
                  <a:cubicBezTo>
                    <a:pt x="235912" y="332787"/>
                    <a:pt x="231728" y="336649"/>
                    <a:pt x="226900" y="336649"/>
                  </a:cubicBezTo>
                  <a:lnTo>
                    <a:pt x="13839" y="336649"/>
                  </a:lnTo>
                  <a:cubicBezTo>
                    <a:pt x="9012" y="336649"/>
                    <a:pt x="4828" y="332465"/>
                    <a:pt x="4828" y="327638"/>
                  </a:cubicBezTo>
                  <a:close/>
                </a:path>
              </a:pathLst>
            </a:custGeom>
            <a:noFill/>
            <a:ln w="19050" cap="flat">
              <a:solidFill>
                <a:schemeClr val="tx1"/>
              </a:solidFill>
              <a:prstDash val="solid"/>
              <a:round/>
            </a:ln>
          </p:spPr>
          <p:txBody>
            <a:bodyPr rtlCol="0" anchor="ctr"/>
            <a:lstStyle/>
            <a:p>
              <a:endParaRPr lang="en-US" dirty="0"/>
            </a:p>
          </p:txBody>
        </p:sp>
        <p:sp>
          <p:nvSpPr>
            <p:cNvPr id="48" name="Freeform: Shape 29">
              <a:extLst>
                <a:ext uri="{FF2B5EF4-FFF2-40B4-BE49-F238E27FC236}">
                  <a16:creationId xmlns:a16="http://schemas.microsoft.com/office/drawing/2014/main" id="{1E0C1827-9712-EB65-A361-E5F5BCB1352D}"/>
                </a:ext>
              </a:extLst>
            </p:cNvPr>
            <p:cNvSpPr/>
            <p:nvPr/>
          </p:nvSpPr>
          <p:spPr>
            <a:xfrm>
              <a:off x="-284894" y="3365845"/>
              <a:ext cx="83680" cy="86898"/>
            </a:xfrm>
            <a:custGeom>
              <a:avLst/>
              <a:gdLst>
                <a:gd name="connsiteX0" fmla="*/ 4828 w 83679"/>
                <a:gd name="connsiteY0" fmla="*/ 82070 h 86898"/>
                <a:gd name="connsiteX1" fmla="*/ 81749 w 83679"/>
                <a:gd name="connsiteY1" fmla="*/ 82070 h 86898"/>
                <a:gd name="connsiteX2" fmla="*/ 4828 w 83679"/>
                <a:gd name="connsiteY2" fmla="*/ 4828 h 86898"/>
              </a:gdLst>
              <a:ahLst/>
              <a:cxnLst>
                <a:cxn ang="0">
                  <a:pos x="connsiteX0" y="connsiteY0"/>
                </a:cxn>
                <a:cxn ang="0">
                  <a:pos x="connsiteX1" y="connsiteY1"/>
                </a:cxn>
                <a:cxn ang="0">
                  <a:pos x="connsiteX2" y="connsiteY2"/>
                </a:cxn>
              </a:cxnLst>
              <a:rect l="l" t="t" r="r" b="b"/>
              <a:pathLst>
                <a:path w="83679" h="86898">
                  <a:moveTo>
                    <a:pt x="4828" y="82070"/>
                  </a:moveTo>
                  <a:lnTo>
                    <a:pt x="81749" y="82070"/>
                  </a:lnTo>
                  <a:lnTo>
                    <a:pt x="4828" y="4828"/>
                  </a:lnTo>
                  <a:close/>
                </a:path>
              </a:pathLst>
            </a:custGeom>
            <a:noFill/>
            <a:ln w="19050" cap="flat">
              <a:solidFill>
                <a:schemeClr val="tx1"/>
              </a:solidFill>
              <a:prstDash val="solid"/>
              <a:round/>
            </a:ln>
          </p:spPr>
          <p:txBody>
            <a:bodyPr rtlCol="0" anchor="ctr"/>
            <a:lstStyle/>
            <a:p>
              <a:endParaRPr lang="en-US" dirty="0"/>
            </a:p>
          </p:txBody>
        </p:sp>
        <p:sp>
          <p:nvSpPr>
            <p:cNvPr id="49" name="Freeform: Shape 30">
              <a:extLst>
                <a:ext uri="{FF2B5EF4-FFF2-40B4-BE49-F238E27FC236}">
                  <a16:creationId xmlns:a16="http://schemas.microsoft.com/office/drawing/2014/main" id="{CFE28F64-9674-D200-0CB1-19A8B919382B}"/>
                </a:ext>
              </a:extLst>
            </p:cNvPr>
            <p:cNvSpPr/>
            <p:nvPr/>
          </p:nvSpPr>
          <p:spPr>
            <a:xfrm>
              <a:off x="-337999" y="3550584"/>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0" name="Freeform: Shape 31">
              <a:extLst>
                <a:ext uri="{FF2B5EF4-FFF2-40B4-BE49-F238E27FC236}">
                  <a16:creationId xmlns:a16="http://schemas.microsoft.com/office/drawing/2014/main" id="{596BB0EC-C62A-568A-5952-932AF24184D3}"/>
                </a:ext>
              </a:extLst>
            </p:cNvPr>
            <p:cNvSpPr/>
            <p:nvPr/>
          </p:nvSpPr>
          <p:spPr>
            <a:xfrm>
              <a:off x="-337999" y="3641022"/>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1" name="Freeform: Shape 35">
              <a:extLst>
                <a:ext uri="{FF2B5EF4-FFF2-40B4-BE49-F238E27FC236}">
                  <a16:creationId xmlns:a16="http://schemas.microsoft.com/office/drawing/2014/main" id="{0920D44D-1C1B-5105-524D-A8806F029D6B}"/>
                </a:ext>
              </a:extLst>
            </p:cNvPr>
            <p:cNvSpPr/>
            <p:nvPr/>
          </p:nvSpPr>
          <p:spPr>
            <a:xfrm>
              <a:off x="-337999" y="3507135"/>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2" name="Freeform: Shape 36">
              <a:extLst>
                <a:ext uri="{FF2B5EF4-FFF2-40B4-BE49-F238E27FC236}">
                  <a16:creationId xmlns:a16="http://schemas.microsoft.com/office/drawing/2014/main" id="{63C543A2-7909-47A2-725A-0315A9BCE3F3}"/>
                </a:ext>
              </a:extLst>
            </p:cNvPr>
            <p:cNvSpPr/>
            <p:nvPr/>
          </p:nvSpPr>
          <p:spPr>
            <a:xfrm>
              <a:off x="-337999" y="3597573"/>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3" name="Freeform: Shape 37">
              <a:extLst>
                <a:ext uri="{FF2B5EF4-FFF2-40B4-BE49-F238E27FC236}">
                  <a16:creationId xmlns:a16="http://schemas.microsoft.com/office/drawing/2014/main" id="{A02B3560-ADC3-FB64-F1C4-329DAE41C5D7}"/>
                </a:ext>
              </a:extLst>
            </p:cNvPr>
            <p:cNvSpPr/>
            <p:nvPr/>
          </p:nvSpPr>
          <p:spPr>
            <a:xfrm>
              <a:off x="-337999" y="3460146"/>
              <a:ext cx="38621" cy="9655"/>
            </a:xfrm>
            <a:custGeom>
              <a:avLst/>
              <a:gdLst>
                <a:gd name="connsiteX0" fmla="*/ 4828 w 38621"/>
                <a:gd name="connsiteY0" fmla="*/ 4828 h 9655"/>
                <a:gd name="connsiteX1" fmla="*/ 36368 w 38621"/>
                <a:gd name="connsiteY1" fmla="*/ 4828 h 9655"/>
              </a:gdLst>
              <a:ahLst/>
              <a:cxnLst>
                <a:cxn ang="0">
                  <a:pos x="connsiteX0" y="connsiteY0"/>
                </a:cxn>
                <a:cxn ang="0">
                  <a:pos x="connsiteX1" y="connsiteY1"/>
                </a:cxn>
              </a:cxnLst>
              <a:rect l="l" t="t" r="r" b="b"/>
              <a:pathLst>
                <a:path w="38621" h="9655">
                  <a:moveTo>
                    <a:pt x="4828" y="4828"/>
                  </a:moveTo>
                  <a:lnTo>
                    <a:pt x="36368" y="4828"/>
                  </a:lnTo>
                </a:path>
              </a:pathLst>
            </a:custGeom>
            <a:ln w="19050" cap="flat">
              <a:solidFill>
                <a:schemeClr val="tx1"/>
              </a:solidFill>
              <a:prstDash val="solid"/>
              <a:round/>
            </a:ln>
          </p:spPr>
          <p:txBody>
            <a:bodyPr rtlCol="0" anchor="ctr"/>
            <a:lstStyle/>
            <a:p>
              <a:endParaRPr lang="en-US" dirty="0"/>
            </a:p>
          </p:txBody>
        </p:sp>
        <p:sp>
          <p:nvSpPr>
            <p:cNvPr id="54" name="Freeform: Shape 38">
              <a:extLst>
                <a:ext uri="{FF2B5EF4-FFF2-40B4-BE49-F238E27FC236}">
                  <a16:creationId xmlns:a16="http://schemas.microsoft.com/office/drawing/2014/main" id="{86732E2B-C51B-B07C-82B3-08F7F898A0C9}"/>
                </a:ext>
              </a:extLst>
            </p:cNvPr>
            <p:cNvSpPr/>
            <p:nvPr/>
          </p:nvSpPr>
          <p:spPr>
            <a:xfrm>
              <a:off x="-405908" y="3443088"/>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6" name="Freeform: Shape 39">
              <a:extLst>
                <a:ext uri="{FF2B5EF4-FFF2-40B4-BE49-F238E27FC236}">
                  <a16:creationId xmlns:a16="http://schemas.microsoft.com/office/drawing/2014/main" id="{6F640B6E-6993-6E8F-B4FC-CC270FB67754}"/>
                </a:ext>
              </a:extLst>
            </p:cNvPr>
            <p:cNvSpPr/>
            <p:nvPr/>
          </p:nvSpPr>
          <p:spPr>
            <a:xfrm>
              <a:off x="-405908" y="3621712"/>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7" name="Freeform: Shape 40">
              <a:extLst>
                <a:ext uri="{FF2B5EF4-FFF2-40B4-BE49-F238E27FC236}">
                  <a16:creationId xmlns:a16="http://schemas.microsoft.com/office/drawing/2014/main" id="{721104A6-23D6-D8BD-667A-19AE41C2C2E6}"/>
                </a:ext>
              </a:extLst>
            </p:cNvPr>
            <p:cNvSpPr/>
            <p:nvPr/>
          </p:nvSpPr>
          <p:spPr>
            <a:xfrm>
              <a:off x="-398827" y="3532239"/>
              <a:ext cx="45058" cy="45058"/>
            </a:xfrm>
            <a:custGeom>
              <a:avLst/>
              <a:gdLst>
                <a:gd name="connsiteX0" fmla="*/ 4828 w 45058"/>
                <a:gd name="connsiteY0" fmla="*/ 4828 h 45058"/>
                <a:gd name="connsiteX1" fmla="*/ 40874 w 45058"/>
                <a:gd name="connsiteY1" fmla="*/ 40874 h 45058"/>
              </a:gdLst>
              <a:ahLst/>
              <a:cxnLst>
                <a:cxn ang="0">
                  <a:pos x="connsiteX0" y="connsiteY0"/>
                </a:cxn>
                <a:cxn ang="0">
                  <a:pos x="connsiteX1" y="connsiteY1"/>
                </a:cxn>
              </a:cxnLst>
              <a:rect l="l" t="t" r="r" b="b"/>
              <a:pathLst>
                <a:path w="45058" h="45058">
                  <a:moveTo>
                    <a:pt x="4828" y="4828"/>
                  </a:moveTo>
                  <a:lnTo>
                    <a:pt x="40874" y="40874"/>
                  </a:lnTo>
                </a:path>
              </a:pathLst>
            </a:custGeom>
            <a:ln w="19050" cap="flat">
              <a:solidFill>
                <a:schemeClr val="tx1"/>
              </a:solidFill>
              <a:prstDash val="solid"/>
              <a:round/>
            </a:ln>
          </p:spPr>
          <p:txBody>
            <a:bodyPr rtlCol="0" anchor="ctr"/>
            <a:lstStyle/>
            <a:p>
              <a:endParaRPr lang="en-US" dirty="0"/>
            </a:p>
          </p:txBody>
        </p:sp>
        <p:sp>
          <p:nvSpPr>
            <p:cNvPr id="68" name="Freeform: Shape 41">
              <a:extLst>
                <a:ext uri="{FF2B5EF4-FFF2-40B4-BE49-F238E27FC236}">
                  <a16:creationId xmlns:a16="http://schemas.microsoft.com/office/drawing/2014/main" id="{532975AC-4E26-636A-9BC5-19E529266BCB}"/>
                </a:ext>
              </a:extLst>
            </p:cNvPr>
            <p:cNvSpPr/>
            <p:nvPr/>
          </p:nvSpPr>
          <p:spPr>
            <a:xfrm>
              <a:off x="-398827" y="3532239"/>
              <a:ext cx="45058" cy="45058"/>
            </a:xfrm>
            <a:custGeom>
              <a:avLst/>
              <a:gdLst>
                <a:gd name="connsiteX0" fmla="*/ 40874 w 45058"/>
                <a:gd name="connsiteY0" fmla="*/ 4828 h 45058"/>
                <a:gd name="connsiteX1" fmla="*/ 4828 w 45058"/>
                <a:gd name="connsiteY1" fmla="*/ 41196 h 45058"/>
              </a:gdLst>
              <a:ahLst/>
              <a:cxnLst>
                <a:cxn ang="0">
                  <a:pos x="connsiteX0" y="connsiteY0"/>
                </a:cxn>
                <a:cxn ang="0">
                  <a:pos x="connsiteX1" y="connsiteY1"/>
                </a:cxn>
              </a:cxnLst>
              <a:rect l="l" t="t" r="r" b="b"/>
              <a:pathLst>
                <a:path w="45058" h="45058">
                  <a:moveTo>
                    <a:pt x="40874" y="4828"/>
                  </a:moveTo>
                  <a:lnTo>
                    <a:pt x="4828" y="41196"/>
                  </a:lnTo>
                </a:path>
              </a:pathLst>
            </a:custGeom>
            <a:ln w="19050" cap="flat">
              <a:solidFill>
                <a:schemeClr val="tx1"/>
              </a:solidFill>
              <a:prstDash val="solid"/>
              <a:round/>
            </a:ln>
          </p:spPr>
          <p:txBody>
            <a:bodyPr rtlCol="0" anchor="ctr"/>
            <a:lstStyle/>
            <a:p>
              <a:endParaRPr lang="en-US" dirty="0"/>
            </a:p>
          </p:txBody>
        </p:sp>
      </p:grpSp>
    </p:spTree>
    <p:extLst>
      <p:ext uri="{BB962C8B-B14F-4D97-AF65-F5344CB8AC3E}">
        <p14:creationId xmlns:p14="http://schemas.microsoft.com/office/powerpoint/2010/main" val="10014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35" presetClass="path" presetSubtype="0" decel="100000" fill="hold" nodeType="withEffect">
                                  <p:stCondLst>
                                    <p:cond delay="200"/>
                                  </p:stCondLst>
                                  <p:childTnLst>
                                    <p:animMotion origin="layout" path="M 3.22917E-6 3.64198E-6 L 3.22917E-6 0.01504 " pathEditMode="relative" rAng="0" ptsTypes="AA">
                                      <p:cBhvr>
                                        <p:cTn id="9" dur="500" spd="-100000" fill="hold"/>
                                        <p:tgtEl>
                                          <p:spTgt spid="37"/>
                                        </p:tgtEl>
                                        <p:attrNameLst>
                                          <p:attrName>ppt_x</p:attrName>
                                          <p:attrName>ppt_y</p:attrName>
                                        </p:attrNameLst>
                                      </p:cBhvr>
                                      <p:rCtr x="0" y="7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50E35-6F55-2E4A-8D33-E1B1F869603A}"/>
              </a:ext>
            </a:extLst>
          </p:cNvPr>
          <p:cNvSpPr>
            <a:spLocks noGrp="1"/>
          </p:cNvSpPr>
          <p:nvPr>
            <p:ph type="title" idx="4294967295"/>
          </p:nvPr>
        </p:nvSpPr>
        <p:spPr>
          <a:xfrm>
            <a:off x="317085" y="183876"/>
            <a:ext cx="13982700" cy="1081088"/>
          </a:xfrm>
        </p:spPr>
        <p:txBody>
          <a:bodyPr/>
          <a:lstStyle/>
          <a:p>
            <a:r>
              <a:rPr lang="en-US" dirty="0"/>
              <a:t>Mobilize Overview</a:t>
            </a:r>
          </a:p>
        </p:txBody>
      </p:sp>
      <p:cxnSp>
        <p:nvCxnSpPr>
          <p:cNvPr id="8" name="Straight Connector 7">
            <a:extLst>
              <a:ext uri="{FF2B5EF4-FFF2-40B4-BE49-F238E27FC236}">
                <a16:creationId xmlns:a16="http://schemas.microsoft.com/office/drawing/2014/main" id="{F4D61190-C814-7346-BB19-B15F8651D3FE}"/>
              </a:ext>
            </a:extLst>
          </p:cNvPr>
          <p:cNvCxnSpPr>
            <a:cxnSpLocks/>
          </p:cNvCxnSpPr>
          <p:nvPr/>
        </p:nvCxnSpPr>
        <p:spPr>
          <a:xfrm>
            <a:off x="214489" y="1864628"/>
            <a:ext cx="3571982" cy="0"/>
          </a:xfrm>
          <a:prstGeom prst="line">
            <a:avLst/>
          </a:prstGeom>
          <a:ln w="28575">
            <a:solidFill>
              <a:srgbClr val="E56CE2"/>
            </a:solidFill>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55AA6A06-F085-CD4E-B82E-2422BF611E14}"/>
              </a:ext>
            </a:extLst>
          </p:cNvPr>
          <p:cNvGraphicFramePr>
            <a:graphicFrameLocks noGrp="1"/>
          </p:cNvGraphicFramePr>
          <p:nvPr/>
        </p:nvGraphicFramePr>
        <p:xfrm>
          <a:off x="4195829" y="2501438"/>
          <a:ext cx="5475332" cy="3121380"/>
        </p:xfrm>
        <a:graphic>
          <a:graphicData uri="http://schemas.openxmlformats.org/drawingml/2006/table">
            <a:tbl>
              <a:tblPr firstRow="1" bandRow="1">
                <a:tableStyleId>{5C22544A-7EE6-4342-B048-85BDC9FD1C3A}</a:tableStyleId>
              </a:tblPr>
              <a:tblGrid>
                <a:gridCol w="1368833">
                  <a:extLst>
                    <a:ext uri="{9D8B030D-6E8A-4147-A177-3AD203B41FA5}">
                      <a16:colId xmlns:a16="http://schemas.microsoft.com/office/drawing/2014/main" val="3266020685"/>
                    </a:ext>
                  </a:extLst>
                </a:gridCol>
                <a:gridCol w="1368833">
                  <a:extLst>
                    <a:ext uri="{9D8B030D-6E8A-4147-A177-3AD203B41FA5}">
                      <a16:colId xmlns:a16="http://schemas.microsoft.com/office/drawing/2014/main" val="1541681817"/>
                    </a:ext>
                  </a:extLst>
                </a:gridCol>
                <a:gridCol w="1368833">
                  <a:extLst>
                    <a:ext uri="{9D8B030D-6E8A-4147-A177-3AD203B41FA5}">
                      <a16:colId xmlns:a16="http://schemas.microsoft.com/office/drawing/2014/main" val="178349560"/>
                    </a:ext>
                  </a:extLst>
                </a:gridCol>
                <a:gridCol w="1368833">
                  <a:extLst>
                    <a:ext uri="{9D8B030D-6E8A-4147-A177-3AD203B41FA5}">
                      <a16:colId xmlns:a16="http://schemas.microsoft.com/office/drawing/2014/main" val="785960985"/>
                    </a:ext>
                  </a:extLst>
                </a:gridCol>
              </a:tblGrid>
              <a:tr h="1560690">
                <a:tc>
                  <a:txBody>
                    <a:bodyPr/>
                    <a:lstStyle/>
                    <a:p>
                      <a:pPr algn="ctr"/>
                      <a:r>
                        <a:rPr lang="en-US" sz="1300" b="0" dirty="0">
                          <a:solidFill>
                            <a:schemeClr val="tx2"/>
                          </a:solidFill>
                          <a:latin typeface="Amazon Ember" panose="02000000000000000000" pitchFamily="2" charset="0"/>
                          <a:ea typeface="Amazon Ember" panose="02000000000000000000" pitchFamily="2" charset="0"/>
                        </a:rPr>
                        <a:t>Discovery</a:t>
                      </a:r>
                      <a:r>
                        <a:rPr lang="en-US" sz="1300" b="0" baseline="0" dirty="0">
                          <a:solidFill>
                            <a:schemeClr val="tx2"/>
                          </a:solidFill>
                          <a:latin typeface="Amazon Ember" panose="02000000000000000000" pitchFamily="2" charset="0"/>
                          <a:ea typeface="Amazon Ember" panose="02000000000000000000" pitchFamily="2" charset="0"/>
                        </a:rPr>
                        <a:t> &amp; planning</a:t>
                      </a:r>
                      <a:endParaRPr lang="en-US" sz="1300" b="0" dirty="0">
                        <a:solidFill>
                          <a:schemeClr val="tx2"/>
                        </a:solidFill>
                        <a:latin typeface="Amazon Ember" panose="02000000000000000000" pitchFamily="2" charset="0"/>
                        <a:ea typeface="Amazon Ember" panose="02000000000000000000" pitchFamily="2" charset="0"/>
                      </a:endParaRP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Migration </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plan</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Business case/</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Mig. Evaluator</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Migration &amp; modernization</a:t>
                      </a:r>
                      <a:br>
                        <a:rPr lang="en-US" sz="1300" b="0" dirty="0">
                          <a:solidFill>
                            <a:schemeClr val="tx2"/>
                          </a:solidFill>
                          <a:latin typeface="Amazon Ember" panose="02000000000000000000" pitchFamily="2" charset="0"/>
                          <a:ea typeface="Amazon Ember" panose="02000000000000000000" pitchFamily="2" charset="0"/>
                        </a:rPr>
                      </a:br>
                      <a:r>
                        <a:rPr lang="en-US" sz="1300" b="0" dirty="0">
                          <a:solidFill>
                            <a:schemeClr val="tx2"/>
                          </a:solidFill>
                          <a:latin typeface="Amazon Ember" panose="02000000000000000000" pitchFamily="2" charset="0"/>
                          <a:ea typeface="Amazon Ember" panose="02000000000000000000" pitchFamily="2" charset="0"/>
                        </a:rPr>
                        <a:t>experience</a:t>
                      </a:r>
                    </a:p>
                  </a:txBody>
                  <a:tcPr marL="109356" marR="109356" marT="54678" marB="54678"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0125974"/>
                  </a:ext>
                </a:extLst>
              </a:tr>
              <a:tr h="15606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Skills</a:t>
                      </a:r>
                      <a:r>
                        <a:rPr lang="en-US" sz="1300" b="0" baseline="0" dirty="0">
                          <a:solidFill>
                            <a:schemeClr val="tx2"/>
                          </a:solidFill>
                          <a:latin typeface="Amazon Ember" panose="02000000000000000000" pitchFamily="2" charset="0"/>
                          <a:ea typeface="Amazon Ember" panose="02000000000000000000" pitchFamily="2" charset="0"/>
                        </a:rPr>
                        <a:t>/center</a:t>
                      </a:r>
                      <a:br>
                        <a:rPr lang="en-US" sz="1300" b="0" baseline="0" dirty="0">
                          <a:solidFill>
                            <a:schemeClr val="tx2"/>
                          </a:solidFill>
                          <a:latin typeface="Amazon Ember" panose="02000000000000000000" pitchFamily="2" charset="0"/>
                          <a:ea typeface="Amazon Ember" panose="02000000000000000000" pitchFamily="2" charset="0"/>
                        </a:rPr>
                      </a:br>
                      <a:r>
                        <a:rPr lang="en-US" sz="1300" b="0" baseline="0" dirty="0">
                          <a:solidFill>
                            <a:schemeClr val="tx2"/>
                          </a:solidFill>
                          <a:latin typeface="Amazon Ember" panose="02000000000000000000" pitchFamily="2" charset="0"/>
                          <a:ea typeface="Amazon Ember" panose="02000000000000000000" pitchFamily="2" charset="0"/>
                        </a:rPr>
                        <a:t>of excellence</a:t>
                      </a:r>
                      <a:endParaRPr lang="en-US" sz="1300" b="0" dirty="0">
                        <a:solidFill>
                          <a:schemeClr val="tx2"/>
                        </a:solidFill>
                        <a:latin typeface="Amazon Ember" panose="02000000000000000000" pitchFamily="2" charset="0"/>
                        <a:ea typeface="Amazon Ember" panose="02000000000000000000" pitchFamily="2" charset="0"/>
                      </a:endParaRP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      Landing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0" dirty="0">
                          <a:solidFill>
                            <a:schemeClr val="tx2"/>
                          </a:solidFill>
                          <a:latin typeface="Amazon Ember" panose="02000000000000000000" pitchFamily="2" charset="0"/>
                          <a:ea typeface="Amazon Ember" panose="02000000000000000000" pitchFamily="2" charset="0"/>
                        </a:rPr>
                        <a:t>zone</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Operating model</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1300" b="0" dirty="0">
                          <a:solidFill>
                            <a:schemeClr val="tx2"/>
                          </a:solidFill>
                          <a:latin typeface="Amazon Ember" panose="02000000000000000000" pitchFamily="2" charset="0"/>
                          <a:ea typeface="Amazon Ember" panose="02000000000000000000" pitchFamily="2" charset="0"/>
                        </a:rPr>
                        <a:t>Security &amp; compliance</a:t>
                      </a:r>
                    </a:p>
                  </a:txBody>
                  <a:tcPr marL="109356" marR="109356" marT="54678" marB="54678"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9425567"/>
                  </a:ext>
                </a:extLst>
              </a:tr>
            </a:tbl>
          </a:graphicData>
        </a:graphic>
      </p:graphicFrame>
      <p:grpSp>
        <p:nvGrpSpPr>
          <p:cNvPr id="10" name="Group 9">
            <a:extLst>
              <a:ext uri="{FF2B5EF4-FFF2-40B4-BE49-F238E27FC236}">
                <a16:creationId xmlns:a16="http://schemas.microsoft.com/office/drawing/2014/main" id="{F3DDF95A-19E2-FC49-8569-C4517A9F9579}"/>
              </a:ext>
            </a:extLst>
          </p:cNvPr>
          <p:cNvGrpSpPr/>
          <p:nvPr/>
        </p:nvGrpSpPr>
        <p:grpSpPr>
          <a:xfrm>
            <a:off x="4516592" y="4365312"/>
            <a:ext cx="658681" cy="658678"/>
            <a:chOff x="11738104" y="3067017"/>
            <a:chExt cx="560418" cy="560417"/>
          </a:xfrm>
        </p:grpSpPr>
        <p:grpSp>
          <p:nvGrpSpPr>
            <p:cNvPr id="11" name="Graphic 194">
              <a:extLst>
                <a:ext uri="{FF2B5EF4-FFF2-40B4-BE49-F238E27FC236}">
                  <a16:creationId xmlns:a16="http://schemas.microsoft.com/office/drawing/2014/main" id="{8E43A628-0E3F-D945-9071-D38E651F52A9}"/>
                </a:ext>
              </a:extLst>
            </p:cNvPr>
            <p:cNvGrpSpPr/>
            <p:nvPr/>
          </p:nvGrpSpPr>
          <p:grpSpPr>
            <a:xfrm>
              <a:off x="11906957" y="3256020"/>
              <a:ext cx="222713" cy="242691"/>
              <a:chOff x="8395794" y="4567573"/>
              <a:chExt cx="218854" cy="238486"/>
            </a:xfrm>
          </p:grpSpPr>
          <p:sp>
            <p:nvSpPr>
              <p:cNvPr id="13" name="Freeform: Shape 903">
                <a:extLst>
                  <a:ext uri="{FF2B5EF4-FFF2-40B4-BE49-F238E27FC236}">
                    <a16:creationId xmlns:a16="http://schemas.microsoft.com/office/drawing/2014/main" id="{F31CF5B5-3BEF-3B49-9FFD-838B5F60C1A3}"/>
                  </a:ext>
                </a:extLst>
              </p:cNvPr>
              <p:cNvSpPr/>
              <p:nvPr/>
            </p:nvSpPr>
            <p:spPr>
              <a:xfrm>
                <a:off x="8441174" y="4567573"/>
                <a:ext cx="128738" cy="128738"/>
              </a:xfrm>
              <a:custGeom>
                <a:avLst/>
                <a:gdLst>
                  <a:gd name="connsiteX0" fmla="*/ 4828 w 128737"/>
                  <a:gd name="connsiteY0" fmla="*/ 64369 h 128737"/>
                  <a:gd name="connsiteX1" fmla="*/ 64369 w 128737"/>
                  <a:gd name="connsiteY1" fmla="*/ 4828 h 128737"/>
                  <a:gd name="connsiteX2" fmla="*/ 123910 w 128737"/>
                  <a:gd name="connsiteY2" fmla="*/ 64369 h 128737"/>
                  <a:gd name="connsiteX3" fmla="*/ 64369 w 128737"/>
                  <a:gd name="connsiteY3" fmla="*/ 123910 h 128737"/>
                  <a:gd name="connsiteX4" fmla="*/ 4828 w 128737"/>
                  <a:gd name="connsiteY4" fmla="*/ 64369 h 128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37" h="128737">
                    <a:moveTo>
                      <a:pt x="4828" y="64369"/>
                    </a:moveTo>
                    <a:cubicBezTo>
                      <a:pt x="4828" y="31541"/>
                      <a:pt x="31541" y="4828"/>
                      <a:pt x="64369" y="4828"/>
                    </a:cubicBezTo>
                    <a:cubicBezTo>
                      <a:pt x="97197" y="4828"/>
                      <a:pt x="123910" y="31541"/>
                      <a:pt x="123910" y="64369"/>
                    </a:cubicBezTo>
                    <a:cubicBezTo>
                      <a:pt x="123910" y="97197"/>
                      <a:pt x="97197" y="123910"/>
                      <a:pt x="64369" y="123910"/>
                    </a:cubicBezTo>
                    <a:cubicBezTo>
                      <a:pt x="31541" y="124232"/>
                      <a:pt x="4828" y="97519"/>
                      <a:pt x="4828" y="64369"/>
                    </a:cubicBez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15" name="Freeform: Shape 904">
                <a:extLst>
                  <a:ext uri="{FF2B5EF4-FFF2-40B4-BE49-F238E27FC236}">
                    <a16:creationId xmlns:a16="http://schemas.microsoft.com/office/drawing/2014/main" id="{3F92A968-DD8D-C04A-9FA1-0C933393E33E}"/>
                  </a:ext>
                </a:extLst>
              </p:cNvPr>
              <p:cNvSpPr/>
              <p:nvPr/>
            </p:nvSpPr>
            <p:spPr>
              <a:xfrm>
                <a:off x="8395794" y="4690195"/>
                <a:ext cx="218854" cy="115864"/>
              </a:xfrm>
              <a:custGeom>
                <a:avLst/>
                <a:gdLst>
                  <a:gd name="connsiteX0" fmla="*/ 4828 w 218854"/>
                  <a:gd name="connsiteY0" fmla="*/ 113611 h 115864"/>
                  <a:gd name="connsiteX1" fmla="*/ 214348 w 218854"/>
                  <a:gd name="connsiteY1" fmla="*/ 113611 h 115864"/>
                  <a:gd name="connsiteX2" fmla="*/ 163175 w 218854"/>
                  <a:gd name="connsiteY2" fmla="*/ 20276 h 115864"/>
                  <a:gd name="connsiteX3" fmla="*/ 109427 w 218854"/>
                  <a:gd name="connsiteY3" fmla="*/ 4828 h 115864"/>
                  <a:gd name="connsiteX4" fmla="*/ 4828 w 218854"/>
                  <a:gd name="connsiteY4" fmla="*/ 113611 h 115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854" h="115864">
                    <a:moveTo>
                      <a:pt x="4828" y="113611"/>
                    </a:moveTo>
                    <a:lnTo>
                      <a:pt x="214348" y="113611"/>
                    </a:lnTo>
                    <a:cubicBezTo>
                      <a:pt x="214348" y="74024"/>
                      <a:pt x="193750" y="39265"/>
                      <a:pt x="163175" y="20276"/>
                    </a:cubicBezTo>
                    <a:cubicBezTo>
                      <a:pt x="147405" y="10621"/>
                      <a:pt x="129060" y="4828"/>
                      <a:pt x="109427" y="4828"/>
                    </a:cubicBezTo>
                    <a:cubicBezTo>
                      <a:pt x="51817" y="4828"/>
                      <a:pt x="4828" y="53748"/>
                      <a:pt x="4828" y="113611"/>
                    </a:cubicBezTo>
                    <a:close/>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sp>
          <p:nvSpPr>
            <p:cNvPr id="12" name="Freeform: Shape 902">
              <a:extLst>
                <a:ext uri="{FF2B5EF4-FFF2-40B4-BE49-F238E27FC236}">
                  <a16:creationId xmlns:a16="http://schemas.microsoft.com/office/drawing/2014/main" id="{4B0468F8-1D5D-5B40-A525-101DD6E485CC}"/>
                </a:ext>
              </a:extLst>
            </p:cNvPr>
            <p:cNvSpPr/>
            <p:nvPr/>
          </p:nvSpPr>
          <p:spPr>
            <a:xfrm>
              <a:off x="11738104" y="3067017"/>
              <a:ext cx="560418" cy="560417"/>
            </a:xfrm>
            <a:custGeom>
              <a:avLst/>
              <a:gdLst>
                <a:gd name="connsiteX0" fmla="*/ 280040 w 560418"/>
                <a:gd name="connsiteY0" fmla="*/ 129268 h 560417"/>
                <a:gd name="connsiteX1" fmla="*/ 129269 w 560418"/>
                <a:gd name="connsiteY1" fmla="*/ 280039 h 560417"/>
                <a:gd name="connsiteX2" fmla="*/ 280040 w 560418"/>
                <a:gd name="connsiteY2" fmla="*/ 430811 h 560417"/>
                <a:gd name="connsiteX3" fmla="*/ 430812 w 560418"/>
                <a:gd name="connsiteY3" fmla="*/ 280039 h 560417"/>
                <a:gd name="connsiteX4" fmla="*/ 280040 w 560418"/>
                <a:gd name="connsiteY4" fmla="*/ 129268 h 560417"/>
                <a:gd name="connsiteX5" fmla="*/ 271505 w 560418"/>
                <a:gd name="connsiteY5" fmla="*/ 0 h 560417"/>
                <a:gd name="connsiteX6" fmla="*/ 288910 w 560418"/>
                <a:gd name="connsiteY6" fmla="*/ 1161 h 560417"/>
                <a:gd name="connsiteX7" fmla="*/ 306315 w 560418"/>
                <a:gd name="connsiteY7" fmla="*/ 2318 h 560417"/>
                <a:gd name="connsiteX8" fmla="*/ 323717 w 560418"/>
                <a:gd name="connsiteY8" fmla="*/ 3479 h 560417"/>
                <a:gd name="connsiteX9" fmla="*/ 338801 w 560418"/>
                <a:gd name="connsiteY9" fmla="*/ 89341 h 560417"/>
                <a:gd name="connsiteX10" fmla="*/ 394496 w 560418"/>
                <a:gd name="connsiteY10" fmla="*/ 117187 h 560417"/>
                <a:gd name="connsiteX11" fmla="*/ 472233 w 560418"/>
                <a:gd name="connsiteY11" fmla="*/ 77737 h 560417"/>
                <a:gd name="connsiteX12" fmla="*/ 483838 w 560418"/>
                <a:gd name="connsiteY12" fmla="*/ 90502 h 560417"/>
                <a:gd name="connsiteX13" fmla="*/ 495439 w 560418"/>
                <a:gd name="connsiteY13" fmla="*/ 103264 h 560417"/>
                <a:gd name="connsiteX14" fmla="*/ 507044 w 560418"/>
                <a:gd name="connsiteY14" fmla="*/ 116026 h 560417"/>
                <a:gd name="connsiteX15" fmla="*/ 457149 w 560418"/>
                <a:gd name="connsiteY15" fmla="*/ 187963 h 560417"/>
                <a:gd name="connsiteX16" fmla="*/ 476877 w 560418"/>
                <a:gd name="connsiteY16" fmla="*/ 245980 h 560417"/>
                <a:gd name="connsiteX17" fmla="*/ 560418 w 560418"/>
                <a:gd name="connsiteY17" fmla="*/ 272665 h 560417"/>
                <a:gd name="connsiteX18" fmla="*/ 559257 w 560418"/>
                <a:gd name="connsiteY18" fmla="*/ 290070 h 560417"/>
                <a:gd name="connsiteX19" fmla="*/ 558096 w 560418"/>
                <a:gd name="connsiteY19" fmla="*/ 307472 h 560417"/>
                <a:gd name="connsiteX20" fmla="*/ 556935 w 560418"/>
                <a:gd name="connsiteY20" fmla="*/ 324877 h 560417"/>
                <a:gd name="connsiteX21" fmla="*/ 471076 w 560418"/>
                <a:gd name="connsiteY21" fmla="*/ 339961 h 560417"/>
                <a:gd name="connsiteX22" fmla="*/ 443227 w 560418"/>
                <a:gd name="connsiteY22" fmla="*/ 394496 h 560417"/>
                <a:gd name="connsiteX23" fmla="*/ 482677 w 560418"/>
                <a:gd name="connsiteY23" fmla="*/ 472232 h 560417"/>
                <a:gd name="connsiteX24" fmla="*/ 469915 w 560418"/>
                <a:gd name="connsiteY24" fmla="*/ 483837 h 560417"/>
                <a:gd name="connsiteX25" fmla="*/ 457149 w 560418"/>
                <a:gd name="connsiteY25" fmla="*/ 495439 h 560417"/>
                <a:gd name="connsiteX26" fmla="*/ 444387 w 560418"/>
                <a:gd name="connsiteY26" fmla="*/ 507043 h 560417"/>
                <a:gd name="connsiteX27" fmla="*/ 372451 w 560418"/>
                <a:gd name="connsiteY27" fmla="*/ 457149 h 560417"/>
                <a:gd name="connsiteX28" fmla="*/ 314438 w 560418"/>
                <a:gd name="connsiteY28" fmla="*/ 476876 h 560417"/>
                <a:gd name="connsiteX29" fmla="*/ 287749 w 560418"/>
                <a:gd name="connsiteY29" fmla="*/ 560417 h 560417"/>
                <a:gd name="connsiteX30" fmla="*/ 270344 w 560418"/>
                <a:gd name="connsiteY30" fmla="*/ 559256 h 560417"/>
                <a:gd name="connsiteX31" fmla="*/ 252942 w 560418"/>
                <a:gd name="connsiteY31" fmla="*/ 558095 h 560417"/>
                <a:gd name="connsiteX32" fmla="*/ 235536 w 560418"/>
                <a:gd name="connsiteY32" fmla="*/ 556934 h 560417"/>
                <a:gd name="connsiteX33" fmla="*/ 220453 w 560418"/>
                <a:gd name="connsiteY33" fmla="*/ 471075 h 560417"/>
                <a:gd name="connsiteX34" fmla="*/ 164761 w 560418"/>
                <a:gd name="connsiteY34" fmla="*/ 443226 h 560417"/>
                <a:gd name="connsiteX35" fmla="*/ 87020 w 560418"/>
                <a:gd name="connsiteY35" fmla="*/ 482676 h 560417"/>
                <a:gd name="connsiteX36" fmla="*/ 75419 w 560418"/>
                <a:gd name="connsiteY36" fmla="*/ 469914 h 560417"/>
                <a:gd name="connsiteX37" fmla="*/ 63814 w 560418"/>
                <a:gd name="connsiteY37" fmla="*/ 457149 h 560417"/>
                <a:gd name="connsiteX38" fmla="*/ 52213 w 560418"/>
                <a:gd name="connsiteY38" fmla="*/ 444387 h 560417"/>
                <a:gd name="connsiteX39" fmla="*/ 102104 w 560418"/>
                <a:gd name="connsiteY39" fmla="*/ 372450 h 560417"/>
                <a:gd name="connsiteX40" fmla="*/ 82381 w 560418"/>
                <a:gd name="connsiteY40" fmla="*/ 313276 h 560417"/>
                <a:gd name="connsiteX41" fmla="*/ 0 w 560418"/>
                <a:gd name="connsiteY41" fmla="*/ 286588 h 560417"/>
                <a:gd name="connsiteX42" fmla="*/ 1161 w 560418"/>
                <a:gd name="connsiteY42" fmla="*/ 269186 h 560417"/>
                <a:gd name="connsiteX43" fmla="*/ 2319 w 560418"/>
                <a:gd name="connsiteY43" fmla="*/ 251780 h 560417"/>
                <a:gd name="connsiteX44" fmla="*/ 3479 w 560418"/>
                <a:gd name="connsiteY44" fmla="*/ 234375 h 560417"/>
                <a:gd name="connsiteX45" fmla="*/ 88181 w 560418"/>
                <a:gd name="connsiteY45" fmla="*/ 219291 h 560417"/>
                <a:gd name="connsiteX46" fmla="*/ 116027 w 560418"/>
                <a:gd name="connsiteY46" fmla="*/ 163599 h 560417"/>
                <a:gd name="connsiteX47" fmla="*/ 76576 w 560418"/>
                <a:gd name="connsiteY47" fmla="*/ 87020 h 560417"/>
                <a:gd name="connsiteX48" fmla="*/ 89342 w 560418"/>
                <a:gd name="connsiteY48" fmla="*/ 75418 h 560417"/>
                <a:gd name="connsiteX49" fmla="*/ 102104 w 560418"/>
                <a:gd name="connsiteY49" fmla="*/ 63814 h 560417"/>
                <a:gd name="connsiteX50" fmla="*/ 114866 w 560418"/>
                <a:gd name="connsiteY50" fmla="*/ 52212 h 560417"/>
                <a:gd name="connsiteX51" fmla="*/ 185645 w 560418"/>
                <a:gd name="connsiteY51" fmla="*/ 102103 h 560417"/>
                <a:gd name="connsiteX52" fmla="*/ 244820 w 560418"/>
                <a:gd name="connsiteY52" fmla="*/ 82380 h 56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60418" h="560417">
                  <a:moveTo>
                    <a:pt x="280040" y="129268"/>
                  </a:moveTo>
                  <a:cubicBezTo>
                    <a:pt x="196771" y="129268"/>
                    <a:pt x="129269" y="196770"/>
                    <a:pt x="129269" y="280039"/>
                  </a:cubicBezTo>
                  <a:cubicBezTo>
                    <a:pt x="129269" y="363309"/>
                    <a:pt x="196771" y="430811"/>
                    <a:pt x="280040" y="430811"/>
                  </a:cubicBezTo>
                  <a:cubicBezTo>
                    <a:pt x="363309" y="430811"/>
                    <a:pt x="430812" y="363309"/>
                    <a:pt x="430812" y="280039"/>
                  </a:cubicBezTo>
                  <a:cubicBezTo>
                    <a:pt x="430812" y="196770"/>
                    <a:pt x="363309" y="129268"/>
                    <a:pt x="280040" y="129268"/>
                  </a:cubicBezTo>
                  <a:close/>
                  <a:moveTo>
                    <a:pt x="271505" y="0"/>
                  </a:moveTo>
                  <a:lnTo>
                    <a:pt x="288910" y="1161"/>
                  </a:lnTo>
                  <a:lnTo>
                    <a:pt x="306315" y="2318"/>
                  </a:lnTo>
                  <a:lnTo>
                    <a:pt x="323717" y="3479"/>
                  </a:lnTo>
                  <a:lnTo>
                    <a:pt x="338801" y="89341"/>
                  </a:lnTo>
                  <a:cubicBezTo>
                    <a:pt x="358528" y="96303"/>
                    <a:pt x="377091" y="104425"/>
                    <a:pt x="394496" y="117187"/>
                  </a:cubicBezTo>
                  <a:lnTo>
                    <a:pt x="472233" y="77737"/>
                  </a:lnTo>
                  <a:lnTo>
                    <a:pt x="483838" y="90502"/>
                  </a:lnTo>
                  <a:lnTo>
                    <a:pt x="495439" y="103264"/>
                  </a:lnTo>
                  <a:lnTo>
                    <a:pt x="507044" y="116026"/>
                  </a:lnTo>
                  <a:lnTo>
                    <a:pt x="457149" y="187963"/>
                  </a:lnTo>
                  <a:cubicBezTo>
                    <a:pt x="466433" y="206529"/>
                    <a:pt x="473394" y="226253"/>
                    <a:pt x="476877" y="245980"/>
                  </a:cubicBezTo>
                  <a:lnTo>
                    <a:pt x="560418" y="272665"/>
                  </a:lnTo>
                  <a:lnTo>
                    <a:pt x="559257" y="290070"/>
                  </a:lnTo>
                  <a:lnTo>
                    <a:pt x="558096" y="307472"/>
                  </a:lnTo>
                  <a:lnTo>
                    <a:pt x="556935" y="324877"/>
                  </a:lnTo>
                  <a:lnTo>
                    <a:pt x="471076" y="339961"/>
                  </a:lnTo>
                  <a:cubicBezTo>
                    <a:pt x="464111" y="358527"/>
                    <a:pt x="454831" y="377090"/>
                    <a:pt x="443227" y="394496"/>
                  </a:cubicBezTo>
                  <a:lnTo>
                    <a:pt x="482677" y="472232"/>
                  </a:lnTo>
                  <a:lnTo>
                    <a:pt x="469915" y="483837"/>
                  </a:lnTo>
                  <a:lnTo>
                    <a:pt x="457149" y="495439"/>
                  </a:lnTo>
                  <a:lnTo>
                    <a:pt x="444387" y="507043"/>
                  </a:lnTo>
                  <a:lnTo>
                    <a:pt x="372451" y="457149"/>
                  </a:lnTo>
                  <a:cubicBezTo>
                    <a:pt x="353885" y="466432"/>
                    <a:pt x="334161" y="473393"/>
                    <a:pt x="314438" y="476876"/>
                  </a:cubicBezTo>
                  <a:lnTo>
                    <a:pt x="287749" y="560417"/>
                  </a:lnTo>
                  <a:lnTo>
                    <a:pt x="270344" y="559256"/>
                  </a:lnTo>
                  <a:lnTo>
                    <a:pt x="252942" y="558095"/>
                  </a:lnTo>
                  <a:lnTo>
                    <a:pt x="235536" y="556934"/>
                  </a:lnTo>
                  <a:lnTo>
                    <a:pt x="220453" y="471075"/>
                  </a:lnTo>
                  <a:cubicBezTo>
                    <a:pt x="200729" y="464110"/>
                    <a:pt x="182163" y="454831"/>
                    <a:pt x="164761" y="443226"/>
                  </a:cubicBezTo>
                  <a:lnTo>
                    <a:pt x="87020" y="482676"/>
                  </a:lnTo>
                  <a:lnTo>
                    <a:pt x="75419" y="469914"/>
                  </a:lnTo>
                  <a:lnTo>
                    <a:pt x="63814" y="457149"/>
                  </a:lnTo>
                  <a:lnTo>
                    <a:pt x="52213" y="444387"/>
                  </a:lnTo>
                  <a:lnTo>
                    <a:pt x="102104" y="372450"/>
                  </a:lnTo>
                  <a:cubicBezTo>
                    <a:pt x="92821" y="353884"/>
                    <a:pt x="85860" y="333000"/>
                    <a:pt x="82381" y="313276"/>
                  </a:cubicBezTo>
                  <a:lnTo>
                    <a:pt x="0" y="286588"/>
                  </a:lnTo>
                  <a:lnTo>
                    <a:pt x="1161" y="269186"/>
                  </a:lnTo>
                  <a:lnTo>
                    <a:pt x="2319" y="251780"/>
                  </a:lnTo>
                  <a:lnTo>
                    <a:pt x="3479" y="234375"/>
                  </a:lnTo>
                  <a:lnTo>
                    <a:pt x="88181" y="219291"/>
                  </a:lnTo>
                  <a:cubicBezTo>
                    <a:pt x="93982" y="199568"/>
                    <a:pt x="103265" y="181001"/>
                    <a:pt x="116027" y="163599"/>
                  </a:cubicBezTo>
                  <a:lnTo>
                    <a:pt x="76576" y="87020"/>
                  </a:lnTo>
                  <a:lnTo>
                    <a:pt x="89342" y="75418"/>
                  </a:lnTo>
                  <a:lnTo>
                    <a:pt x="102104" y="63814"/>
                  </a:lnTo>
                  <a:lnTo>
                    <a:pt x="114866" y="52212"/>
                  </a:lnTo>
                  <a:lnTo>
                    <a:pt x="185645" y="102103"/>
                  </a:lnTo>
                  <a:cubicBezTo>
                    <a:pt x="204208" y="92820"/>
                    <a:pt x="223935" y="85859"/>
                    <a:pt x="244820" y="82380"/>
                  </a:cubicBezTo>
                  <a:close/>
                </a:path>
              </a:pathLst>
            </a:custGeom>
            <a:solidFill>
              <a:schemeClr val="bg1"/>
            </a:solidFill>
            <a:ln w="15875" cap="flat">
              <a:solidFill>
                <a:schemeClr val="tx1"/>
              </a:solidFill>
              <a:prstDash val="solid"/>
              <a:round/>
            </a:ln>
          </p:spPr>
          <p:txBody>
            <a:bodyPr wrap="square" rtlCol="0" anchor="ctr">
              <a:noAutofit/>
            </a:bodyPr>
            <a:lstStyle/>
            <a:p>
              <a:pPr defTabSz="731504">
                <a:defRPr/>
              </a:pPr>
              <a:endParaRPr lang="en-US" sz="1800" dirty="0">
                <a:solidFill>
                  <a:srgbClr val="FFFFFF"/>
                </a:solidFill>
              </a:endParaRPr>
            </a:p>
          </p:txBody>
        </p:sp>
      </p:grpSp>
      <p:grpSp>
        <p:nvGrpSpPr>
          <p:cNvPr id="16" name="Group 15">
            <a:extLst>
              <a:ext uri="{FF2B5EF4-FFF2-40B4-BE49-F238E27FC236}">
                <a16:creationId xmlns:a16="http://schemas.microsoft.com/office/drawing/2014/main" id="{F37389D1-E0EA-AC48-A335-0A22723C7E68}"/>
              </a:ext>
            </a:extLst>
          </p:cNvPr>
          <p:cNvGrpSpPr/>
          <p:nvPr/>
        </p:nvGrpSpPr>
        <p:grpSpPr>
          <a:xfrm>
            <a:off x="7268686" y="4321189"/>
            <a:ext cx="727543" cy="746924"/>
            <a:chOff x="11775652" y="4756665"/>
            <a:chExt cx="483729" cy="496615"/>
          </a:xfrm>
        </p:grpSpPr>
        <p:grpSp>
          <p:nvGrpSpPr>
            <p:cNvPr id="17" name="Graphic 268">
              <a:extLst>
                <a:ext uri="{FF2B5EF4-FFF2-40B4-BE49-F238E27FC236}">
                  <a16:creationId xmlns:a16="http://schemas.microsoft.com/office/drawing/2014/main" id="{DE105DB2-4FBA-444C-B5C2-CEF58D90E64B}"/>
                </a:ext>
              </a:extLst>
            </p:cNvPr>
            <p:cNvGrpSpPr/>
            <p:nvPr/>
          </p:nvGrpSpPr>
          <p:grpSpPr>
            <a:xfrm>
              <a:off x="11775652" y="4756665"/>
              <a:ext cx="483729" cy="496615"/>
              <a:chOff x="4562059" y="6255271"/>
              <a:chExt cx="483729" cy="496616"/>
            </a:xfrm>
          </p:grpSpPr>
          <p:sp>
            <p:nvSpPr>
              <p:cNvPr id="21" name="Freeform: Shape 910">
                <a:extLst>
                  <a:ext uri="{FF2B5EF4-FFF2-40B4-BE49-F238E27FC236}">
                    <a16:creationId xmlns:a16="http://schemas.microsoft.com/office/drawing/2014/main" id="{FD4914C3-AA6A-6A45-A928-3CDE00BCFFC4}"/>
                  </a:ext>
                </a:extLst>
              </p:cNvPr>
              <p:cNvSpPr/>
              <p:nvPr/>
            </p:nvSpPr>
            <p:spPr>
              <a:xfrm>
                <a:off x="4566562" y="6542841"/>
                <a:ext cx="80461" cy="138393"/>
              </a:xfrm>
              <a:custGeom>
                <a:avLst/>
                <a:gdLst>
                  <a:gd name="connsiteX0" fmla="*/ 1617 w 80461"/>
                  <a:gd name="connsiteY0" fmla="*/ 1617 h 138393"/>
                  <a:gd name="connsiteX1" fmla="*/ 79825 w 80461"/>
                  <a:gd name="connsiteY1" fmla="*/ 139367 h 138393"/>
                </a:gdLst>
                <a:ahLst/>
                <a:cxnLst>
                  <a:cxn ang="0">
                    <a:pos x="connsiteX0" y="connsiteY0"/>
                  </a:cxn>
                  <a:cxn ang="0">
                    <a:pos x="connsiteX1" y="connsiteY1"/>
                  </a:cxn>
                </a:cxnLst>
                <a:rect l="l" t="t" r="r" b="b"/>
                <a:pathLst>
                  <a:path w="80461" h="138393">
                    <a:moveTo>
                      <a:pt x="1617" y="1617"/>
                    </a:moveTo>
                    <a:cubicBezTo>
                      <a:pt x="9342" y="45066"/>
                      <a:pt x="29296" y="99458"/>
                      <a:pt x="79825" y="13936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2" name="Freeform: Shape 911">
                <a:extLst>
                  <a:ext uri="{FF2B5EF4-FFF2-40B4-BE49-F238E27FC236}">
                    <a16:creationId xmlns:a16="http://schemas.microsoft.com/office/drawing/2014/main" id="{3A2EA29F-ED1F-7145-80DA-294BD8951BF9}"/>
                  </a:ext>
                </a:extLst>
              </p:cNvPr>
              <p:cNvSpPr/>
              <p:nvPr/>
            </p:nvSpPr>
            <p:spPr>
              <a:xfrm>
                <a:off x="4562059" y="6283113"/>
                <a:ext cx="131956" cy="231728"/>
              </a:xfrm>
              <a:custGeom>
                <a:avLst/>
                <a:gdLst>
                  <a:gd name="connsiteX0" fmla="*/ 132926 w 131956"/>
                  <a:gd name="connsiteY0" fmla="*/ 1617 h 231728"/>
                  <a:gd name="connsiteX1" fmla="*/ 121340 w 131956"/>
                  <a:gd name="connsiteY1" fmla="*/ 8054 h 231728"/>
                  <a:gd name="connsiteX2" fmla="*/ 2579 w 131956"/>
                  <a:gd name="connsiteY2" fmla="*/ 191506 h 231728"/>
                  <a:gd name="connsiteX3" fmla="*/ 2258 w 131956"/>
                  <a:gd name="connsiteY3" fmla="*/ 230127 h 231728"/>
                </a:gdLst>
                <a:ahLst/>
                <a:cxnLst>
                  <a:cxn ang="0">
                    <a:pos x="connsiteX0" y="connsiteY0"/>
                  </a:cxn>
                  <a:cxn ang="0">
                    <a:pos x="connsiteX1" y="connsiteY1"/>
                  </a:cxn>
                  <a:cxn ang="0">
                    <a:pos x="connsiteX2" y="connsiteY2"/>
                  </a:cxn>
                  <a:cxn ang="0">
                    <a:pos x="connsiteX3" y="connsiteY3"/>
                  </a:cxn>
                </a:cxnLst>
                <a:rect l="l" t="t" r="r" b="b"/>
                <a:pathLst>
                  <a:path w="131956" h="231728">
                    <a:moveTo>
                      <a:pt x="132926" y="1617"/>
                    </a:moveTo>
                    <a:cubicBezTo>
                      <a:pt x="129064" y="3548"/>
                      <a:pt x="125202" y="5801"/>
                      <a:pt x="121340" y="8054"/>
                    </a:cubicBezTo>
                    <a:cubicBezTo>
                      <a:pt x="70810" y="37342"/>
                      <a:pt x="11591" y="102998"/>
                      <a:pt x="2579" y="191506"/>
                    </a:cubicBezTo>
                    <a:cubicBezTo>
                      <a:pt x="2579" y="191506"/>
                      <a:pt x="648" y="206954"/>
                      <a:pt x="2258" y="23012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3" name="Freeform: Shape 912">
                <a:extLst>
                  <a:ext uri="{FF2B5EF4-FFF2-40B4-BE49-F238E27FC236}">
                    <a16:creationId xmlns:a16="http://schemas.microsoft.com/office/drawing/2014/main" id="{F8340661-AD75-8E44-8396-6F11AEBA0929}"/>
                  </a:ext>
                </a:extLst>
              </p:cNvPr>
              <p:cNvSpPr/>
              <p:nvPr/>
            </p:nvSpPr>
            <p:spPr>
              <a:xfrm>
                <a:off x="4721369" y="6255271"/>
                <a:ext cx="280005" cy="106209"/>
              </a:xfrm>
              <a:custGeom>
                <a:avLst/>
                <a:gdLst>
                  <a:gd name="connsiteX0" fmla="*/ 281300 w 280004"/>
                  <a:gd name="connsiteY0" fmla="*/ 105737 h 106208"/>
                  <a:gd name="connsiteX1" fmla="*/ 1617 w 280004"/>
                  <a:gd name="connsiteY1" fmla="*/ 16908 h 106208"/>
                </a:gdLst>
                <a:ahLst/>
                <a:cxnLst>
                  <a:cxn ang="0">
                    <a:pos x="connsiteX0" y="connsiteY0"/>
                  </a:cxn>
                  <a:cxn ang="0">
                    <a:pos x="connsiteX1" y="connsiteY1"/>
                  </a:cxn>
                </a:cxnLst>
                <a:rect l="l" t="t" r="r" b="b"/>
                <a:pathLst>
                  <a:path w="280004" h="106208">
                    <a:moveTo>
                      <a:pt x="281300" y="105737"/>
                    </a:moveTo>
                    <a:cubicBezTo>
                      <a:pt x="240104" y="41368"/>
                      <a:pt x="127137" y="-30404"/>
                      <a:pt x="1617" y="16908"/>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4" name="Freeform: Shape 913">
                <a:extLst>
                  <a:ext uri="{FF2B5EF4-FFF2-40B4-BE49-F238E27FC236}">
                    <a16:creationId xmlns:a16="http://schemas.microsoft.com/office/drawing/2014/main" id="{595941E0-4C5B-BA4E-A720-F47C4B373BBD}"/>
                  </a:ext>
                </a:extLst>
              </p:cNvPr>
              <p:cNvSpPr/>
              <p:nvPr/>
            </p:nvSpPr>
            <p:spPr>
              <a:xfrm>
                <a:off x="4966139" y="6325122"/>
                <a:ext cx="45058" cy="41840"/>
              </a:xfrm>
              <a:custGeom>
                <a:avLst/>
                <a:gdLst>
                  <a:gd name="connsiteX0" fmla="*/ 45541 w 45058"/>
                  <a:gd name="connsiteY0" fmla="*/ 3379 h 41839"/>
                  <a:gd name="connsiteX1" fmla="*/ 39104 w 45058"/>
                  <a:gd name="connsiteY1" fmla="*/ 2414 h 41839"/>
                  <a:gd name="connsiteX2" fmla="*/ 34598 w 45058"/>
                  <a:gd name="connsiteY2" fmla="*/ 33955 h 41839"/>
                  <a:gd name="connsiteX3" fmla="*/ 3701 w 45058"/>
                  <a:gd name="connsiteY3" fmla="*/ 27196 h 41839"/>
                  <a:gd name="connsiteX4" fmla="*/ 2414 w 45058"/>
                  <a:gd name="connsiteY4" fmla="*/ 33311 h 41839"/>
                  <a:gd name="connsiteX5" fmla="*/ 40070 w 45058"/>
                  <a:gd name="connsiteY5" fmla="*/ 41679 h 4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58" h="41839">
                    <a:moveTo>
                      <a:pt x="45541" y="3379"/>
                    </a:moveTo>
                    <a:lnTo>
                      <a:pt x="39104" y="2414"/>
                    </a:lnTo>
                    <a:lnTo>
                      <a:pt x="34598" y="33955"/>
                    </a:lnTo>
                    <a:lnTo>
                      <a:pt x="3701" y="27196"/>
                    </a:lnTo>
                    <a:lnTo>
                      <a:pt x="2414" y="33311"/>
                    </a:lnTo>
                    <a:lnTo>
                      <a:pt x="40070" y="41679"/>
                    </a:lnTo>
                    <a:close/>
                  </a:path>
                </a:pathLst>
              </a:custGeom>
              <a:solidFill>
                <a:schemeClr val="tx1"/>
              </a:solidFill>
              <a:ln w="15875" cap="flat">
                <a:solidFill>
                  <a:schemeClr val="tx1"/>
                </a:solidFill>
                <a:prstDash val="solid"/>
                <a:miter/>
              </a:ln>
            </p:spPr>
            <p:txBody>
              <a:bodyPr rtlCol="0" anchor="ctr"/>
              <a:lstStyle/>
              <a:p>
                <a:pPr defTabSz="731504">
                  <a:defRPr/>
                </a:pPr>
                <a:endParaRPr lang="en-US" sz="1800" dirty="0">
                  <a:solidFill>
                    <a:srgbClr val="FFFFFF"/>
                  </a:solidFill>
                </a:endParaRPr>
              </a:p>
            </p:txBody>
          </p:sp>
          <p:sp>
            <p:nvSpPr>
              <p:cNvPr id="25" name="Freeform: Shape 914">
                <a:extLst>
                  <a:ext uri="{FF2B5EF4-FFF2-40B4-BE49-F238E27FC236}">
                    <a16:creationId xmlns:a16="http://schemas.microsoft.com/office/drawing/2014/main" id="{8C4CC72E-0A14-BE49-911F-4045DC344BC9}"/>
                  </a:ext>
                </a:extLst>
              </p:cNvPr>
              <p:cNvSpPr/>
              <p:nvPr/>
            </p:nvSpPr>
            <p:spPr>
              <a:xfrm>
                <a:off x="5032914" y="6426655"/>
                <a:ext cx="12874" cy="86898"/>
              </a:xfrm>
              <a:custGeom>
                <a:avLst/>
                <a:gdLst>
                  <a:gd name="connsiteX0" fmla="*/ 12238 w 12873"/>
                  <a:gd name="connsiteY0" fmla="*/ 86584 h 86898"/>
                  <a:gd name="connsiteX1" fmla="*/ 1617 w 12873"/>
                  <a:gd name="connsiteY1" fmla="*/ 1617 h 86898"/>
                </a:gdLst>
                <a:ahLst/>
                <a:cxnLst>
                  <a:cxn ang="0">
                    <a:pos x="connsiteX0" y="connsiteY0"/>
                  </a:cxn>
                  <a:cxn ang="0">
                    <a:pos x="connsiteX1" y="connsiteY1"/>
                  </a:cxn>
                </a:cxnLst>
                <a:rect l="l" t="t" r="r" b="b"/>
                <a:pathLst>
                  <a:path w="12873" h="86898">
                    <a:moveTo>
                      <a:pt x="12238" y="86584"/>
                    </a:moveTo>
                    <a:cubicBezTo>
                      <a:pt x="13847" y="60193"/>
                      <a:pt x="10629" y="31549"/>
                      <a:pt x="1617"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6" name="Freeform: Shape 915">
                <a:extLst>
                  <a:ext uri="{FF2B5EF4-FFF2-40B4-BE49-F238E27FC236}">
                    <a16:creationId xmlns:a16="http://schemas.microsoft.com/office/drawing/2014/main" id="{97743522-3FA7-1841-A375-A10AA8854E12}"/>
                  </a:ext>
                </a:extLst>
              </p:cNvPr>
              <p:cNvSpPr/>
              <p:nvPr/>
            </p:nvSpPr>
            <p:spPr>
              <a:xfrm>
                <a:off x="5025190" y="6531255"/>
                <a:ext cx="19311" cy="61150"/>
              </a:xfrm>
              <a:custGeom>
                <a:avLst/>
                <a:gdLst>
                  <a:gd name="connsiteX0" fmla="*/ 1617 w 19310"/>
                  <a:gd name="connsiteY0" fmla="*/ 60193 h 61150"/>
                  <a:gd name="connsiteX1" fmla="*/ 18353 w 19310"/>
                  <a:gd name="connsiteY1" fmla="*/ 1617 h 61150"/>
                </a:gdLst>
                <a:ahLst/>
                <a:cxnLst>
                  <a:cxn ang="0">
                    <a:pos x="connsiteX0" y="connsiteY0"/>
                  </a:cxn>
                  <a:cxn ang="0">
                    <a:pos x="connsiteX1" y="connsiteY1"/>
                  </a:cxn>
                </a:cxnLst>
                <a:rect l="l" t="t" r="r" b="b"/>
                <a:pathLst>
                  <a:path w="19310" h="61150">
                    <a:moveTo>
                      <a:pt x="1617" y="60193"/>
                    </a:moveTo>
                    <a:cubicBezTo>
                      <a:pt x="9342" y="42170"/>
                      <a:pt x="15135" y="22537"/>
                      <a:pt x="18353"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7" name="Freeform: Shape 916">
                <a:extLst>
                  <a:ext uri="{FF2B5EF4-FFF2-40B4-BE49-F238E27FC236}">
                    <a16:creationId xmlns:a16="http://schemas.microsoft.com/office/drawing/2014/main" id="{82D452D3-AAA6-2443-8CF6-C005DC891722}"/>
                  </a:ext>
                </a:extLst>
              </p:cNvPr>
              <p:cNvSpPr/>
              <p:nvPr/>
            </p:nvSpPr>
            <p:spPr>
              <a:xfrm>
                <a:off x="4701736" y="6612038"/>
                <a:ext cx="315408" cy="128738"/>
              </a:xfrm>
              <a:custGeom>
                <a:avLst/>
                <a:gdLst>
                  <a:gd name="connsiteX0" fmla="*/ 1617 w 315407"/>
                  <a:gd name="connsiteY0" fmla="*/ 106539 h 128737"/>
                  <a:gd name="connsiteX1" fmla="*/ 224012 w 315407"/>
                  <a:gd name="connsiteY1" fmla="*/ 95274 h 128737"/>
                  <a:gd name="connsiteX2" fmla="*/ 314450 w 315407"/>
                  <a:gd name="connsiteY2" fmla="*/ 1617 h 128737"/>
                </a:gdLst>
                <a:ahLst/>
                <a:cxnLst>
                  <a:cxn ang="0">
                    <a:pos x="connsiteX0" y="connsiteY0"/>
                  </a:cxn>
                  <a:cxn ang="0">
                    <a:pos x="connsiteX1" y="connsiteY1"/>
                  </a:cxn>
                  <a:cxn ang="0">
                    <a:pos x="connsiteX2" y="connsiteY2"/>
                  </a:cxn>
                </a:cxnLst>
                <a:rect l="l" t="t" r="r" b="b"/>
                <a:pathLst>
                  <a:path w="315407" h="128737">
                    <a:moveTo>
                      <a:pt x="1617" y="106539"/>
                    </a:moveTo>
                    <a:cubicBezTo>
                      <a:pt x="62768" y="135183"/>
                      <a:pt x="141941" y="142585"/>
                      <a:pt x="224012" y="95274"/>
                    </a:cubicBezTo>
                    <a:cubicBezTo>
                      <a:pt x="255553" y="76929"/>
                      <a:pt x="290312" y="44744"/>
                      <a:pt x="314450" y="1617"/>
                    </a:cubicBez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28" name="Freeform: Shape 917">
                <a:extLst>
                  <a:ext uri="{FF2B5EF4-FFF2-40B4-BE49-F238E27FC236}">
                    <a16:creationId xmlns:a16="http://schemas.microsoft.com/office/drawing/2014/main" id="{E1172168-48A5-A242-933D-78F9A47DBDF8}"/>
                  </a:ext>
                </a:extLst>
              </p:cNvPr>
              <p:cNvSpPr/>
              <p:nvPr/>
            </p:nvSpPr>
            <p:spPr>
              <a:xfrm>
                <a:off x="4694503" y="6700392"/>
                <a:ext cx="41840" cy="51495"/>
              </a:xfrm>
              <a:custGeom>
                <a:avLst/>
                <a:gdLst>
                  <a:gd name="connsiteX0" fmla="*/ 17541 w 41839"/>
                  <a:gd name="connsiteY0" fmla="*/ 50691 h 51495"/>
                  <a:gd name="connsiteX1" fmla="*/ 23656 w 41839"/>
                  <a:gd name="connsiteY1" fmla="*/ 48116 h 51495"/>
                  <a:gd name="connsiteX2" fmla="*/ 11104 w 41839"/>
                  <a:gd name="connsiteY2" fmla="*/ 18828 h 51495"/>
                  <a:gd name="connsiteX3" fmla="*/ 41035 w 41839"/>
                  <a:gd name="connsiteY3" fmla="*/ 8529 h 51495"/>
                  <a:gd name="connsiteX4" fmla="*/ 39104 w 41839"/>
                  <a:gd name="connsiteY4" fmla="*/ 2414 h 51495"/>
                  <a:gd name="connsiteX5" fmla="*/ 2414 w 41839"/>
                  <a:gd name="connsiteY5" fmla="*/ 14966 h 5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39" h="51495">
                    <a:moveTo>
                      <a:pt x="17541" y="50691"/>
                    </a:moveTo>
                    <a:lnTo>
                      <a:pt x="23656" y="48116"/>
                    </a:lnTo>
                    <a:lnTo>
                      <a:pt x="11104" y="18828"/>
                    </a:lnTo>
                    <a:lnTo>
                      <a:pt x="41035" y="8529"/>
                    </a:lnTo>
                    <a:lnTo>
                      <a:pt x="39104" y="2414"/>
                    </a:lnTo>
                    <a:lnTo>
                      <a:pt x="2414" y="14966"/>
                    </a:lnTo>
                    <a:close/>
                  </a:path>
                </a:pathLst>
              </a:custGeom>
              <a:solidFill>
                <a:schemeClr val="tx1"/>
              </a:solidFill>
              <a:ln w="15875" cap="flat">
                <a:solidFill>
                  <a:schemeClr val="tx1"/>
                </a:solidFill>
                <a:prstDash val="solid"/>
                <a:miter/>
              </a:ln>
            </p:spPr>
            <p:txBody>
              <a:bodyPr rtlCol="0" anchor="ctr"/>
              <a:lstStyle/>
              <a:p>
                <a:pPr defTabSz="731504">
                  <a:defRPr/>
                </a:pPr>
                <a:endParaRPr lang="en-US" sz="1800" dirty="0">
                  <a:solidFill>
                    <a:srgbClr val="FFFFFF"/>
                  </a:solidFill>
                </a:endParaRPr>
              </a:p>
            </p:txBody>
          </p:sp>
        </p:grpSp>
        <p:grpSp>
          <p:nvGrpSpPr>
            <p:cNvPr id="18" name="Graphic 244">
              <a:extLst>
                <a:ext uri="{FF2B5EF4-FFF2-40B4-BE49-F238E27FC236}">
                  <a16:creationId xmlns:a16="http://schemas.microsoft.com/office/drawing/2014/main" id="{64960DD2-698A-4644-9B64-FEFA087FE805}"/>
                </a:ext>
              </a:extLst>
            </p:cNvPr>
            <p:cNvGrpSpPr/>
            <p:nvPr/>
          </p:nvGrpSpPr>
          <p:grpSpPr>
            <a:xfrm>
              <a:off x="11885192" y="4863122"/>
              <a:ext cx="274189" cy="274189"/>
              <a:chOff x="7761796" y="567771"/>
              <a:chExt cx="164141" cy="164141"/>
            </a:xfrm>
          </p:grpSpPr>
          <p:sp>
            <p:nvSpPr>
              <p:cNvPr id="19" name="Freeform: Shape 908">
                <a:extLst>
                  <a:ext uri="{FF2B5EF4-FFF2-40B4-BE49-F238E27FC236}">
                    <a16:creationId xmlns:a16="http://schemas.microsoft.com/office/drawing/2014/main" id="{6613875A-A9B4-8C4A-A511-4FAED8664EF3}"/>
                  </a:ext>
                </a:extLst>
              </p:cNvPr>
              <p:cNvSpPr/>
              <p:nvPr/>
            </p:nvSpPr>
            <p:spPr>
              <a:xfrm>
                <a:off x="7761796" y="567771"/>
                <a:ext cx="164141" cy="164141"/>
              </a:xfrm>
              <a:custGeom>
                <a:avLst/>
                <a:gdLst>
                  <a:gd name="connsiteX0" fmla="*/ 19311 w 164140"/>
                  <a:gd name="connsiteY0" fmla="*/ 128094 h 164140"/>
                  <a:gd name="connsiteX1" fmla="*/ 22529 w 164140"/>
                  <a:gd name="connsiteY1" fmla="*/ 131634 h 164140"/>
                  <a:gd name="connsiteX2" fmla="*/ 25748 w 164140"/>
                  <a:gd name="connsiteY2" fmla="*/ 135175 h 164140"/>
                  <a:gd name="connsiteX3" fmla="*/ 28966 w 164140"/>
                  <a:gd name="connsiteY3" fmla="*/ 138715 h 164140"/>
                  <a:gd name="connsiteX4" fmla="*/ 50530 w 164140"/>
                  <a:gd name="connsiteY4" fmla="*/ 127772 h 164140"/>
                  <a:gd name="connsiteX5" fmla="*/ 65978 w 164140"/>
                  <a:gd name="connsiteY5" fmla="*/ 135497 h 164140"/>
                  <a:gd name="connsiteX6" fmla="*/ 70162 w 164140"/>
                  <a:gd name="connsiteY6" fmla="*/ 159313 h 164140"/>
                  <a:gd name="connsiteX7" fmla="*/ 74990 w 164140"/>
                  <a:gd name="connsiteY7" fmla="*/ 159635 h 164140"/>
                  <a:gd name="connsiteX8" fmla="*/ 79817 w 164140"/>
                  <a:gd name="connsiteY8" fmla="*/ 159957 h 164140"/>
                  <a:gd name="connsiteX9" fmla="*/ 84645 w 164140"/>
                  <a:gd name="connsiteY9" fmla="*/ 160279 h 164140"/>
                  <a:gd name="connsiteX10" fmla="*/ 92048 w 164140"/>
                  <a:gd name="connsiteY10" fmla="*/ 137106 h 164140"/>
                  <a:gd name="connsiteX11" fmla="*/ 108140 w 164140"/>
                  <a:gd name="connsiteY11" fmla="*/ 131634 h 164140"/>
                  <a:gd name="connsiteX12" fmla="*/ 128094 w 164140"/>
                  <a:gd name="connsiteY12" fmla="*/ 145474 h 164140"/>
                  <a:gd name="connsiteX13" fmla="*/ 131634 w 164140"/>
                  <a:gd name="connsiteY13" fmla="*/ 142255 h 164140"/>
                  <a:gd name="connsiteX14" fmla="*/ 135175 w 164140"/>
                  <a:gd name="connsiteY14" fmla="*/ 139037 h 164140"/>
                  <a:gd name="connsiteX15" fmla="*/ 138715 w 164140"/>
                  <a:gd name="connsiteY15" fmla="*/ 135818 h 164140"/>
                  <a:gd name="connsiteX16" fmla="*/ 127772 w 164140"/>
                  <a:gd name="connsiteY16" fmla="*/ 114255 h 164140"/>
                  <a:gd name="connsiteX17" fmla="*/ 135497 w 164140"/>
                  <a:gd name="connsiteY17" fmla="*/ 99128 h 164140"/>
                  <a:gd name="connsiteX18" fmla="*/ 159313 w 164140"/>
                  <a:gd name="connsiteY18" fmla="*/ 94944 h 164140"/>
                  <a:gd name="connsiteX19" fmla="*/ 159635 w 164140"/>
                  <a:gd name="connsiteY19" fmla="*/ 90116 h 164140"/>
                  <a:gd name="connsiteX20" fmla="*/ 159957 w 164140"/>
                  <a:gd name="connsiteY20" fmla="*/ 85289 h 164140"/>
                  <a:gd name="connsiteX21" fmla="*/ 160279 w 164140"/>
                  <a:gd name="connsiteY21" fmla="*/ 80461 h 164140"/>
                  <a:gd name="connsiteX22" fmla="*/ 137106 w 164140"/>
                  <a:gd name="connsiteY22" fmla="*/ 73059 h 164140"/>
                  <a:gd name="connsiteX23" fmla="*/ 131634 w 164140"/>
                  <a:gd name="connsiteY23" fmla="*/ 56966 h 164140"/>
                  <a:gd name="connsiteX24" fmla="*/ 145474 w 164140"/>
                  <a:gd name="connsiteY24" fmla="*/ 37012 h 164140"/>
                  <a:gd name="connsiteX25" fmla="*/ 142255 w 164140"/>
                  <a:gd name="connsiteY25" fmla="*/ 33472 h 164140"/>
                  <a:gd name="connsiteX26" fmla="*/ 139037 w 164140"/>
                  <a:gd name="connsiteY26" fmla="*/ 29932 h 164140"/>
                  <a:gd name="connsiteX27" fmla="*/ 135818 w 164140"/>
                  <a:gd name="connsiteY27" fmla="*/ 26391 h 164140"/>
                  <a:gd name="connsiteX28" fmla="*/ 114255 w 164140"/>
                  <a:gd name="connsiteY28" fmla="*/ 37334 h 164140"/>
                  <a:gd name="connsiteX29" fmla="*/ 98806 w 164140"/>
                  <a:gd name="connsiteY29" fmla="*/ 29610 h 164140"/>
                  <a:gd name="connsiteX30" fmla="*/ 94622 w 164140"/>
                  <a:gd name="connsiteY30" fmla="*/ 5793 h 164140"/>
                  <a:gd name="connsiteX31" fmla="*/ 89795 w 164140"/>
                  <a:gd name="connsiteY31" fmla="*/ 5471 h 164140"/>
                  <a:gd name="connsiteX32" fmla="*/ 84967 w 164140"/>
                  <a:gd name="connsiteY32" fmla="*/ 5150 h 164140"/>
                  <a:gd name="connsiteX33" fmla="*/ 80139 w 164140"/>
                  <a:gd name="connsiteY33" fmla="*/ 4828 h 164140"/>
                  <a:gd name="connsiteX34" fmla="*/ 72737 w 164140"/>
                  <a:gd name="connsiteY34" fmla="*/ 27679 h 164140"/>
                  <a:gd name="connsiteX35" fmla="*/ 56323 w 164140"/>
                  <a:gd name="connsiteY35" fmla="*/ 33150 h 164140"/>
                  <a:gd name="connsiteX36" fmla="*/ 36690 w 164140"/>
                  <a:gd name="connsiteY36" fmla="*/ 19311 h 164140"/>
                  <a:gd name="connsiteX37" fmla="*/ 33150 w 164140"/>
                  <a:gd name="connsiteY37" fmla="*/ 22529 h 164140"/>
                  <a:gd name="connsiteX38" fmla="*/ 29610 w 164140"/>
                  <a:gd name="connsiteY38" fmla="*/ 25748 h 164140"/>
                  <a:gd name="connsiteX39" fmla="*/ 26069 w 164140"/>
                  <a:gd name="connsiteY39" fmla="*/ 28966 h 164140"/>
                  <a:gd name="connsiteX40" fmla="*/ 37012 w 164140"/>
                  <a:gd name="connsiteY40" fmla="*/ 50208 h 164140"/>
                  <a:gd name="connsiteX41" fmla="*/ 29288 w 164140"/>
                  <a:gd name="connsiteY41" fmla="*/ 65656 h 164140"/>
                  <a:gd name="connsiteX42" fmla="*/ 5793 w 164140"/>
                  <a:gd name="connsiteY42" fmla="*/ 69840 h 164140"/>
                  <a:gd name="connsiteX43" fmla="*/ 5471 w 164140"/>
                  <a:gd name="connsiteY43" fmla="*/ 74668 h 164140"/>
                  <a:gd name="connsiteX44" fmla="*/ 5150 w 164140"/>
                  <a:gd name="connsiteY44" fmla="*/ 79496 h 164140"/>
                  <a:gd name="connsiteX45" fmla="*/ 4828 w 164140"/>
                  <a:gd name="connsiteY45" fmla="*/ 84323 h 164140"/>
                  <a:gd name="connsiteX46" fmla="*/ 27679 w 164140"/>
                  <a:gd name="connsiteY46" fmla="*/ 91726 h 164140"/>
                  <a:gd name="connsiteX47" fmla="*/ 33150 w 164140"/>
                  <a:gd name="connsiteY47" fmla="*/ 108140 h 164140"/>
                  <a:gd name="connsiteX48" fmla="*/ 19311 w 164140"/>
                  <a:gd name="connsiteY48" fmla="*/ 12809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4140" h="164140">
                    <a:moveTo>
                      <a:pt x="19311" y="128094"/>
                    </a:moveTo>
                    <a:lnTo>
                      <a:pt x="22529" y="131634"/>
                    </a:lnTo>
                    <a:lnTo>
                      <a:pt x="25748" y="135175"/>
                    </a:lnTo>
                    <a:lnTo>
                      <a:pt x="28966" y="138715"/>
                    </a:lnTo>
                    <a:lnTo>
                      <a:pt x="50530" y="127772"/>
                    </a:lnTo>
                    <a:cubicBezTo>
                      <a:pt x="55357" y="130991"/>
                      <a:pt x="60507" y="133565"/>
                      <a:pt x="65978" y="135497"/>
                    </a:cubicBezTo>
                    <a:lnTo>
                      <a:pt x="70162" y="159313"/>
                    </a:lnTo>
                    <a:lnTo>
                      <a:pt x="74990" y="159635"/>
                    </a:lnTo>
                    <a:lnTo>
                      <a:pt x="79817" y="159957"/>
                    </a:lnTo>
                    <a:lnTo>
                      <a:pt x="84645" y="160279"/>
                    </a:lnTo>
                    <a:lnTo>
                      <a:pt x="92048" y="137106"/>
                    </a:lnTo>
                    <a:cubicBezTo>
                      <a:pt x="97519" y="136140"/>
                      <a:pt x="102990" y="134209"/>
                      <a:pt x="108140" y="131634"/>
                    </a:cubicBezTo>
                    <a:lnTo>
                      <a:pt x="128094" y="145474"/>
                    </a:lnTo>
                    <a:lnTo>
                      <a:pt x="131634" y="142255"/>
                    </a:lnTo>
                    <a:lnTo>
                      <a:pt x="135175" y="139037"/>
                    </a:lnTo>
                    <a:lnTo>
                      <a:pt x="138715" y="135818"/>
                    </a:lnTo>
                    <a:lnTo>
                      <a:pt x="127772" y="114255"/>
                    </a:lnTo>
                    <a:cubicBezTo>
                      <a:pt x="130991" y="109427"/>
                      <a:pt x="133565" y="104278"/>
                      <a:pt x="135497" y="99128"/>
                    </a:cubicBezTo>
                    <a:lnTo>
                      <a:pt x="159313" y="94944"/>
                    </a:lnTo>
                    <a:lnTo>
                      <a:pt x="159635" y="90116"/>
                    </a:lnTo>
                    <a:lnTo>
                      <a:pt x="159957" y="85289"/>
                    </a:lnTo>
                    <a:lnTo>
                      <a:pt x="160279" y="80461"/>
                    </a:lnTo>
                    <a:lnTo>
                      <a:pt x="137106" y="73059"/>
                    </a:lnTo>
                    <a:cubicBezTo>
                      <a:pt x="136140" y="67587"/>
                      <a:pt x="134209" y="62116"/>
                      <a:pt x="131634" y="56966"/>
                    </a:cubicBezTo>
                    <a:lnTo>
                      <a:pt x="145474" y="37012"/>
                    </a:lnTo>
                    <a:lnTo>
                      <a:pt x="142255" y="33472"/>
                    </a:lnTo>
                    <a:lnTo>
                      <a:pt x="139037" y="29932"/>
                    </a:lnTo>
                    <a:lnTo>
                      <a:pt x="135818" y="26391"/>
                    </a:lnTo>
                    <a:lnTo>
                      <a:pt x="114255" y="37334"/>
                    </a:lnTo>
                    <a:cubicBezTo>
                      <a:pt x="109427" y="33794"/>
                      <a:pt x="104278" y="31541"/>
                      <a:pt x="98806" y="29610"/>
                    </a:cubicBezTo>
                    <a:lnTo>
                      <a:pt x="94622" y="5793"/>
                    </a:lnTo>
                    <a:lnTo>
                      <a:pt x="89795" y="5471"/>
                    </a:lnTo>
                    <a:lnTo>
                      <a:pt x="84967" y="5150"/>
                    </a:lnTo>
                    <a:lnTo>
                      <a:pt x="80139" y="4828"/>
                    </a:lnTo>
                    <a:lnTo>
                      <a:pt x="72737" y="27679"/>
                    </a:lnTo>
                    <a:cubicBezTo>
                      <a:pt x="66944" y="28644"/>
                      <a:pt x="61472" y="30575"/>
                      <a:pt x="56323" y="33150"/>
                    </a:cubicBezTo>
                    <a:lnTo>
                      <a:pt x="36690" y="19311"/>
                    </a:lnTo>
                    <a:lnTo>
                      <a:pt x="33150" y="22529"/>
                    </a:lnTo>
                    <a:lnTo>
                      <a:pt x="29610" y="25748"/>
                    </a:lnTo>
                    <a:lnTo>
                      <a:pt x="26069" y="28966"/>
                    </a:lnTo>
                    <a:lnTo>
                      <a:pt x="37012" y="50208"/>
                    </a:lnTo>
                    <a:cubicBezTo>
                      <a:pt x="33472" y="55035"/>
                      <a:pt x="30897" y="60185"/>
                      <a:pt x="29288" y="65656"/>
                    </a:cubicBezTo>
                    <a:lnTo>
                      <a:pt x="5793" y="69840"/>
                    </a:lnTo>
                    <a:lnTo>
                      <a:pt x="5471" y="74668"/>
                    </a:lnTo>
                    <a:lnTo>
                      <a:pt x="5150" y="79496"/>
                    </a:lnTo>
                    <a:lnTo>
                      <a:pt x="4828" y="84323"/>
                    </a:lnTo>
                    <a:lnTo>
                      <a:pt x="27679" y="91726"/>
                    </a:lnTo>
                    <a:cubicBezTo>
                      <a:pt x="28644" y="97197"/>
                      <a:pt x="30575" y="102990"/>
                      <a:pt x="33150" y="108140"/>
                    </a:cubicBezTo>
                    <a:lnTo>
                      <a:pt x="19311" y="128094"/>
                    </a:lnTo>
                    <a:close/>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20" name="Freeform: Shape 909">
                <a:extLst>
                  <a:ext uri="{FF2B5EF4-FFF2-40B4-BE49-F238E27FC236}">
                    <a16:creationId xmlns:a16="http://schemas.microsoft.com/office/drawing/2014/main" id="{15279F7A-847D-F148-84CD-CD6C903B43DF}"/>
                  </a:ext>
                </a:extLst>
              </p:cNvPr>
              <p:cNvSpPr/>
              <p:nvPr/>
            </p:nvSpPr>
            <p:spPr>
              <a:xfrm>
                <a:off x="7808463" y="614438"/>
                <a:ext cx="70806" cy="70806"/>
              </a:xfrm>
              <a:custGeom>
                <a:avLst/>
                <a:gdLst>
                  <a:gd name="connsiteX0" fmla="*/ 66622 w 70805"/>
                  <a:gd name="connsiteY0" fmla="*/ 35725 h 70805"/>
                  <a:gd name="connsiteX1" fmla="*/ 35725 w 70805"/>
                  <a:gd name="connsiteY1" fmla="*/ 66622 h 70805"/>
                  <a:gd name="connsiteX2" fmla="*/ 4828 w 70805"/>
                  <a:gd name="connsiteY2" fmla="*/ 35725 h 70805"/>
                  <a:gd name="connsiteX3" fmla="*/ 35725 w 70805"/>
                  <a:gd name="connsiteY3" fmla="*/ 4828 h 70805"/>
                  <a:gd name="connsiteX4" fmla="*/ 66622 w 70805"/>
                  <a:gd name="connsiteY4" fmla="*/ 35725 h 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05" h="70805">
                    <a:moveTo>
                      <a:pt x="66622" y="35725"/>
                    </a:moveTo>
                    <a:cubicBezTo>
                      <a:pt x="66622" y="52789"/>
                      <a:pt x="52789" y="66622"/>
                      <a:pt x="35725" y="66622"/>
                    </a:cubicBezTo>
                    <a:cubicBezTo>
                      <a:pt x="18661" y="66622"/>
                      <a:pt x="4828" y="52789"/>
                      <a:pt x="4828" y="35725"/>
                    </a:cubicBezTo>
                    <a:cubicBezTo>
                      <a:pt x="4828" y="18661"/>
                      <a:pt x="18661" y="4828"/>
                      <a:pt x="35725" y="4828"/>
                    </a:cubicBezTo>
                    <a:cubicBezTo>
                      <a:pt x="52789" y="4828"/>
                      <a:pt x="66622" y="18661"/>
                      <a:pt x="66622" y="35725"/>
                    </a:cubicBezTo>
                    <a:close/>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grpSp>
      <p:grpSp>
        <p:nvGrpSpPr>
          <p:cNvPr id="29" name="Graphic 326">
            <a:extLst>
              <a:ext uri="{FF2B5EF4-FFF2-40B4-BE49-F238E27FC236}">
                <a16:creationId xmlns:a16="http://schemas.microsoft.com/office/drawing/2014/main" id="{70130461-1603-A043-9259-848D43364ACA}"/>
              </a:ext>
            </a:extLst>
          </p:cNvPr>
          <p:cNvGrpSpPr/>
          <p:nvPr/>
        </p:nvGrpSpPr>
        <p:grpSpPr>
          <a:xfrm>
            <a:off x="8673500" y="2793992"/>
            <a:ext cx="795933" cy="582821"/>
            <a:chOff x="2187719" y="6922499"/>
            <a:chExt cx="567729" cy="413244"/>
          </a:xfrm>
        </p:grpSpPr>
        <p:sp>
          <p:nvSpPr>
            <p:cNvPr id="30" name="Freeform: Shape 919">
              <a:extLst>
                <a:ext uri="{FF2B5EF4-FFF2-40B4-BE49-F238E27FC236}">
                  <a16:creationId xmlns:a16="http://schemas.microsoft.com/office/drawing/2014/main" id="{04C75FB8-2099-744C-A236-62D2A35B0C4D}"/>
                </a:ext>
              </a:extLst>
            </p:cNvPr>
            <p:cNvSpPr/>
            <p:nvPr/>
          </p:nvSpPr>
          <p:spPr>
            <a:xfrm>
              <a:off x="2187719" y="7147139"/>
              <a:ext cx="370119" cy="135173"/>
            </a:xfrm>
            <a:custGeom>
              <a:avLst/>
              <a:gdLst>
                <a:gd name="connsiteX0" fmla="*/ 337937 w 370121"/>
                <a:gd name="connsiteY0" fmla="*/ 131313 h 135174"/>
                <a:gd name="connsiteX1" fmla="*/ 368512 w 370121"/>
                <a:gd name="connsiteY1" fmla="*/ 131634 h 135174"/>
                <a:gd name="connsiteX2" fmla="*/ 343730 w 370121"/>
                <a:gd name="connsiteY2" fmla="*/ 47955 h 135174"/>
                <a:gd name="connsiteX3" fmla="*/ 251039 w 370121"/>
                <a:gd name="connsiteY3" fmla="*/ 47633 h 135174"/>
                <a:gd name="connsiteX4" fmla="*/ 243958 w 370121"/>
                <a:gd name="connsiteY4" fmla="*/ 4828 h 135174"/>
                <a:gd name="connsiteX5" fmla="*/ 15770 w 370121"/>
                <a:gd name="connsiteY5" fmla="*/ 4828 h 135174"/>
                <a:gd name="connsiteX6" fmla="*/ 4828 w 370121"/>
                <a:gd name="connsiteY6" fmla="*/ 131313 h 135174"/>
                <a:gd name="connsiteX7" fmla="*/ 18667 w 370121"/>
                <a:gd name="connsiteY7" fmla="*/ 131313 h 13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21" h="135174">
                  <a:moveTo>
                    <a:pt x="337937" y="131313"/>
                  </a:moveTo>
                  <a:lnTo>
                    <a:pt x="368512" y="131634"/>
                  </a:lnTo>
                  <a:lnTo>
                    <a:pt x="343730" y="47955"/>
                  </a:lnTo>
                  <a:lnTo>
                    <a:pt x="251039" y="47633"/>
                  </a:lnTo>
                  <a:lnTo>
                    <a:pt x="243958" y="4828"/>
                  </a:lnTo>
                  <a:lnTo>
                    <a:pt x="15770" y="4828"/>
                  </a:lnTo>
                  <a:lnTo>
                    <a:pt x="4828" y="131313"/>
                  </a:lnTo>
                  <a:lnTo>
                    <a:pt x="18667" y="131313"/>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1" name="Freeform: Shape 920">
              <a:extLst>
                <a:ext uri="{FF2B5EF4-FFF2-40B4-BE49-F238E27FC236}">
                  <a16:creationId xmlns:a16="http://schemas.microsoft.com/office/drawing/2014/main" id="{C2514FA1-0861-EC4A-86D2-D298AB46A7E6}"/>
                </a:ext>
              </a:extLst>
            </p:cNvPr>
            <p:cNvSpPr/>
            <p:nvPr/>
          </p:nvSpPr>
          <p:spPr>
            <a:xfrm>
              <a:off x="2326433" y="7273623"/>
              <a:ext cx="77243" cy="9655"/>
            </a:xfrm>
            <a:custGeom>
              <a:avLst/>
              <a:gdLst>
                <a:gd name="connsiteX0" fmla="*/ 4828 w 77242"/>
                <a:gd name="connsiteY0" fmla="*/ 4828 h 9655"/>
                <a:gd name="connsiteX1" fmla="*/ 74024 w 77242"/>
                <a:gd name="connsiteY1" fmla="*/ 4828 h 9655"/>
              </a:gdLst>
              <a:ahLst/>
              <a:cxnLst>
                <a:cxn ang="0">
                  <a:pos x="connsiteX0" y="connsiteY0"/>
                </a:cxn>
                <a:cxn ang="0">
                  <a:pos x="connsiteX1" y="connsiteY1"/>
                </a:cxn>
              </a:cxnLst>
              <a:rect l="l" t="t" r="r" b="b"/>
              <a:pathLst>
                <a:path w="77242" h="9655">
                  <a:moveTo>
                    <a:pt x="4828" y="4828"/>
                  </a:moveTo>
                  <a:lnTo>
                    <a:pt x="74024" y="4828"/>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2" name="Freeform: Shape 921">
              <a:extLst>
                <a:ext uri="{FF2B5EF4-FFF2-40B4-BE49-F238E27FC236}">
                  <a16:creationId xmlns:a16="http://schemas.microsoft.com/office/drawing/2014/main" id="{F8A3B94D-4022-6749-8A3C-2FEA40825726}"/>
                </a:ext>
              </a:extLst>
            </p:cNvPr>
            <p:cNvSpPr/>
            <p:nvPr/>
          </p:nvSpPr>
          <p:spPr>
            <a:xfrm>
              <a:off x="2459353" y="6988150"/>
              <a:ext cx="32184" cy="199541"/>
            </a:xfrm>
            <a:custGeom>
              <a:avLst/>
              <a:gdLst>
                <a:gd name="connsiteX0" fmla="*/ 4828 w 32184"/>
                <a:gd name="connsiteY0" fmla="*/ 4828 h 199543"/>
                <a:gd name="connsiteX1" fmla="*/ 30253 w 32184"/>
                <a:gd name="connsiteY1" fmla="*/ 196003 h 199543"/>
              </a:gdLst>
              <a:ahLst/>
              <a:cxnLst>
                <a:cxn ang="0">
                  <a:pos x="connsiteX0" y="connsiteY0"/>
                </a:cxn>
                <a:cxn ang="0">
                  <a:pos x="connsiteX1" y="connsiteY1"/>
                </a:cxn>
              </a:cxnLst>
              <a:rect l="l" t="t" r="r" b="b"/>
              <a:pathLst>
                <a:path w="32184" h="199543">
                  <a:moveTo>
                    <a:pt x="4828" y="4828"/>
                  </a:moveTo>
                  <a:lnTo>
                    <a:pt x="30253" y="196003"/>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3" name="Freeform: Shape 922">
              <a:extLst>
                <a:ext uri="{FF2B5EF4-FFF2-40B4-BE49-F238E27FC236}">
                  <a16:creationId xmlns:a16="http://schemas.microsoft.com/office/drawing/2014/main" id="{810770AF-C7B1-3B41-B963-3BF9058D40A5}"/>
                </a:ext>
              </a:extLst>
            </p:cNvPr>
            <p:cNvSpPr/>
            <p:nvPr/>
          </p:nvSpPr>
          <p:spPr>
            <a:xfrm>
              <a:off x="2236639" y="6988150"/>
              <a:ext cx="16092" cy="154483"/>
            </a:xfrm>
            <a:custGeom>
              <a:avLst/>
              <a:gdLst>
                <a:gd name="connsiteX0" fmla="*/ 4828 w 16092"/>
                <a:gd name="connsiteY0" fmla="*/ 151267 h 154485"/>
                <a:gd name="connsiteX1" fmla="*/ 12552 w 16092"/>
                <a:gd name="connsiteY1" fmla="*/ 4828 h 154485"/>
              </a:gdLst>
              <a:ahLst/>
              <a:cxnLst>
                <a:cxn ang="0">
                  <a:pos x="connsiteX0" y="connsiteY0"/>
                </a:cxn>
                <a:cxn ang="0">
                  <a:pos x="connsiteX1" y="connsiteY1"/>
                </a:cxn>
              </a:cxnLst>
              <a:rect l="l" t="t" r="r" b="b"/>
              <a:pathLst>
                <a:path w="16092" h="154485">
                  <a:moveTo>
                    <a:pt x="4828" y="151267"/>
                  </a:moveTo>
                  <a:lnTo>
                    <a:pt x="12552" y="4828"/>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4" name="Freeform: Shape 923">
              <a:extLst>
                <a:ext uri="{FF2B5EF4-FFF2-40B4-BE49-F238E27FC236}">
                  <a16:creationId xmlns:a16="http://schemas.microsoft.com/office/drawing/2014/main" id="{2234604E-F881-C345-B650-8D35E2D60AF0}"/>
                </a:ext>
              </a:extLst>
            </p:cNvPr>
            <p:cNvSpPr/>
            <p:nvPr/>
          </p:nvSpPr>
          <p:spPr>
            <a:xfrm>
              <a:off x="2240501" y="6929254"/>
              <a:ext cx="234944" cy="51494"/>
            </a:xfrm>
            <a:custGeom>
              <a:avLst/>
              <a:gdLst>
                <a:gd name="connsiteX0" fmla="*/ 230441 w 234946"/>
                <a:gd name="connsiteY0" fmla="*/ 47955 h 51495"/>
                <a:gd name="connsiteX1" fmla="*/ 4828 w 234946"/>
                <a:gd name="connsiteY1" fmla="*/ 47955 h 51495"/>
                <a:gd name="connsiteX2" fmla="*/ 7402 w 234946"/>
                <a:gd name="connsiteY2" fmla="*/ 4828 h 51495"/>
                <a:gd name="connsiteX3" fmla="*/ 221107 w 234946"/>
                <a:gd name="connsiteY3" fmla="*/ 4828 h 51495"/>
              </a:gdLst>
              <a:ahLst/>
              <a:cxnLst>
                <a:cxn ang="0">
                  <a:pos x="connsiteX0" y="connsiteY0"/>
                </a:cxn>
                <a:cxn ang="0">
                  <a:pos x="connsiteX1" y="connsiteY1"/>
                </a:cxn>
                <a:cxn ang="0">
                  <a:pos x="connsiteX2" y="connsiteY2"/>
                </a:cxn>
                <a:cxn ang="0">
                  <a:pos x="connsiteX3" y="connsiteY3"/>
                </a:cxn>
              </a:cxnLst>
              <a:rect l="l" t="t" r="r" b="b"/>
              <a:pathLst>
                <a:path w="234946" h="51495">
                  <a:moveTo>
                    <a:pt x="230441" y="47955"/>
                  </a:moveTo>
                  <a:lnTo>
                    <a:pt x="4828" y="47955"/>
                  </a:lnTo>
                  <a:lnTo>
                    <a:pt x="7402" y="4828"/>
                  </a:lnTo>
                  <a:lnTo>
                    <a:pt x="221107" y="4828"/>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5" name="Freeform: Shape 924">
              <a:extLst>
                <a:ext uri="{FF2B5EF4-FFF2-40B4-BE49-F238E27FC236}">
                  <a16:creationId xmlns:a16="http://schemas.microsoft.com/office/drawing/2014/main" id="{C568FA47-28DE-BF47-96B8-76FBF582ED7D}"/>
                </a:ext>
              </a:extLst>
            </p:cNvPr>
            <p:cNvSpPr/>
            <p:nvPr/>
          </p:nvSpPr>
          <p:spPr>
            <a:xfrm>
              <a:off x="2224730" y="7176104"/>
              <a:ext cx="183450" cy="41839"/>
            </a:xfrm>
            <a:custGeom>
              <a:avLst/>
              <a:gdLst>
                <a:gd name="connsiteX0" fmla="*/ 180555 w 183451"/>
                <a:gd name="connsiteY0" fmla="*/ 39265 h 41839"/>
                <a:gd name="connsiteX1" fmla="*/ 4828 w 183451"/>
                <a:gd name="connsiteY1" fmla="*/ 39265 h 41839"/>
                <a:gd name="connsiteX2" fmla="*/ 8368 w 183451"/>
                <a:gd name="connsiteY2" fmla="*/ 4828 h 41839"/>
                <a:gd name="connsiteX3" fmla="*/ 174762 w 183451"/>
                <a:gd name="connsiteY3" fmla="*/ 4828 h 41839"/>
              </a:gdLst>
              <a:ahLst/>
              <a:cxnLst>
                <a:cxn ang="0">
                  <a:pos x="connsiteX0" y="connsiteY0"/>
                </a:cxn>
                <a:cxn ang="0">
                  <a:pos x="connsiteX1" y="connsiteY1"/>
                </a:cxn>
                <a:cxn ang="0">
                  <a:pos x="connsiteX2" y="connsiteY2"/>
                </a:cxn>
                <a:cxn ang="0">
                  <a:pos x="connsiteX3" y="connsiteY3"/>
                </a:cxn>
              </a:cxnLst>
              <a:rect l="l" t="t" r="r" b="b"/>
              <a:pathLst>
                <a:path w="183451" h="41839">
                  <a:moveTo>
                    <a:pt x="180555" y="39265"/>
                  </a:moveTo>
                  <a:lnTo>
                    <a:pt x="4828" y="39265"/>
                  </a:lnTo>
                  <a:lnTo>
                    <a:pt x="8368" y="4828"/>
                  </a:lnTo>
                  <a:lnTo>
                    <a:pt x="174762" y="4828"/>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6" name="Freeform: Shape 925">
              <a:extLst>
                <a:ext uri="{FF2B5EF4-FFF2-40B4-BE49-F238E27FC236}">
                  <a16:creationId xmlns:a16="http://schemas.microsoft.com/office/drawing/2014/main" id="{F843BF5D-509B-0B43-BFC6-BC1000F57153}"/>
                </a:ext>
              </a:extLst>
            </p:cNvPr>
            <p:cNvSpPr/>
            <p:nvPr/>
          </p:nvSpPr>
          <p:spPr>
            <a:xfrm>
              <a:off x="2278156" y="7011967"/>
              <a:ext cx="22529" cy="125517"/>
            </a:xfrm>
            <a:custGeom>
              <a:avLst/>
              <a:gdLst>
                <a:gd name="connsiteX0" fmla="*/ 19311 w 22529"/>
                <a:gd name="connsiteY0" fmla="*/ 4828 h 125519"/>
                <a:gd name="connsiteX1" fmla="*/ 4828 w 22529"/>
                <a:gd name="connsiteY1" fmla="*/ 4828 h 125519"/>
                <a:gd name="connsiteX2" fmla="*/ 19311 w 22529"/>
                <a:gd name="connsiteY2" fmla="*/ 122945 h 125519"/>
              </a:gdLst>
              <a:ahLst/>
              <a:cxnLst>
                <a:cxn ang="0">
                  <a:pos x="connsiteX0" y="connsiteY0"/>
                </a:cxn>
                <a:cxn ang="0">
                  <a:pos x="connsiteX1" y="connsiteY1"/>
                </a:cxn>
                <a:cxn ang="0">
                  <a:pos x="connsiteX2" y="connsiteY2"/>
                </a:cxn>
              </a:cxnLst>
              <a:rect l="l" t="t" r="r" b="b"/>
              <a:pathLst>
                <a:path w="22529" h="125519">
                  <a:moveTo>
                    <a:pt x="19311" y="4828"/>
                  </a:moveTo>
                  <a:lnTo>
                    <a:pt x="4828" y="4828"/>
                  </a:lnTo>
                  <a:lnTo>
                    <a:pt x="19311" y="122945"/>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7" name="Freeform: Shape 926">
              <a:extLst>
                <a:ext uri="{FF2B5EF4-FFF2-40B4-BE49-F238E27FC236}">
                  <a16:creationId xmlns:a16="http://schemas.microsoft.com/office/drawing/2014/main" id="{41273F2A-7601-AF4F-A2F6-DCBB1F24A317}"/>
                </a:ext>
              </a:extLst>
            </p:cNvPr>
            <p:cNvSpPr/>
            <p:nvPr/>
          </p:nvSpPr>
          <p:spPr>
            <a:xfrm>
              <a:off x="2292639" y="7011967"/>
              <a:ext cx="115864" cy="128736"/>
            </a:xfrm>
            <a:custGeom>
              <a:avLst/>
              <a:gdLst>
                <a:gd name="connsiteX0" fmla="*/ 112646 w 115864"/>
                <a:gd name="connsiteY0" fmla="*/ 126485 h 128737"/>
                <a:gd name="connsiteX1" fmla="*/ 112646 w 115864"/>
                <a:gd name="connsiteY1" fmla="*/ 102025 h 128737"/>
                <a:gd name="connsiteX2" fmla="*/ 40874 w 115864"/>
                <a:gd name="connsiteY2" fmla="*/ 102025 h 128737"/>
                <a:gd name="connsiteX3" fmla="*/ 29610 w 115864"/>
                <a:gd name="connsiteY3" fmla="*/ 4828 h 128737"/>
                <a:gd name="connsiteX4" fmla="*/ 4828 w 115864"/>
                <a:gd name="connsiteY4" fmla="*/ 4828 h 128737"/>
                <a:gd name="connsiteX5" fmla="*/ 21885 w 115864"/>
                <a:gd name="connsiteY5" fmla="*/ 122945 h 1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864" h="128737">
                  <a:moveTo>
                    <a:pt x="112646" y="126485"/>
                  </a:moveTo>
                  <a:lnTo>
                    <a:pt x="112646" y="102025"/>
                  </a:lnTo>
                  <a:lnTo>
                    <a:pt x="40874" y="102025"/>
                  </a:lnTo>
                  <a:lnTo>
                    <a:pt x="29610" y="4828"/>
                  </a:lnTo>
                  <a:lnTo>
                    <a:pt x="4828" y="4828"/>
                  </a:lnTo>
                  <a:lnTo>
                    <a:pt x="21885" y="122945"/>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8" name="Freeform: Shape 927">
              <a:extLst>
                <a:ext uri="{FF2B5EF4-FFF2-40B4-BE49-F238E27FC236}">
                  <a16:creationId xmlns:a16="http://schemas.microsoft.com/office/drawing/2014/main" id="{C98E37A5-F689-AF4B-B591-B0BD39631BE1}"/>
                </a:ext>
              </a:extLst>
            </p:cNvPr>
            <p:cNvSpPr/>
            <p:nvPr/>
          </p:nvSpPr>
          <p:spPr>
            <a:xfrm>
              <a:off x="2322892" y="7234358"/>
              <a:ext cx="83680" cy="19311"/>
            </a:xfrm>
            <a:custGeom>
              <a:avLst/>
              <a:gdLst>
                <a:gd name="connsiteX0" fmla="*/ 4828 w 83679"/>
                <a:gd name="connsiteY0" fmla="*/ 4828 h 19310"/>
                <a:gd name="connsiteX1" fmla="*/ 4828 w 83679"/>
                <a:gd name="connsiteY1" fmla="*/ 17380 h 19310"/>
                <a:gd name="connsiteX2" fmla="*/ 79174 w 83679"/>
                <a:gd name="connsiteY2" fmla="*/ 17380 h 19310"/>
                <a:gd name="connsiteX3" fmla="*/ 79174 w 83679"/>
                <a:gd name="connsiteY3" fmla="*/ 5793 h 19310"/>
              </a:gdLst>
              <a:ahLst/>
              <a:cxnLst>
                <a:cxn ang="0">
                  <a:pos x="connsiteX0" y="connsiteY0"/>
                </a:cxn>
                <a:cxn ang="0">
                  <a:pos x="connsiteX1" y="connsiteY1"/>
                </a:cxn>
                <a:cxn ang="0">
                  <a:pos x="connsiteX2" y="connsiteY2"/>
                </a:cxn>
                <a:cxn ang="0">
                  <a:pos x="connsiteX3" y="connsiteY3"/>
                </a:cxn>
              </a:cxnLst>
              <a:rect l="l" t="t" r="r" b="b"/>
              <a:pathLst>
                <a:path w="83679" h="19310">
                  <a:moveTo>
                    <a:pt x="4828" y="4828"/>
                  </a:moveTo>
                  <a:lnTo>
                    <a:pt x="4828" y="17380"/>
                  </a:lnTo>
                  <a:lnTo>
                    <a:pt x="79174" y="17380"/>
                  </a:lnTo>
                  <a:lnTo>
                    <a:pt x="79174" y="5793"/>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39" name="Freeform: Shape 928">
              <a:extLst>
                <a:ext uri="{FF2B5EF4-FFF2-40B4-BE49-F238E27FC236}">
                  <a16:creationId xmlns:a16="http://schemas.microsoft.com/office/drawing/2014/main" id="{2EA6323C-81E3-144F-853E-FD8537BADCFF}"/>
                </a:ext>
              </a:extLst>
            </p:cNvPr>
            <p:cNvSpPr/>
            <p:nvPr/>
          </p:nvSpPr>
          <p:spPr>
            <a:xfrm>
              <a:off x="2581653" y="6922499"/>
              <a:ext cx="173795" cy="389427"/>
            </a:xfrm>
            <a:custGeom>
              <a:avLst/>
              <a:gdLst>
                <a:gd name="connsiteX0" fmla="*/ 141933 w 173796"/>
                <a:gd name="connsiteY0" fmla="*/ 386213 h 389431"/>
                <a:gd name="connsiteX1" fmla="*/ 169290 w 173796"/>
                <a:gd name="connsiteY1" fmla="*/ 386213 h 389431"/>
                <a:gd name="connsiteX2" fmla="*/ 169290 w 173796"/>
                <a:gd name="connsiteY2" fmla="*/ 361110 h 389431"/>
                <a:gd name="connsiteX3" fmla="*/ 32184 w 173796"/>
                <a:gd name="connsiteY3" fmla="*/ 361110 h 389431"/>
                <a:gd name="connsiteX4" fmla="*/ 32184 w 173796"/>
                <a:gd name="connsiteY4" fmla="*/ 4828 h 389431"/>
                <a:gd name="connsiteX5" fmla="*/ 4828 w 173796"/>
                <a:gd name="connsiteY5" fmla="*/ 4828 h 389431"/>
                <a:gd name="connsiteX6" fmla="*/ 4828 w 173796"/>
                <a:gd name="connsiteY6" fmla="*/ 5471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796" h="389431">
                  <a:moveTo>
                    <a:pt x="141933" y="386213"/>
                  </a:moveTo>
                  <a:lnTo>
                    <a:pt x="169290" y="386213"/>
                  </a:lnTo>
                  <a:lnTo>
                    <a:pt x="169290" y="361110"/>
                  </a:lnTo>
                  <a:lnTo>
                    <a:pt x="32184" y="361110"/>
                  </a:lnTo>
                  <a:lnTo>
                    <a:pt x="32184" y="4828"/>
                  </a:lnTo>
                  <a:lnTo>
                    <a:pt x="4828" y="4828"/>
                  </a:lnTo>
                  <a:lnTo>
                    <a:pt x="4828" y="54714"/>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40" name="Freeform: Shape 929">
              <a:extLst>
                <a:ext uri="{FF2B5EF4-FFF2-40B4-BE49-F238E27FC236}">
                  <a16:creationId xmlns:a16="http://schemas.microsoft.com/office/drawing/2014/main" id="{7AE25CF3-E8F4-1D4C-B276-7D93B181BA0C}"/>
                </a:ext>
              </a:extLst>
            </p:cNvPr>
            <p:cNvSpPr/>
            <p:nvPr/>
          </p:nvSpPr>
          <p:spPr>
            <a:xfrm>
              <a:off x="2581652" y="7053166"/>
              <a:ext cx="125518" cy="257473"/>
            </a:xfrm>
            <a:custGeom>
              <a:avLst/>
              <a:gdLst>
                <a:gd name="connsiteX0" fmla="*/ 4828 w 125519"/>
                <a:gd name="connsiteY0" fmla="*/ 4828 h 257475"/>
                <a:gd name="connsiteX1" fmla="*/ 4828 w 125519"/>
                <a:gd name="connsiteY1" fmla="*/ 255545 h 257475"/>
                <a:gd name="connsiteX2" fmla="*/ 121657 w 125519"/>
                <a:gd name="connsiteY2" fmla="*/ 255545 h 257475"/>
              </a:gdLst>
              <a:ahLst/>
              <a:cxnLst>
                <a:cxn ang="0">
                  <a:pos x="connsiteX0" y="connsiteY0"/>
                </a:cxn>
                <a:cxn ang="0">
                  <a:pos x="connsiteX1" y="connsiteY1"/>
                </a:cxn>
                <a:cxn ang="0">
                  <a:pos x="connsiteX2" y="connsiteY2"/>
                </a:cxn>
              </a:cxnLst>
              <a:rect l="l" t="t" r="r" b="b"/>
              <a:pathLst>
                <a:path w="125519" h="257475">
                  <a:moveTo>
                    <a:pt x="4828" y="4828"/>
                  </a:moveTo>
                  <a:lnTo>
                    <a:pt x="4828" y="255545"/>
                  </a:lnTo>
                  <a:lnTo>
                    <a:pt x="121657" y="255545"/>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41" name="Freeform: Shape 930">
              <a:extLst>
                <a:ext uri="{FF2B5EF4-FFF2-40B4-BE49-F238E27FC236}">
                  <a16:creationId xmlns:a16="http://schemas.microsoft.com/office/drawing/2014/main" id="{6F24542C-4BBC-014C-8035-CF9941E07626}"/>
                </a:ext>
              </a:extLst>
            </p:cNvPr>
            <p:cNvSpPr/>
            <p:nvPr/>
          </p:nvSpPr>
          <p:spPr>
            <a:xfrm>
              <a:off x="2581650" y="6988148"/>
              <a:ext cx="9655" cy="54713"/>
            </a:xfrm>
            <a:custGeom>
              <a:avLst/>
              <a:gdLst>
                <a:gd name="connsiteX0" fmla="*/ 4828 w 9655"/>
                <a:gd name="connsiteY0" fmla="*/ 4828 h 54713"/>
                <a:gd name="connsiteX1" fmla="*/ 4828 w 9655"/>
                <a:gd name="connsiteY1" fmla="*/ 52461 h 54713"/>
              </a:gdLst>
              <a:ahLst/>
              <a:cxnLst>
                <a:cxn ang="0">
                  <a:pos x="connsiteX0" y="connsiteY0"/>
                </a:cxn>
                <a:cxn ang="0">
                  <a:pos x="connsiteX1" y="connsiteY1"/>
                </a:cxn>
              </a:cxnLst>
              <a:rect l="l" t="t" r="r" b="b"/>
              <a:pathLst>
                <a:path w="9655" h="54713">
                  <a:moveTo>
                    <a:pt x="4828" y="4828"/>
                  </a:moveTo>
                  <a:lnTo>
                    <a:pt x="4828" y="52461"/>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42" name="Freeform: Shape 931">
              <a:extLst>
                <a:ext uri="{FF2B5EF4-FFF2-40B4-BE49-F238E27FC236}">
                  <a16:creationId xmlns:a16="http://schemas.microsoft.com/office/drawing/2014/main" id="{BA3CDE8E-01E5-C14E-AF2A-6A558259B38F}"/>
                </a:ext>
              </a:extLst>
            </p:cNvPr>
            <p:cNvSpPr/>
            <p:nvPr/>
          </p:nvSpPr>
          <p:spPr>
            <a:xfrm>
              <a:off x="2412362" y="7235972"/>
              <a:ext cx="99771" cy="99771"/>
            </a:xfrm>
            <a:custGeom>
              <a:avLst/>
              <a:gdLst>
                <a:gd name="connsiteX0" fmla="*/ 96875 w 99771"/>
                <a:gd name="connsiteY0" fmla="*/ 50851 h 99771"/>
                <a:gd name="connsiteX1" fmla="*/ 50851 w 99771"/>
                <a:gd name="connsiteY1" fmla="*/ 96875 h 99771"/>
                <a:gd name="connsiteX2" fmla="*/ 4828 w 99771"/>
                <a:gd name="connsiteY2" fmla="*/ 50851 h 99771"/>
                <a:gd name="connsiteX3" fmla="*/ 50851 w 99771"/>
                <a:gd name="connsiteY3" fmla="*/ 4828 h 99771"/>
                <a:gd name="connsiteX4" fmla="*/ 96875 w 99771"/>
                <a:gd name="connsiteY4" fmla="*/ 50851 h 99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71" h="99771">
                  <a:moveTo>
                    <a:pt x="96875" y="50851"/>
                  </a:moveTo>
                  <a:cubicBezTo>
                    <a:pt x="96875" y="76270"/>
                    <a:pt x="76270" y="96875"/>
                    <a:pt x="50851" y="96875"/>
                  </a:cubicBezTo>
                  <a:cubicBezTo>
                    <a:pt x="25433" y="96875"/>
                    <a:pt x="4828" y="76270"/>
                    <a:pt x="4828" y="50851"/>
                  </a:cubicBezTo>
                  <a:cubicBezTo>
                    <a:pt x="4828" y="25433"/>
                    <a:pt x="25433" y="4828"/>
                    <a:pt x="50851" y="4828"/>
                  </a:cubicBezTo>
                  <a:cubicBezTo>
                    <a:pt x="76270" y="4828"/>
                    <a:pt x="96875" y="25433"/>
                    <a:pt x="96875" y="50851"/>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43" name="Freeform: Shape 932">
              <a:extLst>
                <a:ext uri="{FF2B5EF4-FFF2-40B4-BE49-F238E27FC236}">
                  <a16:creationId xmlns:a16="http://schemas.microsoft.com/office/drawing/2014/main" id="{C0D326D0-ADD9-AA48-B3C5-3AC399F136E9}"/>
                </a:ext>
              </a:extLst>
            </p:cNvPr>
            <p:cNvSpPr/>
            <p:nvPr/>
          </p:nvSpPr>
          <p:spPr>
            <a:xfrm>
              <a:off x="2432637" y="7256248"/>
              <a:ext cx="61150" cy="61149"/>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44" name="Freeform: Shape 933">
              <a:extLst>
                <a:ext uri="{FF2B5EF4-FFF2-40B4-BE49-F238E27FC236}">
                  <a16:creationId xmlns:a16="http://schemas.microsoft.com/office/drawing/2014/main" id="{7BECFAAF-8BAA-764A-AB2E-479FD0275F9B}"/>
                </a:ext>
              </a:extLst>
            </p:cNvPr>
            <p:cNvSpPr/>
            <p:nvPr/>
          </p:nvSpPr>
          <p:spPr>
            <a:xfrm>
              <a:off x="2219254" y="7235956"/>
              <a:ext cx="99771" cy="99770"/>
            </a:xfrm>
            <a:custGeom>
              <a:avLst/>
              <a:gdLst>
                <a:gd name="connsiteX0" fmla="*/ 96875 w 99771"/>
                <a:gd name="connsiteY0" fmla="*/ 50851 h 99771"/>
                <a:gd name="connsiteX1" fmla="*/ 50851 w 99771"/>
                <a:gd name="connsiteY1" fmla="*/ 96875 h 99771"/>
                <a:gd name="connsiteX2" fmla="*/ 4828 w 99771"/>
                <a:gd name="connsiteY2" fmla="*/ 50851 h 99771"/>
                <a:gd name="connsiteX3" fmla="*/ 50851 w 99771"/>
                <a:gd name="connsiteY3" fmla="*/ 4828 h 99771"/>
                <a:gd name="connsiteX4" fmla="*/ 96875 w 99771"/>
                <a:gd name="connsiteY4" fmla="*/ 50851 h 99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71" h="99771">
                  <a:moveTo>
                    <a:pt x="96875" y="50851"/>
                  </a:moveTo>
                  <a:cubicBezTo>
                    <a:pt x="96875" y="76270"/>
                    <a:pt x="76270" y="96875"/>
                    <a:pt x="50851" y="96875"/>
                  </a:cubicBezTo>
                  <a:cubicBezTo>
                    <a:pt x="25433" y="96875"/>
                    <a:pt x="4828" y="76270"/>
                    <a:pt x="4828" y="50851"/>
                  </a:cubicBezTo>
                  <a:cubicBezTo>
                    <a:pt x="4828" y="25433"/>
                    <a:pt x="25433" y="4828"/>
                    <a:pt x="50851" y="4828"/>
                  </a:cubicBezTo>
                  <a:cubicBezTo>
                    <a:pt x="76270" y="4828"/>
                    <a:pt x="96875" y="25433"/>
                    <a:pt x="96875" y="50851"/>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45" name="Freeform: Shape 934">
              <a:extLst>
                <a:ext uri="{FF2B5EF4-FFF2-40B4-BE49-F238E27FC236}">
                  <a16:creationId xmlns:a16="http://schemas.microsoft.com/office/drawing/2014/main" id="{E7D53BFF-496E-F84C-B7B0-2A96DC58070D}"/>
                </a:ext>
              </a:extLst>
            </p:cNvPr>
            <p:cNvSpPr/>
            <p:nvPr/>
          </p:nvSpPr>
          <p:spPr>
            <a:xfrm>
              <a:off x="2239533" y="7256234"/>
              <a:ext cx="61150" cy="61149"/>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46" name="Freeform: Shape 935">
              <a:extLst>
                <a:ext uri="{FF2B5EF4-FFF2-40B4-BE49-F238E27FC236}">
                  <a16:creationId xmlns:a16="http://schemas.microsoft.com/office/drawing/2014/main" id="{255AC527-4977-454F-AA8A-2E89BF0CFF1D}"/>
                </a:ext>
              </a:extLst>
            </p:cNvPr>
            <p:cNvSpPr/>
            <p:nvPr/>
          </p:nvSpPr>
          <p:spPr>
            <a:xfrm>
              <a:off x="2545290" y="7203133"/>
              <a:ext cx="35403" cy="9655"/>
            </a:xfrm>
            <a:custGeom>
              <a:avLst/>
              <a:gdLst>
                <a:gd name="connsiteX0" fmla="*/ 4828 w 35402"/>
                <a:gd name="connsiteY0" fmla="*/ 4828 h 9655"/>
                <a:gd name="connsiteX1" fmla="*/ 31541 w 35402"/>
                <a:gd name="connsiteY1" fmla="*/ 4828 h 9655"/>
              </a:gdLst>
              <a:ahLst/>
              <a:cxnLst>
                <a:cxn ang="0">
                  <a:pos x="connsiteX0" y="connsiteY0"/>
                </a:cxn>
                <a:cxn ang="0">
                  <a:pos x="connsiteX1" y="connsiteY1"/>
                </a:cxn>
              </a:cxnLst>
              <a:rect l="l" t="t" r="r" b="b"/>
              <a:pathLst>
                <a:path w="35402" h="9655">
                  <a:moveTo>
                    <a:pt x="4828" y="4828"/>
                  </a:moveTo>
                  <a:lnTo>
                    <a:pt x="31541" y="4828"/>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47" name="Freeform: Shape 936">
              <a:extLst>
                <a:ext uri="{FF2B5EF4-FFF2-40B4-BE49-F238E27FC236}">
                  <a16:creationId xmlns:a16="http://schemas.microsoft.com/office/drawing/2014/main" id="{F250BD20-3889-994A-9010-DC5FABE90D8A}"/>
                </a:ext>
              </a:extLst>
            </p:cNvPr>
            <p:cNvSpPr/>
            <p:nvPr/>
          </p:nvSpPr>
          <p:spPr>
            <a:xfrm>
              <a:off x="2551418" y="7222549"/>
              <a:ext cx="25748" cy="9655"/>
            </a:xfrm>
            <a:custGeom>
              <a:avLst/>
              <a:gdLst>
                <a:gd name="connsiteX0" fmla="*/ 4828 w 25747"/>
                <a:gd name="connsiteY0" fmla="*/ 4828 h 9655"/>
                <a:gd name="connsiteX1" fmla="*/ 22207 w 25747"/>
                <a:gd name="connsiteY1" fmla="*/ 4828 h 9655"/>
              </a:gdLst>
              <a:ahLst/>
              <a:cxnLst>
                <a:cxn ang="0">
                  <a:pos x="connsiteX0" y="connsiteY0"/>
                </a:cxn>
                <a:cxn ang="0">
                  <a:pos x="connsiteX1" y="connsiteY1"/>
                </a:cxn>
              </a:cxnLst>
              <a:rect l="l" t="t" r="r" b="b"/>
              <a:pathLst>
                <a:path w="25747" h="9655">
                  <a:moveTo>
                    <a:pt x="4828" y="4828"/>
                  </a:moveTo>
                  <a:lnTo>
                    <a:pt x="22207" y="4828"/>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grpSp>
      <p:grpSp>
        <p:nvGrpSpPr>
          <p:cNvPr id="48" name="Group 47">
            <a:extLst>
              <a:ext uri="{FF2B5EF4-FFF2-40B4-BE49-F238E27FC236}">
                <a16:creationId xmlns:a16="http://schemas.microsoft.com/office/drawing/2014/main" id="{3EC4C148-014A-334C-BEF3-9434F005B15A}"/>
              </a:ext>
            </a:extLst>
          </p:cNvPr>
          <p:cNvGrpSpPr/>
          <p:nvPr/>
        </p:nvGrpSpPr>
        <p:grpSpPr>
          <a:xfrm>
            <a:off x="4367878" y="2762830"/>
            <a:ext cx="963393" cy="713883"/>
            <a:chOff x="8359775" y="6592021"/>
            <a:chExt cx="1444632" cy="1070486"/>
          </a:xfrm>
        </p:grpSpPr>
        <p:grpSp>
          <p:nvGrpSpPr>
            <p:cNvPr id="49" name="Graphic 172">
              <a:extLst>
                <a:ext uri="{FF2B5EF4-FFF2-40B4-BE49-F238E27FC236}">
                  <a16:creationId xmlns:a16="http://schemas.microsoft.com/office/drawing/2014/main" id="{87582B0D-F12F-E842-B8F2-881AAC3A7152}"/>
                </a:ext>
              </a:extLst>
            </p:cNvPr>
            <p:cNvGrpSpPr/>
            <p:nvPr/>
          </p:nvGrpSpPr>
          <p:grpSpPr>
            <a:xfrm>
              <a:off x="8742285" y="6592021"/>
              <a:ext cx="1062122" cy="1041301"/>
              <a:chOff x="1685010" y="4353545"/>
              <a:chExt cx="443180" cy="434492"/>
            </a:xfrm>
          </p:grpSpPr>
          <p:sp>
            <p:nvSpPr>
              <p:cNvPr id="61" name="Freeform: Shape 950">
                <a:extLst>
                  <a:ext uri="{FF2B5EF4-FFF2-40B4-BE49-F238E27FC236}">
                    <a16:creationId xmlns:a16="http://schemas.microsoft.com/office/drawing/2014/main" id="{CE16A1EB-8B3A-EA48-9A23-C3D253D1E5F2}"/>
                  </a:ext>
                </a:extLst>
              </p:cNvPr>
              <p:cNvSpPr/>
              <p:nvPr/>
            </p:nvSpPr>
            <p:spPr>
              <a:xfrm>
                <a:off x="1685010" y="4353545"/>
                <a:ext cx="328281" cy="328281"/>
              </a:xfrm>
              <a:custGeom>
                <a:avLst/>
                <a:gdLst>
                  <a:gd name="connsiteX0" fmla="*/ 16736 w 328281"/>
                  <a:gd name="connsiteY0" fmla="*/ 104599 h 328281"/>
                  <a:gd name="connsiteX1" fmla="*/ 4828 w 328281"/>
                  <a:gd name="connsiteY1" fmla="*/ 165106 h 328281"/>
                  <a:gd name="connsiteX2" fmla="*/ 165106 w 328281"/>
                  <a:gd name="connsiteY2" fmla="*/ 325385 h 328281"/>
                  <a:gd name="connsiteX3" fmla="*/ 325385 w 328281"/>
                  <a:gd name="connsiteY3" fmla="*/ 165106 h 328281"/>
                  <a:gd name="connsiteX4" fmla="*/ 165106 w 328281"/>
                  <a:gd name="connsiteY4" fmla="*/ 4828 h 328281"/>
                  <a:gd name="connsiteX5" fmla="*/ 77886 w 328281"/>
                  <a:gd name="connsiteY5" fmla="*/ 30575 h 32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281" h="328281">
                    <a:moveTo>
                      <a:pt x="16736" y="104599"/>
                    </a:moveTo>
                    <a:cubicBezTo>
                      <a:pt x="9012" y="123266"/>
                      <a:pt x="4828" y="143865"/>
                      <a:pt x="4828" y="165106"/>
                    </a:cubicBezTo>
                    <a:cubicBezTo>
                      <a:pt x="4828" y="253613"/>
                      <a:pt x="76599" y="325385"/>
                      <a:pt x="165106" y="325385"/>
                    </a:cubicBezTo>
                    <a:cubicBezTo>
                      <a:pt x="253613" y="325385"/>
                      <a:pt x="325385" y="253613"/>
                      <a:pt x="325385" y="165106"/>
                    </a:cubicBezTo>
                    <a:cubicBezTo>
                      <a:pt x="325385" y="76599"/>
                      <a:pt x="253935" y="4828"/>
                      <a:pt x="165106" y="4828"/>
                    </a:cubicBezTo>
                    <a:cubicBezTo>
                      <a:pt x="132922" y="4828"/>
                      <a:pt x="102990" y="14161"/>
                      <a:pt x="77886" y="30575"/>
                    </a:cubicBez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62" name="Freeform: Shape 951">
                <a:extLst>
                  <a:ext uri="{FF2B5EF4-FFF2-40B4-BE49-F238E27FC236}">
                    <a16:creationId xmlns:a16="http://schemas.microsoft.com/office/drawing/2014/main" id="{2D36CA47-E6D8-D04B-9404-9FECB5DA86FC}"/>
                  </a:ext>
                </a:extLst>
              </p:cNvPr>
              <p:cNvSpPr/>
              <p:nvPr/>
            </p:nvSpPr>
            <p:spPr>
              <a:xfrm>
                <a:off x="1705608" y="4392489"/>
                <a:ext cx="41840" cy="51495"/>
              </a:xfrm>
              <a:custGeom>
                <a:avLst/>
                <a:gdLst>
                  <a:gd name="connsiteX0" fmla="*/ 39909 w 41839"/>
                  <a:gd name="connsiteY0" fmla="*/ 4828 h 51495"/>
                  <a:gd name="connsiteX1" fmla="*/ 4828 w 41839"/>
                  <a:gd name="connsiteY1" fmla="*/ 47633 h 51495"/>
                </a:gdLst>
                <a:ahLst/>
                <a:cxnLst>
                  <a:cxn ang="0">
                    <a:pos x="connsiteX0" y="connsiteY0"/>
                  </a:cxn>
                  <a:cxn ang="0">
                    <a:pos x="connsiteX1" y="connsiteY1"/>
                  </a:cxn>
                </a:cxnLst>
                <a:rect l="l" t="t" r="r" b="b"/>
                <a:pathLst>
                  <a:path w="41839" h="51495">
                    <a:moveTo>
                      <a:pt x="39909" y="4828"/>
                    </a:moveTo>
                    <a:cubicBezTo>
                      <a:pt x="25748" y="17058"/>
                      <a:pt x="13839" y="31541"/>
                      <a:pt x="4828" y="47633"/>
                    </a:cubicBez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63" name="Freeform: Shape 952">
                <a:extLst>
                  <a:ext uri="{FF2B5EF4-FFF2-40B4-BE49-F238E27FC236}">
                    <a16:creationId xmlns:a16="http://schemas.microsoft.com/office/drawing/2014/main" id="{756073FA-AFF9-FC44-9649-1D4F36DE13EA}"/>
                  </a:ext>
                </a:extLst>
              </p:cNvPr>
              <p:cNvSpPr/>
              <p:nvPr/>
            </p:nvSpPr>
            <p:spPr>
              <a:xfrm>
                <a:off x="1928646" y="4588493"/>
                <a:ext cx="199544" cy="199544"/>
              </a:xfrm>
              <a:custGeom>
                <a:avLst/>
                <a:gdLst>
                  <a:gd name="connsiteX0" fmla="*/ 62116 w 199543"/>
                  <a:gd name="connsiteY0" fmla="*/ 4828 h 199543"/>
                  <a:gd name="connsiteX1" fmla="*/ 183451 w 199543"/>
                  <a:gd name="connsiteY1" fmla="*/ 126807 h 199543"/>
                  <a:gd name="connsiteX2" fmla="*/ 182486 w 199543"/>
                  <a:gd name="connsiteY2" fmla="*/ 184739 h 199543"/>
                  <a:gd name="connsiteX3" fmla="*/ 182486 w 199543"/>
                  <a:gd name="connsiteY3" fmla="*/ 184739 h 199543"/>
                  <a:gd name="connsiteX4" fmla="*/ 124554 w 199543"/>
                  <a:gd name="connsiteY4" fmla="*/ 185382 h 199543"/>
                  <a:gd name="connsiteX5" fmla="*/ 4828 w 199543"/>
                  <a:gd name="connsiteY5" fmla="*/ 65656 h 199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543" h="199543">
                    <a:moveTo>
                      <a:pt x="62116" y="4828"/>
                    </a:moveTo>
                    <a:lnTo>
                      <a:pt x="183451" y="126807"/>
                    </a:lnTo>
                    <a:cubicBezTo>
                      <a:pt x="199222" y="142577"/>
                      <a:pt x="198900" y="168647"/>
                      <a:pt x="182486" y="184739"/>
                    </a:cubicBezTo>
                    <a:lnTo>
                      <a:pt x="182486" y="184739"/>
                    </a:lnTo>
                    <a:cubicBezTo>
                      <a:pt x="166394" y="200831"/>
                      <a:pt x="140324" y="201153"/>
                      <a:pt x="124554" y="185382"/>
                    </a:cubicBezTo>
                    <a:lnTo>
                      <a:pt x="4828" y="65656"/>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64" name="Freeform: Shape 953">
                <a:extLst>
                  <a:ext uri="{FF2B5EF4-FFF2-40B4-BE49-F238E27FC236}">
                    <a16:creationId xmlns:a16="http://schemas.microsoft.com/office/drawing/2014/main" id="{97A638E4-3F8E-4B43-A138-0948756C8B66}"/>
                  </a:ext>
                </a:extLst>
              </p:cNvPr>
              <p:cNvSpPr/>
              <p:nvPr/>
            </p:nvSpPr>
            <p:spPr>
              <a:xfrm>
                <a:off x="2034533" y="4695989"/>
                <a:ext cx="48277" cy="51495"/>
              </a:xfrm>
              <a:custGeom>
                <a:avLst/>
                <a:gdLst>
                  <a:gd name="connsiteX0" fmla="*/ 46024 w 48276"/>
                  <a:gd name="connsiteY0" fmla="*/ 4828 h 51495"/>
                  <a:gd name="connsiteX1" fmla="*/ 4828 w 48276"/>
                  <a:gd name="connsiteY1" fmla="*/ 47633 h 51495"/>
                </a:gdLst>
                <a:ahLst/>
                <a:cxnLst>
                  <a:cxn ang="0">
                    <a:pos x="connsiteX0" y="connsiteY0"/>
                  </a:cxn>
                  <a:cxn ang="0">
                    <a:pos x="connsiteX1" y="connsiteY1"/>
                  </a:cxn>
                </a:cxnLst>
                <a:rect l="l" t="t" r="r" b="b"/>
                <a:pathLst>
                  <a:path w="48276" h="51495">
                    <a:moveTo>
                      <a:pt x="46024" y="4828"/>
                    </a:moveTo>
                    <a:lnTo>
                      <a:pt x="4828" y="47633"/>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65" name="Freeform: Shape 954">
                <a:extLst>
                  <a:ext uri="{FF2B5EF4-FFF2-40B4-BE49-F238E27FC236}">
                    <a16:creationId xmlns:a16="http://schemas.microsoft.com/office/drawing/2014/main" id="{BA1A8490-DC8C-DF4F-AC91-39A434686294}"/>
                  </a:ext>
                </a:extLst>
              </p:cNvPr>
              <p:cNvSpPr/>
              <p:nvPr/>
            </p:nvSpPr>
            <p:spPr>
              <a:xfrm>
                <a:off x="2012004" y="4673460"/>
                <a:ext cx="48277" cy="51495"/>
              </a:xfrm>
              <a:custGeom>
                <a:avLst/>
                <a:gdLst>
                  <a:gd name="connsiteX0" fmla="*/ 46024 w 48276"/>
                  <a:gd name="connsiteY0" fmla="*/ 4828 h 51495"/>
                  <a:gd name="connsiteX1" fmla="*/ 4828 w 48276"/>
                  <a:gd name="connsiteY1" fmla="*/ 47633 h 51495"/>
                </a:gdLst>
                <a:ahLst/>
                <a:cxnLst>
                  <a:cxn ang="0">
                    <a:pos x="connsiteX0" y="connsiteY0"/>
                  </a:cxn>
                  <a:cxn ang="0">
                    <a:pos x="connsiteX1" y="connsiteY1"/>
                  </a:cxn>
                </a:cxnLst>
                <a:rect l="l" t="t" r="r" b="b"/>
                <a:pathLst>
                  <a:path w="48276" h="51495">
                    <a:moveTo>
                      <a:pt x="46024" y="4828"/>
                    </a:moveTo>
                    <a:lnTo>
                      <a:pt x="4828" y="47633"/>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66" name="Freeform: Shape 955">
                <a:extLst>
                  <a:ext uri="{FF2B5EF4-FFF2-40B4-BE49-F238E27FC236}">
                    <a16:creationId xmlns:a16="http://schemas.microsoft.com/office/drawing/2014/main" id="{C8AC8D4D-16BF-6841-93C2-4AD3A655CCF3}"/>
                  </a:ext>
                </a:extLst>
              </p:cNvPr>
              <p:cNvSpPr/>
              <p:nvPr/>
            </p:nvSpPr>
            <p:spPr>
              <a:xfrm>
                <a:off x="1715359" y="4384184"/>
                <a:ext cx="267131" cy="267131"/>
              </a:xfrm>
              <a:custGeom>
                <a:avLst/>
                <a:gdLst>
                  <a:gd name="connsiteX0" fmla="*/ 241288 w 267130"/>
                  <a:gd name="connsiteY0" fmla="*/ 209137 h 267130"/>
                  <a:gd name="connsiteX1" fmla="*/ 142803 w 267130"/>
                  <a:gd name="connsiteY1" fmla="*/ 264172 h 267130"/>
                  <a:gd name="connsiteX2" fmla="*/ 5054 w 267130"/>
                  <a:gd name="connsiteY2" fmla="*/ 142193 h 267130"/>
                  <a:gd name="connsiteX3" fmla="*/ 127033 w 267130"/>
                  <a:gd name="connsiteY3" fmla="*/ 5087 h 267130"/>
                  <a:gd name="connsiteX4" fmla="*/ 264782 w 267130"/>
                  <a:gd name="connsiteY4" fmla="*/ 127066 h 267130"/>
                  <a:gd name="connsiteX5" fmla="*/ 257702 w 267130"/>
                  <a:gd name="connsiteY5" fmla="*/ 178240 h 26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130" h="267130">
                    <a:moveTo>
                      <a:pt x="241288" y="209137"/>
                    </a:moveTo>
                    <a:cubicBezTo>
                      <a:pt x="219402" y="240356"/>
                      <a:pt x="183677" y="261919"/>
                      <a:pt x="142803" y="264172"/>
                    </a:cubicBezTo>
                    <a:cubicBezTo>
                      <a:pt x="71032" y="268678"/>
                      <a:pt x="9560" y="213964"/>
                      <a:pt x="5054" y="142193"/>
                    </a:cubicBezTo>
                    <a:cubicBezTo>
                      <a:pt x="870" y="70743"/>
                      <a:pt x="55261" y="9271"/>
                      <a:pt x="127033" y="5087"/>
                    </a:cubicBezTo>
                    <a:cubicBezTo>
                      <a:pt x="198804" y="581"/>
                      <a:pt x="260276" y="55295"/>
                      <a:pt x="264782" y="127066"/>
                    </a:cubicBezTo>
                    <a:cubicBezTo>
                      <a:pt x="265748" y="145090"/>
                      <a:pt x="263173" y="162147"/>
                      <a:pt x="257702" y="178240"/>
                    </a:cubicBez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grpSp>
          <p:nvGrpSpPr>
            <p:cNvPr id="50" name="Graphic 190">
              <a:extLst>
                <a:ext uri="{FF2B5EF4-FFF2-40B4-BE49-F238E27FC236}">
                  <a16:creationId xmlns:a16="http://schemas.microsoft.com/office/drawing/2014/main" id="{2B391BA7-C5B5-7942-975E-121111F59EDB}"/>
                </a:ext>
              </a:extLst>
            </p:cNvPr>
            <p:cNvGrpSpPr/>
            <p:nvPr/>
          </p:nvGrpSpPr>
          <p:grpSpPr>
            <a:xfrm>
              <a:off x="8911314" y="6708453"/>
              <a:ext cx="487551" cy="487551"/>
              <a:chOff x="7285831" y="4387916"/>
              <a:chExt cx="196325" cy="196325"/>
            </a:xfrm>
          </p:grpSpPr>
          <p:sp>
            <p:nvSpPr>
              <p:cNvPr id="58" name="Freeform: Shape 947">
                <a:extLst>
                  <a:ext uri="{FF2B5EF4-FFF2-40B4-BE49-F238E27FC236}">
                    <a16:creationId xmlns:a16="http://schemas.microsoft.com/office/drawing/2014/main" id="{0766161D-22E7-E74D-9445-4903655EF8CB}"/>
                  </a:ext>
                </a:extLst>
              </p:cNvPr>
              <p:cNvSpPr/>
              <p:nvPr/>
            </p:nvSpPr>
            <p:spPr>
              <a:xfrm>
                <a:off x="7285831" y="4387916"/>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59" name="Freeform: Shape 948">
                <a:extLst>
                  <a:ext uri="{FF2B5EF4-FFF2-40B4-BE49-F238E27FC236}">
                    <a16:creationId xmlns:a16="http://schemas.microsoft.com/office/drawing/2014/main" id="{B3FBA8FD-BA27-8543-891C-FC3A27002281}"/>
                  </a:ext>
                </a:extLst>
              </p:cNvPr>
              <p:cNvSpPr/>
              <p:nvPr/>
            </p:nvSpPr>
            <p:spPr>
              <a:xfrm>
                <a:off x="7342155" y="4444883"/>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60" name="Freeform: Shape 949">
                <a:extLst>
                  <a:ext uri="{FF2B5EF4-FFF2-40B4-BE49-F238E27FC236}">
                    <a16:creationId xmlns:a16="http://schemas.microsoft.com/office/drawing/2014/main" id="{CDBFCCE2-9C33-F442-9D99-D56AFB3B6837}"/>
                  </a:ext>
                </a:extLst>
              </p:cNvPr>
              <p:cNvSpPr/>
              <p:nvPr/>
            </p:nvSpPr>
            <p:spPr>
              <a:xfrm>
                <a:off x="7368224" y="4470952"/>
                <a:ext cx="32184" cy="32184"/>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grpSp>
        <p:grpSp>
          <p:nvGrpSpPr>
            <p:cNvPr id="51" name="Graphic 190">
              <a:extLst>
                <a:ext uri="{FF2B5EF4-FFF2-40B4-BE49-F238E27FC236}">
                  <a16:creationId xmlns:a16="http://schemas.microsoft.com/office/drawing/2014/main" id="{B5CE5915-3658-A24B-815D-0C88C825965C}"/>
                </a:ext>
              </a:extLst>
            </p:cNvPr>
            <p:cNvGrpSpPr/>
            <p:nvPr/>
          </p:nvGrpSpPr>
          <p:grpSpPr>
            <a:xfrm>
              <a:off x="8480431" y="7202131"/>
              <a:ext cx="460376" cy="460376"/>
              <a:chOff x="7289321" y="4372213"/>
              <a:chExt cx="196325" cy="196325"/>
            </a:xfrm>
          </p:grpSpPr>
          <p:sp>
            <p:nvSpPr>
              <p:cNvPr id="55" name="Freeform: Shape 944">
                <a:extLst>
                  <a:ext uri="{FF2B5EF4-FFF2-40B4-BE49-F238E27FC236}">
                    <a16:creationId xmlns:a16="http://schemas.microsoft.com/office/drawing/2014/main" id="{C5FF26F5-6B91-E045-AD7E-5A385583FF6F}"/>
                  </a:ext>
                </a:extLst>
              </p:cNvPr>
              <p:cNvSpPr/>
              <p:nvPr/>
            </p:nvSpPr>
            <p:spPr>
              <a:xfrm>
                <a:off x="7289321" y="4372213"/>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56" name="Freeform: Shape 945">
                <a:extLst>
                  <a:ext uri="{FF2B5EF4-FFF2-40B4-BE49-F238E27FC236}">
                    <a16:creationId xmlns:a16="http://schemas.microsoft.com/office/drawing/2014/main" id="{684C885F-7580-604E-B0E6-893A9FF0C733}"/>
                  </a:ext>
                </a:extLst>
              </p:cNvPr>
              <p:cNvSpPr/>
              <p:nvPr/>
            </p:nvSpPr>
            <p:spPr>
              <a:xfrm>
                <a:off x="7345644" y="4429180"/>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57" name="Freeform: Shape 946">
                <a:extLst>
                  <a:ext uri="{FF2B5EF4-FFF2-40B4-BE49-F238E27FC236}">
                    <a16:creationId xmlns:a16="http://schemas.microsoft.com/office/drawing/2014/main" id="{F2537ADE-DF46-C04E-86A0-658ABDBECBA8}"/>
                  </a:ext>
                </a:extLst>
              </p:cNvPr>
              <p:cNvSpPr/>
              <p:nvPr/>
            </p:nvSpPr>
            <p:spPr>
              <a:xfrm>
                <a:off x="7371713" y="4455249"/>
                <a:ext cx="32184" cy="32184"/>
              </a:xfrm>
              <a:custGeom>
                <a:avLst/>
                <a:gdLst>
                  <a:gd name="connsiteX0" fmla="*/ 28000 w 32184"/>
                  <a:gd name="connsiteY0" fmla="*/ 16414 h 32184"/>
                  <a:gd name="connsiteX1" fmla="*/ 16414 w 32184"/>
                  <a:gd name="connsiteY1" fmla="*/ 28000 h 32184"/>
                  <a:gd name="connsiteX2" fmla="*/ 4828 w 32184"/>
                  <a:gd name="connsiteY2" fmla="*/ 16414 h 32184"/>
                  <a:gd name="connsiteX3" fmla="*/ 16414 w 32184"/>
                  <a:gd name="connsiteY3" fmla="*/ 4828 h 32184"/>
                  <a:gd name="connsiteX4" fmla="*/ 28000 w 32184"/>
                  <a:gd name="connsiteY4" fmla="*/ 16414 h 3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84" h="32184">
                    <a:moveTo>
                      <a:pt x="28000" y="16414"/>
                    </a:moveTo>
                    <a:cubicBezTo>
                      <a:pt x="28000" y="22813"/>
                      <a:pt x="22813" y="28000"/>
                      <a:pt x="16414" y="28000"/>
                    </a:cubicBezTo>
                    <a:cubicBezTo>
                      <a:pt x="10015" y="28000"/>
                      <a:pt x="4828" y="22813"/>
                      <a:pt x="4828" y="16414"/>
                    </a:cubicBezTo>
                    <a:cubicBezTo>
                      <a:pt x="4828" y="10015"/>
                      <a:pt x="10015" y="4828"/>
                      <a:pt x="16414" y="4828"/>
                    </a:cubicBezTo>
                    <a:cubicBezTo>
                      <a:pt x="22813" y="4828"/>
                      <a:pt x="28000" y="10015"/>
                      <a:pt x="28000" y="16414"/>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grpSp>
        <p:grpSp>
          <p:nvGrpSpPr>
            <p:cNvPr id="52" name="Graphic 190">
              <a:extLst>
                <a:ext uri="{FF2B5EF4-FFF2-40B4-BE49-F238E27FC236}">
                  <a16:creationId xmlns:a16="http://schemas.microsoft.com/office/drawing/2014/main" id="{FB8F4E74-346F-3048-8009-D91F105EFF36}"/>
                </a:ext>
              </a:extLst>
            </p:cNvPr>
            <p:cNvGrpSpPr/>
            <p:nvPr/>
          </p:nvGrpSpPr>
          <p:grpSpPr>
            <a:xfrm>
              <a:off x="8359775" y="6905626"/>
              <a:ext cx="301625" cy="301625"/>
              <a:chOff x="7289321" y="4372213"/>
              <a:chExt cx="196325" cy="196325"/>
            </a:xfrm>
          </p:grpSpPr>
          <p:sp>
            <p:nvSpPr>
              <p:cNvPr id="53" name="Freeform: Shape 942">
                <a:extLst>
                  <a:ext uri="{FF2B5EF4-FFF2-40B4-BE49-F238E27FC236}">
                    <a16:creationId xmlns:a16="http://schemas.microsoft.com/office/drawing/2014/main" id="{4A75331B-F933-7C46-B71A-178FDDB34D40}"/>
                  </a:ext>
                </a:extLst>
              </p:cNvPr>
              <p:cNvSpPr/>
              <p:nvPr/>
            </p:nvSpPr>
            <p:spPr>
              <a:xfrm>
                <a:off x="7289321" y="4372213"/>
                <a:ext cx="196325" cy="196325"/>
              </a:xfrm>
              <a:custGeom>
                <a:avLst/>
                <a:gdLst>
                  <a:gd name="connsiteX0" fmla="*/ 22529 w 196325"/>
                  <a:gd name="connsiteY0" fmla="*/ 154807 h 196325"/>
                  <a:gd name="connsiteX1" fmla="*/ 26391 w 196325"/>
                  <a:gd name="connsiteY1" fmla="*/ 159313 h 196325"/>
                  <a:gd name="connsiteX2" fmla="*/ 30253 w 196325"/>
                  <a:gd name="connsiteY2" fmla="*/ 163819 h 196325"/>
                  <a:gd name="connsiteX3" fmla="*/ 34116 w 196325"/>
                  <a:gd name="connsiteY3" fmla="*/ 168325 h 196325"/>
                  <a:gd name="connsiteX4" fmla="*/ 60185 w 196325"/>
                  <a:gd name="connsiteY4" fmla="*/ 154807 h 196325"/>
                  <a:gd name="connsiteX5" fmla="*/ 78852 w 196325"/>
                  <a:gd name="connsiteY5" fmla="*/ 164141 h 196325"/>
                  <a:gd name="connsiteX6" fmla="*/ 84001 w 196325"/>
                  <a:gd name="connsiteY6" fmla="*/ 193107 h 196325"/>
                  <a:gd name="connsiteX7" fmla="*/ 89795 w 196325"/>
                  <a:gd name="connsiteY7" fmla="*/ 193429 h 196325"/>
                  <a:gd name="connsiteX8" fmla="*/ 95588 w 196325"/>
                  <a:gd name="connsiteY8" fmla="*/ 193429 h 196325"/>
                  <a:gd name="connsiteX9" fmla="*/ 101381 w 196325"/>
                  <a:gd name="connsiteY9" fmla="*/ 193750 h 196325"/>
                  <a:gd name="connsiteX10" fmla="*/ 110393 w 196325"/>
                  <a:gd name="connsiteY10" fmla="*/ 165750 h 196325"/>
                  <a:gd name="connsiteX11" fmla="*/ 130025 w 196325"/>
                  <a:gd name="connsiteY11" fmla="*/ 158991 h 196325"/>
                  <a:gd name="connsiteX12" fmla="*/ 154164 w 196325"/>
                  <a:gd name="connsiteY12" fmla="*/ 175727 h 196325"/>
                  <a:gd name="connsiteX13" fmla="*/ 158669 w 196325"/>
                  <a:gd name="connsiteY13" fmla="*/ 171865 h 196325"/>
                  <a:gd name="connsiteX14" fmla="*/ 163175 w 196325"/>
                  <a:gd name="connsiteY14" fmla="*/ 168003 h 196325"/>
                  <a:gd name="connsiteX15" fmla="*/ 167681 w 196325"/>
                  <a:gd name="connsiteY15" fmla="*/ 164141 h 196325"/>
                  <a:gd name="connsiteX16" fmla="*/ 154164 w 196325"/>
                  <a:gd name="connsiteY16" fmla="*/ 138071 h 196325"/>
                  <a:gd name="connsiteX17" fmla="*/ 163497 w 196325"/>
                  <a:gd name="connsiteY17" fmla="*/ 119404 h 196325"/>
                  <a:gd name="connsiteX18" fmla="*/ 192463 w 196325"/>
                  <a:gd name="connsiteY18" fmla="*/ 114255 h 196325"/>
                  <a:gd name="connsiteX19" fmla="*/ 192785 w 196325"/>
                  <a:gd name="connsiteY19" fmla="*/ 108462 h 196325"/>
                  <a:gd name="connsiteX20" fmla="*/ 193107 w 196325"/>
                  <a:gd name="connsiteY20" fmla="*/ 102668 h 196325"/>
                  <a:gd name="connsiteX21" fmla="*/ 193429 w 196325"/>
                  <a:gd name="connsiteY21" fmla="*/ 96875 h 196325"/>
                  <a:gd name="connsiteX22" fmla="*/ 165428 w 196325"/>
                  <a:gd name="connsiteY22" fmla="*/ 87864 h 196325"/>
                  <a:gd name="connsiteX23" fmla="*/ 158669 w 196325"/>
                  <a:gd name="connsiteY23" fmla="*/ 68231 h 196325"/>
                  <a:gd name="connsiteX24" fmla="*/ 175405 w 196325"/>
                  <a:gd name="connsiteY24" fmla="*/ 44093 h 196325"/>
                  <a:gd name="connsiteX25" fmla="*/ 171543 w 196325"/>
                  <a:gd name="connsiteY25" fmla="*/ 39587 h 196325"/>
                  <a:gd name="connsiteX26" fmla="*/ 167681 w 196325"/>
                  <a:gd name="connsiteY26" fmla="*/ 35081 h 196325"/>
                  <a:gd name="connsiteX27" fmla="*/ 163819 w 196325"/>
                  <a:gd name="connsiteY27" fmla="*/ 30575 h 196325"/>
                  <a:gd name="connsiteX28" fmla="*/ 137749 w 196325"/>
                  <a:gd name="connsiteY28" fmla="*/ 43771 h 196325"/>
                  <a:gd name="connsiteX29" fmla="*/ 119082 w 196325"/>
                  <a:gd name="connsiteY29" fmla="*/ 34437 h 196325"/>
                  <a:gd name="connsiteX30" fmla="*/ 113933 w 196325"/>
                  <a:gd name="connsiteY30" fmla="*/ 5793 h 196325"/>
                  <a:gd name="connsiteX31" fmla="*/ 108140 w 196325"/>
                  <a:gd name="connsiteY31" fmla="*/ 5471 h 196325"/>
                  <a:gd name="connsiteX32" fmla="*/ 102347 w 196325"/>
                  <a:gd name="connsiteY32" fmla="*/ 5150 h 196325"/>
                  <a:gd name="connsiteX33" fmla="*/ 96553 w 196325"/>
                  <a:gd name="connsiteY33" fmla="*/ 4828 h 196325"/>
                  <a:gd name="connsiteX34" fmla="*/ 87542 w 196325"/>
                  <a:gd name="connsiteY34" fmla="*/ 32506 h 196325"/>
                  <a:gd name="connsiteX35" fmla="*/ 67587 w 196325"/>
                  <a:gd name="connsiteY35" fmla="*/ 39265 h 196325"/>
                  <a:gd name="connsiteX36" fmla="*/ 43771 w 196325"/>
                  <a:gd name="connsiteY36" fmla="*/ 22529 h 196325"/>
                  <a:gd name="connsiteX37" fmla="*/ 39265 w 196325"/>
                  <a:gd name="connsiteY37" fmla="*/ 26391 h 196325"/>
                  <a:gd name="connsiteX38" fmla="*/ 34759 w 196325"/>
                  <a:gd name="connsiteY38" fmla="*/ 30253 h 196325"/>
                  <a:gd name="connsiteX39" fmla="*/ 30253 w 196325"/>
                  <a:gd name="connsiteY39" fmla="*/ 34116 h 196325"/>
                  <a:gd name="connsiteX40" fmla="*/ 43449 w 196325"/>
                  <a:gd name="connsiteY40" fmla="*/ 60185 h 196325"/>
                  <a:gd name="connsiteX41" fmla="*/ 34116 w 196325"/>
                  <a:gd name="connsiteY41" fmla="*/ 78852 h 196325"/>
                  <a:gd name="connsiteX42" fmla="*/ 5471 w 196325"/>
                  <a:gd name="connsiteY42" fmla="*/ 84001 h 196325"/>
                  <a:gd name="connsiteX43" fmla="*/ 5471 w 196325"/>
                  <a:gd name="connsiteY43" fmla="*/ 90438 h 196325"/>
                  <a:gd name="connsiteX44" fmla="*/ 5150 w 196325"/>
                  <a:gd name="connsiteY44" fmla="*/ 96232 h 196325"/>
                  <a:gd name="connsiteX45" fmla="*/ 4828 w 196325"/>
                  <a:gd name="connsiteY45" fmla="*/ 102025 h 196325"/>
                  <a:gd name="connsiteX46" fmla="*/ 32506 w 196325"/>
                  <a:gd name="connsiteY46" fmla="*/ 111036 h 196325"/>
                  <a:gd name="connsiteX47" fmla="*/ 39265 w 196325"/>
                  <a:gd name="connsiteY47" fmla="*/ 130669 h 196325"/>
                  <a:gd name="connsiteX48" fmla="*/ 22529 w 196325"/>
                  <a:gd name="connsiteY48" fmla="*/ 154807 h 19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6325" h="196325">
                    <a:moveTo>
                      <a:pt x="22529" y="154807"/>
                    </a:moveTo>
                    <a:lnTo>
                      <a:pt x="26391" y="159313"/>
                    </a:lnTo>
                    <a:lnTo>
                      <a:pt x="30253" y="163819"/>
                    </a:lnTo>
                    <a:lnTo>
                      <a:pt x="34116" y="168325"/>
                    </a:lnTo>
                    <a:lnTo>
                      <a:pt x="60185" y="154807"/>
                    </a:lnTo>
                    <a:cubicBezTo>
                      <a:pt x="65978" y="158991"/>
                      <a:pt x="72415" y="161888"/>
                      <a:pt x="78852" y="164141"/>
                    </a:cubicBezTo>
                    <a:lnTo>
                      <a:pt x="84001" y="193107"/>
                    </a:lnTo>
                    <a:lnTo>
                      <a:pt x="89795" y="193429"/>
                    </a:lnTo>
                    <a:lnTo>
                      <a:pt x="95588" y="193429"/>
                    </a:lnTo>
                    <a:lnTo>
                      <a:pt x="101381" y="193750"/>
                    </a:lnTo>
                    <a:lnTo>
                      <a:pt x="110393" y="165750"/>
                    </a:lnTo>
                    <a:cubicBezTo>
                      <a:pt x="117151" y="164463"/>
                      <a:pt x="123910" y="162210"/>
                      <a:pt x="130025" y="158991"/>
                    </a:cubicBezTo>
                    <a:lnTo>
                      <a:pt x="154164" y="175727"/>
                    </a:lnTo>
                    <a:lnTo>
                      <a:pt x="158669" y="171865"/>
                    </a:lnTo>
                    <a:lnTo>
                      <a:pt x="163175" y="168003"/>
                    </a:lnTo>
                    <a:lnTo>
                      <a:pt x="167681" y="164141"/>
                    </a:lnTo>
                    <a:lnTo>
                      <a:pt x="154164" y="138071"/>
                    </a:lnTo>
                    <a:cubicBezTo>
                      <a:pt x="158347" y="132278"/>
                      <a:pt x="161244" y="126163"/>
                      <a:pt x="163497" y="119404"/>
                    </a:cubicBezTo>
                    <a:lnTo>
                      <a:pt x="192463" y="114255"/>
                    </a:lnTo>
                    <a:lnTo>
                      <a:pt x="192785" y="108462"/>
                    </a:lnTo>
                    <a:lnTo>
                      <a:pt x="193107" y="102668"/>
                    </a:lnTo>
                    <a:lnTo>
                      <a:pt x="193429" y="96875"/>
                    </a:lnTo>
                    <a:lnTo>
                      <a:pt x="165428" y="87864"/>
                    </a:lnTo>
                    <a:cubicBezTo>
                      <a:pt x="164141" y="81105"/>
                      <a:pt x="162210" y="74346"/>
                      <a:pt x="158669" y="68231"/>
                    </a:cubicBezTo>
                    <a:lnTo>
                      <a:pt x="175405" y="44093"/>
                    </a:lnTo>
                    <a:lnTo>
                      <a:pt x="171543" y="39587"/>
                    </a:lnTo>
                    <a:lnTo>
                      <a:pt x="167681" y="35081"/>
                    </a:lnTo>
                    <a:lnTo>
                      <a:pt x="163819" y="30575"/>
                    </a:lnTo>
                    <a:lnTo>
                      <a:pt x="137749" y="43771"/>
                    </a:lnTo>
                    <a:cubicBezTo>
                      <a:pt x="131956" y="39587"/>
                      <a:pt x="125519" y="36690"/>
                      <a:pt x="119082" y="34437"/>
                    </a:cubicBezTo>
                    <a:lnTo>
                      <a:pt x="113933" y="5793"/>
                    </a:lnTo>
                    <a:lnTo>
                      <a:pt x="108140" y="5471"/>
                    </a:lnTo>
                    <a:lnTo>
                      <a:pt x="102347" y="5150"/>
                    </a:lnTo>
                    <a:lnTo>
                      <a:pt x="96553" y="4828"/>
                    </a:lnTo>
                    <a:lnTo>
                      <a:pt x="87542" y="32506"/>
                    </a:lnTo>
                    <a:cubicBezTo>
                      <a:pt x="80783" y="33794"/>
                      <a:pt x="74024" y="36047"/>
                      <a:pt x="67587" y="39265"/>
                    </a:cubicBezTo>
                    <a:lnTo>
                      <a:pt x="43771" y="22529"/>
                    </a:lnTo>
                    <a:lnTo>
                      <a:pt x="39265" y="26391"/>
                    </a:lnTo>
                    <a:lnTo>
                      <a:pt x="34759" y="30253"/>
                    </a:lnTo>
                    <a:lnTo>
                      <a:pt x="30253" y="34116"/>
                    </a:lnTo>
                    <a:lnTo>
                      <a:pt x="43449" y="60185"/>
                    </a:lnTo>
                    <a:cubicBezTo>
                      <a:pt x="39265" y="65978"/>
                      <a:pt x="36368" y="72415"/>
                      <a:pt x="34116" y="78852"/>
                    </a:cubicBezTo>
                    <a:lnTo>
                      <a:pt x="5471" y="84001"/>
                    </a:lnTo>
                    <a:lnTo>
                      <a:pt x="5471" y="90438"/>
                    </a:lnTo>
                    <a:lnTo>
                      <a:pt x="5150" y="96232"/>
                    </a:lnTo>
                    <a:lnTo>
                      <a:pt x="4828" y="102025"/>
                    </a:lnTo>
                    <a:lnTo>
                      <a:pt x="32506" y="111036"/>
                    </a:lnTo>
                    <a:cubicBezTo>
                      <a:pt x="33794" y="117795"/>
                      <a:pt x="36047" y="124554"/>
                      <a:pt x="39265" y="130669"/>
                    </a:cubicBezTo>
                    <a:lnTo>
                      <a:pt x="22529" y="154807"/>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54" name="Freeform: Shape 943">
                <a:extLst>
                  <a:ext uri="{FF2B5EF4-FFF2-40B4-BE49-F238E27FC236}">
                    <a16:creationId xmlns:a16="http://schemas.microsoft.com/office/drawing/2014/main" id="{596D7799-3542-E84F-BA59-6733CC408D87}"/>
                  </a:ext>
                </a:extLst>
              </p:cNvPr>
              <p:cNvSpPr/>
              <p:nvPr/>
            </p:nvSpPr>
            <p:spPr>
              <a:xfrm>
                <a:off x="7345644" y="4429180"/>
                <a:ext cx="83680" cy="83680"/>
              </a:xfrm>
              <a:custGeom>
                <a:avLst/>
                <a:gdLst>
                  <a:gd name="connsiteX0" fmla="*/ 80139 w 83679"/>
                  <a:gd name="connsiteY0" fmla="*/ 42483 h 83679"/>
                  <a:gd name="connsiteX1" fmla="*/ 42483 w 83679"/>
                  <a:gd name="connsiteY1" fmla="*/ 80139 h 83679"/>
                  <a:gd name="connsiteX2" fmla="*/ 4828 w 83679"/>
                  <a:gd name="connsiteY2" fmla="*/ 42483 h 83679"/>
                  <a:gd name="connsiteX3" fmla="*/ 42483 w 83679"/>
                  <a:gd name="connsiteY3" fmla="*/ 4828 h 83679"/>
                  <a:gd name="connsiteX4" fmla="*/ 80139 w 83679"/>
                  <a:gd name="connsiteY4" fmla="*/ 42483 h 83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79" h="83679">
                    <a:moveTo>
                      <a:pt x="80139" y="42483"/>
                    </a:moveTo>
                    <a:cubicBezTo>
                      <a:pt x="80139" y="63280"/>
                      <a:pt x="63280" y="80139"/>
                      <a:pt x="42483" y="80139"/>
                    </a:cubicBezTo>
                    <a:cubicBezTo>
                      <a:pt x="21687" y="80139"/>
                      <a:pt x="4828" y="63280"/>
                      <a:pt x="4828" y="42483"/>
                    </a:cubicBezTo>
                    <a:cubicBezTo>
                      <a:pt x="4828" y="21687"/>
                      <a:pt x="21687" y="4828"/>
                      <a:pt x="42483" y="4828"/>
                    </a:cubicBezTo>
                    <a:cubicBezTo>
                      <a:pt x="63280" y="4828"/>
                      <a:pt x="80139" y="21687"/>
                      <a:pt x="80139" y="42483"/>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grpSp>
      </p:grpSp>
      <p:grpSp>
        <p:nvGrpSpPr>
          <p:cNvPr id="67" name="Graphic 160">
            <a:extLst>
              <a:ext uri="{FF2B5EF4-FFF2-40B4-BE49-F238E27FC236}">
                <a16:creationId xmlns:a16="http://schemas.microsoft.com/office/drawing/2014/main" id="{B4283803-3340-564C-91F3-7D35A4C9F3B2}"/>
              </a:ext>
            </a:extLst>
          </p:cNvPr>
          <p:cNvGrpSpPr/>
          <p:nvPr/>
        </p:nvGrpSpPr>
        <p:grpSpPr>
          <a:xfrm>
            <a:off x="8706658" y="4333585"/>
            <a:ext cx="698244" cy="722132"/>
            <a:chOff x="4692320" y="5010565"/>
            <a:chExt cx="395223" cy="408744"/>
          </a:xfrm>
        </p:grpSpPr>
        <p:sp>
          <p:nvSpPr>
            <p:cNvPr id="68" name="Freeform: Shape 957">
              <a:extLst>
                <a:ext uri="{FF2B5EF4-FFF2-40B4-BE49-F238E27FC236}">
                  <a16:creationId xmlns:a16="http://schemas.microsoft.com/office/drawing/2014/main" id="{4A8B3981-FC0F-F24E-AFFD-D1F88A0F3F48}"/>
                </a:ext>
              </a:extLst>
            </p:cNvPr>
            <p:cNvSpPr/>
            <p:nvPr/>
          </p:nvSpPr>
          <p:spPr>
            <a:xfrm>
              <a:off x="4692320" y="5010565"/>
              <a:ext cx="302535" cy="408744"/>
            </a:xfrm>
            <a:custGeom>
              <a:avLst/>
              <a:gdLst>
                <a:gd name="connsiteX0" fmla="*/ 298028 w 302533"/>
                <a:gd name="connsiteY0" fmla="*/ 72939 h 408742"/>
                <a:gd name="connsiteX1" fmla="*/ 298028 w 302533"/>
                <a:gd name="connsiteY1" fmla="*/ 51376 h 408742"/>
                <a:gd name="connsiteX2" fmla="*/ 286442 w 302533"/>
                <a:gd name="connsiteY2" fmla="*/ 42042 h 408742"/>
                <a:gd name="connsiteX3" fmla="*/ 158991 w 302533"/>
                <a:gd name="connsiteY3" fmla="*/ 7927 h 408742"/>
                <a:gd name="connsiteX4" fmla="*/ 144508 w 302533"/>
                <a:gd name="connsiteY4" fmla="*/ 8248 h 408742"/>
                <a:gd name="connsiteX5" fmla="*/ 16414 w 302533"/>
                <a:gd name="connsiteY5" fmla="*/ 41398 h 408742"/>
                <a:gd name="connsiteX6" fmla="*/ 4828 w 302533"/>
                <a:gd name="connsiteY6" fmla="*/ 50732 h 408742"/>
                <a:gd name="connsiteX7" fmla="*/ 4828 w 302533"/>
                <a:gd name="connsiteY7" fmla="*/ 319150 h 408742"/>
                <a:gd name="connsiteX8" fmla="*/ 9655 w 302533"/>
                <a:gd name="connsiteY8" fmla="*/ 327518 h 408742"/>
                <a:gd name="connsiteX9" fmla="*/ 146761 w 302533"/>
                <a:gd name="connsiteY9" fmla="*/ 404761 h 408742"/>
                <a:gd name="connsiteX10" fmla="*/ 156095 w 302533"/>
                <a:gd name="connsiteY10" fmla="*/ 404761 h 408742"/>
                <a:gd name="connsiteX11" fmla="*/ 293200 w 302533"/>
                <a:gd name="connsiteY11" fmla="*/ 327840 h 408742"/>
                <a:gd name="connsiteX12" fmla="*/ 298028 w 302533"/>
                <a:gd name="connsiteY12" fmla="*/ 319794 h 408742"/>
                <a:gd name="connsiteX13" fmla="*/ 298350 w 302533"/>
                <a:gd name="connsiteY13" fmla="*/ 298230 h 40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2533" h="408742">
                  <a:moveTo>
                    <a:pt x="298028" y="72939"/>
                  </a:moveTo>
                  <a:lnTo>
                    <a:pt x="298028" y="51376"/>
                  </a:lnTo>
                  <a:cubicBezTo>
                    <a:pt x="298028" y="45260"/>
                    <a:pt x="292557" y="40755"/>
                    <a:pt x="286442" y="42042"/>
                  </a:cubicBezTo>
                  <a:cubicBezTo>
                    <a:pt x="261338" y="47513"/>
                    <a:pt x="200187" y="54272"/>
                    <a:pt x="158991" y="7927"/>
                  </a:cubicBezTo>
                  <a:cubicBezTo>
                    <a:pt x="155129" y="3743"/>
                    <a:pt x="148370" y="3743"/>
                    <a:pt x="144508" y="8248"/>
                  </a:cubicBezTo>
                  <a:cubicBezTo>
                    <a:pt x="130025" y="24662"/>
                    <a:pt x="91404" y="56525"/>
                    <a:pt x="16414" y="41398"/>
                  </a:cubicBezTo>
                  <a:cubicBezTo>
                    <a:pt x="10299" y="40111"/>
                    <a:pt x="4828" y="44617"/>
                    <a:pt x="4828" y="50732"/>
                  </a:cubicBezTo>
                  <a:lnTo>
                    <a:pt x="4828" y="319150"/>
                  </a:lnTo>
                  <a:cubicBezTo>
                    <a:pt x="4828" y="322690"/>
                    <a:pt x="6759" y="325909"/>
                    <a:pt x="9655" y="327518"/>
                  </a:cubicBezTo>
                  <a:lnTo>
                    <a:pt x="146761" y="404761"/>
                  </a:lnTo>
                  <a:cubicBezTo>
                    <a:pt x="149658" y="406370"/>
                    <a:pt x="153198" y="406370"/>
                    <a:pt x="156095" y="404761"/>
                  </a:cubicBezTo>
                  <a:lnTo>
                    <a:pt x="293200" y="327840"/>
                  </a:lnTo>
                  <a:cubicBezTo>
                    <a:pt x="296097" y="326231"/>
                    <a:pt x="298028" y="323012"/>
                    <a:pt x="298028" y="319794"/>
                  </a:cubicBezTo>
                  <a:lnTo>
                    <a:pt x="298350" y="298230"/>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69" name="Freeform: Shape 958">
              <a:extLst>
                <a:ext uri="{FF2B5EF4-FFF2-40B4-BE49-F238E27FC236}">
                  <a16:creationId xmlns:a16="http://schemas.microsoft.com/office/drawing/2014/main" id="{44428EB9-F24C-6540-BA7D-ACA3141A2D33}"/>
                </a:ext>
              </a:extLst>
            </p:cNvPr>
            <p:cNvSpPr/>
            <p:nvPr/>
          </p:nvSpPr>
          <p:spPr>
            <a:xfrm>
              <a:off x="4695217" y="5214495"/>
              <a:ext cx="193108" cy="67587"/>
            </a:xfrm>
            <a:custGeom>
              <a:avLst/>
              <a:gdLst>
                <a:gd name="connsiteX0" fmla="*/ 4828 w 193106"/>
                <a:gd name="connsiteY0" fmla="*/ 4828 h 67587"/>
                <a:gd name="connsiteX1" fmla="*/ 189245 w 193106"/>
                <a:gd name="connsiteY1" fmla="*/ 64691 h 67587"/>
              </a:gdLst>
              <a:ahLst/>
              <a:cxnLst>
                <a:cxn ang="0">
                  <a:pos x="connsiteX0" y="connsiteY0"/>
                </a:cxn>
                <a:cxn ang="0">
                  <a:pos x="connsiteX1" y="connsiteY1"/>
                </a:cxn>
              </a:cxnLst>
              <a:rect l="l" t="t" r="r" b="b"/>
              <a:pathLst>
                <a:path w="193106" h="67587">
                  <a:moveTo>
                    <a:pt x="4828" y="4828"/>
                  </a:moveTo>
                  <a:lnTo>
                    <a:pt x="189245" y="64691"/>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70" name="Freeform: Shape 959">
              <a:extLst>
                <a:ext uri="{FF2B5EF4-FFF2-40B4-BE49-F238E27FC236}">
                  <a16:creationId xmlns:a16="http://schemas.microsoft.com/office/drawing/2014/main" id="{3913FD41-C5F8-584D-AAA3-8CF02F0BD811}"/>
                </a:ext>
              </a:extLst>
            </p:cNvPr>
            <p:cNvSpPr/>
            <p:nvPr/>
          </p:nvSpPr>
          <p:spPr>
            <a:xfrm>
              <a:off x="4694573" y="5105712"/>
              <a:ext cx="183451" cy="64369"/>
            </a:xfrm>
            <a:custGeom>
              <a:avLst/>
              <a:gdLst>
                <a:gd name="connsiteX0" fmla="*/ 4828 w 183451"/>
                <a:gd name="connsiteY0" fmla="*/ 4828 h 64368"/>
                <a:gd name="connsiteX1" fmla="*/ 181198 w 183451"/>
                <a:gd name="connsiteY1" fmla="*/ 59541 h 64368"/>
              </a:gdLst>
              <a:ahLst/>
              <a:cxnLst>
                <a:cxn ang="0">
                  <a:pos x="connsiteX0" y="connsiteY0"/>
                </a:cxn>
                <a:cxn ang="0">
                  <a:pos x="connsiteX1" y="connsiteY1"/>
                </a:cxn>
              </a:cxnLst>
              <a:rect l="l" t="t" r="r" b="b"/>
              <a:pathLst>
                <a:path w="183451" h="64368">
                  <a:moveTo>
                    <a:pt x="4828" y="4828"/>
                  </a:moveTo>
                  <a:lnTo>
                    <a:pt x="181198" y="59541"/>
                  </a:lnTo>
                </a:path>
              </a:pathLst>
            </a:custGeom>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71" name="Freeform: Shape 960">
              <a:extLst>
                <a:ext uri="{FF2B5EF4-FFF2-40B4-BE49-F238E27FC236}">
                  <a16:creationId xmlns:a16="http://schemas.microsoft.com/office/drawing/2014/main" id="{155ED116-C210-F149-A586-2497DB3828C9}"/>
                </a:ext>
              </a:extLst>
            </p:cNvPr>
            <p:cNvSpPr/>
            <p:nvPr/>
          </p:nvSpPr>
          <p:spPr>
            <a:xfrm>
              <a:off x="4894435" y="5096061"/>
              <a:ext cx="193108" cy="193108"/>
            </a:xfrm>
            <a:custGeom>
              <a:avLst/>
              <a:gdLst>
                <a:gd name="connsiteX0" fmla="*/ 188279 w 193106"/>
                <a:gd name="connsiteY0" fmla="*/ 96553 h 193106"/>
                <a:gd name="connsiteX1" fmla="*/ 96553 w 193106"/>
                <a:gd name="connsiteY1" fmla="*/ 188279 h 193106"/>
                <a:gd name="connsiteX2" fmla="*/ 4828 w 193106"/>
                <a:gd name="connsiteY2" fmla="*/ 96553 h 193106"/>
                <a:gd name="connsiteX3" fmla="*/ 96553 w 193106"/>
                <a:gd name="connsiteY3" fmla="*/ 4828 h 193106"/>
                <a:gd name="connsiteX4" fmla="*/ 188279 w 193106"/>
                <a:gd name="connsiteY4" fmla="*/ 96553 h 19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06" h="193106">
                  <a:moveTo>
                    <a:pt x="188279" y="96553"/>
                  </a:moveTo>
                  <a:cubicBezTo>
                    <a:pt x="188279" y="147212"/>
                    <a:pt x="147212" y="188279"/>
                    <a:pt x="96553" y="188279"/>
                  </a:cubicBezTo>
                  <a:cubicBezTo>
                    <a:pt x="45895" y="188279"/>
                    <a:pt x="4828" y="147212"/>
                    <a:pt x="4828" y="96553"/>
                  </a:cubicBezTo>
                  <a:cubicBezTo>
                    <a:pt x="4828" y="45895"/>
                    <a:pt x="45895" y="4828"/>
                    <a:pt x="96553" y="4828"/>
                  </a:cubicBezTo>
                  <a:cubicBezTo>
                    <a:pt x="147212" y="4828"/>
                    <a:pt x="188279" y="45895"/>
                    <a:pt x="188279" y="96553"/>
                  </a:cubicBezTo>
                  <a:close/>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72" name="Freeform: Shape 961">
              <a:extLst>
                <a:ext uri="{FF2B5EF4-FFF2-40B4-BE49-F238E27FC236}">
                  <a16:creationId xmlns:a16="http://schemas.microsoft.com/office/drawing/2014/main" id="{35C43EE5-AC56-E546-8E7C-1B9651AAD2A4}"/>
                </a:ext>
              </a:extLst>
            </p:cNvPr>
            <p:cNvSpPr/>
            <p:nvPr/>
          </p:nvSpPr>
          <p:spPr>
            <a:xfrm>
              <a:off x="4937228" y="5155580"/>
              <a:ext cx="102990" cy="77243"/>
            </a:xfrm>
            <a:custGeom>
              <a:avLst/>
              <a:gdLst>
                <a:gd name="connsiteX0" fmla="*/ 4828 w 102990"/>
                <a:gd name="connsiteY0" fmla="*/ 45380 h 77242"/>
                <a:gd name="connsiteX1" fmla="*/ 32506 w 102990"/>
                <a:gd name="connsiteY1" fmla="*/ 73059 h 77242"/>
                <a:gd name="connsiteX2" fmla="*/ 100737 w 102990"/>
                <a:gd name="connsiteY2" fmla="*/ 4828 h 77242"/>
              </a:gdLst>
              <a:ahLst/>
              <a:cxnLst>
                <a:cxn ang="0">
                  <a:pos x="connsiteX0" y="connsiteY0"/>
                </a:cxn>
                <a:cxn ang="0">
                  <a:pos x="connsiteX1" y="connsiteY1"/>
                </a:cxn>
                <a:cxn ang="0">
                  <a:pos x="connsiteX2" y="connsiteY2"/>
                </a:cxn>
              </a:cxnLst>
              <a:rect l="l" t="t" r="r" b="b"/>
              <a:pathLst>
                <a:path w="102990" h="77242">
                  <a:moveTo>
                    <a:pt x="4828" y="45380"/>
                  </a:moveTo>
                  <a:lnTo>
                    <a:pt x="32506" y="73059"/>
                  </a:lnTo>
                  <a:lnTo>
                    <a:pt x="100737"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grpSp>
        <p:nvGrpSpPr>
          <p:cNvPr id="73" name="Group 72">
            <a:extLst>
              <a:ext uri="{FF2B5EF4-FFF2-40B4-BE49-F238E27FC236}">
                <a16:creationId xmlns:a16="http://schemas.microsoft.com/office/drawing/2014/main" id="{B02FA874-56B2-7F44-976B-3BD5FA911EC3}"/>
              </a:ext>
            </a:extLst>
          </p:cNvPr>
          <p:cNvGrpSpPr/>
          <p:nvPr/>
        </p:nvGrpSpPr>
        <p:grpSpPr>
          <a:xfrm>
            <a:off x="7014183" y="2743990"/>
            <a:ext cx="991854" cy="732723"/>
            <a:chOff x="8713234" y="4630665"/>
            <a:chExt cx="886841" cy="655145"/>
          </a:xfrm>
        </p:grpSpPr>
        <p:grpSp>
          <p:nvGrpSpPr>
            <p:cNvPr id="74" name="Graphic 188">
              <a:extLst>
                <a:ext uri="{FF2B5EF4-FFF2-40B4-BE49-F238E27FC236}">
                  <a16:creationId xmlns:a16="http://schemas.microsoft.com/office/drawing/2014/main" id="{5BFD6020-550C-1343-B440-BE656F65BCF0}"/>
                </a:ext>
              </a:extLst>
            </p:cNvPr>
            <p:cNvGrpSpPr/>
            <p:nvPr/>
          </p:nvGrpSpPr>
          <p:grpSpPr>
            <a:xfrm>
              <a:off x="8963026" y="4756150"/>
              <a:ext cx="637049" cy="529660"/>
              <a:chOff x="6479413" y="4391524"/>
              <a:chExt cx="450582" cy="374626"/>
            </a:xfrm>
          </p:grpSpPr>
          <p:sp>
            <p:nvSpPr>
              <p:cNvPr id="88" name="Freeform: Shape 977">
                <a:extLst>
                  <a:ext uri="{FF2B5EF4-FFF2-40B4-BE49-F238E27FC236}">
                    <a16:creationId xmlns:a16="http://schemas.microsoft.com/office/drawing/2014/main" id="{28249879-7F77-4D45-BDBD-FA6A745521C0}"/>
                  </a:ext>
                </a:extLst>
              </p:cNvPr>
              <p:cNvSpPr/>
              <p:nvPr/>
            </p:nvSpPr>
            <p:spPr>
              <a:xfrm>
                <a:off x="6479413" y="4466835"/>
                <a:ext cx="450582" cy="299315"/>
              </a:xfrm>
              <a:custGeom>
                <a:avLst/>
                <a:gdLst>
                  <a:gd name="connsiteX0" fmla="*/ 437709 w 450582"/>
                  <a:gd name="connsiteY0" fmla="*/ 297384 h 299315"/>
                  <a:gd name="connsiteX1" fmla="*/ 12874 w 450582"/>
                  <a:gd name="connsiteY1" fmla="*/ 297384 h 299315"/>
                  <a:gd name="connsiteX2" fmla="*/ 4828 w 450582"/>
                  <a:gd name="connsiteY2" fmla="*/ 289338 h 299315"/>
                  <a:gd name="connsiteX3" fmla="*/ 4828 w 450582"/>
                  <a:gd name="connsiteY3" fmla="*/ 12874 h 299315"/>
                  <a:gd name="connsiteX4" fmla="*/ 12874 w 450582"/>
                  <a:gd name="connsiteY4" fmla="*/ 4828 h 299315"/>
                  <a:gd name="connsiteX5" fmla="*/ 437709 w 450582"/>
                  <a:gd name="connsiteY5" fmla="*/ 4828 h 299315"/>
                  <a:gd name="connsiteX6" fmla="*/ 445755 w 450582"/>
                  <a:gd name="connsiteY6" fmla="*/ 12874 h 299315"/>
                  <a:gd name="connsiteX7" fmla="*/ 445755 w 450582"/>
                  <a:gd name="connsiteY7" fmla="*/ 289338 h 299315"/>
                  <a:gd name="connsiteX8" fmla="*/ 437709 w 450582"/>
                  <a:gd name="connsiteY8" fmla="*/ 297384 h 299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582" h="299315">
                    <a:moveTo>
                      <a:pt x="437709" y="297384"/>
                    </a:moveTo>
                    <a:lnTo>
                      <a:pt x="12874" y="297384"/>
                    </a:lnTo>
                    <a:cubicBezTo>
                      <a:pt x="8368" y="297384"/>
                      <a:pt x="4828" y="293844"/>
                      <a:pt x="4828" y="289338"/>
                    </a:cubicBezTo>
                    <a:lnTo>
                      <a:pt x="4828" y="12874"/>
                    </a:lnTo>
                    <a:cubicBezTo>
                      <a:pt x="4828" y="8368"/>
                      <a:pt x="8368" y="4828"/>
                      <a:pt x="12874" y="4828"/>
                    </a:cubicBezTo>
                    <a:lnTo>
                      <a:pt x="437709" y="4828"/>
                    </a:lnTo>
                    <a:cubicBezTo>
                      <a:pt x="442214" y="4828"/>
                      <a:pt x="445755" y="8368"/>
                      <a:pt x="445755" y="12874"/>
                    </a:cubicBezTo>
                    <a:lnTo>
                      <a:pt x="445755" y="289338"/>
                    </a:lnTo>
                    <a:cubicBezTo>
                      <a:pt x="445755" y="293844"/>
                      <a:pt x="441893" y="297384"/>
                      <a:pt x="437709" y="297384"/>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89" name="Freeform: Shape 978">
                <a:extLst>
                  <a:ext uri="{FF2B5EF4-FFF2-40B4-BE49-F238E27FC236}">
                    <a16:creationId xmlns:a16="http://schemas.microsoft.com/office/drawing/2014/main" id="{BBC4D8E9-D76B-644A-B300-37D900211C6D}"/>
                  </a:ext>
                </a:extLst>
              </p:cNvPr>
              <p:cNvSpPr/>
              <p:nvPr/>
            </p:nvSpPr>
            <p:spPr>
              <a:xfrm>
                <a:off x="6619738" y="4391524"/>
                <a:ext cx="167359" cy="67587"/>
              </a:xfrm>
              <a:custGeom>
                <a:avLst/>
                <a:gdLst>
                  <a:gd name="connsiteX0" fmla="*/ 165106 w 167359"/>
                  <a:gd name="connsiteY0" fmla="*/ 62760 h 67587"/>
                  <a:gd name="connsiteX1" fmla="*/ 165106 w 167359"/>
                  <a:gd name="connsiteY1" fmla="*/ 10943 h 67587"/>
                  <a:gd name="connsiteX2" fmla="*/ 158991 w 167359"/>
                  <a:gd name="connsiteY2" fmla="*/ 4828 h 67587"/>
                  <a:gd name="connsiteX3" fmla="*/ 10943 w 167359"/>
                  <a:gd name="connsiteY3" fmla="*/ 4828 h 67587"/>
                  <a:gd name="connsiteX4" fmla="*/ 4828 w 167359"/>
                  <a:gd name="connsiteY4" fmla="*/ 10943 h 67587"/>
                  <a:gd name="connsiteX5" fmla="*/ 4828 w 167359"/>
                  <a:gd name="connsiteY5" fmla="*/ 62760 h 6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59" h="67587">
                    <a:moveTo>
                      <a:pt x="165106" y="62760"/>
                    </a:moveTo>
                    <a:lnTo>
                      <a:pt x="165106" y="10943"/>
                    </a:lnTo>
                    <a:cubicBezTo>
                      <a:pt x="165106" y="7402"/>
                      <a:pt x="162210" y="4828"/>
                      <a:pt x="158991" y="4828"/>
                    </a:cubicBezTo>
                    <a:lnTo>
                      <a:pt x="10943" y="4828"/>
                    </a:lnTo>
                    <a:cubicBezTo>
                      <a:pt x="7402" y="4828"/>
                      <a:pt x="4828" y="7724"/>
                      <a:pt x="4828" y="10943"/>
                    </a:cubicBezTo>
                    <a:lnTo>
                      <a:pt x="4828" y="62760"/>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90" name="Freeform: Shape 979">
                <a:extLst>
                  <a:ext uri="{FF2B5EF4-FFF2-40B4-BE49-F238E27FC236}">
                    <a16:creationId xmlns:a16="http://schemas.microsoft.com/office/drawing/2014/main" id="{5B3104A1-1805-1744-AA4E-C8CFCB24DB9C}"/>
                  </a:ext>
                </a:extLst>
              </p:cNvPr>
              <p:cNvSpPr/>
              <p:nvPr/>
            </p:nvSpPr>
            <p:spPr>
              <a:xfrm>
                <a:off x="6648382" y="4419202"/>
                <a:ext cx="112646" cy="38621"/>
              </a:xfrm>
              <a:custGeom>
                <a:avLst/>
                <a:gdLst>
                  <a:gd name="connsiteX0" fmla="*/ 4828 w 112645"/>
                  <a:gd name="connsiteY0" fmla="*/ 36047 h 38621"/>
                  <a:gd name="connsiteX1" fmla="*/ 4828 w 112645"/>
                  <a:gd name="connsiteY1" fmla="*/ 4828 h 38621"/>
                  <a:gd name="connsiteX2" fmla="*/ 107818 w 112645"/>
                  <a:gd name="connsiteY2" fmla="*/ 4828 h 38621"/>
                  <a:gd name="connsiteX3" fmla="*/ 107818 w 112645"/>
                  <a:gd name="connsiteY3" fmla="*/ 36047 h 38621"/>
                </a:gdLst>
                <a:ahLst/>
                <a:cxnLst>
                  <a:cxn ang="0">
                    <a:pos x="connsiteX0" y="connsiteY0"/>
                  </a:cxn>
                  <a:cxn ang="0">
                    <a:pos x="connsiteX1" y="connsiteY1"/>
                  </a:cxn>
                  <a:cxn ang="0">
                    <a:pos x="connsiteX2" y="connsiteY2"/>
                  </a:cxn>
                  <a:cxn ang="0">
                    <a:pos x="connsiteX3" y="connsiteY3"/>
                  </a:cxn>
                </a:cxnLst>
                <a:rect l="l" t="t" r="r" b="b"/>
                <a:pathLst>
                  <a:path w="112645" h="38621">
                    <a:moveTo>
                      <a:pt x="4828" y="36047"/>
                    </a:moveTo>
                    <a:lnTo>
                      <a:pt x="4828" y="4828"/>
                    </a:lnTo>
                    <a:lnTo>
                      <a:pt x="107818" y="4828"/>
                    </a:lnTo>
                    <a:lnTo>
                      <a:pt x="107818" y="36047"/>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91" name="Freeform: Shape 980">
                <a:extLst>
                  <a:ext uri="{FF2B5EF4-FFF2-40B4-BE49-F238E27FC236}">
                    <a16:creationId xmlns:a16="http://schemas.microsoft.com/office/drawing/2014/main" id="{8B020AD9-4784-3346-B667-249502332CC5}"/>
                  </a:ext>
                </a:extLst>
              </p:cNvPr>
              <p:cNvSpPr/>
              <p:nvPr/>
            </p:nvSpPr>
            <p:spPr>
              <a:xfrm>
                <a:off x="6565024" y="4487433"/>
                <a:ext cx="9655" cy="257476"/>
              </a:xfrm>
              <a:custGeom>
                <a:avLst/>
                <a:gdLst>
                  <a:gd name="connsiteX0" fmla="*/ 4828 w 9655"/>
                  <a:gd name="connsiteY0" fmla="*/ 4828 h 257475"/>
                  <a:gd name="connsiteX1" fmla="*/ 4828 w 9655"/>
                  <a:gd name="connsiteY1" fmla="*/ 253935 h 257475"/>
                </a:gdLst>
                <a:ahLst/>
                <a:cxnLst>
                  <a:cxn ang="0">
                    <a:pos x="connsiteX0" y="connsiteY0"/>
                  </a:cxn>
                  <a:cxn ang="0">
                    <a:pos x="connsiteX1" y="connsiteY1"/>
                  </a:cxn>
                </a:cxnLst>
                <a:rect l="l" t="t" r="r" b="b"/>
                <a:pathLst>
                  <a:path w="9655" h="257475">
                    <a:moveTo>
                      <a:pt x="4828" y="4828"/>
                    </a:moveTo>
                    <a:lnTo>
                      <a:pt x="4828" y="253935"/>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92" name="Freeform: Shape 981">
                <a:extLst>
                  <a:ext uri="{FF2B5EF4-FFF2-40B4-BE49-F238E27FC236}">
                    <a16:creationId xmlns:a16="http://schemas.microsoft.com/office/drawing/2014/main" id="{58DEFC6F-8EB8-4C49-9E4D-6653ABAB59B4}"/>
                  </a:ext>
                </a:extLst>
              </p:cNvPr>
              <p:cNvSpPr/>
              <p:nvPr/>
            </p:nvSpPr>
            <p:spPr>
              <a:xfrm>
                <a:off x="6830546" y="4487433"/>
                <a:ext cx="9655" cy="257476"/>
              </a:xfrm>
              <a:custGeom>
                <a:avLst/>
                <a:gdLst>
                  <a:gd name="connsiteX0" fmla="*/ 4828 w 9655"/>
                  <a:gd name="connsiteY0" fmla="*/ 4828 h 257475"/>
                  <a:gd name="connsiteX1" fmla="*/ 4828 w 9655"/>
                  <a:gd name="connsiteY1" fmla="*/ 253935 h 257475"/>
                </a:gdLst>
                <a:ahLst/>
                <a:cxnLst>
                  <a:cxn ang="0">
                    <a:pos x="connsiteX0" y="connsiteY0"/>
                  </a:cxn>
                  <a:cxn ang="0">
                    <a:pos x="connsiteX1" y="connsiteY1"/>
                  </a:cxn>
                </a:cxnLst>
                <a:rect l="l" t="t" r="r" b="b"/>
                <a:pathLst>
                  <a:path w="9655" h="257475">
                    <a:moveTo>
                      <a:pt x="4828" y="4828"/>
                    </a:moveTo>
                    <a:lnTo>
                      <a:pt x="4828" y="253935"/>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grpSp>
          <p:nvGrpSpPr>
            <p:cNvPr id="75" name="Graphic 240">
              <a:extLst>
                <a:ext uri="{FF2B5EF4-FFF2-40B4-BE49-F238E27FC236}">
                  <a16:creationId xmlns:a16="http://schemas.microsoft.com/office/drawing/2014/main" id="{32878C08-995E-954C-9D4C-0EE0B2105517}"/>
                </a:ext>
              </a:extLst>
            </p:cNvPr>
            <p:cNvGrpSpPr/>
            <p:nvPr/>
          </p:nvGrpSpPr>
          <p:grpSpPr>
            <a:xfrm rot="20323668">
              <a:off x="8713234" y="4630665"/>
              <a:ext cx="378619" cy="430874"/>
              <a:chOff x="6198099" y="404917"/>
              <a:chExt cx="417431" cy="475043"/>
            </a:xfrm>
          </p:grpSpPr>
          <p:sp>
            <p:nvSpPr>
              <p:cNvPr id="76" name="Freeform: Shape 965">
                <a:extLst>
                  <a:ext uri="{FF2B5EF4-FFF2-40B4-BE49-F238E27FC236}">
                    <a16:creationId xmlns:a16="http://schemas.microsoft.com/office/drawing/2014/main" id="{E4C8C46B-3191-1948-A09E-E18CDF6F8CE3}"/>
                  </a:ext>
                </a:extLst>
              </p:cNvPr>
              <p:cNvSpPr/>
              <p:nvPr/>
            </p:nvSpPr>
            <p:spPr>
              <a:xfrm>
                <a:off x="6272445" y="480229"/>
                <a:ext cx="270349" cy="308971"/>
              </a:xfrm>
              <a:custGeom>
                <a:avLst/>
                <a:gdLst>
                  <a:gd name="connsiteX0" fmla="*/ 265522 w 270349"/>
                  <a:gd name="connsiteY0" fmla="*/ 135175 h 308970"/>
                  <a:gd name="connsiteX1" fmla="*/ 135175 w 270349"/>
                  <a:gd name="connsiteY1" fmla="*/ 4828 h 308970"/>
                  <a:gd name="connsiteX2" fmla="*/ 4828 w 270349"/>
                  <a:gd name="connsiteY2" fmla="*/ 135175 h 308970"/>
                  <a:gd name="connsiteX3" fmla="*/ 78852 w 270349"/>
                  <a:gd name="connsiteY3" fmla="*/ 252648 h 308970"/>
                  <a:gd name="connsiteX4" fmla="*/ 78852 w 270349"/>
                  <a:gd name="connsiteY4" fmla="*/ 305109 h 308970"/>
                  <a:gd name="connsiteX5" fmla="*/ 191497 w 270349"/>
                  <a:gd name="connsiteY5" fmla="*/ 305109 h 308970"/>
                  <a:gd name="connsiteX6" fmla="*/ 191497 w 270349"/>
                  <a:gd name="connsiteY6" fmla="*/ 252648 h 308970"/>
                  <a:gd name="connsiteX7" fmla="*/ 265522 w 270349"/>
                  <a:gd name="connsiteY7" fmla="*/ 135175 h 30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49" h="308970">
                    <a:moveTo>
                      <a:pt x="265522" y="135175"/>
                    </a:moveTo>
                    <a:cubicBezTo>
                      <a:pt x="265522" y="63082"/>
                      <a:pt x="207268" y="4828"/>
                      <a:pt x="135175" y="4828"/>
                    </a:cubicBezTo>
                    <a:cubicBezTo>
                      <a:pt x="63082" y="4828"/>
                      <a:pt x="4828" y="63082"/>
                      <a:pt x="4828" y="135175"/>
                    </a:cubicBezTo>
                    <a:cubicBezTo>
                      <a:pt x="4828" y="186992"/>
                      <a:pt x="35081" y="231728"/>
                      <a:pt x="78852" y="252648"/>
                    </a:cubicBezTo>
                    <a:lnTo>
                      <a:pt x="78852" y="305109"/>
                    </a:lnTo>
                    <a:lnTo>
                      <a:pt x="191497" y="305109"/>
                    </a:lnTo>
                    <a:lnTo>
                      <a:pt x="191497" y="252648"/>
                    </a:lnTo>
                    <a:cubicBezTo>
                      <a:pt x="235268" y="231728"/>
                      <a:pt x="265522" y="186992"/>
                      <a:pt x="265522" y="135175"/>
                    </a:cubicBezTo>
                    <a:close/>
                  </a:path>
                </a:pathLst>
              </a:custGeom>
              <a:solidFill>
                <a:schemeClr val="bg1"/>
              </a:solid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77" name="Freeform: Shape 966">
                <a:extLst>
                  <a:ext uri="{FF2B5EF4-FFF2-40B4-BE49-F238E27FC236}">
                    <a16:creationId xmlns:a16="http://schemas.microsoft.com/office/drawing/2014/main" id="{F2BEBF5E-1A39-DC43-995D-94294DC3C6C6}"/>
                  </a:ext>
                </a:extLst>
              </p:cNvPr>
              <p:cNvSpPr/>
              <p:nvPr/>
            </p:nvSpPr>
            <p:spPr>
              <a:xfrm>
                <a:off x="6402792" y="664324"/>
                <a:ext cx="9655" cy="125519"/>
              </a:xfrm>
              <a:custGeom>
                <a:avLst/>
                <a:gdLst>
                  <a:gd name="connsiteX0" fmla="*/ 4828 w 9655"/>
                  <a:gd name="connsiteY0" fmla="*/ 121014 h 125519"/>
                  <a:gd name="connsiteX1" fmla="*/ 4828 w 9655"/>
                  <a:gd name="connsiteY1" fmla="*/ 4828 h 125519"/>
                </a:gdLst>
                <a:ahLst/>
                <a:cxnLst>
                  <a:cxn ang="0">
                    <a:pos x="connsiteX0" y="connsiteY0"/>
                  </a:cxn>
                  <a:cxn ang="0">
                    <a:pos x="connsiteX1" y="connsiteY1"/>
                  </a:cxn>
                </a:cxnLst>
                <a:rect l="l" t="t" r="r" b="b"/>
                <a:pathLst>
                  <a:path w="9655" h="125519">
                    <a:moveTo>
                      <a:pt x="4828" y="121014"/>
                    </a:moveTo>
                    <a:lnTo>
                      <a:pt x="4828"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78" name="Freeform: Shape 967">
                <a:extLst>
                  <a:ext uri="{FF2B5EF4-FFF2-40B4-BE49-F238E27FC236}">
                    <a16:creationId xmlns:a16="http://schemas.microsoft.com/office/drawing/2014/main" id="{3708F122-E7C1-A540-A487-C1F18F481042}"/>
                  </a:ext>
                </a:extLst>
              </p:cNvPr>
              <p:cNvSpPr/>
              <p:nvPr/>
            </p:nvSpPr>
            <p:spPr>
              <a:xfrm>
                <a:off x="6373826" y="663358"/>
                <a:ext cx="67587" cy="9655"/>
              </a:xfrm>
              <a:custGeom>
                <a:avLst/>
                <a:gdLst>
                  <a:gd name="connsiteX0" fmla="*/ 4828 w 67587"/>
                  <a:gd name="connsiteY0" fmla="*/ 4828 h 9655"/>
                  <a:gd name="connsiteX1" fmla="*/ 62760 w 67587"/>
                  <a:gd name="connsiteY1" fmla="*/ 4828 h 9655"/>
                </a:gdLst>
                <a:ahLst/>
                <a:cxnLst>
                  <a:cxn ang="0">
                    <a:pos x="connsiteX0" y="connsiteY0"/>
                  </a:cxn>
                  <a:cxn ang="0">
                    <a:pos x="connsiteX1" y="connsiteY1"/>
                  </a:cxn>
                </a:cxnLst>
                <a:rect l="l" t="t" r="r" b="b"/>
                <a:pathLst>
                  <a:path w="67587" h="9655">
                    <a:moveTo>
                      <a:pt x="4828" y="4828"/>
                    </a:moveTo>
                    <a:lnTo>
                      <a:pt x="62760"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79" name="Freeform: Shape 968">
                <a:extLst>
                  <a:ext uri="{FF2B5EF4-FFF2-40B4-BE49-F238E27FC236}">
                    <a16:creationId xmlns:a16="http://schemas.microsoft.com/office/drawing/2014/main" id="{1EFE5B3D-251C-564F-AAA5-754BA3EAF834}"/>
                  </a:ext>
                </a:extLst>
              </p:cNvPr>
              <p:cNvSpPr/>
              <p:nvPr/>
            </p:nvSpPr>
            <p:spPr>
              <a:xfrm>
                <a:off x="6318147" y="404917"/>
                <a:ext cx="28966" cy="61150"/>
              </a:xfrm>
              <a:custGeom>
                <a:avLst/>
                <a:gdLst>
                  <a:gd name="connsiteX0" fmla="*/ 26713 w 28966"/>
                  <a:gd name="connsiteY0" fmla="*/ 57610 h 61150"/>
                  <a:gd name="connsiteX1" fmla="*/ 4828 w 28966"/>
                  <a:gd name="connsiteY1" fmla="*/ 4828 h 61150"/>
                </a:gdLst>
                <a:ahLst/>
                <a:cxnLst>
                  <a:cxn ang="0">
                    <a:pos x="connsiteX0" y="connsiteY0"/>
                  </a:cxn>
                  <a:cxn ang="0">
                    <a:pos x="connsiteX1" y="connsiteY1"/>
                  </a:cxn>
                </a:cxnLst>
                <a:rect l="l" t="t" r="r" b="b"/>
                <a:pathLst>
                  <a:path w="28966" h="61150">
                    <a:moveTo>
                      <a:pt x="26713" y="57610"/>
                    </a:moveTo>
                    <a:lnTo>
                      <a:pt x="4828"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0" name="Freeform: Shape 969">
                <a:extLst>
                  <a:ext uri="{FF2B5EF4-FFF2-40B4-BE49-F238E27FC236}">
                    <a16:creationId xmlns:a16="http://schemas.microsoft.com/office/drawing/2014/main" id="{6899193B-EB18-6746-88A6-8F8C9FD24A5E}"/>
                  </a:ext>
                </a:extLst>
              </p:cNvPr>
              <p:cNvSpPr/>
              <p:nvPr/>
            </p:nvSpPr>
            <p:spPr>
              <a:xfrm>
                <a:off x="6198099" y="672048"/>
                <a:ext cx="61150" cy="28966"/>
              </a:xfrm>
              <a:custGeom>
                <a:avLst/>
                <a:gdLst>
                  <a:gd name="connsiteX0" fmla="*/ 4828 w 61150"/>
                  <a:gd name="connsiteY0" fmla="*/ 27035 h 28966"/>
                  <a:gd name="connsiteX1" fmla="*/ 57932 w 61150"/>
                  <a:gd name="connsiteY1" fmla="*/ 4828 h 28966"/>
                </a:gdLst>
                <a:ahLst/>
                <a:cxnLst>
                  <a:cxn ang="0">
                    <a:pos x="connsiteX0" y="connsiteY0"/>
                  </a:cxn>
                  <a:cxn ang="0">
                    <a:pos x="connsiteX1" y="connsiteY1"/>
                  </a:cxn>
                </a:cxnLst>
                <a:rect l="l" t="t" r="r" b="b"/>
                <a:pathLst>
                  <a:path w="61150" h="28966">
                    <a:moveTo>
                      <a:pt x="4828" y="27035"/>
                    </a:moveTo>
                    <a:lnTo>
                      <a:pt x="57932"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1" name="Freeform: Shape 970">
                <a:extLst>
                  <a:ext uri="{FF2B5EF4-FFF2-40B4-BE49-F238E27FC236}">
                    <a16:creationId xmlns:a16="http://schemas.microsoft.com/office/drawing/2014/main" id="{59BFAE6C-6AB4-E84F-8179-AF95D2E095BE}"/>
                  </a:ext>
                </a:extLst>
              </p:cNvPr>
              <p:cNvSpPr/>
              <p:nvPr/>
            </p:nvSpPr>
            <p:spPr>
              <a:xfrm>
                <a:off x="6554380" y="524644"/>
                <a:ext cx="61150" cy="28966"/>
              </a:xfrm>
              <a:custGeom>
                <a:avLst/>
                <a:gdLst>
                  <a:gd name="connsiteX0" fmla="*/ 4828 w 61150"/>
                  <a:gd name="connsiteY0" fmla="*/ 26713 h 28966"/>
                  <a:gd name="connsiteX1" fmla="*/ 57932 w 61150"/>
                  <a:gd name="connsiteY1" fmla="*/ 4828 h 28966"/>
                </a:gdLst>
                <a:ahLst/>
                <a:cxnLst>
                  <a:cxn ang="0">
                    <a:pos x="connsiteX0" y="connsiteY0"/>
                  </a:cxn>
                  <a:cxn ang="0">
                    <a:pos x="connsiteX1" y="connsiteY1"/>
                  </a:cxn>
                </a:cxnLst>
                <a:rect l="l" t="t" r="r" b="b"/>
                <a:pathLst>
                  <a:path w="61150" h="28966">
                    <a:moveTo>
                      <a:pt x="4828" y="26713"/>
                    </a:moveTo>
                    <a:lnTo>
                      <a:pt x="57932"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2" name="Freeform: Shape 971">
                <a:extLst>
                  <a:ext uri="{FF2B5EF4-FFF2-40B4-BE49-F238E27FC236}">
                    <a16:creationId xmlns:a16="http://schemas.microsoft.com/office/drawing/2014/main" id="{F4DEA4F0-1B28-1446-A76C-96B6B3AA8382}"/>
                  </a:ext>
                </a:extLst>
              </p:cNvPr>
              <p:cNvSpPr/>
              <p:nvPr/>
            </p:nvSpPr>
            <p:spPr>
              <a:xfrm>
                <a:off x="6198099" y="524644"/>
                <a:ext cx="61150" cy="28966"/>
              </a:xfrm>
              <a:custGeom>
                <a:avLst/>
                <a:gdLst>
                  <a:gd name="connsiteX0" fmla="*/ 4828 w 61150"/>
                  <a:gd name="connsiteY0" fmla="*/ 4828 h 28966"/>
                  <a:gd name="connsiteX1" fmla="*/ 57932 w 61150"/>
                  <a:gd name="connsiteY1" fmla="*/ 27035 h 28966"/>
                </a:gdLst>
                <a:ahLst/>
                <a:cxnLst>
                  <a:cxn ang="0">
                    <a:pos x="connsiteX0" y="connsiteY0"/>
                  </a:cxn>
                  <a:cxn ang="0">
                    <a:pos x="connsiteX1" y="connsiteY1"/>
                  </a:cxn>
                </a:cxnLst>
                <a:rect l="l" t="t" r="r" b="b"/>
                <a:pathLst>
                  <a:path w="61150" h="28966">
                    <a:moveTo>
                      <a:pt x="4828" y="4828"/>
                    </a:moveTo>
                    <a:lnTo>
                      <a:pt x="57932" y="27035"/>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3" name="Freeform: Shape 972">
                <a:extLst>
                  <a:ext uri="{FF2B5EF4-FFF2-40B4-BE49-F238E27FC236}">
                    <a16:creationId xmlns:a16="http://schemas.microsoft.com/office/drawing/2014/main" id="{C0A096FC-91AF-844C-B44D-2A763035CB06}"/>
                  </a:ext>
                </a:extLst>
              </p:cNvPr>
              <p:cNvSpPr/>
              <p:nvPr/>
            </p:nvSpPr>
            <p:spPr>
              <a:xfrm>
                <a:off x="6554380" y="672370"/>
                <a:ext cx="61150" cy="28966"/>
              </a:xfrm>
              <a:custGeom>
                <a:avLst/>
                <a:gdLst>
                  <a:gd name="connsiteX0" fmla="*/ 4828 w 61150"/>
                  <a:gd name="connsiteY0" fmla="*/ 4828 h 28966"/>
                  <a:gd name="connsiteX1" fmla="*/ 57932 w 61150"/>
                  <a:gd name="connsiteY1" fmla="*/ 26713 h 28966"/>
                </a:gdLst>
                <a:ahLst/>
                <a:cxnLst>
                  <a:cxn ang="0">
                    <a:pos x="connsiteX0" y="connsiteY0"/>
                  </a:cxn>
                  <a:cxn ang="0">
                    <a:pos x="connsiteX1" y="connsiteY1"/>
                  </a:cxn>
                </a:cxnLst>
                <a:rect l="l" t="t" r="r" b="b"/>
                <a:pathLst>
                  <a:path w="61150" h="28966">
                    <a:moveTo>
                      <a:pt x="4828" y="4828"/>
                    </a:moveTo>
                    <a:lnTo>
                      <a:pt x="57932" y="26713"/>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4" name="Freeform: Shape 973">
                <a:extLst>
                  <a:ext uri="{FF2B5EF4-FFF2-40B4-BE49-F238E27FC236}">
                    <a16:creationId xmlns:a16="http://schemas.microsoft.com/office/drawing/2014/main" id="{B1CBF6BE-9E48-E24B-B135-0E7F1E5E6FF1}"/>
                  </a:ext>
                </a:extLst>
              </p:cNvPr>
              <p:cNvSpPr/>
              <p:nvPr/>
            </p:nvSpPr>
            <p:spPr>
              <a:xfrm>
                <a:off x="6465551" y="404917"/>
                <a:ext cx="28966" cy="61150"/>
              </a:xfrm>
              <a:custGeom>
                <a:avLst/>
                <a:gdLst>
                  <a:gd name="connsiteX0" fmla="*/ 4828 w 28966"/>
                  <a:gd name="connsiteY0" fmla="*/ 57610 h 61150"/>
                  <a:gd name="connsiteX1" fmla="*/ 26713 w 28966"/>
                  <a:gd name="connsiteY1" fmla="*/ 4828 h 61150"/>
                </a:gdLst>
                <a:ahLst/>
                <a:cxnLst>
                  <a:cxn ang="0">
                    <a:pos x="connsiteX0" y="connsiteY0"/>
                  </a:cxn>
                  <a:cxn ang="0">
                    <a:pos x="connsiteX1" y="connsiteY1"/>
                  </a:cxn>
                </a:cxnLst>
                <a:rect l="l" t="t" r="r" b="b"/>
                <a:pathLst>
                  <a:path w="28966" h="61150">
                    <a:moveTo>
                      <a:pt x="4828" y="57610"/>
                    </a:moveTo>
                    <a:lnTo>
                      <a:pt x="26713" y="4828"/>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85" name="Freeform: Shape 974">
                <a:extLst>
                  <a:ext uri="{FF2B5EF4-FFF2-40B4-BE49-F238E27FC236}">
                    <a16:creationId xmlns:a16="http://schemas.microsoft.com/office/drawing/2014/main" id="{6EFFD0A8-DF1D-C345-958B-538AADE6CEF4}"/>
                  </a:ext>
                </a:extLst>
              </p:cNvPr>
              <p:cNvSpPr/>
              <p:nvPr/>
            </p:nvSpPr>
            <p:spPr>
              <a:xfrm>
                <a:off x="6346469" y="794027"/>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86" name="Freeform: Shape 975">
                <a:extLst>
                  <a:ext uri="{FF2B5EF4-FFF2-40B4-BE49-F238E27FC236}">
                    <a16:creationId xmlns:a16="http://schemas.microsoft.com/office/drawing/2014/main" id="{05E4725A-F601-B143-B125-05DEDF8477F3}"/>
                  </a:ext>
                </a:extLst>
              </p:cNvPr>
              <p:cNvSpPr/>
              <p:nvPr/>
            </p:nvSpPr>
            <p:spPr>
              <a:xfrm>
                <a:off x="6346469" y="824281"/>
                <a:ext cx="119082" cy="25748"/>
              </a:xfrm>
              <a:custGeom>
                <a:avLst/>
                <a:gdLst>
                  <a:gd name="connsiteX0" fmla="*/ 111358 w 119082"/>
                  <a:gd name="connsiteY0" fmla="*/ 21564 h 25747"/>
                  <a:gd name="connsiteX1" fmla="*/ 10943 w 119082"/>
                  <a:gd name="connsiteY1" fmla="*/ 21564 h 25747"/>
                  <a:gd name="connsiteX2" fmla="*/ 4828 w 119082"/>
                  <a:gd name="connsiteY2" fmla="*/ 15449 h 25747"/>
                  <a:gd name="connsiteX3" fmla="*/ 4828 w 119082"/>
                  <a:gd name="connsiteY3" fmla="*/ 10943 h 25747"/>
                  <a:gd name="connsiteX4" fmla="*/ 10943 w 119082"/>
                  <a:gd name="connsiteY4" fmla="*/ 4828 h 25747"/>
                  <a:gd name="connsiteX5" fmla="*/ 111036 w 119082"/>
                  <a:gd name="connsiteY5" fmla="*/ 4828 h 25747"/>
                  <a:gd name="connsiteX6" fmla="*/ 117151 w 119082"/>
                  <a:gd name="connsiteY6" fmla="*/ 10943 h 25747"/>
                  <a:gd name="connsiteX7" fmla="*/ 117151 w 119082"/>
                  <a:gd name="connsiteY7" fmla="*/ 15449 h 25747"/>
                  <a:gd name="connsiteX8" fmla="*/ 111358 w 119082"/>
                  <a:gd name="connsiteY8" fmla="*/ 21564 h 2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82" h="25747">
                    <a:moveTo>
                      <a:pt x="111358" y="21564"/>
                    </a:moveTo>
                    <a:lnTo>
                      <a:pt x="10943" y="21564"/>
                    </a:lnTo>
                    <a:cubicBezTo>
                      <a:pt x="7402" y="21564"/>
                      <a:pt x="4828" y="18667"/>
                      <a:pt x="4828" y="15449"/>
                    </a:cubicBezTo>
                    <a:lnTo>
                      <a:pt x="4828" y="10943"/>
                    </a:lnTo>
                    <a:cubicBezTo>
                      <a:pt x="4828" y="7402"/>
                      <a:pt x="7724" y="4828"/>
                      <a:pt x="10943" y="4828"/>
                    </a:cubicBezTo>
                    <a:lnTo>
                      <a:pt x="111036" y="4828"/>
                    </a:lnTo>
                    <a:cubicBezTo>
                      <a:pt x="114577" y="4828"/>
                      <a:pt x="117151" y="7724"/>
                      <a:pt x="117151" y="10943"/>
                    </a:cubicBezTo>
                    <a:lnTo>
                      <a:pt x="117151" y="15449"/>
                    </a:lnTo>
                    <a:cubicBezTo>
                      <a:pt x="117473" y="18667"/>
                      <a:pt x="114577" y="21564"/>
                      <a:pt x="111358" y="21564"/>
                    </a:cubicBez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87" name="Freeform: Shape 976">
                <a:extLst>
                  <a:ext uri="{FF2B5EF4-FFF2-40B4-BE49-F238E27FC236}">
                    <a16:creationId xmlns:a16="http://schemas.microsoft.com/office/drawing/2014/main" id="{B3C2D647-3462-D34E-895B-C136A9B28E47}"/>
                  </a:ext>
                </a:extLst>
              </p:cNvPr>
              <p:cNvSpPr/>
              <p:nvPr/>
            </p:nvSpPr>
            <p:spPr>
              <a:xfrm>
                <a:off x="6376079" y="854212"/>
                <a:ext cx="61150" cy="25748"/>
              </a:xfrm>
              <a:custGeom>
                <a:avLst/>
                <a:gdLst>
                  <a:gd name="connsiteX0" fmla="*/ 49242 w 61150"/>
                  <a:gd name="connsiteY0" fmla="*/ 21885 h 25747"/>
                  <a:gd name="connsiteX1" fmla="*/ 13839 w 61150"/>
                  <a:gd name="connsiteY1" fmla="*/ 21885 h 25747"/>
                  <a:gd name="connsiteX2" fmla="*/ 4828 w 61150"/>
                  <a:gd name="connsiteY2" fmla="*/ 4828 h 25747"/>
                  <a:gd name="connsiteX3" fmla="*/ 58254 w 61150"/>
                  <a:gd name="connsiteY3" fmla="*/ 4828 h 25747"/>
                </a:gdLst>
                <a:ahLst/>
                <a:cxnLst>
                  <a:cxn ang="0">
                    <a:pos x="connsiteX0" y="connsiteY0"/>
                  </a:cxn>
                  <a:cxn ang="0">
                    <a:pos x="connsiteX1" y="connsiteY1"/>
                  </a:cxn>
                  <a:cxn ang="0">
                    <a:pos x="connsiteX2" y="connsiteY2"/>
                  </a:cxn>
                  <a:cxn ang="0">
                    <a:pos x="connsiteX3" y="connsiteY3"/>
                  </a:cxn>
                </a:cxnLst>
                <a:rect l="l" t="t" r="r" b="b"/>
                <a:pathLst>
                  <a:path w="61150" h="25747">
                    <a:moveTo>
                      <a:pt x="49242" y="21885"/>
                    </a:moveTo>
                    <a:lnTo>
                      <a:pt x="13839" y="21885"/>
                    </a:lnTo>
                    <a:lnTo>
                      <a:pt x="4828" y="4828"/>
                    </a:lnTo>
                    <a:lnTo>
                      <a:pt x="58254" y="4828"/>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grpSp>
      </p:grpSp>
      <p:grpSp>
        <p:nvGrpSpPr>
          <p:cNvPr id="93" name="Group 92">
            <a:extLst>
              <a:ext uri="{FF2B5EF4-FFF2-40B4-BE49-F238E27FC236}">
                <a16:creationId xmlns:a16="http://schemas.microsoft.com/office/drawing/2014/main" id="{8DE6114E-4A25-EE4B-AE74-8BBFFB4ED991}"/>
              </a:ext>
            </a:extLst>
          </p:cNvPr>
          <p:cNvGrpSpPr/>
          <p:nvPr/>
        </p:nvGrpSpPr>
        <p:grpSpPr>
          <a:xfrm>
            <a:off x="5965816" y="2797826"/>
            <a:ext cx="556727" cy="727258"/>
            <a:chOff x="9398940" y="6818557"/>
            <a:chExt cx="657213" cy="858524"/>
          </a:xfrm>
        </p:grpSpPr>
        <p:grpSp>
          <p:nvGrpSpPr>
            <p:cNvPr id="94" name="Graphic 244">
              <a:extLst>
                <a:ext uri="{FF2B5EF4-FFF2-40B4-BE49-F238E27FC236}">
                  <a16:creationId xmlns:a16="http://schemas.microsoft.com/office/drawing/2014/main" id="{1E321631-07D9-F643-8F46-BB23D037FF17}"/>
                </a:ext>
              </a:extLst>
            </p:cNvPr>
            <p:cNvGrpSpPr/>
            <p:nvPr/>
          </p:nvGrpSpPr>
          <p:grpSpPr>
            <a:xfrm>
              <a:off x="9398940" y="6818557"/>
              <a:ext cx="657213" cy="858524"/>
              <a:chOff x="6874589" y="-649524"/>
              <a:chExt cx="198947" cy="259886"/>
            </a:xfrm>
          </p:grpSpPr>
          <p:sp>
            <p:nvSpPr>
              <p:cNvPr id="112" name="Freeform: Shape 1001">
                <a:extLst>
                  <a:ext uri="{FF2B5EF4-FFF2-40B4-BE49-F238E27FC236}">
                    <a16:creationId xmlns:a16="http://schemas.microsoft.com/office/drawing/2014/main" id="{CF8E258A-6D07-1544-AC7F-57B7FE39B403}"/>
                  </a:ext>
                </a:extLst>
              </p:cNvPr>
              <p:cNvSpPr/>
              <p:nvPr/>
            </p:nvSpPr>
            <p:spPr>
              <a:xfrm>
                <a:off x="6874589" y="-632807"/>
                <a:ext cx="198947" cy="243169"/>
              </a:xfrm>
              <a:custGeom>
                <a:avLst/>
                <a:gdLst>
                  <a:gd name="connsiteX0" fmla="*/ 400696 w 405524"/>
                  <a:gd name="connsiteY0" fmla="*/ 284832 h 296096"/>
                  <a:gd name="connsiteX1" fmla="*/ 391041 w 405524"/>
                  <a:gd name="connsiteY1" fmla="*/ 294488 h 296096"/>
                  <a:gd name="connsiteX2" fmla="*/ 14483 w 405524"/>
                  <a:gd name="connsiteY2" fmla="*/ 294488 h 296096"/>
                  <a:gd name="connsiteX3" fmla="*/ 4828 w 405524"/>
                  <a:gd name="connsiteY3" fmla="*/ 284832 h 296096"/>
                  <a:gd name="connsiteX4" fmla="*/ 4828 w 405524"/>
                  <a:gd name="connsiteY4" fmla="*/ 14483 h 296096"/>
                  <a:gd name="connsiteX5" fmla="*/ 14483 w 405524"/>
                  <a:gd name="connsiteY5" fmla="*/ 4828 h 296096"/>
                  <a:gd name="connsiteX6" fmla="*/ 391041 w 405524"/>
                  <a:gd name="connsiteY6" fmla="*/ 4828 h 296096"/>
                  <a:gd name="connsiteX7" fmla="*/ 400696 w 405524"/>
                  <a:gd name="connsiteY7" fmla="*/ 14483 h 296096"/>
                  <a:gd name="connsiteX8" fmla="*/ 400696 w 405524"/>
                  <a:gd name="connsiteY8" fmla="*/ 284832 h 29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524" h="296096">
                    <a:moveTo>
                      <a:pt x="400696" y="284832"/>
                    </a:moveTo>
                    <a:cubicBezTo>
                      <a:pt x="400696" y="290304"/>
                      <a:pt x="396512" y="294488"/>
                      <a:pt x="391041" y="294488"/>
                    </a:cubicBezTo>
                    <a:lnTo>
                      <a:pt x="14483" y="294488"/>
                    </a:lnTo>
                    <a:cubicBezTo>
                      <a:pt x="9012" y="294488"/>
                      <a:pt x="4828" y="290304"/>
                      <a:pt x="4828" y="284832"/>
                    </a:cubicBezTo>
                    <a:lnTo>
                      <a:pt x="4828" y="14483"/>
                    </a:lnTo>
                    <a:cubicBezTo>
                      <a:pt x="4828" y="9012"/>
                      <a:pt x="9012" y="4828"/>
                      <a:pt x="14483" y="4828"/>
                    </a:cubicBezTo>
                    <a:lnTo>
                      <a:pt x="391041" y="4828"/>
                    </a:lnTo>
                    <a:cubicBezTo>
                      <a:pt x="396512" y="4828"/>
                      <a:pt x="400696" y="9012"/>
                      <a:pt x="400696" y="14483"/>
                    </a:cubicBezTo>
                    <a:lnTo>
                      <a:pt x="400696" y="284832"/>
                    </a:lnTo>
                    <a:close/>
                  </a:path>
                </a:pathLst>
              </a:custGeom>
              <a:noFill/>
              <a:ln w="15875" cap="flat">
                <a:solidFill>
                  <a:schemeClr val="tx1"/>
                </a:solidFill>
                <a:prstDash val="solid"/>
                <a:round/>
              </a:ln>
            </p:spPr>
            <p:txBody>
              <a:bodyPr rtlCol="0" anchor="ctr"/>
              <a:lstStyle/>
              <a:p>
                <a:pPr algn="ctr" defTabSz="731504">
                  <a:defRPr/>
                </a:pPr>
                <a:endParaRPr lang="en-US" sz="1800" dirty="0">
                  <a:solidFill>
                    <a:srgbClr val="FFFFFF"/>
                  </a:solidFill>
                </a:endParaRPr>
              </a:p>
            </p:txBody>
          </p:sp>
          <p:sp>
            <p:nvSpPr>
              <p:cNvPr id="113" name="Freeform: Shape 1002">
                <a:extLst>
                  <a:ext uri="{FF2B5EF4-FFF2-40B4-BE49-F238E27FC236}">
                    <a16:creationId xmlns:a16="http://schemas.microsoft.com/office/drawing/2014/main" id="{27B5FDB5-5117-6A42-9B0F-549A6AB46FD4}"/>
                  </a:ext>
                </a:extLst>
              </p:cNvPr>
              <p:cNvSpPr/>
              <p:nvPr/>
            </p:nvSpPr>
            <p:spPr>
              <a:xfrm>
                <a:off x="6934220" y="-649524"/>
                <a:ext cx="79685" cy="32683"/>
              </a:xfrm>
              <a:custGeom>
                <a:avLst/>
                <a:gdLst>
                  <a:gd name="connsiteX0" fmla="*/ 353385 w 357247"/>
                  <a:gd name="connsiteY0" fmla="*/ 234303 h 247820"/>
                  <a:gd name="connsiteX1" fmla="*/ 343730 w 357247"/>
                  <a:gd name="connsiteY1" fmla="*/ 243958 h 247820"/>
                  <a:gd name="connsiteX2" fmla="*/ 14483 w 357247"/>
                  <a:gd name="connsiteY2" fmla="*/ 243958 h 247820"/>
                  <a:gd name="connsiteX3" fmla="*/ 4828 w 357247"/>
                  <a:gd name="connsiteY3" fmla="*/ 234303 h 247820"/>
                  <a:gd name="connsiteX4" fmla="*/ 4828 w 357247"/>
                  <a:gd name="connsiteY4" fmla="*/ 14483 h 247820"/>
                  <a:gd name="connsiteX5" fmla="*/ 14483 w 357247"/>
                  <a:gd name="connsiteY5" fmla="*/ 4828 h 247820"/>
                  <a:gd name="connsiteX6" fmla="*/ 342121 w 357247"/>
                  <a:gd name="connsiteY6" fmla="*/ 4828 h 247820"/>
                  <a:gd name="connsiteX7" fmla="*/ 351776 w 357247"/>
                  <a:gd name="connsiteY7" fmla="*/ 14483 h 247820"/>
                  <a:gd name="connsiteX8" fmla="*/ 353385 w 357247"/>
                  <a:gd name="connsiteY8" fmla="*/ 234303 h 2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247" h="247820">
                    <a:moveTo>
                      <a:pt x="353385" y="234303"/>
                    </a:moveTo>
                    <a:cubicBezTo>
                      <a:pt x="353385" y="239774"/>
                      <a:pt x="349201" y="243958"/>
                      <a:pt x="343730" y="243958"/>
                    </a:cubicBezTo>
                    <a:lnTo>
                      <a:pt x="14483" y="243958"/>
                    </a:lnTo>
                    <a:cubicBezTo>
                      <a:pt x="9012" y="243958"/>
                      <a:pt x="4828" y="239774"/>
                      <a:pt x="4828" y="234303"/>
                    </a:cubicBezTo>
                    <a:lnTo>
                      <a:pt x="4828" y="14483"/>
                    </a:lnTo>
                    <a:cubicBezTo>
                      <a:pt x="4828" y="9012"/>
                      <a:pt x="9012" y="4828"/>
                      <a:pt x="14483" y="4828"/>
                    </a:cubicBezTo>
                    <a:lnTo>
                      <a:pt x="342121" y="4828"/>
                    </a:lnTo>
                    <a:cubicBezTo>
                      <a:pt x="347592" y="4828"/>
                      <a:pt x="351776" y="9012"/>
                      <a:pt x="351776" y="14483"/>
                    </a:cubicBezTo>
                    <a:lnTo>
                      <a:pt x="353385" y="234303"/>
                    </a:lnTo>
                    <a:close/>
                  </a:path>
                </a:pathLst>
              </a:custGeom>
              <a:solidFill>
                <a:schemeClr val="bg1"/>
              </a:solidFill>
              <a:ln w="15875" cap="flat">
                <a:solidFill>
                  <a:schemeClr val="tx1"/>
                </a:solidFill>
                <a:prstDash val="solid"/>
                <a:round/>
              </a:ln>
            </p:spPr>
            <p:txBody>
              <a:bodyPr rtlCol="0" anchor="ctr"/>
              <a:lstStyle/>
              <a:p>
                <a:pPr algn="ctr" defTabSz="731504">
                  <a:defRPr/>
                </a:pPr>
                <a:endParaRPr lang="en-US" sz="1800" dirty="0">
                  <a:solidFill>
                    <a:srgbClr val="FFFFFF"/>
                  </a:solidFill>
                </a:endParaRPr>
              </a:p>
            </p:txBody>
          </p:sp>
        </p:grpSp>
        <p:grpSp>
          <p:nvGrpSpPr>
            <p:cNvPr id="95" name="Graphic 286">
              <a:extLst>
                <a:ext uri="{FF2B5EF4-FFF2-40B4-BE49-F238E27FC236}">
                  <a16:creationId xmlns:a16="http://schemas.microsoft.com/office/drawing/2014/main" id="{869BB787-3145-474B-AD45-3C43038C8C18}"/>
                </a:ext>
              </a:extLst>
            </p:cNvPr>
            <p:cNvGrpSpPr/>
            <p:nvPr/>
          </p:nvGrpSpPr>
          <p:grpSpPr>
            <a:xfrm>
              <a:off x="9459644" y="7061587"/>
              <a:ext cx="535816" cy="371021"/>
              <a:chOff x="357820" y="2375315"/>
              <a:chExt cx="557756" cy="386213"/>
            </a:xfrm>
          </p:grpSpPr>
          <p:sp>
            <p:nvSpPr>
              <p:cNvPr id="105" name="Freeform: Shape 994">
                <a:extLst>
                  <a:ext uri="{FF2B5EF4-FFF2-40B4-BE49-F238E27FC236}">
                    <a16:creationId xmlns:a16="http://schemas.microsoft.com/office/drawing/2014/main" id="{04C3C683-B2FC-9144-9AAC-B676B08368B6}"/>
                  </a:ext>
                </a:extLst>
              </p:cNvPr>
              <p:cNvSpPr/>
              <p:nvPr/>
            </p:nvSpPr>
            <p:spPr>
              <a:xfrm>
                <a:off x="767528" y="2543640"/>
                <a:ext cx="148048" cy="141612"/>
              </a:xfrm>
              <a:custGeom>
                <a:avLst/>
                <a:gdLst>
                  <a:gd name="connsiteX0" fmla="*/ 4828 w 148048"/>
                  <a:gd name="connsiteY0" fmla="*/ 4828 h 141611"/>
                  <a:gd name="connsiteX1" fmla="*/ 93657 w 148048"/>
                  <a:gd name="connsiteY1" fmla="*/ 4828 h 141611"/>
                  <a:gd name="connsiteX2" fmla="*/ 144508 w 148048"/>
                  <a:gd name="connsiteY2" fmla="*/ 70806 h 141611"/>
                  <a:gd name="connsiteX3" fmla="*/ 144508 w 148048"/>
                  <a:gd name="connsiteY3" fmla="*/ 70806 h 141611"/>
                  <a:gd name="connsiteX4" fmla="*/ 93657 w 148048"/>
                  <a:gd name="connsiteY4" fmla="*/ 136784 h 141611"/>
                  <a:gd name="connsiteX5" fmla="*/ 74990 w 148048"/>
                  <a:gd name="connsiteY5" fmla="*/ 136784 h 14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048" h="141611">
                    <a:moveTo>
                      <a:pt x="4828" y="4828"/>
                    </a:moveTo>
                    <a:lnTo>
                      <a:pt x="93657" y="4828"/>
                    </a:lnTo>
                    <a:cubicBezTo>
                      <a:pt x="121657" y="4828"/>
                      <a:pt x="144508" y="34437"/>
                      <a:pt x="144508" y="70806"/>
                    </a:cubicBezTo>
                    <a:lnTo>
                      <a:pt x="144508" y="70806"/>
                    </a:lnTo>
                    <a:cubicBezTo>
                      <a:pt x="144508" y="107174"/>
                      <a:pt x="121657" y="136784"/>
                      <a:pt x="93657" y="136784"/>
                    </a:cubicBezTo>
                    <a:lnTo>
                      <a:pt x="74990" y="136784"/>
                    </a:lnTo>
                  </a:path>
                </a:pathLst>
              </a:custGeom>
              <a:noFill/>
              <a:ln w="15875" cap="flat">
                <a:solidFill>
                  <a:srgbClr val="A166FF"/>
                </a:solidFill>
                <a:prstDash val="dash"/>
                <a:round/>
              </a:ln>
            </p:spPr>
            <p:txBody>
              <a:bodyPr rtlCol="0" anchor="ctr"/>
              <a:lstStyle/>
              <a:p>
                <a:pPr algn="ctr" defTabSz="731504">
                  <a:defRPr/>
                </a:pPr>
                <a:endParaRPr lang="en-US" sz="1800" dirty="0">
                  <a:solidFill>
                    <a:srgbClr val="FFFFFF"/>
                  </a:solidFill>
                </a:endParaRPr>
              </a:p>
            </p:txBody>
          </p:sp>
          <p:sp>
            <p:nvSpPr>
              <p:cNvPr id="106" name="Freeform: Shape 995">
                <a:extLst>
                  <a:ext uri="{FF2B5EF4-FFF2-40B4-BE49-F238E27FC236}">
                    <a16:creationId xmlns:a16="http://schemas.microsoft.com/office/drawing/2014/main" id="{B6E97E0B-7EEE-344E-B7B3-0C35A7D1D998}"/>
                  </a:ext>
                </a:extLst>
              </p:cNvPr>
              <p:cNvSpPr/>
              <p:nvPr/>
            </p:nvSpPr>
            <p:spPr>
              <a:xfrm>
                <a:off x="413499" y="2397522"/>
                <a:ext cx="119082" cy="154485"/>
              </a:xfrm>
              <a:custGeom>
                <a:avLst/>
                <a:gdLst>
                  <a:gd name="connsiteX0" fmla="*/ 114255 w 119082"/>
                  <a:gd name="connsiteY0" fmla="*/ 4828 h 154485"/>
                  <a:gd name="connsiteX1" fmla="*/ 61150 w 119082"/>
                  <a:gd name="connsiteY1" fmla="*/ 4828 h 154485"/>
                  <a:gd name="connsiteX2" fmla="*/ 4828 w 119082"/>
                  <a:gd name="connsiteY2" fmla="*/ 77886 h 154485"/>
                  <a:gd name="connsiteX3" fmla="*/ 4828 w 119082"/>
                  <a:gd name="connsiteY3" fmla="*/ 77886 h 154485"/>
                  <a:gd name="connsiteX4" fmla="*/ 61150 w 119082"/>
                  <a:gd name="connsiteY4" fmla="*/ 150945 h 154485"/>
                  <a:gd name="connsiteX5" fmla="*/ 96553 w 119082"/>
                  <a:gd name="connsiteY5" fmla="*/ 150945 h 15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082" h="154485">
                    <a:moveTo>
                      <a:pt x="114255" y="4828"/>
                    </a:moveTo>
                    <a:lnTo>
                      <a:pt x="61150" y="4828"/>
                    </a:lnTo>
                    <a:cubicBezTo>
                      <a:pt x="29932" y="4828"/>
                      <a:pt x="4828" y="37656"/>
                      <a:pt x="4828" y="77886"/>
                    </a:cubicBezTo>
                    <a:lnTo>
                      <a:pt x="4828" y="77886"/>
                    </a:lnTo>
                    <a:cubicBezTo>
                      <a:pt x="4828" y="118439"/>
                      <a:pt x="29932" y="150945"/>
                      <a:pt x="61150" y="150945"/>
                    </a:cubicBezTo>
                    <a:lnTo>
                      <a:pt x="96553" y="150945"/>
                    </a:lnTo>
                  </a:path>
                </a:pathLst>
              </a:custGeom>
              <a:noFill/>
              <a:ln w="15875" cap="flat">
                <a:solidFill>
                  <a:srgbClr val="A166FF"/>
                </a:solidFill>
                <a:prstDash val="dash"/>
                <a:round/>
              </a:ln>
            </p:spPr>
            <p:txBody>
              <a:bodyPr rtlCol="0" anchor="ctr"/>
              <a:lstStyle/>
              <a:p>
                <a:pPr algn="ctr" defTabSz="731504">
                  <a:defRPr/>
                </a:pPr>
                <a:endParaRPr lang="en-US" sz="1800" dirty="0">
                  <a:solidFill>
                    <a:srgbClr val="FFFFFF"/>
                  </a:solidFill>
                </a:endParaRPr>
              </a:p>
            </p:txBody>
          </p:sp>
          <p:sp>
            <p:nvSpPr>
              <p:cNvPr id="107" name="Freeform: Shape 996">
                <a:extLst>
                  <a:ext uri="{FF2B5EF4-FFF2-40B4-BE49-F238E27FC236}">
                    <a16:creationId xmlns:a16="http://schemas.microsoft.com/office/drawing/2014/main" id="{E727962D-5044-1145-BA48-F7A7D4104200}"/>
                  </a:ext>
                </a:extLst>
              </p:cNvPr>
              <p:cNvSpPr/>
              <p:nvPr/>
            </p:nvSpPr>
            <p:spPr>
              <a:xfrm>
                <a:off x="784264" y="2642768"/>
                <a:ext cx="64369" cy="64369"/>
              </a:xfrm>
              <a:custGeom>
                <a:avLst/>
                <a:gdLst>
                  <a:gd name="connsiteX0" fmla="*/ 61472 w 64368"/>
                  <a:gd name="connsiteY0" fmla="*/ 33150 h 64368"/>
                  <a:gd name="connsiteX1" fmla="*/ 33150 w 64368"/>
                  <a:gd name="connsiteY1" fmla="*/ 61472 h 64368"/>
                  <a:gd name="connsiteX2" fmla="*/ 4828 w 64368"/>
                  <a:gd name="connsiteY2" fmla="*/ 33150 h 64368"/>
                  <a:gd name="connsiteX3" fmla="*/ 33150 w 64368"/>
                  <a:gd name="connsiteY3" fmla="*/ 4828 h 64368"/>
                  <a:gd name="connsiteX4" fmla="*/ 61472 w 64368"/>
                  <a:gd name="connsiteY4" fmla="*/ 33150 h 64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68" h="64368">
                    <a:moveTo>
                      <a:pt x="61472" y="33150"/>
                    </a:moveTo>
                    <a:cubicBezTo>
                      <a:pt x="61472" y="48792"/>
                      <a:pt x="48792" y="61472"/>
                      <a:pt x="33150" y="61472"/>
                    </a:cubicBezTo>
                    <a:cubicBezTo>
                      <a:pt x="17508" y="61472"/>
                      <a:pt x="4828" y="48792"/>
                      <a:pt x="4828" y="33150"/>
                    </a:cubicBezTo>
                    <a:cubicBezTo>
                      <a:pt x="4828" y="17508"/>
                      <a:pt x="17508" y="4828"/>
                      <a:pt x="33150" y="4828"/>
                    </a:cubicBezTo>
                    <a:cubicBezTo>
                      <a:pt x="48792" y="4828"/>
                      <a:pt x="61472" y="17508"/>
                      <a:pt x="61472" y="33150"/>
                    </a:cubicBezTo>
                    <a:close/>
                  </a:path>
                </a:pathLst>
              </a:custGeom>
              <a:noFill/>
              <a:ln w="15875" cap="flat">
                <a:solidFill>
                  <a:srgbClr val="A166FF"/>
                </a:solidFill>
                <a:prstDash val="solid"/>
                <a:round/>
              </a:ln>
            </p:spPr>
            <p:txBody>
              <a:bodyPr rtlCol="0" anchor="ctr"/>
              <a:lstStyle/>
              <a:p>
                <a:pPr algn="ctr" defTabSz="731504">
                  <a:defRPr/>
                </a:pPr>
                <a:endParaRPr lang="en-US" sz="1800" dirty="0">
                  <a:solidFill>
                    <a:srgbClr val="FFFFFF"/>
                  </a:solidFill>
                </a:endParaRPr>
              </a:p>
            </p:txBody>
          </p:sp>
          <p:sp>
            <p:nvSpPr>
              <p:cNvPr id="108" name="Freeform: Shape 997">
                <a:extLst>
                  <a:ext uri="{FF2B5EF4-FFF2-40B4-BE49-F238E27FC236}">
                    <a16:creationId xmlns:a16="http://schemas.microsoft.com/office/drawing/2014/main" id="{770D1CC8-E9FE-A143-9614-6E289AB0506B}"/>
                  </a:ext>
                </a:extLst>
              </p:cNvPr>
              <p:cNvSpPr/>
              <p:nvPr/>
            </p:nvSpPr>
            <p:spPr>
              <a:xfrm>
                <a:off x="525823" y="2375315"/>
                <a:ext cx="51495" cy="51495"/>
              </a:xfrm>
              <a:custGeom>
                <a:avLst/>
                <a:gdLst>
                  <a:gd name="connsiteX0" fmla="*/ 49242 w 51495"/>
                  <a:gd name="connsiteY0" fmla="*/ 27035 h 51495"/>
                  <a:gd name="connsiteX1" fmla="*/ 27035 w 51495"/>
                  <a:gd name="connsiteY1" fmla="*/ 49242 h 51495"/>
                  <a:gd name="connsiteX2" fmla="*/ 4828 w 51495"/>
                  <a:gd name="connsiteY2" fmla="*/ 27035 h 51495"/>
                  <a:gd name="connsiteX3" fmla="*/ 27035 w 51495"/>
                  <a:gd name="connsiteY3" fmla="*/ 4828 h 51495"/>
                  <a:gd name="connsiteX4" fmla="*/ 49242 w 51495"/>
                  <a:gd name="connsiteY4" fmla="*/ 27035 h 5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95" h="51495">
                    <a:moveTo>
                      <a:pt x="49242" y="27035"/>
                    </a:moveTo>
                    <a:cubicBezTo>
                      <a:pt x="49242" y="39300"/>
                      <a:pt x="39300" y="49242"/>
                      <a:pt x="27035" y="49242"/>
                    </a:cubicBezTo>
                    <a:cubicBezTo>
                      <a:pt x="14770" y="49242"/>
                      <a:pt x="4828" y="39300"/>
                      <a:pt x="4828" y="27035"/>
                    </a:cubicBezTo>
                    <a:cubicBezTo>
                      <a:pt x="4828" y="14770"/>
                      <a:pt x="14770" y="4828"/>
                      <a:pt x="27035" y="4828"/>
                    </a:cubicBezTo>
                    <a:cubicBezTo>
                      <a:pt x="39300" y="4828"/>
                      <a:pt x="49242" y="14770"/>
                      <a:pt x="49242" y="27035"/>
                    </a:cubicBezTo>
                    <a:close/>
                  </a:path>
                </a:pathLst>
              </a:custGeom>
              <a:noFill/>
              <a:ln w="15875" cap="flat">
                <a:solidFill>
                  <a:srgbClr val="A166FF"/>
                </a:solidFill>
                <a:prstDash val="solid"/>
                <a:round/>
              </a:ln>
            </p:spPr>
            <p:txBody>
              <a:bodyPr rtlCol="0" anchor="ctr"/>
              <a:lstStyle/>
              <a:p>
                <a:pPr algn="ctr" defTabSz="731504">
                  <a:defRPr/>
                </a:pPr>
                <a:endParaRPr lang="en-US" sz="1800" dirty="0">
                  <a:solidFill>
                    <a:srgbClr val="FFFFFF"/>
                  </a:solidFill>
                </a:endParaRPr>
              </a:p>
            </p:txBody>
          </p:sp>
          <p:sp>
            <p:nvSpPr>
              <p:cNvPr id="109" name="Freeform: Shape 998">
                <a:extLst>
                  <a:ext uri="{FF2B5EF4-FFF2-40B4-BE49-F238E27FC236}">
                    <a16:creationId xmlns:a16="http://schemas.microsoft.com/office/drawing/2014/main" id="{C8F1C755-B02B-ED40-9035-1AC16EB61367}"/>
                  </a:ext>
                </a:extLst>
              </p:cNvPr>
              <p:cNvSpPr/>
              <p:nvPr/>
            </p:nvSpPr>
            <p:spPr>
              <a:xfrm>
                <a:off x="416395" y="2581295"/>
                <a:ext cx="41840" cy="9655"/>
              </a:xfrm>
              <a:custGeom>
                <a:avLst/>
                <a:gdLst>
                  <a:gd name="connsiteX0" fmla="*/ 37012 w 41839"/>
                  <a:gd name="connsiteY0" fmla="*/ 4828 h 9655"/>
                  <a:gd name="connsiteX1" fmla="*/ 4828 w 41839"/>
                  <a:gd name="connsiteY1" fmla="*/ 4828 h 9655"/>
                </a:gdLst>
                <a:ahLst/>
                <a:cxnLst>
                  <a:cxn ang="0">
                    <a:pos x="connsiteX0" y="connsiteY0"/>
                  </a:cxn>
                  <a:cxn ang="0">
                    <a:pos x="connsiteX1" y="connsiteY1"/>
                  </a:cxn>
                </a:cxnLst>
                <a:rect l="l" t="t" r="r" b="b"/>
                <a:pathLst>
                  <a:path w="41839" h="9655">
                    <a:moveTo>
                      <a:pt x="37012" y="4828"/>
                    </a:moveTo>
                    <a:lnTo>
                      <a:pt x="4828" y="4828"/>
                    </a:lnTo>
                  </a:path>
                </a:pathLst>
              </a:custGeom>
              <a:ln w="15875" cap="flat">
                <a:solidFill>
                  <a:srgbClr val="A166FF"/>
                </a:solidFill>
                <a:prstDash val="solid"/>
                <a:round/>
              </a:ln>
            </p:spPr>
            <p:txBody>
              <a:bodyPr rtlCol="0" anchor="ctr"/>
              <a:lstStyle/>
              <a:p>
                <a:pPr algn="ctr" defTabSz="731504">
                  <a:defRPr/>
                </a:pPr>
                <a:endParaRPr lang="en-US" sz="1800" dirty="0">
                  <a:solidFill>
                    <a:srgbClr val="FFFFFF"/>
                  </a:solidFill>
                </a:endParaRPr>
              </a:p>
            </p:txBody>
          </p:sp>
          <p:sp>
            <p:nvSpPr>
              <p:cNvPr id="110" name="Freeform: Shape 999">
                <a:extLst>
                  <a:ext uri="{FF2B5EF4-FFF2-40B4-BE49-F238E27FC236}">
                    <a16:creationId xmlns:a16="http://schemas.microsoft.com/office/drawing/2014/main" id="{FA6ECB27-4F88-0043-97B1-1CC4DA003C84}"/>
                  </a:ext>
                </a:extLst>
              </p:cNvPr>
              <p:cNvSpPr/>
              <p:nvPr/>
            </p:nvSpPr>
            <p:spPr>
              <a:xfrm>
                <a:off x="357820" y="2581295"/>
                <a:ext cx="405524" cy="180233"/>
              </a:xfrm>
              <a:custGeom>
                <a:avLst/>
                <a:gdLst>
                  <a:gd name="connsiteX0" fmla="*/ 52461 w 405524"/>
                  <a:gd name="connsiteY0" fmla="*/ 4828 h 180232"/>
                  <a:gd name="connsiteX1" fmla="*/ 19311 w 405524"/>
                  <a:gd name="connsiteY1" fmla="*/ 4828 h 180232"/>
                  <a:gd name="connsiteX2" fmla="*/ 4828 w 405524"/>
                  <a:gd name="connsiteY2" fmla="*/ 19311 h 180232"/>
                  <a:gd name="connsiteX3" fmla="*/ 19311 w 405524"/>
                  <a:gd name="connsiteY3" fmla="*/ 33794 h 180232"/>
                  <a:gd name="connsiteX4" fmla="*/ 173474 w 405524"/>
                  <a:gd name="connsiteY4" fmla="*/ 33794 h 180232"/>
                  <a:gd name="connsiteX5" fmla="*/ 237521 w 405524"/>
                  <a:gd name="connsiteY5" fmla="*/ 102347 h 180232"/>
                  <a:gd name="connsiteX6" fmla="*/ 255223 w 405524"/>
                  <a:gd name="connsiteY6" fmla="*/ 110071 h 180232"/>
                  <a:gd name="connsiteX7" fmla="*/ 357891 w 405524"/>
                  <a:gd name="connsiteY7" fmla="*/ 110393 h 180232"/>
                  <a:gd name="connsiteX8" fmla="*/ 323132 w 405524"/>
                  <a:gd name="connsiteY8" fmla="*/ 151911 h 180232"/>
                  <a:gd name="connsiteX9" fmla="*/ 325063 w 405524"/>
                  <a:gd name="connsiteY9" fmla="*/ 172509 h 180232"/>
                  <a:gd name="connsiteX10" fmla="*/ 334396 w 405524"/>
                  <a:gd name="connsiteY10" fmla="*/ 176049 h 180232"/>
                  <a:gd name="connsiteX11" fmla="*/ 345661 w 405524"/>
                  <a:gd name="connsiteY11" fmla="*/ 170899 h 180232"/>
                  <a:gd name="connsiteX12" fmla="*/ 400375 w 405524"/>
                  <a:gd name="connsiteY12" fmla="*/ 105565 h 180232"/>
                  <a:gd name="connsiteX13" fmla="*/ 401018 w 405524"/>
                  <a:gd name="connsiteY13" fmla="*/ 104599 h 180232"/>
                  <a:gd name="connsiteX14" fmla="*/ 401340 w 405524"/>
                  <a:gd name="connsiteY14" fmla="*/ 103956 h 180232"/>
                  <a:gd name="connsiteX15" fmla="*/ 402627 w 405524"/>
                  <a:gd name="connsiteY15" fmla="*/ 101703 h 180232"/>
                  <a:gd name="connsiteX16" fmla="*/ 402949 w 405524"/>
                  <a:gd name="connsiteY16" fmla="*/ 101381 h 180232"/>
                  <a:gd name="connsiteX17" fmla="*/ 403593 w 405524"/>
                  <a:gd name="connsiteY17" fmla="*/ 99450 h 180232"/>
                  <a:gd name="connsiteX18" fmla="*/ 403593 w 405524"/>
                  <a:gd name="connsiteY18" fmla="*/ 98806 h 180232"/>
                  <a:gd name="connsiteX19" fmla="*/ 403915 w 405524"/>
                  <a:gd name="connsiteY19" fmla="*/ 96875 h 180232"/>
                  <a:gd name="connsiteX20" fmla="*/ 403915 w 405524"/>
                  <a:gd name="connsiteY20" fmla="*/ 96232 h 180232"/>
                  <a:gd name="connsiteX21" fmla="*/ 403593 w 405524"/>
                  <a:gd name="connsiteY21" fmla="*/ 93657 h 180232"/>
                  <a:gd name="connsiteX22" fmla="*/ 403593 w 405524"/>
                  <a:gd name="connsiteY22" fmla="*/ 93013 h 180232"/>
                  <a:gd name="connsiteX23" fmla="*/ 402949 w 405524"/>
                  <a:gd name="connsiteY23" fmla="*/ 91082 h 180232"/>
                  <a:gd name="connsiteX24" fmla="*/ 402627 w 405524"/>
                  <a:gd name="connsiteY24" fmla="*/ 90438 h 180232"/>
                  <a:gd name="connsiteX25" fmla="*/ 402306 w 405524"/>
                  <a:gd name="connsiteY25" fmla="*/ 89795 h 180232"/>
                  <a:gd name="connsiteX26" fmla="*/ 401662 w 405524"/>
                  <a:gd name="connsiteY26" fmla="*/ 88507 h 180232"/>
                  <a:gd name="connsiteX27" fmla="*/ 401340 w 405524"/>
                  <a:gd name="connsiteY27" fmla="*/ 88185 h 180232"/>
                  <a:gd name="connsiteX28" fmla="*/ 399731 w 405524"/>
                  <a:gd name="connsiteY28" fmla="*/ 86254 h 180232"/>
                  <a:gd name="connsiteX29" fmla="*/ 399409 w 405524"/>
                  <a:gd name="connsiteY29" fmla="*/ 85933 h 180232"/>
                  <a:gd name="connsiteX30" fmla="*/ 341477 w 405524"/>
                  <a:gd name="connsiteY30" fmla="*/ 26713 h 180232"/>
                  <a:gd name="connsiteX31" fmla="*/ 320879 w 405524"/>
                  <a:gd name="connsiteY31" fmla="*/ 26391 h 180232"/>
                  <a:gd name="connsiteX32" fmla="*/ 320557 w 405524"/>
                  <a:gd name="connsiteY32" fmla="*/ 46989 h 180232"/>
                  <a:gd name="connsiteX33" fmla="*/ 354029 w 405524"/>
                  <a:gd name="connsiteY33" fmla="*/ 81427 h 180232"/>
                  <a:gd name="connsiteX34" fmla="*/ 256832 w 405524"/>
                  <a:gd name="connsiteY34" fmla="*/ 81105 h 180232"/>
                  <a:gd name="connsiteX35" fmla="*/ 192785 w 405524"/>
                  <a:gd name="connsiteY35" fmla="*/ 12552 h 180232"/>
                  <a:gd name="connsiteX36" fmla="*/ 175083 w 405524"/>
                  <a:gd name="connsiteY36" fmla="*/ 4828 h 180232"/>
                  <a:gd name="connsiteX37" fmla="*/ 112967 w 405524"/>
                  <a:gd name="connsiteY37" fmla="*/ 4828 h 18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524" h="180232">
                    <a:moveTo>
                      <a:pt x="52461" y="4828"/>
                    </a:moveTo>
                    <a:lnTo>
                      <a:pt x="19311" y="4828"/>
                    </a:lnTo>
                    <a:cubicBezTo>
                      <a:pt x="11265" y="4828"/>
                      <a:pt x="4828" y="11265"/>
                      <a:pt x="4828" y="19311"/>
                    </a:cubicBezTo>
                    <a:cubicBezTo>
                      <a:pt x="4828" y="27357"/>
                      <a:pt x="11265" y="33794"/>
                      <a:pt x="19311" y="33794"/>
                    </a:cubicBezTo>
                    <a:lnTo>
                      <a:pt x="173474" y="33794"/>
                    </a:lnTo>
                    <a:lnTo>
                      <a:pt x="237521" y="102347"/>
                    </a:lnTo>
                    <a:cubicBezTo>
                      <a:pt x="242027" y="107174"/>
                      <a:pt x="248464" y="110071"/>
                      <a:pt x="255223" y="110071"/>
                    </a:cubicBezTo>
                    <a:lnTo>
                      <a:pt x="357891" y="110393"/>
                    </a:lnTo>
                    <a:lnTo>
                      <a:pt x="323132" y="151911"/>
                    </a:lnTo>
                    <a:cubicBezTo>
                      <a:pt x="317982" y="158026"/>
                      <a:pt x="318626" y="167359"/>
                      <a:pt x="325063" y="172509"/>
                    </a:cubicBezTo>
                    <a:cubicBezTo>
                      <a:pt x="327638" y="174762"/>
                      <a:pt x="331178" y="176049"/>
                      <a:pt x="334396" y="176049"/>
                    </a:cubicBezTo>
                    <a:cubicBezTo>
                      <a:pt x="338580" y="176049"/>
                      <a:pt x="342764" y="174118"/>
                      <a:pt x="345661" y="170899"/>
                    </a:cubicBezTo>
                    <a:lnTo>
                      <a:pt x="400375" y="105565"/>
                    </a:lnTo>
                    <a:cubicBezTo>
                      <a:pt x="400696" y="105243"/>
                      <a:pt x="400696" y="104921"/>
                      <a:pt x="401018" y="104599"/>
                    </a:cubicBezTo>
                    <a:cubicBezTo>
                      <a:pt x="401018" y="104278"/>
                      <a:pt x="401340" y="104278"/>
                      <a:pt x="401340" y="103956"/>
                    </a:cubicBezTo>
                    <a:cubicBezTo>
                      <a:pt x="401662" y="103312"/>
                      <a:pt x="402306" y="102668"/>
                      <a:pt x="402627" y="101703"/>
                    </a:cubicBezTo>
                    <a:cubicBezTo>
                      <a:pt x="402627" y="101703"/>
                      <a:pt x="402627" y="101381"/>
                      <a:pt x="402949" y="101381"/>
                    </a:cubicBezTo>
                    <a:cubicBezTo>
                      <a:pt x="403271" y="100737"/>
                      <a:pt x="403271" y="100094"/>
                      <a:pt x="403593" y="99450"/>
                    </a:cubicBezTo>
                    <a:cubicBezTo>
                      <a:pt x="403593" y="99128"/>
                      <a:pt x="403593" y="98806"/>
                      <a:pt x="403593" y="98806"/>
                    </a:cubicBezTo>
                    <a:cubicBezTo>
                      <a:pt x="403593" y="98163"/>
                      <a:pt x="403915" y="97519"/>
                      <a:pt x="403915" y="96875"/>
                    </a:cubicBezTo>
                    <a:cubicBezTo>
                      <a:pt x="403915" y="96553"/>
                      <a:pt x="403915" y="96553"/>
                      <a:pt x="403915" y="96232"/>
                    </a:cubicBezTo>
                    <a:cubicBezTo>
                      <a:pt x="403915" y="95266"/>
                      <a:pt x="403915" y="94622"/>
                      <a:pt x="403593" y="93657"/>
                    </a:cubicBezTo>
                    <a:cubicBezTo>
                      <a:pt x="403593" y="93335"/>
                      <a:pt x="403593" y="93335"/>
                      <a:pt x="403593" y="93013"/>
                    </a:cubicBezTo>
                    <a:cubicBezTo>
                      <a:pt x="403593" y="92369"/>
                      <a:pt x="403271" y="91726"/>
                      <a:pt x="402949" y="91082"/>
                    </a:cubicBezTo>
                    <a:cubicBezTo>
                      <a:pt x="402949" y="90760"/>
                      <a:pt x="402627" y="90438"/>
                      <a:pt x="402627" y="90438"/>
                    </a:cubicBezTo>
                    <a:cubicBezTo>
                      <a:pt x="402627" y="90116"/>
                      <a:pt x="402627" y="90116"/>
                      <a:pt x="402306" y="89795"/>
                    </a:cubicBezTo>
                    <a:cubicBezTo>
                      <a:pt x="401984" y="89151"/>
                      <a:pt x="401662" y="88829"/>
                      <a:pt x="401662" y="88507"/>
                    </a:cubicBezTo>
                    <a:cubicBezTo>
                      <a:pt x="401662" y="88507"/>
                      <a:pt x="401662" y="88185"/>
                      <a:pt x="401340" y="88185"/>
                    </a:cubicBezTo>
                    <a:cubicBezTo>
                      <a:pt x="401018" y="87542"/>
                      <a:pt x="400375" y="86898"/>
                      <a:pt x="399731" y="86254"/>
                    </a:cubicBezTo>
                    <a:cubicBezTo>
                      <a:pt x="399731" y="86254"/>
                      <a:pt x="399731" y="86254"/>
                      <a:pt x="399409" y="85933"/>
                    </a:cubicBezTo>
                    <a:lnTo>
                      <a:pt x="341477" y="26713"/>
                    </a:lnTo>
                    <a:cubicBezTo>
                      <a:pt x="336006" y="20920"/>
                      <a:pt x="326672" y="20920"/>
                      <a:pt x="320879" y="26391"/>
                    </a:cubicBezTo>
                    <a:cubicBezTo>
                      <a:pt x="315086" y="31863"/>
                      <a:pt x="315086" y="41196"/>
                      <a:pt x="320557" y="46989"/>
                    </a:cubicBezTo>
                    <a:lnTo>
                      <a:pt x="354029" y="81427"/>
                    </a:lnTo>
                    <a:lnTo>
                      <a:pt x="256832" y="81105"/>
                    </a:lnTo>
                    <a:lnTo>
                      <a:pt x="192785" y="12552"/>
                    </a:lnTo>
                    <a:cubicBezTo>
                      <a:pt x="188279" y="7724"/>
                      <a:pt x="181842" y="4828"/>
                      <a:pt x="175083" y="4828"/>
                    </a:cubicBezTo>
                    <a:lnTo>
                      <a:pt x="112967" y="4828"/>
                    </a:lnTo>
                  </a:path>
                </a:pathLst>
              </a:custGeom>
              <a:noFill/>
              <a:ln w="15875" cap="flat">
                <a:solidFill>
                  <a:srgbClr val="A166FF"/>
                </a:solidFill>
                <a:prstDash val="solid"/>
                <a:round/>
              </a:ln>
            </p:spPr>
            <p:txBody>
              <a:bodyPr rtlCol="0" anchor="ctr"/>
              <a:lstStyle/>
              <a:p>
                <a:pPr algn="ctr" defTabSz="731504">
                  <a:defRPr/>
                </a:pPr>
                <a:endParaRPr lang="en-US" sz="1800" dirty="0">
                  <a:solidFill>
                    <a:srgbClr val="FFFFFF"/>
                  </a:solidFill>
                </a:endParaRPr>
              </a:p>
            </p:txBody>
          </p:sp>
          <p:sp>
            <p:nvSpPr>
              <p:cNvPr id="111" name="Freeform: Shape 1000">
                <a:extLst>
                  <a:ext uri="{FF2B5EF4-FFF2-40B4-BE49-F238E27FC236}">
                    <a16:creationId xmlns:a16="http://schemas.microsoft.com/office/drawing/2014/main" id="{6C2CD879-07D6-2745-AAF4-7C62AAF9EC24}"/>
                  </a:ext>
                </a:extLst>
              </p:cNvPr>
              <p:cNvSpPr/>
              <p:nvPr/>
            </p:nvSpPr>
            <p:spPr>
              <a:xfrm>
                <a:off x="522926" y="2415546"/>
                <a:ext cx="241383" cy="164141"/>
              </a:xfrm>
              <a:custGeom>
                <a:avLst/>
                <a:gdLst>
                  <a:gd name="connsiteX0" fmla="*/ 4828 w 241383"/>
                  <a:gd name="connsiteY0" fmla="*/ 150301 h 164140"/>
                  <a:gd name="connsiteX1" fmla="*/ 72093 w 241383"/>
                  <a:gd name="connsiteY1" fmla="*/ 78530 h 164140"/>
                  <a:gd name="connsiteX2" fmla="*/ 89795 w 241383"/>
                  <a:gd name="connsiteY2" fmla="*/ 70806 h 164140"/>
                  <a:gd name="connsiteX3" fmla="*/ 192463 w 241383"/>
                  <a:gd name="connsiteY3" fmla="*/ 70484 h 164140"/>
                  <a:gd name="connsiteX4" fmla="*/ 157704 w 241383"/>
                  <a:gd name="connsiteY4" fmla="*/ 28966 h 164140"/>
                  <a:gd name="connsiteX5" fmla="*/ 159635 w 241383"/>
                  <a:gd name="connsiteY5" fmla="*/ 8368 h 164140"/>
                  <a:gd name="connsiteX6" fmla="*/ 168968 w 241383"/>
                  <a:gd name="connsiteY6" fmla="*/ 4828 h 164140"/>
                  <a:gd name="connsiteX7" fmla="*/ 180233 w 241383"/>
                  <a:gd name="connsiteY7" fmla="*/ 9977 h 164140"/>
                  <a:gd name="connsiteX8" fmla="*/ 234946 w 241383"/>
                  <a:gd name="connsiteY8" fmla="*/ 75312 h 164140"/>
                  <a:gd name="connsiteX9" fmla="*/ 235590 w 241383"/>
                  <a:gd name="connsiteY9" fmla="*/ 76277 h 164140"/>
                  <a:gd name="connsiteX10" fmla="*/ 235912 w 241383"/>
                  <a:gd name="connsiteY10" fmla="*/ 76921 h 164140"/>
                  <a:gd name="connsiteX11" fmla="*/ 237199 w 241383"/>
                  <a:gd name="connsiteY11" fmla="*/ 79174 h 164140"/>
                  <a:gd name="connsiteX12" fmla="*/ 237521 w 241383"/>
                  <a:gd name="connsiteY12" fmla="*/ 79496 h 164140"/>
                  <a:gd name="connsiteX13" fmla="*/ 238165 w 241383"/>
                  <a:gd name="connsiteY13" fmla="*/ 81427 h 164140"/>
                  <a:gd name="connsiteX14" fmla="*/ 238165 w 241383"/>
                  <a:gd name="connsiteY14" fmla="*/ 82070 h 164140"/>
                  <a:gd name="connsiteX15" fmla="*/ 238487 w 241383"/>
                  <a:gd name="connsiteY15" fmla="*/ 84001 h 164140"/>
                  <a:gd name="connsiteX16" fmla="*/ 238487 w 241383"/>
                  <a:gd name="connsiteY16" fmla="*/ 84645 h 164140"/>
                  <a:gd name="connsiteX17" fmla="*/ 238165 w 241383"/>
                  <a:gd name="connsiteY17" fmla="*/ 87220 h 164140"/>
                  <a:gd name="connsiteX18" fmla="*/ 238165 w 241383"/>
                  <a:gd name="connsiteY18" fmla="*/ 87864 h 164140"/>
                  <a:gd name="connsiteX19" fmla="*/ 237521 w 241383"/>
                  <a:gd name="connsiteY19" fmla="*/ 89795 h 164140"/>
                  <a:gd name="connsiteX20" fmla="*/ 237199 w 241383"/>
                  <a:gd name="connsiteY20" fmla="*/ 90438 h 164140"/>
                  <a:gd name="connsiteX21" fmla="*/ 236878 w 241383"/>
                  <a:gd name="connsiteY21" fmla="*/ 91082 h 164140"/>
                  <a:gd name="connsiteX22" fmla="*/ 236234 w 241383"/>
                  <a:gd name="connsiteY22" fmla="*/ 92369 h 164140"/>
                  <a:gd name="connsiteX23" fmla="*/ 235912 w 241383"/>
                  <a:gd name="connsiteY23" fmla="*/ 92691 h 164140"/>
                  <a:gd name="connsiteX24" fmla="*/ 234303 w 241383"/>
                  <a:gd name="connsiteY24" fmla="*/ 94622 h 164140"/>
                  <a:gd name="connsiteX25" fmla="*/ 233981 w 241383"/>
                  <a:gd name="connsiteY25" fmla="*/ 94944 h 164140"/>
                  <a:gd name="connsiteX26" fmla="*/ 176049 w 241383"/>
                  <a:gd name="connsiteY26" fmla="*/ 154164 h 164140"/>
                  <a:gd name="connsiteX27" fmla="*/ 155451 w 241383"/>
                  <a:gd name="connsiteY27" fmla="*/ 154485 h 164140"/>
                  <a:gd name="connsiteX28" fmla="*/ 155129 w 241383"/>
                  <a:gd name="connsiteY28" fmla="*/ 133887 h 164140"/>
                  <a:gd name="connsiteX29" fmla="*/ 188601 w 241383"/>
                  <a:gd name="connsiteY29" fmla="*/ 99450 h 164140"/>
                  <a:gd name="connsiteX30" fmla="*/ 91404 w 241383"/>
                  <a:gd name="connsiteY30" fmla="*/ 99772 h 164140"/>
                  <a:gd name="connsiteX31" fmla="*/ 34116 w 241383"/>
                  <a:gd name="connsiteY31" fmla="*/ 161244 h 16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1383" h="164140">
                    <a:moveTo>
                      <a:pt x="4828" y="150301"/>
                    </a:moveTo>
                    <a:lnTo>
                      <a:pt x="72093" y="78530"/>
                    </a:lnTo>
                    <a:cubicBezTo>
                      <a:pt x="76599" y="73702"/>
                      <a:pt x="83036" y="70806"/>
                      <a:pt x="89795" y="70806"/>
                    </a:cubicBezTo>
                    <a:lnTo>
                      <a:pt x="192463" y="70484"/>
                    </a:lnTo>
                    <a:lnTo>
                      <a:pt x="157704" y="28966"/>
                    </a:lnTo>
                    <a:cubicBezTo>
                      <a:pt x="152554" y="22851"/>
                      <a:pt x="153198" y="13517"/>
                      <a:pt x="159635" y="8368"/>
                    </a:cubicBezTo>
                    <a:cubicBezTo>
                      <a:pt x="162210" y="6115"/>
                      <a:pt x="165750" y="4828"/>
                      <a:pt x="168968" y="4828"/>
                    </a:cubicBezTo>
                    <a:cubicBezTo>
                      <a:pt x="173152" y="4828"/>
                      <a:pt x="177336" y="6759"/>
                      <a:pt x="180233" y="9977"/>
                    </a:cubicBezTo>
                    <a:lnTo>
                      <a:pt x="234946" y="75312"/>
                    </a:lnTo>
                    <a:cubicBezTo>
                      <a:pt x="235268" y="75633"/>
                      <a:pt x="235268" y="75955"/>
                      <a:pt x="235590" y="76277"/>
                    </a:cubicBezTo>
                    <a:cubicBezTo>
                      <a:pt x="235590" y="76599"/>
                      <a:pt x="235912" y="76599"/>
                      <a:pt x="235912" y="76921"/>
                    </a:cubicBezTo>
                    <a:cubicBezTo>
                      <a:pt x="236234" y="77565"/>
                      <a:pt x="236878" y="78208"/>
                      <a:pt x="237199" y="79174"/>
                    </a:cubicBezTo>
                    <a:cubicBezTo>
                      <a:pt x="237199" y="79174"/>
                      <a:pt x="237199" y="79496"/>
                      <a:pt x="237521" y="79496"/>
                    </a:cubicBezTo>
                    <a:cubicBezTo>
                      <a:pt x="237843" y="80139"/>
                      <a:pt x="237843" y="80783"/>
                      <a:pt x="238165" y="81427"/>
                    </a:cubicBezTo>
                    <a:cubicBezTo>
                      <a:pt x="238165" y="81749"/>
                      <a:pt x="238165" y="82070"/>
                      <a:pt x="238165" y="82070"/>
                    </a:cubicBezTo>
                    <a:cubicBezTo>
                      <a:pt x="238165" y="82714"/>
                      <a:pt x="238487" y="83358"/>
                      <a:pt x="238487" y="84001"/>
                    </a:cubicBezTo>
                    <a:cubicBezTo>
                      <a:pt x="238487" y="84323"/>
                      <a:pt x="238487" y="84323"/>
                      <a:pt x="238487" y="84645"/>
                    </a:cubicBezTo>
                    <a:cubicBezTo>
                      <a:pt x="238487" y="85611"/>
                      <a:pt x="238487" y="86254"/>
                      <a:pt x="238165" y="87220"/>
                    </a:cubicBezTo>
                    <a:cubicBezTo>
                      <a:pt x="238165" y="87542"/>
                      <a:pt x="238165" y="87542"/>
                      <a:pt x="238165" y="87864"/>
                    </a:cubicBezTo>
                    <a:cubicBezTo>
                      <a:pt x="238165" y="88507"/>
                      <a:pt x="237843" y="89151"/>
                      <a:pt x="237521" y="89795"/>
                    </a:cubicBezTo>
                    <a:cubicBezTo>
                      <a:pt x="237521" y="90116"/>
                      <a:pt x="237199" y="90438"/>
                      <a:pt x="237199" y="90438"/>
                    </a:cubicBezTo>
                    <a:cubicBezTo>
                      <a:pt x="237199" y="90760"/>
                      <a:pt x="237199" y="90760"/>
                      <a:pt x="236878" y="91082"/>
                    </a:cubicBezTo>
                    <a:cubicBezTo>
                      <a:pt x="236556" y="91726"/>
                      <a:pt x="236234" y="92048"/>
                      <a:pt x="236234" y="92369"/>
                    </a:cubicBezTo>
                    <a:cubicBezTo>
                      <a:pt x="236234" y="92369"/>
                      <a:pt x="236234" y="92691"/>
                      <a:pt x="235912" y="92691"/>
                    </a:cubicBezTo>
                    <a:cubicBezTo>
                      <a:pt x="235590" y="93335"/>
                      <a:pt x="234946" y="93979"/>
                      <a:pt x="234303" y="94622"/>
                    </a:cubicBezTo>
                    <a:cubicBezTo>
                      <a:pt x="234303" y="94622"/>
                      <a:pt x="234303" y="94622"/>
                      <a:pt x="233981" y="94944"/>
                    </a:cubicBezTo>
                    <a:lnTo>
                      <a:pt x="176049" y="154164"/>
                    </a:lnTo>
                    <a:cubicBezTo>
                      <a:pt x="170578" y="159957"/>
                      <a:pt x="161244" y="159957"/>
                      <a:pt x="155451" y="154485"/>
                    </a:cubicBezTo>
                    <a:cubicBezTo>
                      <a:pt x="149658" y="149014"/>
                      <a:pt x="149658" y="139681"/>
                      <a:pt x="155129" y="133887"/>
                    </a:cubicBezTo>
                    <a:lnTo>
                      <a:pt x="188601" y="99450"/>
                    </a:lnTo>
                    <a:lnTo>
                      <a:pt x="91404" y="99772"/>
                    </a:lnTo>
                    <a:lnTo>
                      <a:pt x="34116" y="161244"/>
                    </a:lnTo>
                  </a:path>
                </a:pathLst>
              </a:custGeom>
              <a:noFill/>
              <a:ln w="15875" cap="flat">
                <a:solidFill>
                  <a:srgbClr val="A166FF"/>
                </a:solidFill>
                <a:prstDash val="solid"/>
                <a:round/>
              </a:ln>
            </p:spPr>
            <p:txBody>
              <a:bodyPr rtlCol="0" anchor="ctr"/>
              <a:lstStyle/>
              <a:p>
                <a:pPr algn="ctr" defTabSz="731504">
                  <a:defRPr/>
                </a:pPr>
                <a:endParaRPr lang="en-US" sz="1800" dirty="0">
                  <a:solidFill>
                    <a:srgbClr val="FFFFFF"/>
                  </a:solidFill>
                </a:endParaRPr>
              </a:p>
            </p:txBody>
          </p:sp>
        </p:grpSp>
        <p:grpSp>
          <p:nvGrpSpPr>
            <p:cNvPr id="96" name="Group 95">
              <a:extLst>
                <a:ext uri="{FF2B5EF4-FFF2-40B4-BE49-F238E27FC236}">
                  <a16:creationId xmlns:a16="http://schemas.microsoft.com/office/drawing/2014/main" id="{D932EB3D-9B43-354E-8E6D-5077B7DD3102}"/>
                </a:ext>
              </a:extLst>
            </p:cNvPr>
            <p:cNvGrpSpPr/>
            <p:nvPr/>
          </p:nvGrpSpPr>
          <p:grpSpPr>
            <a:xfrm>
              <a:off x="9869002" y="7003188"/>
              <a:ext cx="57150" cy="57150"/>
              <a:chOff x="10385822" y="7024688"/>
              <a:chExt cx="133350" cy="133350"/>
            </a:xfrm>
          </p:grpSpPr>
          <p:cxnSp>
            <p:nvCxnSpPr>
              <p:cNvPr id="103" name="Straight Connector 102">
                <a:extLst>
                  <a:ext uri="{FF2B5EF4-FFF2-40B4-BE49-F238E27FC236}">
                    <a16:creationId xmlns:a16="http://schemas.microsoft.com/office/drawing/2014/main" id="{716EDFA8-B6B9-2D48-9D2E-91884582C51C}"/>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04" name="Straight Connector 103">
                <a:extLst>
                  <a:ext uri="{FF2B5EF4-FFF2-40B4-BE49-F238E27FC236}">
                    <a16:creationId xmlns:a16="http://schemas.microsoft.com/office/drawing/2014/main" id="{E37826FE-7E26-8641-A32D-987738223DAF}"/>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nvGrpSpPr>
            <p:cNvPr id="97" name="Group 96">
              <a:extLst>
                <a:ext uri="{FF2B5EF4-FFF2-40B4-BE49-F238E27FC236}">
                  <a16:creationId xmlns:a16="http://schemas.microsoft.com/office/drawing/2014/main" id="{7708068D-FA60-3E4B-9426-A51D937834A0}"/>
                </a:ext>
              </a:extLst>
            </p:cNvPr>
            <p:cNvGrpSpPr/>
            <p:nvPr/>
          </p:nvGrpSpPr>
          <p:grpSpPr>
            <a:xfrm>
              <a:off x="9561036" y="7466749"/>
              <a:ext cx="57150" cy="57150"/>
              <a:chOff x="10385822" y="7024688"/>
              <a:chExt cx="133350" cy="133350"/>
            </a:xfrm>
          </p:grpSpPr>
          <p:cxnSp>
            <p:nvCxnSpPr>
              <p:cNvPr id="101" name="Straight Connector 100">
                <a:extLst>
                  <a:ext uri="{FF2B5EF4-FFF2-40B4-BE49-F238E27FC236}">
                    <a16:creationId xmlns:a16="http://schemas.microsoft.com/office/drawing/2014/main" id="{CA6D5C4B-49CE-D945-A971-0AC6353FA877}"/>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02" name="Straight Connector 101">
                <a:extLst>
                  <a:ext uri="{FF2B5EF4-FFF2-40B4-BE49-F238E27FC236}">
                    <a16:creationId xmlns:a16="http://schemas.microsoft.com/office/drawing/2014/main" id="{F0C7189A-A9DE-D144-B4B6-4920C9252469}"/>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nvGrpSpPr>
            <p:cNvPr id="98" name="Group 97">
              <a:extLst>
                <a:ext uri="{FF2B5EF4-FFF2-40B4-BE49-F238E27FC236}">
                  <a16:creationId xmlns:a16="http://schemas.microsoft.com/office/drawing/2014/main" id="{18F722DE-A757-F74F-81F0-11DC1A0BC476}"/>
                </a:ext>
              </a:extLst>
            </p:cNvPr>
            <p:cNvGrpSpPr/>
            <p:nvPr/>
          </p:nvGrpSpPr>
          <p:grpSpPr>
            <a:xfrm>
              <a:off x="9853214" y="7527132"/>
              <a:ext cx="57150" cy="57150"/>
              <a:chOff x="10385822" y="7024688"/>
              <a:chExt cx="133350" cy="133350"/>
            </a:xfrm>
          </p:grpSpPr>
          <p:cxnSp>
            <p:nvCxnSpPr>
              <p:cNvPr id="99" name="Straight Connector 98">
                <a:extLst>
                  <a:ext uri="{FF2B5EF4-FFF2-40B4-BE49-F238E27FC236}">
                    <a16:creationId xmlns:a16="http://schemas.microsoft.com/office/drawing/2014/main" id="{149ED697-1BCA-3049-83E7-61C818A2F744}"/>
                  </a:ext>
                </a:extLst>
              </p:cNvPr>
              <p:cNvCxnSpPr/>
              <p:nvPr/>
            </p:nvCxnSpPr>
            <p:spPr>
              <a:xfrm>
                <a:off x="10385822" y="7024688"/>
                <a:ext cx="133350" cy="133350"/>
              </a:xfrm>
              <a:prstGeom prst="line">
                <a:avLst/>
              </a:prstGeom>
              <a:noFill/>
              <a:ln w="15875" cap="flat">
                <a:solidFill>
                  <a:srgbClr val="A166FF"/>
                </a:solidFill>
                <a:prstDash val="solid"/>
                <a:round/>
              </a:ln>
            </p:spPr>
          </p:cxnSp>
          <p:cxnSp>
            <p:nvCxnSpPr>
              <p:cNvPr id="100" name="Straight Connector 99">
                <a:extLst>
                  <a:ext uri="{FF2B5EF4-FFF2-40B4-BE49-F238E27FC236}">
                    <a16:creationId xmlns:a16="http://schemas.microsoft.com/office/drawing/2014/main" id="{C633CA46-C163-244F-8517-E0B80E7B7D82}"/>
                  </a:ext>
                </a:extLst>
              </p:cNvPr>
              <p:cNvCxnSpPr>
                <a:cxnSpLocks/>
              </p:cNvCxnSpPr>
              <p:nvPr/>
            </p:nvCxnSpPr>
            <p:spPr>
              <a:xfrm flipH="1">
                <a:off x="10385822" y="7024688"/>
                <a:ext cx="133350" cy="133350"/>
              </a:xfrm>
              <a:prstGeom prst="line">
                <a:avLst/>
              </a:prstGeom>
              <a:noFill/>
              <a:ln w="15875" cap="flat">
                <a:solidFill>
                  <a:srgbClr val="A166FF"/>
                </a:solidFill>
                <a:prstDash val="solid"/>
                <a:round/>
              </a:ln>
            </p:spPr>
          </p:cxnSp>
        </p:grpSp>
      </p:grpSp>
      <p:grpSp>
        <p:nvGrpSpPr>
          <p:cNvPr id="114" name="Group 113">
            <a:extLst>
              <a:ext uri="{FF2B5EF4-FFF2-40B4-BE49-F238E27FC236}">
                <a16:creationId xmlns:a16="http://schemas.microsoft.com/office/drawing/2014/main" id="{6661B4DA-7924-4043-8198-EFDF3F457EBB}"/>
              </a:ext>
            </a:extLst>
          </p:cNvPr>
          <p:cNvGrpSpPr/>
          <p:nvPr/>
        </p:nvGrpSpPr>
        <p:grpSpPr>
          <a:xfrm>
            <a:off x="5890008" y="4299295"/>
            <a:ext cx="718766" cy="790712"/>
            <a:chOff x="10283651" y="2930442"/>
            <a:chExt cx="727249" cy="800043"/>
          </a:xfrm>
        </p:grpSpPr>
        <p:sp>
          <p:nvSpPr>
            <p:cNvPr id="115" name="Oval 114">
              <a:extLst>
                <a:ext uri="{FF2B5EF4-FFF2-40B4-BE49-F238E27FC236}">
                  <a16:creationId xmlns:a16="http://schemas.microsoft.com/office/drawing/2014/main" id="{86FEAD1C-27FC-6443-BB20-71A42673F8A9}"/>
                </a:ext>
              </a:extLst>
            </p:cNvPr>
            <p:cNvSpPr/>
            <p:nvPr/>
          </p:nvSpPr>
          <p:spPr>
            <a:xfrm>
              <a:off x="10419224" y="3561559"/>
              <a:ext cx="456101" cy="168926"/>
            </a:xfrm>
            <a:prstGeom prst="ellipse">
              <a:avLst/>
            </a:prstGeom>
            <a:no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504">
                <a:defRPr/>
              </a:pPr>
              <a:endParaRPr lang="en-US" sz="1800" dirty="0">
                <a:solidFill>
                  <a:srgbClr val="FFFFFF"/>
                </a:solidFill>
                <a:latin typeface="Amazon Ember"/>
              </a:endParaRPr>
            </a:p>
          </p:txBody>
        </p:sp>
        <p:sp>
          <p:nvSpPr>
            <p:cNvPr id="116" name="Rectangle 115">
              <a:extLst>
                <a:ext uri="{FF2B5EF4-FFF2-40B4-BE49-F238E27FC236}">
                  <a16:creationId xmlns:a16="http://schemas.microsoft.com/office/drawing/2014/main" id="{0B6C61F9-EA09-EA49-984A-4553093A2CD3}"/>
                </a:ext>
              </a:extLst>
            </p:cNvPr>
            <p:cNvSpPr/>
            <p:nvPr/>
          </p:nvSpPr>
          <p:spPr>
            <a:xfrm>
              <a:off x="10558493" y="3450716"/>
              <a:ext cx="177565" cy="19370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731504">
                <a:defRPr/>
              </a:pPr>
              <a:endParaRPr lang="en-US" sz="1800" dirty="0">
                <a:solidFill>
                  <a:srgbClr val="FFFFFF"/>
                </a:solidFill>
                <a:latin typeface="Amazon Ember"/>
              </a:endParaRPr>
            </a:p>
          </p:txBody>
        </p:sp>
        <p:grpSp>
          <p:nvGrpSpPr>
            <p:cNvPr id="117" name="Graphic 236">
              <a:extLst>
                <a:ext uri="{FF2B5EF4-FFF2-40B4-BE49-F238E27FC236}">
                  <a16:creationId xmlns:a16="http://schemas.microsoft.com/office/drawing/2014/main" id="{EC88CC14-D21C-9A4A-9BBC-EC1F4D1D29F1}"/>
                </a:ext>
              </a:extLst>
            </p:cNvPr>
            <p:cNvGrpSpPr/>
            <p:nvPr/>
          </p:nvGrpSpPr>
          <p:grpSpPr>
            <a:xfrm rot="18950275">
              <a:off x="10283651" y="2930442"/>
              <a:ext cx="727249" cy="727249"/>
              <a:chOff x="4629252" y="322847"/>
              <a:chExt cx="643689" cy="643689"/>
            </a:xfrm>
          </p:grpSpPr>
          <p:sp>
            <p:nvSpPr>
              <p:cNvPr id="118" name="Freeform: Shape 1007">
                <a:extLst>
                  <a:ext uri="{FF2B5EF4-FFF2-40B4-BE49-F238E27FC236}">
                    <a16:creationId xmlns:a16="http://schemas.microsoft.com/office/drawing/2014/main" id="{73E55048-18B6-AC42-A74B-C752A280B2A1}"/>
                  </a:ext>
                </a:extLst>
              </p:cNvPr>
              <p:cNvSpPr/>
              <p:nvPr/>
            </p:nvSpPr>
            <p:spPr>
              <a:xfrm>
                <a:off x="4829117" y="427235"/>
                <a:ext cx="337937" cy="337937"/>
              </a:xfrm>
              <a:custGeom>
                <a:avLst/>
                <a:gdLst>
                  <a:gd name="connsiteX0" fmla="*/ 101059 w 337936"/>
                  <a:gd name="connsiteY0" fmla="*/ 334286 h 337936"/>
                  <a:gd name="connsiteX1" fmla="*/ 226257 w 337936"/>
                  <a:gd name="connsiteY1" fmla="*/ 254790 h 337936"/>
                  <a:gd name="connsiteX2" fmla="*/ 333753 w 337936"/>
                  <a:gd name="connsiteY2" fmla="*/ 5361 h 337936"/>
                  <a:gd name="connsiteX3" fmla="*/ 84323 w 337936"/>
                  <a:gd name="connsiteY3" fmla="*/ 112857 h 337936"/>
                  <a:gd name="connsiteX4" fmla="*/ 4828 w 337936"/>
                  <a:gd name="connsiteY4" fmla="*/ 238055 h 337936"/>
                  <a:gd name="connsiteX5" fmla="*/ 101059 w 337936"/>
                  <a:gd name="connsiteY5" fmla="*/ 334286 h 33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936" h="337936">
                    <a:moveTo>
                      <a:pt x="101059" y="334286"/>
                    </a:moveTo>
                    <a:cubicBezTo>
                      <a:pt x="162210" y="313044"/>
                      <a:pt x="226257" y="254790"/>
                      <a:pt x="226257" y="254790"/>
                    </a:cubicBezTo>
                    <a:cubicBezTo>
                      <a:pt x="348236" y="132811"/>
                      <a:pt x="333753" y="5361"/>
                      <a:pt x="333753" y="5361"/>
                    </a:cubicBezTo>
                    <a:cubicBezTo>
                      <a:pt x="333753" y="5361"/>
                      <a:pt x="206302" y="-9122"/>
                      <a:pt x="84323" y="112857"/>
                    </a:cubicBezTo>
                    <a:cubicBezTo>
                      <a:pt x="84323" y="112857"/>
                      <a:pt x="26391" y="176904"/>
                      <a:pt x="4828" y="238055"/>
                    </a:cubicBezTo>
                    <a:lnTo>
                      <a:pt x="101059" y="334286"/>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119" name="Freeform: Shape 1008">
                <a:extLst>
                  <a:ext uri="{FF2B5EF4-FFF2-40B4-BE49-F238E27FC236}">
                    <a16:creationId xmlns:a16="http://schemas.microsoft.com/office/drawing/2014/main" id="{1C0A1D48-F3FD-724E-9207-346BBB7F8435}"/>
                  </a:ext>
                </a:extLst>
              </p:cNvPr>
              <p:cNvSpPr/>
              <p:nvPr/>
            </p:nvSpPr>
            <p:spPr>
              <a:xfrm>
                <a:off x="4804657" y="682669"/>
                <a:ext cx="106209" cy="106209"/>
              </a:xfrm>
              <a:custGeom>
                <a:avLst/>
                <a:gdLst>
                  <a:gd name="connsiteX0" fmla="*/ 51495 w 106208"/>
                  <a:gd name="connsiteY0" fmla="*/ 4828 h 106208"/>
                  <a:gd name="connsiteX1" fmla="*/ 4828 w 106208"/>
                  <a:gd name="connsiteY1" fmla="*/ 5471 h 106208"/>
                  <a:gd name="connsiteX2" fmla="*/ 102668 w 106208"/>
                  <a:gd name="connsiteY2" fmla="*/ 103312 h 106208"/>
                  <a:gd name="connsiteX3" fmla="*/ 102668 w 106208"/>
                  <a:gd name="connsiteY3" fmla="*/ 56001 h 106208"/>
                </a:gdLst>
                <a:ahLst/>
                <a:cxnLst>
                  <a:cxn ang="0">
                    <a:pos x="connsiteX0" y="connsiteY0"/>
                  </a:cxn>
                  <a:cxn ang="0">
                    <a:pos x="connsiteX1" y="connsiteY1"/>
                  </a:cxn>
                  <a:cxn ang="0">
                    <a:pos x="connsiteX2" y="connsiteY2"/>
                  </a:cxn>
                  <a:cxn ang="0">
                    <a:pos x="connsiteX3" y="connsiteY3"/>
                  </a:cxn>
                </a:cxnLst>
                <a:rect l="l" t="t" r="r" b="b"/>
                <a:pathLst>
                  <a:path w="106208" h="106208">
                    <a:moveTo>
                      <a:pt x="51495" y="4828"/>
                    </a:moveTo>
                    <a:lnTo>
                      <a:pt x="4828" y="5471"/>
                    </a:lnTo>
                    <a:lnTo>
                      <a:pt x="102668" y="103312"/>
                    </a:lnTo>
                    <a:lnTo>
                      <a:pt x="102668" y="56001"/>
                    </a:lnTo>
                    <a:close/>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120" name="Freeform: Shape 1009">
                <a:extLst>
                  <a:ext uri="{FF2B5EF4-FFF2-40B4-BE49-F238E27FC236}">
                    <a16:creationId xmlns:a16="http://schemas.microsoft.com/office/drawing/2014/main" id="{B6E761C0-88AA-D645-A623-49F16FFBBEA2}"/>
                  </a:ext>
                </a:extLst>
              </p:cNvPr>
              <p:cNvSpPr/>
              <p:nvPr/>
            </p:nvSpPr>
            <p:spPr>
              <a:xfrm>
                <a:off x="4733851" y="539417"/>
                <a:ext cx="177014" cy="106209"/>
              </a:xfrm>
              <a:custGeom>
                <a:avLst/>
                <a:gdLst>
                  <a:gd name="connsiteX0" fmla="*/ 174762 w 177014"/>
                  <a:gd name="connsiteY0" fmla="*/ 5503 h 106208"/>
                  <a:gd name="connsiteX1" fmla="*/ 94944 w 177014"/>
                  <a:gd name="connsiteY1" fmla="*/ 11618 h 106208"/>
                  <a:gd name="connsiteX2" fmla="*/ 4828 w 177014"/>
                  <a:gd name="connsiteY2" fmla="*/ 101734 h 106208"/>
                  <a:gd name="connsiteX3" fmla="*/ 110071 w 177014"/>
                  <a:gd name="connsiteY3" fmla="*/ 101734 h 106208"/>
                </a:gdLst>
                <a:ahLst/>
                <a:cxnLst>
                  <a:cxn ang="0">
                    <a:pos x="connsiteX0" y="connsiteY0"/>
                  </a:cxn>
                  <a:cxn ang="0">
                    <a:pos x="connsiteX1" y="connsiteY1"/>
                  </a:cxn>
                  <a:cxn ang="0">
                    <a:pos x="connsiteX2" y="connsiteY2"/>
                  </a:cxn>
                  <a:cxn ang="0">
                    <a:pos x="connsiteX3" y="connsiteY3"/>
                  </a:cxn>
                </a:cxnLst>
                <a:rect l="l" t="t" r="r" b="b"/>
                <a:pathLst>
                  <a:path w="177014" h="106208">
                    <a:moveTo>
                      <a:pt x="174762" y="5503"/>
                    </a:moveTo>
                    <a:cubicBezTo>
                      <a:pt x="171543" y="2284"/>
                      <a:pt x="94944" y="11618"/>
                      <a:pt x="94944" y="11618"/>
                    </a:cubicBezTo>
                    <a:lnTo>
                      <a:pt x="4828" y="101734"/>
                    </a:lnTo>
                    <a:lnTo>
                      <a:pt x="110071" y="101734"/>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121" name="Freeform: Shape 1010">
                <a:extLst>
                  <a:ext uri="{FF2B5EF4-FFF2-40B4-BE49-F238E27FC236}">
                    <a16:creationId xmlns:a16="http://schemas.microsoft.com/office/drawing/2014/main" id="{0CC0383B-C2C1-534B-B800-23CA12625DA7}"/>
                  </a:ext>
                </a:extLst>
              </p:cNvPr>
              <p:cNvSpPr/>
              <p:nvPr/>
            </p:nvSpPr>
            <p:spPr>
              <a:xfrm>
                <a:off x="4949809" y="682347"/>
                <a:ext cx="106209" cy="177014"/>
              </a:xfrm>
              <a:custGeom>
                <a:avLst/>
                <a:gdLst>
                  <a:gd name="connsiteX0" fmla="*/ 101381 w 106208"/>
                  <a:gd name="connsiteY0" fmla="*/ 4828 h 177014"/>
                  <a:gd name="connsiteX1" fmla="*/ 95266 w 106208"/>
                  <a:gd name="connsiteY1" fmla="*/ 84645 h 177014"/>
                  <a:gd name="connsiteX2" fmla="*/ 4828 w 106208"/>
                  <a:gd name="connsiteY2" fmla="*/ 175083 h 177014"/>
                  <a:gd name="connsiteX3" fmla="*/ 4828 w 106208"/>
                  <a:gd name="connsiteY3" fmla="*/ 69840 h 177014"/>
                </a:gdLst>
                <a:ahLst/>
                <a:cxnLst>
                  <a:cxn ang="0">
                    <a:pos x="connsiteX0" y="connsiteY0"/>
                  </a:cxn>
                  <a:cxn ang="0">
                    <a:pos x="connsiteX1" y="connsiteY1"/>
                  </a:cxn>
                  <a:cxn ang="0">
                    <a:pos x="connsiteX2" y="connsiteY2"/>
                  </a:cxn>
                  <a:cxn ang="0">
                    <a:pos x="connsiteX3" y="connsiteY3"/>
                  </a:cxn>
                </a:cxnLst>
                <a:rect l="l" t="t" r="r" b="b"/>
                <a:pathLst>
                  <a:path w="106208" h="177014">
                    <a:moveTo>
                      <a:pt x="101381" y="4828"/>
                    </a:moveTo>
                    <a:cubicBezTo>
                      <a:pt x="104599" y="8046"/>
                      <a:pt x="95266" y="84645"/>
                      <a:pt x="95266" y="84645"/>
                    </a:cubicBezTo>
                    <a:lnTo>
                      <a:pt x="4828" y="175083"/>
                    </a:lnTo>
                    <a:lnTo>
                      <a:pt x="4828" y="69840"/>
                    </a:lnTo>
                  </a:path>
                </a:pathLst>
              </a:custGeom>
              <a:noFill/>
              <a:ln w="15875" cap="flat">
                <a:solidFill>
                  <a:schemeClr val="tx1"/>
                </a:solidFill>
                <a:prstDash val="solid"/>
                <a:round/>
              </a:ln>
            </p:spPr>
            <p:txBody>
              <a:bodyPr rtlCol="0" anchor="ctr"/>
              <a:lstStyle/>
              <a:p>
                <a:pPr defTabSz="731504">
                  <a:defRPr/>
                </a:pPr>
                <a:endParaRPr lang="en-US" sz="1800" dirty="0">
                  <a:solidFill>
                    <a:srgbClr val="FFFFFF"/>
                  </a:solidFill>
                </a:endParaRPr>
              </a:p>
            </p:txBody>
          </p:sp>
          <p:sp>
            <p:nvSpPr>
              <p:cNvPr id="122" name="Freeform: Shape 1011">
                <a:extLst>
                  <a:ext uri="{FF2B5EF4-FFF2-40B4-BE49-F238E27FC236}">
                    <a16:creationId xmlns:a16="http://schemas.microsoft.com/office/drawing/2014/main" id="{6697D26C-ABD2-B949-B3B9-11B58FA956BA}"/>
                  </a:ext>
                </a:extLst>
              </p:cNvPr>
              <p:cNvSpPr/>
              <p:nvPr/>
            </p:nvSpPr>
            <p:spPr>
              <a:xfrm>
                <a:off x="4739323" y="728049"/>
                <a:ext cx="74024" cy="74024"/>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123" name="Freeform: Shape 1012">
                <a:extLst>
                  <a:ext uri="{FF2B5EF4-FFF2-40B4-BE49-F238E27FC236}">
                    <a16:creationId xmlns:a16="http://schemas.microsoft.com/office/drawing/2014/main" id="{5DE9A365-9373-A14C-A9E8-C74408BC7CED}"/>
                  </a:ext>
                </a:extLst>
              </p:cNvPr>
              <p:cNvSpPr/>
              <p:nvPr/>
            </p:nvSpPr>
            <p:spPr>
              <a:xfrm>
                <a:off x="4795967" y="784694"/>
                <a:ext cx="74024" cy="74024"/>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124" name="Freeform: Shape 1013">
                <a:extLst>
                  <a:ext uri="{FF2B5EF4-FFF2-40B4-BE49-F238E27FC236}">
                    <a16:creationId xmlns:a16="http://schemas.microsoft.com/office/drawing/2014/main" id="{916DF60B-CF6E-7547-833B-405C64BF13AC}"/>
                  </a:ext>
                </a:extLst>
              </p:cNvPr>
              <p:cNvSpPr/>
              <p:nvPr/>
            </p:nvSpPr>
            <p:spPr>
              <a:xfrm>
                <a:off x="4739323" y="767314"/>
                <a:ext cx="90116" cy="90116"/>
              </a:xfrm>
              <a:custGeom>
                <a:avLst/>
                <a:gdLst>
                  <a:gd name="connsiteX0" fmla="*/ 86576 w 90116"/>
                  <a:gd name="connsiteY0" fmla="*/ 4828 h 90116"/>
                  <a:gd name="connsiteX1" fmla="*/ 4828 w 90116"/>
                  <a:gd name="connsiteY1" fmla="*/ 86576 h 90116"/>
                </a:gdLst>
                <a:ahLst/>
                <a:cxnLst>
                  <a:cxn ang="0">
                    <a:pos x="connsiteX0" y="connsiteY0"/>
                  </a:cxn>
                  <a:cxn ang="0">
                    <a:pos x="connsiteX1" y="connsiteY1"/>
                  </a:cxn>
                </a:cxnLst>
                <a:rect l="l" t="t" r="r" b="b"/>
                <a:pathLst>
                  <a:path w="90116" h="90116">
                    <a:moveTo>
                      <a:pt x="86576" y="4828"/>
                    </a:moveTo>
                    <a:lnTo>
                      <a:pt x="4828" y="86576"/>
                    </a:lnTo>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sp>
            <p:nvSpPr>
              <p:cNvPr id="125" name="Freeform: Shape 1014">
                <a:extLst>
                  <a:ext uri="{FF2B5EF4-FFF2-40B4-BE49-F238E27FC236}">
                    <a16:creationId xmlns:a16="http://schemas.microsoft.com/office/drawing/2014/main" id="{C6BC6C47-70D7-2347-B8D7-3D3592C47101}"/>
                  </a:ext>
                </a:extLst>
              </p:cNvPr>
              <p:cNvSpPr/>
              <p:nvPr/>
            </p:nvSpPr>
            <p:spPr>
              <a:xfrm>
                <a:off x="4988994" y="477252"/>
                <a:ext cx="128738" cy="128738"/>
              </a:xfrm>
              <a:custGeom>
                <a:avLst/>
                <a:gdLst>
                  <a:gd name="connsiteX0" fmla="*/ 66702 w 128737"/>
                  <a:gd name="connsiteY0" fmla="*/ 118841 h 128737"/>
                  <a:gd name="connsiteX1" fmla="*/ 10379 w 128737"/>
                  <a:gd name="connsiteY1" fmla="*/ 62518 h 128737"/>
                  <a:gd name="connsiteX2" fmla="*/ 10379 w 128737"/>
                  <a:gd name="connsiteY2" fmla="*/ 36127 h 128737"/>
                  <a:gd name="connsiteX3" fmla="*/ 36127 w 128737"/>
                  <a:gd name="connsiteY3" fmla="*/ 10379 h 128737"/>
                  <a:gd name="connsiteX4" fmla="*/ 62518 w 128737"/>
                  <a:gd name="connsiteY4" fmla="*/ 10379 h 128737"/>
                  <a:gd name="connsiteX5" fmla="*/ 119163 w 128737"/>
                  <a:gd name="connsiteY5" fmla="*/ 67024 h 128737"/>
                  <a:gd name="connsiteX6" fmla="*/ 119163 w 128737"/>
                  <a:gd name="connsiteY6" fmla="*/ 93415 h 128737"/>
                  <a:gd name="connsiteX7" fmla="*/ 93415 w 128737"/>
                  <a:gd name="connsiteY7" fmla="*/ 119163 h 128737"/>
                  <a:gd name="connsiteX8" fmla="*/ 66702 w 128737"/>
                  <a:gd name="connsiteY8" fmla="*/ 118841 h 1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7" h="128737">
                    <a:moveTo>
                      <a:pt x="66702" y="118841"/>
                    </a:moveTo>
                    <a:lnTo>
                      <a:pt x="10379" y="62518"/>
                    </a:lnTo>
                    <a:cubicBezTo>
                      <a:pt x="2977" y="55116"/>
                      <a:pt x="2977" y="43529"/>
                      <a:pt x="10379" y="36127"/>
                    </a:cubicBezTo>
                    <a:lnTo>
                      <a:pt x="36127" y="10379"/>
                    </a:lnTo>
                    <a:cubicBezTo>
                      <a:pt x="43529" y="2977"/>
                      <a:pt x="55116" y="2977"/>
                      <a:pt x="62518" y="10379"/>
                    </a:cubicBezTo>
                    <a:lnTo>
                      <a:pt x="119163" y="67024"/>
                    </a:lnTo>
                    <a:cubicBezTo>
                      <a:pt x="126565" y="74427"/>
                      <a:pt x="126565" y="86013"/>
                      <a:pt x="119163" y="93415"/>
                    </a:cubicBezTo>
                    <a:lnTo>
                      <a:pt x="93415" y="119163"/>
                    </a:lnTo>
                    <a:cubicBezTo>
                      <a:pt x="86013" y="126243"/>
                      <a:pt x="74105" y="126243"/>
                      <a:pt x="66702" y="118841"/>
                    </a:cubicBezTo>
                    <a:close/>
                  </a:path>
                </a:pathLst>
              </a:custGeom>
              <a:noFill/>
              <a:ln w="15875" cap="flat">
                <a:solidFill>
                  <a:srgbClr val="A166FF"/>
                </a:solidFill>
                <a:prstDash val="solid"/>
                <a:round/>
              </a:ln>
            </p:spPr>
            <p:txBody>
              <a:bodyPr rtlCol="0" anchor="ctr"/>
              <a:lstStyle/>
              <a:p>
                <a:pPr defTabSz="731504">
                  <a:defRPr/>
                </a:pPr>
                <a:endParaRPr lang="en-US" sz="1800" dirty="0">
                  <a:solidFill>
                    <a:srgbClr val="FFFFFF"/>
                  </a:solidFill>
                </a:endParaRPr>
              </a:p>
            </p:txBody>
          </p:sp>
        </p:grpSp>
      </p:grpSp>
      <p:grpSp>
        <p:nvGrpSpPr>
          <p:cNvPr id="126" name="Group 125">
            <a:extLst>
              <a:ext uri="{FF2B5EF4-FFF2-40B4-BE49-F238E27FC236}">
                <a16:creationId xmlns:a16="http://schemas.microsoft.com/office/drawing/2014/main" id="{7B8B32EA-53A2-AE4B-B6B5-81889BE56B0B}"/>
              </a:ext>
            </a:extLst>
          </p:cNvPr>
          <p:cNvGrpSpPr/>
          <p:nvPr/>
        </p:nvGrpSpPr>
        <p:grpSpPr>
          <a:xfrm>
            <a:off x="4213610" y="4165495"/>
            <a:ext cx="1294300" cy="1896829"/>
            <a:chOff x="3510167" y="3429000"/>
            <a:chExt cx="1078583" cy="1580691"/>
          </a:xfrm>
        </p:grpSpPr>
        <p:sp>
          <p:nvSpPr>
            <p:cNvPr id="127" name="Rounded Rectangle 126">
              <a:extLst>
                <a:ext uri="{FF2B5EF4-FFF2-40B4-BE49-F238E27FC236}">
                  <a16:creationId xmlns:a16="http://schemas.microsoft.com/office/drawing/2014/main" id="{82473762-A4E2-6F43-A883-7DD4A55D0197}"/>
                </a:ext>
              </a:extLst>
            </p:cNvPr>
            <p:cNvSpPr/>
            <p:nvPr/>
          </p:nvSpPr>
          <p:spPr>
            <a:xfrm>
              <a:off x="3510167" y="3429000"/>
              <a:ext cx="1078583" cy="1264743"/>
            </a:xfrm>
            <a:prstGeom prst="roundRect">
              <a:avLst/>
            </a:prstGeom>
            <a:noFill/>
            <a:ln w="9525" cap="flat" cmpd="sng" algn="ctr">
              <a:solidFill>
                <a:srgbClr val="E56CE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128" name="TextBox 127">
              <a:extLst>
                <a:ext uri="{FF2B5EF4-FFF2-40B4-BE49-F238E27FC236}">
                  <a16:creationId xmlns:a16="http://schemas.microsoft.com/office/drawing/2014/main" id="{4308BD17-9E23-BB48-9853-7B531F84864B}"/>
                </a:ext>
              </a:extLst>
            </p:cNvPr>
            <p:cNvSpPr txBox="1"/>
            <p:nvPr/>
          </p:nvSpPr>
          <p:spPr>
            <a:xfrm>
              <a:off x="3792000" y="4778858"/>
              <a:ext cx="554639" cy="230833"/>
            </a:xfrm>
            <a:prstGeom prst="rect">
              <a:avLst/>
            </a:prstGeom>
            <a:noFill/>
            <a:ln>
              <a:noFill/>
            </a:ln>
          </p:spPr>
          <p:txBody>
            <a:bodyPr wrap="none" rtlCol="0">
              <a:spAutoFit/>
            </a:bodyPr>
            <a:lstStyle/>
            <a:p>
              <a:r>
                <a:rPr lang="en-US" sz="1200" dirty="0"/>
                <a:t>People</a:t>
              </a:r>
            </a:p>
          </p:txBody>
        </p:sp>
      </p:grpSp>
      <p:grpSp>
        <p:nvGrpSpPr>
          <p:cNvPr id="129" name="Group 128">
            <a:extLst>
              <a:ext uri="{FF2B5EF4-FFF2-40B4-BE49-F238E27FC236}">
                <a16:creationId xmlns:a16="http://schemas.microsoft.com/office/drawing/2014/main" id="{86B3EC1B-A9D5-CB45-89D0-EB350AE746CE}"/>
              </a:ext>
            </a:extLst>
          </p:cNvPr>
          <p:cNvGrpSpPr/>
          <p:nvPr/>
        </p:nvGrpSpPr>
        <p:grpSpPr>
          <a:xfrm>
            <a:off x="5668310" y="4164636"/>
            <a:ext cx="3949361" cy="1916738"/>
            <a:chOff x="4722418" y="3428285"/>
            <a:chExt cx="3291134" cy="1597282"/>
          </a:xfrm>
        </p:grpSpPr>
        <p:sp>
          <p:nvSpPr>
            <p:cNvPr id="130" name="Rounded Rectangle 129">
              <a:extLst>
                <a:ext uri="{FF2B5EF4-FFF2-40B4-BE49-F238E27FC236}">
                  <a16:creationId xmlns:a16="http://schemas.microsoft.com/office/drawing/2014/main" id="{B724908C-634D-4D42-831C-AE4D74435950}"/>
                </a:ext>
              </a:extLst>
            </p:cNvPr>
            <p:cNvSpPr/>
            <p:nvPr/>
          </p:nvSpPr>
          <p:spPr>
            <a:xfrm>
              <a:off x="4722418" y="3428285"/>
              <a:ext cx="3291134" cy="1264743"/>
            </a:xfrm>
            <a:prstGeom prst="roundRect">
              <a:avLst/>
            </a:prstGeom>
            <a:noFill/>
            <a:ln w="9525" cap="flat" cmpd="sng" algn="ctr">
              <a:solidFill>
                <a:srgbClr val="E56CE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131" name="TextBox 130">
              <a:extLst>
                <a:ext uri="{FF2B5EF4-FFF2-40B4-BE49-F238E27FC236}">
                  <a16:creationId xmlns:a16="http://schemas.microsoft.com/office/drawing/2014/main" id="{91D55E8A-DBA7-4943-BD0F-3F03B75536F6}"/>
                </a:ext>
              </a:extLst>
            </p:cNvPr>
            <p:cNvSpPr txBox="1"/>
            <p:nvPr/>
          </p:nvSpPr>
          <p:spPr>
            <a:xfrm>
              <a:off x="6147124" y="4794734"/>
              <a:ext cx="670857" cy="230833"/>
            </a:xfrm>
            <a:prstGeom prst="rect">
              <a:avLst/>
            </a:prstGeom>
            <a:noFill/>
            <a:ln>
              <a:noFill/>
            </a:ln>
          </p:spPr>
          <p:txBody>
            <a:bodyPr wrap="none" rtlCol="0">
              <a:spAutoFit/>
            </a:bodyPr>
            <a:lstStyle/>
            <a:p>
              <a:r>
                <a:rPr lang="en-US" sz="1200" dirty="0"/>
                <a:t>Platform</a:t>
              </a:r>
            </a:p>
          </p:txBody>
        </p:sp>
      </p:grpSp>
      <p:grpSp>
        <p:nvGrpSpPr>
          <p:cNvPr id="132" name="Group 131">
            <a:extLst>
              <a:ext uri="{FF2B5EF4-FFF2-40B4-BE49-F238E27FC236}">
                <a16:creationId xmlns:a16="http://schemas.microsoft.com/office/drawing/2014/main" id="{B7A562A8-CC04-124A-8276-5BA31422F1F7}"/>
              </a:ext>
            </a:extLst>
          </p:cNvPr>
          <p:cNvGrpSpPr/>
          <p:nvPr/>
        </p:nvGrpSpPr>
        <p:grpSpPr>
          <a:xfrm>
            <a:off x="4195830" y="2204631"/>
            <a:ext cx="4062058" cy="1845500"/>
            <a:chOff x="3495351" y="1794947"/>
            <a:chExt cx="3385048" cy="1537917"/>
          </a:xfrm>
        </p:grpSpPr>
        <p:sp>
          <p:nvSpPr>
            <p:cNvPr id="133" name="Rounded Rectangle 132">
              <a:extLst>
                <a:ext uri="{FF2B5EF4-FFF2-40B4-BE49-F238E27FC236}">
                  <a16:creationId xmlns:a16="http://schemas.microsoft.com/office/drawing/2014/main" id="{159A1D9E-0027-634E-B735-BAAE3EC5A5F9}"/>
                </a:ext>
              </a:extLst>
            </p:cNvPr>
            <p:cNvSpPr/>
            <p:nvPr/>
          </p:nvSpPr>
          <p:spPr>
            <a:xfrm>
              <a:off x="3495351" y="2025780"/>
              <a:ext cx="3385048" cy="1307084"/>
            </a:xfrm>
            <a:prstGeom prst="roundRect">
              <a:avLst/>
            </a:prstGeom>
            <a:noFill/>
            <a:ln w="9525" cap="flat" cmpd="sng" algn="ctr">
              <a:solidFill>
                <a:srgbClr val="E56CE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134" name="TextBox 133">
              <a:extLst>
                <a:ext uri="{FF2B5EF4-FFF2-40B4-BE49-F238E27FC236}">
                  <a16:creationId xmlns:a16="http://schemas.microsoft.com/office/drawing/2014/main" id="{C62893DF-81DA-2B40-93DC-547809659B9A}"/>
                </a:ext>
              </a:extLst>
            </p:cNvPr>
            <p:cNvSpPr txBox="1"/>
            <p:nvPr/>
          </p:nvSpPr>
          <p:spPr>
            <a:xfrm>
              <a:off x="4760750" y="1794947"/>
              <a:ext cx="669521" cy="230833"/>
            </a:xfrm>
            <a:prstGeom prst="rect">
              <a:avLst/>
            </a:prstGeom>
            <a:noFill/>
            <a:ln>
              <a:noFill/>
            </a:ln>
          </p:spPr>
          <p:txBody>
            <a:bodyPr wrap="none" rtlCol="0">
              <a:spAutoFit/>
            </a:bodyPr>
            <a:lstStyle/>
            <a:p>
              <a:r>
                <a:rPr lang="en-US" sz="1200" dirty="0"/>
                <a:t>Portfolio</a:t>
              </a:r>
            </a:p>
          </p:txBody>
        </p:sp>
      </p:grpSp>
      <p:grpSp>
        <p:nvGrpSpPr>
          <p:cNvPr id="135" name="Group 134">
            <a:extLst>
              <a:ext uri="{FF2B5EF4-FFF2-40B4-BE49-F238E27FC236}">
                <a16:creationId xmlns:a16="http://schemas.microsoft.com/office/drawing/2014/main" id="{B1316F66-C42B-584A-86C4-0077E83322AA}"/>
              </a:ext>
            </a:extLst>
          </p:cNvPr>
          <p:cNvGrpSpPr/>
          <p:nvPr/>
        </p:nvGrpSpPr>
        <p:grpSpPr>
          <a:xfrm>
            <a:off x="8397154" y="2160083"/>
            <a:ext cx="1244610" cy="1890048"/>
            <a:chOff x="6996455" y="1757824"/>
            <a:chExt cx="1037175" cy="1575040"/>
          </a:xfrm>
        </p:grpSpPr>
        <p:sp>
          <p:nvSpPr>
            <p:cNvPr id="136" name="Rounded Rectangle 135">
              <a:extLst>
                <a:ext uri="{FF2B5EF4-FFF2-40B4-BE49-F238E27FC236}">
                  <a16:creationId xmlns:a16="http://schemas.microsoft.com/office/drawing/2014/main" id="{3B6714A6-3519-FE4B-8BE4-3919E7A2D5A1}"/>
                </a:ext>
              </a:extLst>
            </p:cNvPr>
            <p:cNvSpPr/>
            <p:nvPr/>
          </p:nvSpPr>
          <p:spPr>
            <a:xfrm>
              <a:off x="6996455" y="2025781"/>
              <a:ext cx="1037175" cy="1307083"/>
            </a:xfrm>
            <a:prstGeom prst="roundRect">
              <a:avLst/>
            </a:prstGeom>
            <a:noFill/>
            <a:ln w="9525" cap="flat" cmpd="sng" algn="ctr">
              <a:solidFill>
                <a:srgbClr val="E56CE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sz="2520" dirty="0"/>
            </a:p>
          </p:txBody>
        </p:sp>
        <p:sp>
          <p:nvSpPr>
            <p:cNvPr id="137" name="TextBox 136">
              <a:extLst>
                <a:ext uri="{FF2B5EF4-FFF2-40B4-BE49-F238E27FC236}">
                  <a16:creationId xmlns:a16="http://schemas.microsoft.com/office/drawing/2014/main" id="{C91614AB-A9D5-B14D-8397-8ED89202A025}"/>
                </a:ext>
              </a:extLst>
            </p:cNvPr>
            <p:cNvSpPr txBox="1"/>
            <p:nvPr/>
          </p:nvSpPr>
          <p:spPr>
            <a:xfrm>
              <a:off x="7173194" y="1757824"/>
              <a:ext cx="602729" cy="230833"/>
            </a:xfrm>
            <a:prstGeom prst="rect">
              <a:avLst/>
            </a:prstGeom>
            <a:noFill/>
            <a:ln>
              <a:noFill/>
            </a:ln>
          </p:spPr>
          <p:txBody>
            <a:bodyPr wrap="none" rtlCol="0">
              <a:spAutoFit/>
            </a:bodyPr>
            <a:lstStyle/>
            <a:p>
              <a:r>
                <a:rPr lang="en-US" sz="1200" dirty="0"/>
                <a:t>Migrate</a:t>
              </a:r>
            </a:p>
          </p:txBody>
        </p:sp>
      </p:grpSp>
      <p:sp>
        <p:nvSpPr>
          <p:cNvPr id="138" name="Chevron 5">
            <a:extLst>
              <a:ext uri="{FF2B5EF4-FFF2-40B4-BE49-F238E27FC236}">
                <a16:creationId xmlns:a16="http://schemas.microsoft.com/office/drawing/2014/main" id="{4B315564-5125-D54F-B02A-AED7F340D4A0}"/>
              </a:ext>
            </a:extLst>
          </p:cNvPr>
          <p:cNvSpPr/>
          <p:nvPr/>
        </p:nvSpPr>
        <p:spPr>
          <a:xfrm>
            <a:off x="3882593" y="1630299"/>
            <a:ext cx="6101804" cy="562890"/>
          </a:xfrm>
          <a:prstGeom prst="chevron">
            <a:avLst/>
          </a:prstGeom>
          <a:solidFill>
            <a:srgbClr val="E56CE2"/>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none" rtlCol="0" anchor="ctr"/>
          <a:lstStyle/>
          <a:p>
            <a:pPr algn="ctr" defTabSz="1173456">
              <a:lnSpc>
                <a:spcPct val="90000"/>
              </a:lnSpc>
              <a:spcAft>
                <a:spcPct val="35000"/>
              </a:spcAft>
              <a:defRPr/>
            </a:pPr>
            <a:r>
              <a:rPr lang="en-US" sz="2600" b="1" dirty="0">
                <a:solidFill>
                  <a:schemeClr val="bg1"/>
                </a:solidFill>
                <a:latin typeface="+mj-lt"/>
                <a:ea typeface="Amazon Ember" charset="0"/>
                <a:cs typeface="Amazon Ember" charset="0"/>
              </a:rPr>
              <a:t>Mobilize</a:t>
            </a:r>
          </a:p>
        </p:txBody>
      </p:sp>
      <p:cxnSp>
        <p:nvCxnSpPr>
          <p:cNvPr id="142" name="Straight Connector 141">
            <a:extLst>
              <a:ext uri="{FF2B5EF4-FFF2-40B4-BE49-F238E27FC236}">
                <a16:creationId xmlns:a16="http://schemas.microsoft.com/office/drawing/2014/main" id="{DEA6EE3D-6C51-8344-BA9B-EF2C6C8FFD56}"/>
              </a:ext>
            </a:extLst>
          </p:cNvPr>
          <p:cNvCxnSpPr>
            <a:cxnSpLocks/>
          </p:cNvCxnSpPr>
          <p:nvPr/>
        </p:nvCxnSpPr>
        <p:spPr>
          <a:xfrm>
            <a:off x="10145642" y="1864628"/>
            <a:ext cx="4144999" cy="0"/>
          </a:xfrm>
          <a:prstGeom prst="line">
            <a:avLst/>
          </a:prstGeom>
          <a:ln w="28575">
            <a:solidFill>
              <a:srgbClr val="E56CE2"/>
            </a:solidFill>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E359345F-DD5C-454A-AF7C-F4F4287CE389}"/>
              </a:ext>
            </a:extLst>
          </p:cNvPr>
          <p:cNvSpPr/>
          <p:nvPr/>
        </p:nvSpPr>
        <p:spPr>
          <a:xfrm>
            <a:off x="0" y="6771322"/>
            <a:ext cx="14630400" cy="57835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highlight>
                <a:srgbClr val="FF9900"/>
              </a:highlight>
            </a:endParaRPr>
          </a:p>
        </p:txBody>
      </p:sp>
      <p:sp>
        <p:nvSpPr>
          <p:cNvPr id="140" name="Rectangle 139">
            <a:extLst>
              <a:ext uri="{FF2B5EF4-FFF2-40B4-BE49-F238E27FC236}">
                <a16:creationId xmlns:a16="http://schemas.microsoft.com/office/drawing/2014/main" id="{B0410036-23B8-0E4B-B528-C7961E84DEDB}"/>
              </a:ext>
            </a:extLst>
          </p:cNvPr>
          <p:cNvSpPr/>
          <p:nvPr/>
        </p:nvSpPr>
        <p:spPr>
          <a:xfrm>
            <a:off x="0" y="6859342"/>
            <a:ext cx="14630399" cy="461665"/>
          </a:xfrm>
          <a:prstGeom prst="rect">
            <a:avLst/>
          </a:prstGeom>
        </p:spPr>
        <p:txBody>
          <a:bodyPr wrap="square">
            <a:spAutoFit/>
          </a:bodyPr>
          <a:lstStyle/>
          <a:p>
            <a:pPr algn="ctr">
              <a:spcAft>
                <a:spcPts val="800"/>
              </a:spcAft>
            </a:pPr>
            <a:r>
              <a:rPr lang="en-US" sz="2400" b="1" dirty="0">
                <a:solidFill>
                  <a:schemeClr val="bg1"/>
                </a:solidFill>
                <a:latin typeface="Amazon Ember" panose="02000000000000000000" pitchFamily="2" charset="0"/>
                <a:ea typeface="Amazon Ember" panose="02000000000000000000" pitchFamily="2" charset="0"/>
              </a:rPr>
              <a:t>Enable readiness for a mass migration, modernization or greenfield</a:t>
            </a:r>
          </a:p>
        </p:txBody>
      </p:sp>
      <p:sp>
        <p:nvSpPr>
          <p:cNvPr id="141" name="TextBox 140">
            <a:extLst>
              <a:ext uri="{FF2B5EF4-FFF2-40B4-BE49-F238E27FC236}">
                <a16:creationId xmlns:a16="http://schemas.microsoft.com/office/drawing/2014/main" id="{6AD75EC7-6D45-F04D-AE7F-2988E57A0E85}"/>
              </a:ext>
            </a:extLst>
          </p:cNvPr>
          <p:cNvSpPr txBox="1"/>
          <p:nvPr/>
        </p:nvSpPr>
        <p:spPr>
          <a:xfrm>
            <a:off x="10082426" y="1503213"/>
            <a:ext cx="4567856" cy="5180905"/>
          </a:xfrm>
          <a:prstGeom prst="rect">
            <a:avLst/>
          </a:prstGeom>
          <a:noFill/>
        </p:spPr>
        <p:txBody>
          <a:bodyPr wrap="square" rtlCol="0">
            <a:spAutoFit/>
          </a:bodyPr>
          <a:lstStyle/>
          <a:p>
            <a:pPr>
              <a:spcAft>
                <a:spcPts val="1600"/>
              </a:spcAft>
            </a:pPr>
            <a:r>
              <a:rPr lang="en-US" sz="2000" b="1" dirty="0">
                <a:latin typeface="Amazon Ember" panose="02000000000000000000" pitchFamily="2" charset="0"/>
                <a:ea typeface="Amazon Ember" panose="02000000000000000000" pitchFamily="2" charset="0"/>
              </a:rPr>
              <a:t>Outcomes</a:t>
            </a:r>
          </a:p>
          <a:p>
            <a:pPr>
              <a:spcAft>
                <a:spcPts val="800"/>
              </a:spcAft>
            </a:pPr>
            <a:r>
              <a:rPr lang="en-US" sz="1600" b="1" dirty="0">
                <a:ea typeface="Amazon Ember" panose="02000000000000000000" pitchFamily="2" charset="0"/>
              </a:rPr>
              <a:t>Platform</a:t>
            </a:r>
            <a:endParaRPr lang="en-US" sz="1600" dirty="0">
              <a:ea typeface="Amazon Ember" panose="02000000000000000000" pitchFamily="2" charset="0"/>
            </a:endParaRPr>
          </a:p>
          <a:p>
            <a:pPr marL="285750" indent="-285750">
              <a:spcAft>
                <a:spcPts val="800"/>
              </a:spcAft>
              <a:buFont typeface="Arial" panose="020B0604020202020204" pitchFamily="34" charset="0"/>
              <a:buChar char="•"/>
            </a:pPr>
            <a:r>
              <a:rPr lang="en-US" sz="1500" dirty="0">
                <a:ea typeface="Amazon Ember" panose="02000000000000000000" pitchFamily="2" charset="0"/>
              </a:rPr>
              <a:t>Landing Zone with security controls</a:t>
            </a:r>
          </a:p>
          <a:p>
            <a:pPr marL="285750" indent="-285750">
              <a:spcAft>
                <a:spcPts val="800"/>
              </a:spcAft>
              <a:buFont typeface="Arial" panose="020B0604020202020204" pitchFamily="34" charset="0"/>
              <a:buChar char="•"/>
            </a:pPr>
            <a:r>
              <a:rPr lang="en-US" sz="1500" dirty="0">
                <a:latin typeface="Amazon Ember" panose="02000000000000000000" pitchFamily="2" charset="0"/>
                <a:ea typeface="Amazon Ember" panose="02000000000000000000" pitchFamily="2" charset="0"/>
              </a:rPr>
              <a:t>Adapted operational procedures  </a:t>
            </a:r>
          </a:p>
          <a:p>
            <a:pPr>
              <a:lnSpc>
                <a:spcPct val="150000"/>
              </a:lnSpc>
              <a:spcAft>
                <a:spcPts val="800"/>
              </a:spcAft>
            </a:pPr>
            <a:r>
              <a:rPr lang="en-US" sz="1600" b="1" dirty="0">
                <a:ea typeface="Amazon Ember" panose="02000000000000000000" pitchFamily="2" charset="0"/>
              </a:rPr>
              <a:t>Portfolio</a:t>
            </a:r>
            <a:endParaRPr lang="en-US" sz="1600" dirty="0">
              <a:ea typeface="Amazon Ember" panose="02000000000000000000" pitchFamily="2" charset="0"/>
            </a:endParaRPr>
          </a:p>
          <a:p>
            <a:pPr marL="285750" indent="-285750">
              <a:spcAft>
                <a:spcPts val="800"/>
              </a:spcAft>
              <a:buFont typeface="Arial" panose="020B0604020202020204" pitchFamily="34" charset="0"/>
              <a:buChar char="•"/>
            </a:pPr>
            <a:r>
              <a:rPr lang="en-US" sz="1500" dirty="0">
                <a:ea typeface="Amazon Ember" panose="02000000000000000000" pitchFamily="2" charset="0"/>
              </a:rPr>
              <a:t>7R disposition &amp; decision criteria</a:t>
            </a:r>
          </a:p>
          <a:p>
            <a:pPr marL="285750" indent="-285750">
              <a:spcAft>
                <a:spcPts val="800"/>
              </a:spcAft>
              <a:buFont typeface="Arial" panose="020B0604020202020204" pitchFamily="34" charset="0"/>
              <a:buChar char="•"/>
            </a:pPr>
            <a:r>
              <a:rPr lang="en-US" sz="1500" dirty="0">
                <a:ea typeface="Amazon Ember" panose="02000000000000000000" pitchFamily="2" charset="0"/>
              </a:rPr>
              <a:t>App discovery &amp; migration Wave Plan</a:t>
            </a:r>
            <a:endParaRPr lang="en-US" sz="1600" b="1" dirty="0">
              <a:ea typeface="Amazon Ember" panose="02000000000000000000" pitchFamily="2" charset="0"/>
            </a:endParaRPr>
          </a:p>
          <a:p>
            <a:pPr>
              <a:lnSpc>
                <a:spcPct val="150000"/>
              </a:lnSpc>
              <a:spcAft>
                <a:spcPts val="800"/>
              </a:spcAft>
            </a:pPr>
            <a:r>
              <a:rPr lang="en-US" sz="1600" b="1" dirty="0">
                <a:ea typeface="Amazon Ember" panose="02000000000000000000" pitchFamily="2" charset="0"/>
              </a:rPr>
              <a:t>Migration</a:t>
            </a:r>
            <a:endParaRPr lang="en-US" sz="1600" dirty="0">
              <a:ea typeface="Amazon Ember" panose="02000000000000000000" pitchFamily="2" charset="0"/>
            </a:endParaRPr>
          </a:p>
          <a:p>
            <a:pPr marL="285750" indent="-285750">
              <a:spcAft>
                <a:spcPts val="800"/>
              </a:spcAft>
              <a:buFont typeface="Arial" panose="020B0604020202020204" pitchFamily="34" charset="0"/>
              <a:buChar char="•"/>
            </a:pPr>
            <a:r>
              <a:rPr lang="en-US" sz="1500" dirty="0">
                <a:ea typeface="Amazon Ember" panose="02000000000000000000" pitchFamily="2" charset="0"/>
              </a:rPr>
              <a:t>3-5 applications migrated to AWS</a:t>
            </a:r>
          </a:p>
          <a:p>
            <a:pPr marL="285750" indent="-285750">
              <a:spcAft>
                <a:spcPts val="800"/>
              </a:spcAft>
              <a:buFont typeface="Arial" panose="020B0604020202020204" pitchFamily="34" charset="0"/>
              <a:buChar char="•"/>
            </a:pPr>
            <a:r>
              <a:rPr lang="en-US" sz="1500" dirty="0">
                <a:ea typeface="Amazon Ember" panose="02000000000000000000" pitchFamily="2" charset="0"/>
              </a:rPr>
              <a:t>Hands-on migration experience &amp; </a:t>
            </a:r>
            <a:r>
              <a:rPr lang="en-US" sz="1500" dirty="0"/>
              <a:t>patterns for use to scale migrations </a:t>
            </a:r>
          </a:p>
          <a:p>
            <a:pPr>
              <a:lnSpc>
                <a:spcPct val="150000"/>
              </a:lnSpc>
              <a:spcAft>
                <a:spcPts val="800"/>
              </a:spcAft>
            </a:pPr>
            <a:r>
              <a:rPr lang="en-US" sz="1600" b="1" dirty="0">
                <a:ea typeface="Amazon Ember" panose="02000000000000000000" pitchFamily="2" charset="0"/>
              </a:rPr>
              <a:t>People</a:t>
            </a:r>
            <a:endParaRPr lang="en-US" sz="1600" dirty="0">
              <a:ea typeface="Amazon Ember" panose="02000000000000000000" pitchFamily="2" charset="0"/>
            </a:endParaRPr>
          </a:p>
          <a:p>
            <a:pPr marL="285750" indent="-285750">
              <a:spcAft>
                <a:spcPts val="800"/>
              </a:spcAft>
              <a:buFont typeface="Arial" panose="020B0604020202020204" pitchFamily="34" charset="0"/>
              <a:buChar char="•"/>
            </a:pPr>
            <a:r>
              <a:rPr lang="en-US" sz="1500" dirty="0">
                <a:ea typeface="Amazon Ember" panose="02000000000000000000" pitchFamily="2" charset="0"/>
              </a:rPr>
              <a:t>CCoE structure, skills, &amp; staffing </a:t>
            </a:r>
            <a:endParaRPr lang="en-US" sz="1500" dirty="0"/>
          </a:p>
          <a:p>
            <a:pPr marL="285750" indent="-285750">
              <a:spcAft>
                <a:spcPts val="800"/>
              </a:spcAft>
              <a:buFont typeface="Arial" panose="020B0604020202020204" pitchFamily="34" charset="0"/>
              <a:buChar char="•"/>
            </a:pPr>
            <a:r>
              <a:rPr lang="en-US" sz="1500" dirty="0"/>
              <a:t>Organization change management plan(s)</a:t>
            </a:r>
            <a:endParaRPr lang="en-US" sz="1500" dirty="0">
              <a:ea typeface="Amazon Ember" panose="02000000000000000000" pitchFamily="2" charset="0"/>
            </a:endParaRPr>
          </a:p>
        </p:txBody>
      </p:sp>
      <p:sp>
        <p:nvSpPr>
          <p:cNvPr id="143" name="TextBox 142">
            <a:extLst>
              <a:ext uri="{FF2B5EF4-FFF2-40B4-BE49-F238E27FC236}">
                <a16:creationId xmlns:a16="http://schemas.microsoft.com/office/drawing/2014/main" id="{E8A61AE4-08A0-0845-94D2-8311EAFE8AE7}"/>
              </a:ext>
            </a:extLst>
          </p:cNvPr>
          <p:cNvSpPr txBox="1"/>
          <p:nvPr/>
        </p:nvSpPr>
        <p:spPr>
          <a:xfrm>
            <a:off x="214489" y="1506519"/>
            <a:ext cx="3941415" cy="5057795"/>
          </a:xfrm>
          <a:prstGeom prst="rect">
            <a:avLst/>
          </a:prstGeom>
          <a:noFill/>
        </p:spPr>
        <p:txBody>
          <a:bodyPr wrap="square" rtlCol="0">
            <a:spAutoFit/>
          </a:bodyPr>
          <a:lstStyle/>
          <a:p>
            <a:pPr>
              <a:spcAft>
                <a:spcPts val="1600"/>
              </a:spcAft>
            </a:pPr>
            <a:r>
              <a:rPr lang="en-US" sz="2000" b="1" dirty="0">
                <a:latin typeface="Amazon Ember" panose="02000000000000000000" pitchFamily="2" charset="0"/>
                <a:ea typeface="Amazon Ember" panose="02000000000000000000" pitchFamily="2" charset="0"/>
              </a:rPr>
              <a:t>Goals</a:t>
            </a:r>
            <a:endParaRPr lang="en-US" sz="2000" dirty="0">
              <a:latin typeface="Amazon Ember" panose="02000000000000000000" pitchFamily="2" charset="0"/>
              <a:ea typeface="Amazon Ember" panose="02000000000000000000" pitchFamily="2" charset="0"/>
            </a:endParaRP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Build or validate AWS foundational environment to support targeted workloads and future initiatives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 </a:t>
            </a: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Establish governance and security posture</a:t>
            </a:r>
            <a:br>
              <a:rPr lang="en-US" sz="1600" dirty="0">
                <a:latin typeface="Amazon Ember" panose="02000000000000000000" pitchFamily="2" charset="0"/>
                <a:ea typeface="Amazon Ember" panose="02000000000000000000" pitchFamily="2" charset="0"/>
              </a:rPr>
            </a:br>
            <a:endParaRPr lang="en-US" sz="1600" dirty="0">
              <a:latin typeface="Amazon Ember" panose="02000000000000000000" pitchFamily="2" charset="0"/>
              <a:ea typeface="Amazon Ember" panose="02000000000000000000" pitchFamily="2" charset="0"/>
            </a:endParaRP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Scale enterprise operations to AWS</a:t>
            </a:r>
            <a:br>
              <a:rPr lang="en-US" sz="1600" dirty="0">
                <a:latin typeface="Amazon Ember" panose="02000000000000000000" pitchFamily="2" charset="0"/>
                <a:ea typeface="Amazon Ember" panose="02000000000000000000" pitchFamily="2" charset="0"/>
              </a:rPr>
            </a:br>
            <a:endParaRPr lang="en-US" sz="1600" dirty="0">
              <a:latin typeface="Amazon Ember" panose="02000000000000000000" pitchFamily="2" charset="0"/>
              <a:ea typeface="Amazon Ember" panose="02000000000000000000" pitchFamily="2" charset="0"/>
            </a:endParaRP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Identify migration patterns</a:t>
            </a:r>
            <a:br>
              <a:rPr lang="en-US" sz="1600" dirty="0">
                <a:latin typeface="Amazon Ember" panose="02000000000000000000" pitchFamily="2" charset="0"/>
                <a:ea typeface="Amazon Ember" panose="02000000000000000000" pitchFamily="2" charset="0"/>
              </a:rPr>
            </a:br>
            <a:endParaRPr lang="en-US" sz="1600" dirty="0">
              <a:latin typeface="Amazon Ember" panose="02000000000000000000" pitchFamily="2" charset="0"/>
              <a:ea typeface="Amazon Ember" panose="02000000000000000000" pitchFamily="2" charset="0"/>
            </a:endParaRP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Define team model and agile work streams</a:t>
            </a:r>
            <a:br>
              <a:rPr lang="en-US" sz="1600" dirty="0">
                <a:latin typeface="Amazon Ember" panose="02000000000000000000" pitchFamily="2" charset="0"/>
                <a:ea typeface="Amazon Ember" panose="02000000000000000000" pitchFamily="2" charset="0"/>
              </a:rPr>
            </a:br>
            <a:endParaRPr lang="en-US" sz="1600" dirty="0">
              <a:latin typeface="Amazon Ember" panose="02000000000000000000" pitchFamily="2" charset="0"/>
              <a:ea typeface="Amazon Ember" panose="02000000000000000000" pitchFamily="2" charset="0"/>
            </a:endParaRPr>
          </a:p>
          <a:p>
            <a:pPr marL="169863" indent="-169863">
              <a:spcAft>
                <a:spcPts val="800"/>
              </a:spcAft>
              <a:buFont typeface="Arial" panose="020B0604020202020204" pitchFamily="34" charset="0"/>
              <a:buChar char="•"/>
            </a:pPr>
            <a:r>
              <a:rPr lang="en-US" sz="1600" dirty="0">
                <a:latin typeface="Amazon Ember" panose="02000000000000000000" pitchFamily="2" charset="0"/>
                <a:ea typeface="Amazon Ember" panose="02000000000000000000" pitchFamily="2" charset="0"/>
              </a:rPr>
              <a:t>Develop cost and resource model for the migration of a defined portfolio </a:t>
            </a:r>
          </a:p>
        </p:txBody>
      </p:sp>
    </p:spTree>
    <p:extLst>
      <p:ext uri="{BB962C8B-B14F-4D97-AF65-F5344CB8AC3E}">
        <p14:creationId xmlns:p14="http://schemas.microsoft.com/office/powerpoint/2010/main" val="358644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CDE95AB4-CA61-0045-9264-D2398FA212A7}"/>
              </a:ext>
            </a:extLst>
          </p:cNvPr>
          <p:cNvGraphicFramePr>
            <a:graphicFrameLocks noGrp="1"/>
          </p:cNvGraphicFramePr>
          <p:nvPr/>
        </p:nvGraphicFramePr>
        <p:xfrm>
          <a:off x="635148" y="1383250"/>
          <a:ext cx="13719679" cy="6096842"/>
        </p:xfrm>
        <a:graphic>
          <a:graphicData uri="http://schemas.openxmlformats.org/drawingml/2006/table">
            <a:tbl>
              <a:tblPr firstRow="1" bandRow="1">
                <a:tableStyleId>{5940675A-B579-460E-94D1-54222C63F5DA}</a:tableStyleId>
              </a:tblPr>
              <a:tblGrid>
                <a:gridCol w="1118550">
                  <a:extLst>
                    <a:ext uri="{9D8B030D-6E8A-4147-A177-3AD203B41FA5}">
                      <a16:colId xmlns:a16="http://schemas.microsoft.com/office/drawing/2014/main" val="1345181805"/>
                    </a:ext>
                  </a:extLst>
                </a:gridCol>
                <a:gridCol w="1130637">
                  <a:extLst>
                    <a:ext uri="{9D8B030D-6E8A-4147-A177-3AD203B41FA5}">
                      <a16:colId xmlns:a16="http://schemas.microsoft.com/office/drawing/2014/main" val="3842254298"/>
                    </a:ext>
                  </a:extLst>
                </a:gridCol>
                <a:gridCol w="1130636">
                  <a:extLst>
                    <a:ext uri="{9D8B030D-6E8A-4147-A177-3AD203B41FA5}">
                      <a16:colId xmlns:a16="http://schemas.microsoft.com/office/drawing/2014/main" val="1484075571"/>
                    </a:ext>
                  </a:extLst>
                </a:gridCol>
                <a:gridCol w="1142795">
                  <a:extLst>
                    <a:ext uri="{9D8B030D-6E8A-4147-A177-3AD203B41FA5}">
                      <a16:colId xmlns:a16="http://schemas.microsoft.com/office/drawing/2014/main" val="255111226"/>
                    </a:ext>
                  </a:extLst>
                </a:gridCol>
                <a:gridCol w="1154951">
                  <a:extLst>
                    <a:ext uri="{9D8B030D-6E8A-4147-A177-3AD203B41FA5}">
                      <a16:colId xmlns:a16="http://schemas.microsoft.com/office/drawing/2014/main" val="66509699"/>
                    </a:ext>
                  </a:extLst>
                </a:gridCol>
                <a:gridCol w="1100244">
                  <a:extLst>
                    <a:ext uri="{9D8B030D-6E8A-4147-A177-3AD203B41FA5}">
                      <a16:colId xmlns:a16="http://schemas.microsoft.com/office/drawing/2014/main" val="4136782918"/>
                    </a:ext>
                  </a:extLst>
                </a:gridCol>
                <a:gridCol w="1142794">
                  <a:extLst>
                    <a:ext uri="{9D8B030D-6E8A-4147-A177-3AD203B41FA5}">
                      <a16:colId xmlns:a16="http://schemas.microsoft.com/office/drawing/2014/main" val="937844714"/>
                    </a:ext>
                  </a:extLst>
                </a:gridCol>
                <a:gridCol w="1124559">
                  <a:extLst>
                    <a:ext uri="{9D8B030D-6E8A-4147-A177-3AD203B41FA5}">
                      <a16:colId xmlns:a16="http://schemas.microsoft.com/office/drawing/2014/main" val="1669382892"/>
                    </a:ext>
                  </a:extLst>
                </a:gridCol>
                <a:gridCol w="1187711">
                  <a:extLst>
                    <a:ext uri="{9D8B030D-6E8A-4147-A177-3AD203B41FA5}">
                      <a16:colId xmlns:a16="http://schemas.microsoft.com/office/drawing/2014/main" val="347227544"/>
                    </a:ext>
                  </a:extLst>
                </a:gridCol>
                <a:gridCol w="3486802">
                  <a:extLst>
                    <a:ext uri="{9D8B030D-6E8A-4147-A177-3AD203B41FA5}">
                      <a16:colId xmlns:a16="http://schemas.microsoft.com/office/drawing/2014/main" val="3997009336"/>
                    </a:ext>
                  </a:extLst>
                </a:gridCol>
              </a:tblGrid>
              <a:tr h="6096842">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31927044"/>
                  </a:ext>
                </a:extLst>
              </a:tr>
            </a:tbl>
          </a:graphicData>
        </a:graphic>
      </p:graphicFrame>
      <p:sp>
        <p:nvSpPr>
          <p:cNvPr id="91" name="Rounded Rectangle">
            <a:extLst>
              <a:ext uri="{FF2B5EF4-FFF2-40B4-BE49-F238E27FC236}">
                <a16:creationId xmlns:a16="http://schemas.microsoft.com/office/drawing/2014/main" id="{46BBECBE-C381-4E43-B633-08CFBCD03340}"/>
              </a:ext>
            </a:extLst>
          </p:cNvPr>
          <p:cNvSpPr/>
          <p:nvPr/>
        </p:nvSpPr>
        <p:spPr>
          <a:xfrm>
            <a:off x="680003" y="1826695"/>
            <a:ext cx="1044020" cy="5593436"/>
          </a:xfrm>
          <a:prstGeom prst="roundRect">
            <a:avLst>
              <a:gd name="adj" fmla="val 22203"/>
            </a:avLst>
          </a:prstGeom>
          <a:noFill/>
          <a:ln w="38100">
            <a:solidFill>
              <a:schemeClr val="tx1">
                <a:lumMod val="95000"/>
              </a:schemeClr>
            </a:solidFill>
            <a:miter lim="400000"/>
          </a:ln>
        </p:spPr>
        <p:txBody>
          <a:bodyPr vert="vert270" lIns="0" tIns="0" rIns="0" bIns="0" anchor="t" anchorCtr="0"/>
          <a:lstStyle/>
          <a:p>
            <a:pPr algn="ctr" defTabSz="1097280" hangingPunct="1">
              <a:defRPr sz="3000" b="0">
                <a:latin typeface="+mn-lt"/>
                <a:ea typeface="+mn-ea"/>
                <a:cs typeface="+mn-cs"/>
                <a:sym typeface="Helvetica Neue Medium"/>
              </a:defRPr>
            </a:pPr>
            <a:r>
              <a:rPr lang="en-US" sz="1200" b="1" dirty="0">
                <a:sym typeface="Helvetica Neue Medium"/>
              </a:rPr>
              <a:t>Launch Ready Planning  (LRP)</a:t>
            </a: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lang="en-US" sz="1100" dirty="0">
              <a:solidFill>
                <a:schemeClr val="accent1"/>
              </a:solidFill>
              <a:sym typeface="Helvetica Neue Medium"/>
            </a:endParaRPr>
          </a:p>
          <a:p>
            <a:pPr algn="ctr" defTabSz="1097280" hangingPunct="1">
              <a:defRPr sz="3000" b="0">
                <a:latin typeface="+mn-lt"/>
                <a:ea typeface="+mn-ea"/>
                <a:cs typeface="+mn-cs"/>
                <a:sym typeface="Helvetica Neue Medium"/>
              </a:defRPr>
            </a:pPr>
            <a:endParaRPr lang="en-US" sz="1100" kern="1200" dirty="0">
              <a:solidFill>
                <a:schemeClr val="accent1"/>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endParaRPr sz="1100" kern="1200" dirty="0">
              <a:solidFill>
                <a:schemeClr val="accent1"/>
              </a:solidFill>
              <a:latin typeface="+mn-lt"/>
              <a:ea typeface="+mn-ea"/>
              <a:cs typeface="+mn-cs"/>
              <a:sym typeface="Helvetica Neue Medium"/>
            </a:endParaRPr>
          </a:p>
        </p:txBody>
      </p:sp>
      <p:pic>
        <p:nvPicPr>
          <p:cNvPr id="12" name="Picture 11">
            <a:extLst>
              <a:ext uri="{FF2B5EF4-FFF2-40B4-BE49-F238E27FC236}">
                <a16:creationId xmlns:a16="http://schemas.microsoft.com/office/drawing/2014/main" id="{C224F1FE-F93A-BF4B-93B8-7CE021220DE6}"/>
              </a:ext>
            </a:extLst>
          </p:cNvPr>
          <p:cNvPicPr>
            <a:picLocks noChangeAspect="1"/>
          </p:cNvPicPr>
          <p:nvPr/>
        </p:nvPicPr>
        <p:blipFill>
          <a:blip r:embed="rId3"/>
          <a:stretch>
            <a:fillRect/>
          </a:stretch>
        </p:blipFill>
        <p:spPr>
          <a:xfrm>
            <a:off x="525033" y="1060477"/>
            <a:ext cx="210467" cy="290104"/>
          </a:xfrm>
          <a:prstGeom prst="rect">
            <a:avLst/>
          </a:prstGeom>
        </p:spPr>
      </p:pic>
      <p:pic>
        <p:nvPicPr>
          <p:cNvPr id="13" name="Picture 12">
            <a:extLst>
              <a:ext uri="{FF2B5EF4-FFF2-40B4-BE49-F238E27FC236}">
                <a16:creationId xmlns:a16="http://schemas.microsoft.com/office/drawing/2014/main" id="{4CCA0C4A-557A-2A42-9135-F334530AEFA3}"/>
              </a:ext>
            </a:extLst>
          </p:cNvPr>
          <p:cNvPicPr>
            <a:picLocks noChangeAspect="1"/>
          </p:cNvPicPr>
          <p:nvPr/>
        </p:nvPicPr>
        <p:blipFill>
          <a:blip r:embed="rId3"/>
          <a:stretch>
            <a:fillRect/>
          </a:stretch>
        </p:blipFill>
        <p:spPr>
          <a:xfrm>
            <a:off x="5052988" y="1071120"/>
            <a:ext cx="210467" cy="290104"/>
          </a:xfrm>
          <a:prstGeom prst="rect">
            <a:avLst/>
          </a:prstGeom>
        </p:spPr>
      </p:pic>
      <p:pic>
        <p:nvPicPr>
          <p:cNvPr id="14" name="Picture 13">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1666197" y="1092552"/>
            <a:ext cx="210467" cy="290104"/>
          </a:xfrm>
          <a:prstGeom prst="rect">
            <a:avLst/>
          </a:prstGeom>
        </p:spPr>
      </p:pic>
      <p:pic>
        <p:nvPicPr>
          <p:cNvPr id="17" name="Picture 16">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1636775" y="1046948"/>
            <a:ext cx="210467" cy="290104"/>
          </a:xfrm>
          <a:prstGeom prst="rect">
            <a:avLst/>
          </a:prstGeom>
        </p:spPr>
      </p:pic>
      <p:pic>
        <p:nvPicPr>
          <p:cNvPr id="18" name="Picture 17">
            <a:extLst>
              <a:ext uri="{FF2B5EF4-FFF2-40B4-BE49-F238E27FC236}">
                <a16:creationId xmlns:a16="http://schemas.microsoft.com/office/drawing/2014/main" id="{0F6EAACD-AE6E-434D-9006-AD6BFCD2D3FA}"/>
              </a:ext>
            </a:extLst>
          </p:cNvPr>
          <p:cNvPicPr>
            <a:picLocks noChangeAspect="1"/>
          </p:cNvPicPr>
          <p:nvPr/>
        </p:nvPicPr>
        <p:blipFill>
          <a:blip r:embed="rId3"/>
          <a:stretch>
            <a:fillRect/>
          </a:stretch>
        </p:blipFill>
        <p:spPr>
          <a:xfrm>
            <a:off x="9583795" y="1083288"/>
            <a:ext cx="210467" cy="290104"/>
          </a:xfrm>
          <a:prstGeom prst="rect">
            <a:avLst/>
          </a:prstGeom>
        </p:spPr>
      </p:pic>
      <p:sp>
        <p:nvSpPr>
          <p:cNvPr id="20" name="Rounded Rectangle">
            <a:extLst>
              <a:ext uri="{FF2B5EF4-FFF2-40B4-BE49-F238E27FC236}">
                <a16:creationId xmlns:a16="http://schemas.microsoft.com/office/drawing/2014/main" id="{9C9F26E4-1AF9-394C-9A0B-E5ECFFC259E2}"/>
              </a:ext>
            </a:extLst>
          </p:cNvPr>
          <p:cNvSpPr/>
          <p:nvPr/>
        </p:nvSpPr>
        <p:spPr>
          <a:xfrm>
            <a:off x="974550" y="4287393"/>
            <a:ext cx="654365" cy="672039"/>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Platform Planning</a:t>
            </a:r>
            <a:endParaRPr sz="900" kern="1200" dirty="0">
              <a:solidFill>
                <a:srgbClr val="000000"/>
              </a:solidFill>
              <a:latin typeface="+mn-lt"/>
              <a:ea typeface="+mn-ea"/>
              <a:cs typeface="+mn-cs"/>
              <a:sym typeface="Helvetica Neue Medium"/>
            </a:endParaRPr>
          </a:p>
        </p:txBody>
      </p:sp>
      <p:pic>
        <p:nvPicPr>
          <p:cNvPr id="28" name="Picture 27">
            <a:extLst>
              <a:ext uri="{FF2B5EF4-FFF2-40B4-BE49-F238E27FC236}">
                <a16:creationId xmlns:a16="http://schemas.microsoft.com/office/drawing/2014/main" id="{0C16778A-5248-5748-A692-C96917B4B0A6}"/>
              </a:ext>
            </a:extLst>
          </p:cNvPr>
          <p:cNvPicPr>
            <a:picLocks noChangeAspect="1"/>
          </p:cNvPicPr>
          <p:nvPr/>
        </p:nvPicPr>
        <p:blipFill>
          <a:blip r:embed="rId3"/>
          <a:stretch>
            <a:fillRect/>
          </a:stretch>
        </p:blipFill>
        <p:spPr>
          <a:xfrm>
            <a:off x="7301308" y="1070294"/>
            <a:ext cx="210467" cy="290104"/>
          </a:xfrm>
          <a:prstGeom prst="rect">
            <a:avLst/>
          </a:prstGeom>
        </p:spPr>
      </p:pic>
      <p:sp>
        <p:nvSpPr>
          <p:cNvPr id="25" name="Rounded Rectangle">
            <a:extLst>
              <a:ext uri="{FF2B5EF4-FFF2-40B4-BE49-F238E27FC236}">
                <a16:creationId xmlns:a16="http://schemas.microsoft.com/office/drawing/2014/main" id="{215E228D-7879-4B4D-9689-031ECC9C11D4}"/>
              </a:ext>
            </a:extLst>
          </p:cNvPr>
          <p:cNvSpPr/>
          <p:nvPr/>
        </p:nvSpPr>
        <p:spPr>
          <a:xfrm>
            <a:off x="986118" y="6693895"/>
            <a:ext cx="650657" cy="650923"/>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Portfolio Planning</a:t>
            </a:r>
            <a:endParaRPr sz="900" kern="1200" dirty="0">
              <a:solidFill>
                <a:srgbClr val="000000"/>
              </a:solidFill>
              <a:latin typeface="+mn-lt"/>
              <a:ea typeface="+mn-ea"/>
              <a:cs typeface="+mn-cs"/>
              <a:sym typeface="Helvetica Neue Medium"/>
            </a:endParaRPr>
          </a:p>
        </p:txBody>
      </p:sp>
      <p:sp>
        <p:nvSpPr>
          <p:cNvPr id="26" name="Rounded Rectangle">
            <a:extLst>
              <a:ext uri="{FF2B5EF4-FFF2-40B4-BE49-F238E27FC236}">
                <a16:creationId xmlns:a16="http://schemas.microsoft.com/office/drawing/2014/main" id="{F3EAA327-1C32-6948-A2F3-7E525123707E}"/>
              </a:ext>
            </a:extLst>
          </p:cNvPr>
          <p:cNvSpPr/>
          <p:nvPr/>
        </p:nvSpPr>
        <p:spPr>
          <a:xfrm>
            <a:off x="680003" y="1420703"/>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0</a:t>
            </a:r>
            <a:endParaRPr sz="900" kern="1200" dirty="0">
              <a:solidFill>
                <a:srgbClr val="000000"/>
              </a:solidFill>
              <a:latin typeface="+mn-lt"/>
              <a:ea typeface="+mn-ea"/>
              <a:cs typeface="+mn-cs"/>
              <a:sym typeface="Helvetica Neue Medium"/>
            </a:endParaRPr>
          </a:p>
        </p:txBody>
      </p:sp>
      <p:sp>
        <p:nvSpPr>
          <p:cNvPr id="27" name="Rounded Rectangle">
            <a:extLst>
              <a:ext uri="{FF2B5EF4-FFF2-40B4-BE49-F238E27FC236}">
                <a16:creationId xmlns:a16="http://schemas.microsoft.com/office/drawing/2014/main" id="{7F9A9C82-9BA6-BC41-91A2-7EB718EC9381}"/>
              </a:ext>
            </a:extLst>
          </p:cNvPr>
          <p:cNvSpPr/>
          <p:nvPr/>
        </p:nvSpPr>
        <p:spPr>
          <a:xfrm>
            <a:off x="1808180" y="1420703"/>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1</a:t>
            </a:r>
            <a:endParaRPr sz="900" kern="1200" dirty="0">
              <a:solidFill>
                <a:srgbClr val="000000"/>
              </a:solidFill>
              <a:latin typeface="+mn-lt"/>
              <a:ea typeface="+mn-ea"/>
              <a:cs typeface="+mn-cs"/>
              <a:sym typeface="Helvetica Neue Medium"/>
            </a:endParaRPr>
          </a:p>
        </p:txBody>
      </p:sp>
      <p:sp>
        <p:nvSpPr>
          <p:cNvPr id="29" name="Rounded Rectangle">
            <a:extLst>
              <a:ext uri="{FF2B5EF4-FFF2-40B4-BE49-F238E27FC236}">
                <a16:creationId xmlns:a16="http://schemas.microsoft.com/office/drawing/2014/main" id="{CD53713F-4724-A149-A157-8884DE3AF2E3}"/>
              </a:ext>
            </a:extLst>
          </p:cNvPr>
          <p:cNvSpPr/>
          <p:nvPr/>
        </p:nvSpPr>
        <p:spPr>
          <a:xfrm>
            <a:off x="2926832" y="1420703"/>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2</a:t>
            </a:r>
            <a:endParaRPr sz="900" kern="1200" dirty="0">
              <a:solidFill>
                <a:srgbClr val="000000"/>
              </a:solidFill>
              <a:latin typeface="+mn-lt"/>
              <a:ea typeface="+mn-ea"/>
              <a:cs typeface="+mn-cs"/>
              <a:sym typeface="Helvetica Neue Medium"/>
            </a:endParaRPr>
          </a:p>
        </p:txBody>
      </p:sp>
      <p:sp>
        <p:nvSpPr>
          <p:cNvPr id="30" name="Rounded Rectangle">
            <a:extLst>
              <a:ext uri="{FF2B5EF4-FFF2-40B4-BE49-F238E27FC236}">
                <a16:creationId xmlns:a16="http://schemas.microsoft.com/office/drawing/2014/main" id="{EC1976FC-D5C9-BF41-91F9-30413BAE9D58}"/>
              </a:ext>
            </a:extLst>
          </p:cNvPr>
          <p:cNvSpPr/>
          <p:nvPr/>
        </p:nvSpPr>
        <p:spPr>
          <a:xfrm>
            <a:off x="4055009" y="1420703"/>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3</a:t>
            </a:r>
            <a:endParaRPr sz="900" kern="1200" dirty="0">
              <a:solidFill>
                <a:srgbClr val="000000"/>
              </a:solidFill>
              <a:latin typeface="+mn-lt"/>
              <a:ea typeface="+mn-ea"/>
              <a:cs typeface="+mn-cs"/>
              <a:sym typeface="Helvetica Neue Medium"/>
            </a:endParaRPr>
          </a:p>
        </p:txBody>
      </p:sp>
      <p:sp>
        <p:nvSpPr>
          <p:cNvPr id="31" name="Rounded Rectangle">
            <a:extLst>
              <a:ext uri="{FF2B5EF4-FFF2-40B4-BE49-F238E27FC236}">
                <a16:creationId xmlns:a16="http://schemas.microsoft.com/office/drawing/2014/main" id="{E0C4076B-9DE2-E344-800E-5A1FDD91FBC1}"/>
              </a:ext>
            </a:extLst>
          </p:cNvPr>
          <p:cNvSpPr/>
          <p:nvPr/>
        </p:nvSpPr>
        <p:spPr>
          <a:xfrm>
            <a:off x="5211761" y="1425934"/>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4</a:t>
            </a:r>
            <a:endParaRPr sz="900" kern="1200" dirty="0">
              <a:solidFill>
                <a:srgbClr val="000000"/>
              </a:solidFill>
              <a:latin typeface="+mn-lt"/>
              <a:ea typeface="+mn-ea"/>
              <a:cs typeface="+mn-cs"/>
              <a:sym typeface="Helvetica Neue Medium"/>
            </a:endParaRPr>
          </a:p>
        </p:txBody>
      </p:sp>
      <p:sp>
        <p:nvSpPr>
          <p:cNvPr id="33" name="Rounded Rectangle">
            <a:extLst>
              <a:ext uri="{FF2B5EF4-FFF2-40B4-BE49-F238E27FC236}">
                <a16:creationId xmlns:a16="http://schemas.microsoft.com/office/drawing/2014/main" id="{8D0C7CA8-E208-DA41-89E9-6B936EF48F03}"/>
              </a:ext>
            </a:extLst>
          </p:cNvPr>
          <p:cNvSpPr/>
          <p:nvPr/>
        </p:nvSpPr>
        <p:spPr>
          <a:xfrm>
            <a:off x="6339938" y="1425934"/>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5</a:t>
            </a:r>
            <a:endParaRPr sz="900" kern="1200" dirty="0">
              <a:solidFill>
                <a:srgbClr val="000000"/>
              </a:solidFill>
              <a:latin typeface="+mn-lt"/>
              <a:ea typeface="+mn-ea"/>
              <a:cs typeface="+mn-cs"/>
              <a:sym typeface="Helvetica Neue Medium"/>
            </a:endParaRPr>
          </a:p>
        </p:txBody>
      </p:sp>
      <p:sp>
        <p:nvSpPr>
          <p:cNvPr id="38" name="Rounded Rectangle">
            <a:extLst>
              <a:ext uri="{FF2B5EF4-FFF2-40B4-BE49-F238E27FC236}">
                <a16:creationId xmlns:a16="http://schemas.microsoft.com/office/drawing/2014/main" id="{16DD318A-52BA-F349-9DD5-673292B144CA}"/>
              </a:ext>
            </a:extLst>
          </p:cNvPr>
          <p:cNvSpPr/>
          <p:nvPr/>
        </p:nvSpPr>
        <p:spPr>
          <a:xfrm>
            <a:off x="7458590" y="1425934"/>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6</a:t>
            </a:r>
            <a:endParaRPr sz="900" kern="1200" dirty="0">
              <a:solidFill>
                <a:srgbClr val="000000"/>
              </a:solidFill>
              <a:latin typeface="+mn-lt"/>
              <a:ea typeface="+mn-ea"/>
              <a:cs typeface="+mn-cs"/>
              <a:sym typeface="Helvetica Neue Medium"/>
            </a:endParaRPr>
          </a:p>
        </p:txBody>
      </p:sp>
      <p:sp>
        <p:nvSpPr>
          <p:cNvPr id="39" name="Rounded Rectangle">
            <a:extLst>
              <a:ext uri="{FF2B5EF4-FFF2-40B4-BE49-F238E27FC236}">
                <a16:creationId xmlns:a16="http://schemas.microsoft.com/office/drawing/2014/main" id="{E651ECC8-DE90-9A46-9BC2-C9DBD8186C63}"/>
              </a:ext>
            </a:extLst>
          </p:cNvPr>
          <p:cNvSpPr/>
          <p:nvPr/>
        </p:nvSpPr>
        <p:spPr>
          <a:xfrm>
            <a:off x="8596292" y="1425934"/>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7</a:t>
            </a:r>
            <a:endParaRPr sz="900" kern="1200" dirty="0">
              <a:solidFill>
                <a:srgbClr val="000000"/>
              </a:solidFill>
              <a:latin typeface="+mn-lt"/>
              <a:ea typeface="+mn-ea"/>
              <a:cs typeface="+mn-cs"/>
              <a:sym typeface="Helvetica Neue Medium"/>
            </a:endParaRPr>
          </a:p>
        </p:txBody>
      </p:sp>
      <p:sp>
        <p:nvSpPr>
          <p:cNvPr id="40" name="Rounded Rectangle">
            <a:extLst>
              <a:ext uri="{FF2B5EF4-FFF2-40B4-BE49-F238E27FC236}">
                <a16:creationId xmlns:a16="http://schemas.microsoft.com/office/drawing/2014/main" id="{5FECA052-CE84-7544-A017-187D1F5ACF40}"/>
              </a:ext>
            </a:extLst>
          </p:cNvPr>
          <p:cNvSpPr/>
          <p:nvPr/>
        </p:nvSpPr>
        <p:spPr>
          <a:xfrm>
            <a:off x="9724469" y="1420703"/>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8</a:t>
            </a:r>
            <a:endParaRPr sz="900" kern="1200" dirty="0">
              <a:solidFill>
                <a:srgbClr val="000000"/>
              </a:solidFill>
              <a:latin typeface="+mn-lt"/>
              <a:ea typeface="+mn-ea"/>
              <a:cs typeface="+mn-cs"/>
              <a:sym typeface="Helvetica Neue Medium"/>
            </a:endParaRPr>
          </a:p>
        </p:txBody>
      </p:sp>
      <p:sp>
        <p:nvSpPr>
          <p:cNvPr id="41" name="Rounded Rectangle">
            <a:extLst>
              <a:ext uri="{FF2B5EF4-FFF2-40B4-BE49-F238E27FC236}">
                <a16:creationId xmlns:a16="http://schemas.microsoft.com/office/drawing/2014/main" id="{DF1BFBF4-2784-DD4D-9EB5-C89FE0CEEF21}"/>
              </a:ext>
            </a:extLst>
          </p:cNvPr>
          <p:cNvSpPr/>
          <p:nvPr/>
        </p:nvSpPr>
        <p:spPr>
          <a:xfrm>
            <a:off x="10972800" y="1420703"/>
            <a:ext cx="3324852"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a:t>
            </a:r>
            <a:r>
              <a:rPr lang="en-US" sz="900" dirty="0">
                <a:solidFill>
                  <a:srgbClr val="000000"/>
                </a:solidFill>
                <a:sym typeface="Helvetica Neue Medium"/>
              </a:rPr>
              <a:t>9</a:t>
            </a:r>
            <a:r>
              <a:rPr lang="en-US" sz="900" kern="1200" dirty="0">
                <a:solidFill>
                  <a:srgbClr val="000000"/>
                </a:solidFill>
                <a:latin typeface="+mn-lt"/>
                <a:ea typeface="+mn-ea"/>
                <a:cs typeface="+mn-cs"/>
                <a:sym typeface="Helvetica Neue Medium"/>
              </a:rPr>
              <a:t>-n</a:t>
            </a:r>
            <a:endParaRPr sz="900" kern="1200" dirty="0">
              <a:solidFill>
                <a:srgbClr val="000000"/>
              </a:solidFill>
              <a:latin typeface="+mn-lt"/>
              <a:ea typeface="+mn-ea"/>
              <a:cs typeface="+mn-cs"/>
              <a:sym typeface="Helvetica Neue Medium"/>
            </a:endParaRPr>
          </a:p>
        </p:txBody>
      </p:sp>
      <p:sp>
        <p:nvSpPr>
          <p:cNvPr id="43" name="Rounded Rectangle">
            <a:extLst>
              <a:ext uri="{FF2B5EF4-FFF2-40B4-BE49-F238E27FC236}">
                <a16:creationId xmlns:a16="http://schemas.microsoft.com/office/drawing/2014/main" id="{F05FD3C2-B07E-3745-9AC4-2A0F13C5D51E}"/>
              </a:ext>
            </a:extLst>
          </p:cNvPr>
          <p:cNvSpPr/>
          <p:nvPr/>
        </p:nvSpPr>
        <p:spPr>
          <a:xfrm rot="16200000">
            <a:off x="-145608" y="6768249"/>
            <a:ext cx="934730" cy="496413"/>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b="1" dirty="0">
                <a:solidFill>
                  <a:srgbClr val="000000"/>
                </a:solidFill>
                <a:sym typeface="Helvetica Neue Medium"/>
              </a:rPr>
              <a:t>Portfolio Accelerator</a:t>
            </a:r>
            <a:endParaRPr sz="1100" b="1" kern="1200" dirty="0">
              <a:solidFill>
                <a:srgbClr val="000000"/>
              </a:solidFill>
              <a:sym typeface="Helvetica Neue Medium"/>
            </a:endParaRPr>
          </a:p>
        </p:txBody>
      </p:sp>
      <p:sp>
        <p:nvSpPr>
          <p:cNvPr id="44" name="Rounded Rectangle">
            <a:extLst>
              <a:ext uri="{FF2B5EF4-FFF2-40B4-BE49-F238E27FC236}">
                <a16:creationId xmlns:a16="http://schemas.microsoft.com/office/drawing/2014/main" id="{2D971709-4C14-B945-AD18-90BCE703BBC7}"/>
              </a:ext>
            </a:extLst>
          </p:cNvPr>
          <p:cNvSpPr/>
          <p:nvPr/>
        </p:nvSpPr>
        <p:spPr>
          <a:xfrm>
            <a:off x="978214" y="2995439"/>
            <a:ext cx="666464"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People Planning</a:t>
            </a:r>
            <a:endParaRPr sz="900" kern="1200" dirty="0">
              <a:solidFill>
                <a:srgbClr val="000000"/>
              </a:solidFill>
              <a:latin typeface="+mn-lt"/>
              <a:ea typeface="+mn-ea"/>
              <a:cs typeface="+mn-cs"/>
              <a:sym typeface="Helvetica Neue Medium"/>
            </a:endParaRPr>
          </a:p>
        </p:txBody>
      </p:sp>
      <p:sp>
        <p:nvSpPr>
          <p:cNvPr id="51" name="Rounded Rectangle">
            <a:extLst>
              <a:ext uri="{FF2B5EF4-FFF2-40B4-BE49-F238E27FC236}">
                <a16:creationId xmlns:a16="http://schemas.microsoft.com/office/drawing/2014/main" id="{A68229A8-7157-924C-A93C-CF6655DF70CA}"/>
              </a:ext>
            </a:extLst>
          </p:cNvPr>
          <p:cNvSpPr/>
          <p:nvPr/>
        </p:nvSpPr>
        <p:spPr>
          <a:xfrm>
            <a:off x="6378258" y="4180074"/>
            <a:ext cx="986793" cy="887297"/>
          </a:xfrm>
          <a:prstGeom prst="roundRect">
            <a:avLst>
              <a:gd name="adj" fmla="val 22203"/>
            </a:avLst>
          </a:prstGeom>
          <a:solidFill>
            <a:schemeClr val="accent6"/>
          </a:solidFill>
          <a:ln w="12700">
            <a:miter lim="400000"/>
          </a:ln>
        </p:spPr>
        <p:txBody>
          <a:bodyPr lIns="42863" tIns="42863" rIns="42863" bIns="42863" anchor="ctr"/>
          <a:lstStyle/>
          <a:p>
            <a:pPr algn="ctr" defTabSz="1097280"/>
            <a:r>
              <a:rPr lang="en-US" sz="1000" b="1" dirty="0">
                <a:solidFill>
                  <a:srgbClr val="000000"/>
                </a:solidFill>
                <a:sym typeface="Helvetica Neue Medium"/>
              </a:rPr>
              <a:t>Platform Party</a:t>
            </a:r>
            <a:br>
              <a:rPr lang="en-US" sz="900" dirty="0">
                <a:solidFill>
                  <a:srgbClr val="000000"/>
                </a:solidFill>
                <a:sym typeface="Helvetica Neue Medium"/>
              </a:rPr>
            </a:br>
            <a:br>
              <a:rPr lang="en-US" sz="900" dirty="0">
                <a:solidFill>
                  <a:srgbClr val="000000"/>
                </a:solidFill>
                <a:sym typeface="Helvetica Neue Medium"/>
              </a:rPr>
            </a:br>
            <a:r>
              <a:rPr lang="en-US" sz="900" i="1" dirty="0">
                <a:solidFill>
                  <a:srgbClr val="000000"/>
                </a:solidFill>
                <a:sym typeface="Helvetica Neue Medium"/>
              </a:rPr>
              <a:t>Promote 1</a:t>
            </a:r>
            <a:r>
              <a:rPr lang="en-US" sz="900" i="1" baseline="30000" dirty="0">
                <a:solidFill>
                  <a:srgbClr val="000000"/>
                </a:solidFill>
                <a:sym typeface="Helvetica Neue Medium"/>
              </a:rPr>
              <a:t>st</a:t>
            </a:r>
            <a:r>
              <a:rPr lang="en-US" sz="900" i="1" dirty="0">
                <a:solidFill>
                  <a:srgbClr val="000000"/>
                </a:solidFill>
                <a:sym typeface="Helvetica Neue Medium"/>
              </a:rPr>
              <a:t> app to Dev</a:t>
            </a:r>
            <a:endParaRPr sz="900" i="1" dirty="0">
              <a:solidFill>
                <a:srgbClr val="000000"/>
              </a:solidFill>
              <a:sym typeface="Helvetica Neue Medium"/>
            </a:endParaRPr>
          </a:p>
        </p:txBody>
      </p:sp>
      <p:sp>
        <p:nvSpPr>
          <p:cNvPr id="63" name="Rounded Rectangle">
            <a:extLst>
              <a:ext uri="{FF2B5EF4-FFF2-40B4-BE49-F238E27FC236}">
                <a16:creationId xmlns:a16="http://schemas.microsoft.com/office/drawing/2014/main" id="{E10A26A3-5CBE-6F4D-990E-5BEE07C0540A}"/>
              </a:ext>
            </a:extLst>
          </p:cNvPr>
          <p:cNvSpPr/>
          <p:nvPr/>
        </p:nvSpPr>
        <p:spPr>
          <a:xfrm>
            <a:off x="8624674" y="4212574"/>
            <a:ext cx="986793" cy="888632"/>
          </a:xfrm>
          <a:prstGeom prst="roundRect">
            <a:avLst>
              <a:gd name="adj" fmla="val 22203"/>
            </a:avLst>
          </a:prstGeom>
          <a:solidFill>
            <a:schemeClr val="accent6"/>
          </a:solidFill>
          <a:ln w="12700">
            <a:miter lim="400000"/>
          </a:ln>
        </p:spPr>
        <p:txBody>
          <a:bodyPr lIns="42863" tIns="42863" rIns="42863" bIns="42863" anchor="ctr"/>
          <a:lstStyle/>
          <a:p>
            <a:pPr algn="ctr" defTabSz="1097280"/>
            <a:r>
              <a:rPr lang="en-US" sz="900" dirty="0">
                <a:solidFill>
                  <a:srgbClr val="000000"/>
                </a:solidFill>
                <a:sym typeface="Helvetica Neue Medium"/>
              </a:rPr>
              <a:t>Security Jam</a:t>
            </a:r>
            <a:br>
              <a:rPr lang="en-US" sz="900" dirty="0">
                <a:solidFill>
                  <a:srgbClr val="000000"/>
                </a:solidFill>
                <a:sym typeface="Helvetica Neue Medium"/>
              </a:rPr>
            </a:br>
            <a:r>
              <a:rPr lang="en-US" sz="900" dirty="0">
                <a:solidFill>
                  <a:srgbClr val="000000"/>
                </a:solidFill>
                <a:sym typeface="Helvetica Neue Medium"/>
              </a:rPr>
              <a:t>&amp; </a:t>
            </a:r>
            <a:br>
              <a:rPr lang="en-US" sz="900" dirty="0">
                <a:solidFill>
                  <a:srgbClr val="000000"/>
                </a:solidFill>
                <a:sym typeface="Helvetica Neue Medium"/>
              </a:rPr>
            </a:br>
            <a:r>
              <a:rPr lang="en-US" sz="900" dirty="0">
                <a:solidFill>
                  <a:srgbClr val="000000"/>
                </a:solidFill>
                <a:sym typeface="Helvetica Neue Medium"/>
              </a:rPr>
              <a:t>Operations Game Day</a:t>
            </a:r>
            <a:endParaRPr sz="900" dirty="0">
              <a:solidFill>
                <a:srgbClr val="000000"/>
              </a:solidFill>
              <a:sym typeface="Helvetica Neue Medium"/>
            </a:endParaRPr>
          </a:p>
        </p:txBody>
      </p:sp>
      <p:sp>
        <p:nvSpPr>
          <p:cNvPr id="68" name="Rounded Rectangle">
            <a:extLst>
              <a:ext uri="{FF2B5EF4-FFF2-40B4-BE49-F238E27FC236}">
                <a16:creationId xmlns:a16="http://schemas.microsoft.com/office/drawing/2014/main" id="{824C5F4B-2426-634F-94EC-E597199ED134}"/>
              </a:ext>
            </a:extLst>
          </p:cNvPr>
          <p:cNvSpPr/>
          <p:nvPr/>
        </p:nvSpPr>
        <p:spPr>
          <a:xfrm>
            <a:off x="7492589" y="4197053"/>
            <a:ext cx="986793" cy="877651"/>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Platform Party Remediation</a:t>
            </a:r>
            <a:endParaRPr sz="900" kern="1200" dirty="0">
              <a:solidFill>
                <a:srgbClr val="000000"/>
              </a:solidFill>
              <a:latin typeface="+mn-lt"/>
              <a:ea typeface="+mn-ea"/>
              <a:cs typeface="+mn-cs"/>
              <a:sym typeface="Helvetica Neue Medium"/>
            </a:endParaRPr>
          </a:p>
        </p:txBody>
      </p:sp>
      <p:sp>
        <p:nvSpPr>
          <p:cNvPr id="70" name="Rounded Rectangle">
            <a:extLst>
              <a:ext uri="{FF2B5EF4-FFF2-40B4-BE49-F238E27FC236}">
                <a16:creationId xmlns:a16="http://schemas.microsoft.com/office/drawing/2014/main" id="{6EB2B2F3-D77D-A944-BABF-A93360ACAE1E}"/>
              </a:ext>
            </a:extLst>
          </p:cNvPr>
          <p:cNvSpPr/>
          <p:nvPr/>
        </p:nvSpPr>
        <p:spPr>
          <a:xfrm>
            <a:off x="9756816" y="5395550"/>
            <a:ext cx="1044020" cy="913966"/>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00" b="1" kern="1200" dirty="0">
                <a:solidFill>
                  <a:srgbClr val="000000"/>
                </a:solidFill>
                <a:latin typeface="+mn-lt"/>
                <a:ea typeface="+mn-ea"/>
                <a:cs typeface="+mn-cs"/>
                <a:sym typeface="Helvetica Neue Medium"/>
              </a:rPr>
              <a:t>Move</a:t>
            </a:r>
            <a:br>
              <a:rPr lang="en-US" sz="1000" b="1" kern="1200" dirty="0">
                <a:solidFill>
                  <a:srgbClr val="000000"/>
                </a:solidFill>
                <a:latin typeface="+mn-lt"/>
                <a:ea typeface="+mn-ea"/>
                <a:cs typeface="+mn-cs"/>
                <a:sym typeface="Helvetica Neue Medium"/>
              </a:rPr>
            </a:br>
            <a:r>
              <a:rPr lang="en-US" sz="1000" b="1" kern="1200" dirty="0">
                <a:solidFill>
                  <a:srgbClr val="000000"/>
                </a:solidFill>
                <a:latin typeface="+mn-lt"/>
                <a:ea typeface="+mn-ea"/>
                <a:cs typeface="+mn-cs"/>
                <a:sym typeface="Helvetica Neue Medium"/>
              </a:rPr>
              <a:t>Party</a:t>
            </a:r>
            <a:br>
              <a:rPr lang="en-US" sz="900" kern="1200" dirty="0">
                <a:solidFill>
                  <a:srgbClr val="000000"/>
                </a:solidFill>
                <a:latin typeface="+mn-lt"/>
                <a:ea typeface="+mn-ea"/>
                <a:cs typeface="+mn-cs"/>
                <a:sym typeface="Helvetica Neue Medium"/>
              </a:rPr>
            </a:br>
            <a:br>
              <a:rPr lang="en-US" sz="900" kern="1200" dirty="0">
                <a:solidFill>
                  <a:srgbClr val="000000"/>
                </a:solidFill>
                <a:latin typeface="+mn-lt"/>
                <a:ea typeface="+mn-ea"/>
                <a:cs typeface="+mn-cs"/>
                <a:sym typeface="Helvetica Neue Medium"/>
              </a:rPr>
            </a:br>
            <a:r>
              <a:rPr lang="en-US" sz="900" i="1" kern="1200" dirty="0">
                <a:solidFill>
                  <a:srgbClr val="000000"/>
                </a:solidFill>
                <a:latin typeface="+mn-lt"/>
                <a:ea typeface="+mn-ea"/>
                <a:cs typeface="+mn-cs"/>
                <a:sym typeface="Helvetica Neue Medium"/>
              </a:rPr>
              <a:t>1</a:t>
            </a:r>
            <a:r>
              <a:rPr lang="en-US" sz="900" i="1" kern="1200" baseline="30000" dirty="0">
                <a:solidFill>
                  <a:srgbClr val="000000"/>
                </a:solidFill>
                <a:latin typeface="+mn-lt"/>
                <a:ea typeface="+mn-ea"/>
                <a:cs typeface="+mn-cs"/>
                <a:sym typeface="Helvetica Neue Medium"/>
              </a:rPr>
              <a:t>st</a:t>
            </a:r>
            <a:r>
              <a:rPr lang="en-US" sz="900" i="1" kern="1200" dirty="0">
                <a:solidFill>
                  <a:srgbClr val="000000"/>
                </a:solidFill>
                <a:latin typeface="+mn-lt"/>
                <a:ea typeface="+mn-ea"/>
                <a:cs typeface="+mn-cs"/>
                <a:sym typeface="Helvetica Neue Medium"/>
              </a:rPr>
              <a:t> App in Prod</a:t>
            </a:r>
            <a:endParaRPr sz="900" i="1" kern="1200" dirty="0">
              <a:solidFill>
                <a:srgbClr val="000000"/>
              </a:solidFill>
              <a:latin typeface="+mn-lt"/>
              <a:ea typeface="+mn-ea"/>
              <a:cs typeface="+mn-cs"/>
              <a:sym typeface="Helvetica Neue Medium"/>
            </a:endParaRPr>
          </a:p>
        </p:txBody>
      </p:sp>
      <p:sp>
        <p:nvSpPr>
          <p:cNvPr id="69" name="TextBox 68">
            <a:extLst>
              <a:ext uri="{FF2B5EF4-FFF2-40B4-BE49-F238E27FC236}">
                <a16:creationId xmlns:a16="http://schemas.microsoft.com/office/drawing/2014/main" id="{D94AC40A-37B2-E444-B023-1CA27048A930}"/>
              </a:ext>
            </a:extLst>
          </p:cNvPr>
          <p:cNvSpPr txBox="1"/>
          <p:nvPr/>
        </p:nvSpPr>
        <p:spPr>
          <a:xfrm>
            <a:off x="665922" y="1028362"/>
            <a:ext cx="1384420" cy="338554"/>
          </a:xfrm>
          <a:prstGeom prst="rect">
            <a:avLst/>
          </a:prstGeom>
          <a:noFill/>
        </p:spPr>
        <p:txBody>
          <a:bodyPr wrap="square" rtlCol="0">
            <a:spAutoFit/>
          </a:bodyPr>
          <a:lstStyle/>
          <a:p>
            <a:pPr defTabSz="1097280" hangingPunct="1"/>
            <a:r>
              <a:rPr lang="en-US" sz="800" kern="1200" dirty="0">
                <a:solidFill>
                  <a:schemeClr val="tx1"/>
                </a:solidFill>
                <a:latin typeface="+mn-lt"/>
                <a:ea typeface="+mn-ea"/>
                <a:cs typeface="+mn-cs"/>
              </a:rPr>
              <a:t>Weekly Customer Executive  Meeting </a:t>
            </a:r>
          </a:p>
        </p:txBody>
      </p:sp>
      <p:sp>
        <p:nvSpPr>
          <p:cNvPr id="74" name="Rounded Rectangle">
            <a:extLst>
              <a:ext uri="{FF2B5EF4-FFF2-40B4-BE49-F238E27FC236}">
                <a16:creationId xmlns:a16="http://schemas.microsoft.com/office/drawing/2014/main" id="{F05FD3C2-B07E-3745-9AC4-2A0F13C5D51E}"/>
              </a:ext>
            </a:extLst>
          </p:cNvPr>
          <p:cNvSpPr/>
          <p:nvPr/>
        </p:nvSpPr>
        <p:spPr>
          <a:xfrm>
            <a:off x="2914898" y="6692063"/>
            <a:ext cx="1063560" cy="652755"/>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rgbClr val="000000"/>
                </a:solidFill>
                <a:sym typeface="Helvetica Neue Medium"/>
              </a:rPr>
              <a:t>Pilot Application Discovery &amp; Design</a:t>
            </a:r>
            <a:endParaRPr sz="900" kern="1200" dirty="0">
              <a:solidFill>
                <a:srgbClr val="000000"/>
              </a:solidFill>
              <a:latin typeface="+mn-lt"/>
              <a:ea typeface="+mn-ea"/>
              <a:cs typeface="+mn-cs"/>
              <a:sym typeface="Helvetica Neue Medium"/>
            </a:endParaRPr>
          </a:p>
        </p:txBody>
      </p:sp>
      <p:sp>
        <p:nvSpPr>
          <p:cNvPr id="92" name="Rounded Rectangle">
            <a:extLst>
              <a:ext uri="{FF2B5EF4-FFF2-40B4-BE49-F238E27FC236}">
                <a16:creationId xmlns:a16="http://schemas.microsoft.com/office/drawing/2014/main" id="{215E228D-7879-4B4D-9689-031ECC9C11D4}"/>
              </a:ext>
            </a:extLst>
          </p:cNvPr>
          <p:cNvSpPr/>
          <p:nvPr/>
        </p:nvSpPr>
        <p:spPr>
          <a:xfrm>
            <a:off x="10893365" y="7035237"/>
            <a:ext cx="976806" cy="309581"/>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Wave Plan Baselined</a:t>
            </a:r>
            <a:endParaRPr sz="900" kern="1200" dirty="0">
              <a:solidFill>
                <a:srgbClr val="000000"/>
              </a:solidFill>
              <a:latin typeface="+mn-lt"/>
              <a:ea typeface="+mn-ea"/>
              <a:cs typeface="+mn-cs"/>
              <a:sym typeface="Helvetica Neue Medium"/>
            </a:endParaRPr>
          </a:p>
        </p:txBody>
      </p:sp>
      <p:sp>
        <p:nvSpPr>
          <p:cNvPr id="42" name="Rounded Rectangle">
            <a:extLst>
              <a:ext uri="{FF2B5EF4-FFF2-40B4-BE49-F238E27FC236}">
                <a16:creationId xmlns:a16="http://schemas.microsoft.com/office/drawing/2014/main" id="{6C0F546D-E6DC-CF41-A83A-3EAD969DBC08}"/>
              </a:ext>
            </a:extLst>
          </p:cNvPr>
          <p:cNvSpPr/>
          <p:nvPr/>
        </p:nvSpPr>
        <p:spPr>
          <a:xfrm>
            <a:off x="1807122" y="4203247"/>
            <a:ext cx="4448659" cy="877652"/>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00" b="1" kern="1200" dirty="0">
                <a:solidFill>
                  <a:srgbClr val="000000"/>
                </a:solidFill>
                <a:latin typeface="+mn-lt"/>
                <a:ea typeface="+mn-ea"/>
                <a:cs typeface="+mn-cs"/>
                <a:sym typeface="Helvetica Neue Medium"/>
              </a:rPr>
              <a:t>Platform Buildout or Platform Validation</a:t>
            </a:r>
            <a:br>
              <a:rPr lang="en-US" sz="900" kern="1200" dirty="0">
                <a:solidFill>
                  <a:srgbClr val="000000"/>
                </a:solidFill>
                <a:latin typeface="+mn-lt"/>
                <a:ea typeface="+mn-ea"/>
                <a:cs typeface="+mn-cs"/>
                <a:sym typeface="Helvetica Neue Medium"/>
              </a:rPr>
            </a:br>
            <a:br>
              <a:rPr lang="en-US" sz="900" i="1" kern="1200" dirty="0">
                <a:solidFill>
                  <a:srgbClr val="000000"/>
                </a:solidFill>
                <a:latin typeface="+mn-lt"/>
                <a:ea typeface="+mn-ea"/>
                <a:cs typeface="+mn-cs"/>
                <a:sym typeface="Helvetica Neue Medium"/>
              </a:rPr>
            </a:br>
            <a:r>
              <a:rPr lang="en-US" sz="900" i="1" kern="1200" dirty="0">
                <a:solidFill>
                  <a:srgbClr val="000000"/>
                </a:solidFill>
                <a:latin typeface="+mn-lt"/>
                <a:ea typeface="+mn-ea"/>
                <a:cs typeface="+mn-cs"/>
                <a:sym typeface="Helvetica Neue Medium"/>
              </a:rPr>
              <a:t>Includes Landing Zone, Security, and Operations</a:t>
            </a:r>
            <a:endParaRPr sz="900" i="1" kern="1200" dirty="0">
              <a:solidFill>
                <a:srgbClr val="000000"/>
              </a:solidFill>
              <a:latin typeface="+mn-lt"/>
              <a:ea typeface="+mn-ea"/>
              <a:cs typeface="+mn-cs"/>
              <a:sym typeface="Helvetica Neue Medium"/>
            </a:endParaRPr>
          </a:p>
        </p:txBody>
      </p:sp>
      <p:sp>
        <p:nvSpPr>
          <p:cNvPr id="93" name="Rounded Rectangle">
            <a:extLst>
              <a:ext uri="{FF2B5EF4-FFF2-40B4-BE49-F238E27FC236}">
                <a16:creationId xmlns:a16="http://schemas.microsoft.com/office/drawing/2014/main" id="{215E228D-7879-4B4D-9689-031ECC9C11D4}"/>
              </a:ext>
            </a:extLst>
          </p:cNvPr>
          <p:cNvSpPr/>
          <p:nvPr/>
        </p:nvSpPr>
        <p:spPr>
          <a:xfrm>
            <a:off x="734380" y="2006107"/>
            <a:ext cx="902395" cy="671744"/>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Procure Tools</a:t>
            </a:r>
            <a:br>
              <a:rPr lang="en-US" sz="900" kern="1200" dirty="0">
                <a:solidFill>
                  <a:srgbClr val="000000"/>
                </a:solidFill>
                <a:latin typeface="+mn-lt"/>
                <a:ea typeface="+mn-ea"/>
                <a:cs typeface="+mn-cs"/>
                <a:sym typeface="Helvetica Neue Medium"/>
              </a:rPr>
            </a:br>
            <a:r>
              <a:rPr lang="en-US" sz="900" kern="1200" dirty="0">
                <a:solidFill>
                  <a:srgbClr val="000000"/>
                </a:solidFill>
                <a:latin typeface="+mn-lt"/>
                <a:ea typeface="+mn-ea"/>
                <a:cs typeface="+mn-cs"/>
                <a:sym typeface="Helvetica Neue Medium"/>
              </a:rPr>
              <a:t>&amp; Deploy Delivery Kits </a:t>
            </a:r>
            <a:endParaRPr sz="900" kern="1200" dirty="0">
              <a:solidFill>
                <a:srgbClr val="000000"/>
              </a:solidFill>
              <a:latin typeface="+mn-lt"/>
              <a:ea typeface="+mn-ea"/>
              <a:cs typeface="+mn-cs"/>
              <a:sym typeface="Helvetica Neue Medium"/>
            </a:endParaRPr>
          </a:p>
        </p:txBody>
      </p:sp>
      <p:sp>
        <p:nvSpPr>
          <p:cNvPr id="94" name="Rounded Rectangle">
            <a:extLst>
              <a:ext uri="{FF2B5EF4-FFF2-40B4-BE49-F238E27FC236}">
                <a16:creationId xmlns:a16="http://schemas.microsoft.com/office/drawing/2014/main" id="{215E228D-7879-4B4D-9689-031ECC9C11D4}"/>
              </a:ext>
            </a:extLst>
          </p:cNvPr>
          <p:cNvSpPr/>
          <p:nvPr/>
        </p:nvSpPr>
        <p:spPr>
          <a:xfrm>
            <a:off x="1808180" y="2022729"/>
            <a:ext cx="1050283" cy="261092"/>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Load Tailored Backlogs</a:t>
            </a:r>
            <a:endParaRPr sz="900" kern="1200" dirty="0">
              <a:solidFill>
                <a:srgbClr val="000000"/>
              </a:solidFill>
              <a:latin typeface="+mn-lt"/>
              <a:ea typeface="+mn-ea"/>
              <a:cs typeface="+mn-cs"/>
              <a:sym typeface="Helvetica Neue Medium"/>
            </a:endParaRPr>
          </a:p>
        </p:txBody>
      </p:sp>
      <p:sp>
        <p:nvSpPr>
          <p:cNvPr id="95" name="Rounded Rectangle">
            <a:extLst>
              <a:ext uri="{FF2B5EF4-FFF2-40B4-BE49-F238E27FC236}">
                <a16:creationId xmlns:a16="http://schemas.microsoft.com/office/drawing/2014/main" id="{215E228D-7879-4B4D-9689-031ECC9C11D4}"/>
              </a:ext>
            </a:extLst>
          </p:cNvPr>
          <p:cNvSpPr/>
          <p:nvPr/>
        </p:nvSpPr>
        <p:spPr>
          <a:xfrm>
            <a:off x="1808180" y="2345905"/>
            <a:ext cx="1044020" cy="373898"/>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Sprint Ceremonies Begin</a:t>
            </a:r>
            <a:endParaRPr sz="900" kern="1200" dirty="0">
              <a:solidFill>
                <a:srgbClr val="000000"/>
              </a:solidFill>
              <a:latin typeface="+mn-lt"/>
              <a:ea typeface="+mn-ea"/>
              <a:cs typeface="+mn-cs"/>
              <a:sym typeface="Helvetica Neue Medium"/>
            </a:endParaRPr>
          </a:p>
        </p:txBody>
      </p:sp>
      <p:sp>
        <p:nvSpPr>
          <p:cNvPr id="96" name="Rounded Rectangle">
            <a:extLst>
              <a:ext uri="{FF2B5EF4-FFF2-40B4-BE49-F238E27FC236}">
                <a16:creationId xmlns:a16="http://schemas.microsoft.com/office/drawing/2014/main" id="{215E228D-7879-4B4D-9689-031ECC9C11D4}"/>
              </a:ext>
            </a:extLst>
          </p:cNvPr>
          <p:cNvSpPr/>
          <p:nvPr/>
        </p:nvSpPr>
        <p:spPr>
          <a:xfrm>
            <a:off x="2922848" y="2031928"/>
            <a:ext cx="11300255" cy="676963"/>
          </a:xfrm>
          <a:prstGeom prst="roundRect">
            <a:avLst>
              <a:gd name="adj" fmla="val 22203"/>
            </a:avLst>
          </a:prstGeom>
          <a:solidFill>
            <a:schemeClr val="accent1"/>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Weekly Sprint Cadence (Stand-ups, Demo, Retro, Planning)  </a:t>
            </a:r>
            <a:endParaRPr sz="900" kern="1200" dirty="0">
              <a:solidFill>
                <a:srgbClr val="000000"/>
              </a:solidFill>
              <a:latin typeface="+mn-lt"/>
              <a:ea typeface="+mn-ea"/>
              <a:cs typeface="+mn-cs"/>
              <a:sym typeface="Helvetica Neue Medium"/>
            </a:endParaRPr>
          </a:p>
        </p:txBody>
      </p:sp>
      <p:pic>
        <p:nvPicPr>
          <p:cNvPr id="97" name="Picture 96">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2782440" y="1027022"/>
            <a:ext cx="210467" cy="290104"/>
          </a:xfrm>
          <a:prstGeom prst="rect">
            <a:avLst/>
          </a:prstGeom>
        </p:spPr>
      </p:pic>
      <p:pic>
        <p:nvPicPr>
          <p:cNvPr id="98" name="Picture 97">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3907323" y="1055412"/>
            <a:ext cx="210467" cy="290104"/>
          </a:xfrm>
          <a:prstGeom prst="rect">
            <a:avLst/>
          </a:prstGeom>
        </p:spPr>
      </p:pic>
      <p:pic>
        <p:nvPicPr>
          <p:cNvPr id="99" name="Picture 98">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6198841" y="1072413"/>
            <a:ext cx="210467" cy="290104"/>
          </a:xfrm>
          <a:prstGeom prst="rect">
            <a:avLst/>
          </a:prstGeom>
        </p:spPr>
      </p:pic>
      <p:pic>
        <p:nvPicPr>
          <p:cNvPr id="100" name="Picture 99">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8431558" y="1085479"/>
            <a:ext cx="210467" cy="290104"/>
          </a:xfrm>
          <a:prstGeom prst="rect">
            <a:avLst/>
          </a:prstGeom>
        </p:spPr>
      </p:pic>
      <p:pic>
        <p:nvPicPr>
          <p:cNvPr id="101" name="Picture 100">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10762333" y="1092552"/>
            <a:ext cx="210467" cy="290104"/>
          </a:xfrm>
          <a:prstGeom prst="rect">
            <a:avLst/>
          </a:prstGeom>
        </p:spPr>
      </p:pic>
      <p:pic>
        <p:nvPicPr>
          <p:cNvPr id="102" name="Picture 101">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2499296" y="1088981"/>
            <a:ext cx="210467" cy="290104"/>
          </a:xfrm>
          <a:prstGeom prst="rect">
            <a:avLst/>
          </a:prstGeom>
        </p:spPr>
      </p:pic>
      <p:pic>
        <p:nvPicPr>
          <p:cNvPr id="103" name="Picture 102">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3227161" y="1097537"/>
            <a:ext cx="210467" cy="290104"/>
          </a:xfrm>
          <a:prstGeom prst="rect">
            <a:avLst/>
          </a:prstGeom>
        </p:spPr>
      </p:pic>
      <p:pic>
        <p:nvPicPr>
          <p:cNvPr id="104" name="Picture 103">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4192418" y="1096072"/>
            <a:ext cx="210467" cy="290104"/>
          </a:xfrm>
          <a:prstGeom prst="rect">
            <a:avLst/>
          </a:prstGeom>
        </p:spPr>
      </p:pic>
      <p:sp>
        <p:nvSpPr>
          <p:cNvPr id="106" name="Rounded Rectangle">
            <a:extLst>
              <a:ext uri="{FF2B5EF4-FFF2-40B4-BE49-F238E27FC236}">
                <a16:creationId xmlns:a16="http://schemas.microsoft.com/office/drawing/2014/main" id="{2D971709-4C14-B945-AD18-90BCE703BBC7}"/>
              </a:ext>
            </a:extLst>
          </p:cNvPr>
          <p:cNvSpPr/>
          <p:nvPr/>
        </p:nvSpPr>
        <p:spPr>
          <a:xfrm>
            <a:off x="4052680" y="2984385"/>
            <a:ext cx="1048678" cy="757812"/>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2-Day People Party</a:t>
            </a:r>
            <a:endParaRPr sz="900" kern="1200" dirty="0">
              <a:solidFill>
                <a:srgbClr val="000000"/>
              </a:solidFill>
              <a:latin typeface="+mn-lt"/>
              <a:ea typeface="+mn-ea"/>
              <a:cs typeface="+mn-cs"/>
              <a:sym typeface="Helvetica Neue Medium"/>
            </a:endParaRPr>
          </a:p>
        </p:txBody>
      </p:sp>
      <p:sp>
        <p:nvSpPr>
          <p:cNvPr id="107" name="Rounded Rectangle">
            <a:extLst>
              <a:ext uri="{FF2B5EF4-FFF2-40B4-BE49-F238E27FC236}">
                <a16:creationId xmlns:a16="http://schemas.microsoft.com/office/drawing/2014/main" id="{215E228D-7879-4B4D-9689-031ECC9C11D4}"/>
              </a:ext>
            </a:extLst>
          </p:cNvPr>
          <p:cNvSpPr/>
          <p:nvPr/>
        </p:nvSpPr>
        <p:spPr>
          <a:xfrm>
            <a:off x="1786361" y="6685814"/>
            <a:ext cx="1067066" cy="659004"/>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rPr>
              <a:t>Discovery Acceleration &amp; Planning</a:t>
            </a:r>
            <a:endParaRPr lang="en-US" sz="900" kern="1200" dirty="0">
              <a:solidFill>
                <a:srgbClr val="000000"/>
              </a:solidFill>
              <a:latin typeface="+mn-lt"/>
              <a:ea typeface="+mn-ea"/>
              <a:cs typeface="+mn-cs"/>
              <a:sym typeface="Helvetica Neue Medium"/>
            </a:endParaRPr>
          </a:p>
          <a:p>
            <a:pPr algn="ctr" defTabSz="1097280">
              <a:defRPr sz="3000" b="0">
                <a:latin typeface="+mn-lt"/>
                <a:ea typeface="+mn-ea"/>
                <a:cs typeface="+mn-cs"/>
                <a:sym typeface="Helvetica Neue Medium"/>
              </a:defRPr>
            </a:pPr>
            <a:r>
              <a:rPr lang="en-US" sz="900" dirty="0">
                <a:solidFill>
                  <a:srgbClr val="000000"/>
                </a:solidFill>
                <a:sym typeface="Helvetica Neue Medium"/>
              </a:rPr>
              <a:t>(DAP)</a:t>
            </a:r>
            <a:endParaRPr lang="en-US" sz="900" kern="1200" dirty="0">
              <a:solidFill>
                <a:srgbClr val="000000"/>
              </a:solidFill>
              <a:latin typeface="+mn-lt"/>
              <a:ea typeface="+mn-ea"/>
              <a:cs typeface="+mn-cs"/>
              <a:sym typeface="Helvetica Neue Medium"/>
            </a:endParaRPr>
          </a:p>
        </p:txBody>
      </p:sp>
      <p:sp>
        <p:nvSpPr>
          <p:cNvPr id="108" name="Rounded Rectangle">
            <a:extLst>
              <a:ext uri="{FF2B5EF4-FFF2-40B4-BE49-F238E27FC236}">
                <a16:creationId xmlns:a16="http://schemas.microsoft.com/office/drawing/2014/main" id="{9C9F26E4-1AF9-394C-9A0B-E5ECFFC259E2}"/>
              </a:ext>
            </a:extLst>
          </p:cNvPr>
          <p:cNvSpPr/>
          <p:nvPr/>
        </p:nvSpPr>
        <p:spPr>
          <a:xfrm>
            <a:off x="986118" y="5460289"/>
            <a:ext cx="655094" cy="665393"/>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Planning</a:t>
            </a:r>
            <a:endParaRPr sz="900" kern="1200" dirty="0">
              <a:solidFill>
                <a:srgbClr val="000000"/>
              </a:solidFill>
              <a:latin typeface="+mn-lt"/>
              <a:ea typeface="+mn-ea"/>
              <a:cs typeface="+mn-cs"/>
              <a:sym typeface="Helvetica Neue Medium"/>
            </a:endParaRPr>
          </a:p>
        </p:txBody>
      </p:sp>
      <p:sp>
        <p:nvSpPr>
          <p:cNvPr id="109" name="Rounded Rectangle">
            <a:extLst>
              <a:ext uri="{FF2B5EF4-FFF2-40B4-BE49-F238E27FC236}">
                <a16:creationId xmlns:a16="http://schemas.microsoft.com/office/drawing/2014/main" id="{9C9F26E4-1AF9-394C-9A0B-E5ECFFC259E2}"/>
              </a:ext>
            </a:extLst>
          </p:cNvPr>
          <p:cNvSpPr/>
          <p:nvPr/>
        </p:nvSpPr>
        <p:spPr>
          <a:xfrm>
            <a:off x="3223390" y="5919025"/>
            <a:ext cx="6382028" cy="39049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Validate Pilot Applications Discovery &amp; Design</a:t>
            </a:r>
            <a:endParaRPr sz="900" kern="1200" dirty="0">
              <a:solidFill>
                <a:srgbClr val="000000"/>
              </a:solidFill>
              <a:latin typeface="+mn-lt"/>
              <a:ea typeface="+mn-ea"/>
              <a:cs typeface="+mn-cs"/>
              <a:sym typeface="Helvetica Neue Medium"/>
            </a:endParaRPr>
          </a:p>
        </p:txBody>
      </p:sp>
      <p:sp>
        <p:nvSpPr>
          <p:cNvPr id="110" name="Rounded Rectangle">
            <a:extLst>
              <a:ext uri="{FF2B5EF4-FFF2-40B4-BE49-F238E27FC236}">
                <a16:creationId xmlns:a16="http://schemas.microsoft.com/office/drawing/2014/main" id="{9C9F26E4-1AF9-394C-9A0B-E5ECFFC259E2}"/>
              </a:ext>
            </a:extLst>
          </p:cNvPr>
          <p:cNvSpPr/>
          <p:nvPr/>
        </p:nvSpPr>
        <p:spPr>
          <a:xfrm>
            <a:off x="4045022" y="5416128"/>
            <a:ext cx="1053675"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Factory Deployment</a:t>
            </a:r>
            <a:endParaRPr sz="900" kern="1200" dirty="0">
              <a:solidFill>
                <a:srgbClr val="000000"/>
              </a:solidFill>
              <a:latin typeface="+mn-lt"/>
              <a:ea typeface="+mn-ea"/>
              <a:cs typeface="+mn-cs"/>
              <a:sym typeface="Helvetica Neue Medium"/>
            </a:endParaRPr>
          </a:p>
        </p:txBody>
      </p:sp>
      <p:sp>
        <p:nvSpPr>
          <p:cNvPr id="112" name="Rounded Rectangle">
            <a:extLst>
              <a:ext uri="{FF2B5EF4-FFF2-40B4-BE49-F238E27FC236}">
                <a16:creationId xmlns:a16="http://schemas.microsoft.com/office/drawing/2014/main" id="{9C9F26E4-1AF9-394C-9A0B-E5ECFFC259E2}"/>
              </a:ext>
            </a:extLst>
          </p:cNvPr>
          <p:cNvSpPr/>
          <p:nvPr/>
        </p:nvSpPr>
        <p:spPr>
          <a:xfrm rot="16200000">
            <a:off x="-174139" y="5520700"/>
            <a:ext cx="925648" cy="491657"/>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b="1" kern="1200" dirty="0">
                <a:solidFill>
                  <a:srgbClr val="000000"/>
                </a:solidFill>
                <a:latin typeface="+mn-lt"/>
                <a:ea typeface="+mn-ea"/>
                <a:cs typeface="+mn-cs"/>
                <a:sym typeface="Helvetica Neue Medium"/>
              </a:rPr>
              <a:t>Migration Accelerator</a:t>
            </a:r>
            <a:endParaRPr sz="1100" b="1" kern="1200" dirty="0">
              <a:solidFill>
                <a:srgbClr val="000000"/>
              </a:solidFill>
              <a:latin typeface="+mn-lt"/>
              <a:ea typeface="+mn-ea"/>
              <a:cs typeface="+mn-cs"/>
              <a:sym typeface="Helvetica Neue Medium"/>
            </a:endParaRPr>
          </a:p>
        </p:txBody>
      </p:sp>
      <p:sp>
        <p:nvSpPr>
          <p:cNvPr id="111" name="Rounded Rectangle">
            <a:extLst>
              <a:ext uri="{FF2B5EF4-FFF2-40B4-BE49-F238E27FC236}">
                <a16:creationId xmlns:a16="http://schemas.microsoft.com/office/drawing/2014/main" id="{9C9F26E4-1AF9-394C-9A0B-E5ECFFC259E2}"/>
              </a:ext>
            </a:extLst>
          </p:cNvPr>
          <p:cNvSpPr/>
          <p:nvPr/>
        </p:nvSpPr>
        <p:spPr>
          <a:xfrm>
            <a:off x="5188505" y="5412469"/>
            <a:ext cx="1074499" cy="384186"/>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Pilot Applications Design Baselined</a:t>
            </a:r>
            <a:endParaRPr sz="900" kern="1200" dirty="0">
              <a:solidFill>
                <a:srgbClr val="000000"/>
              </a:solidFill>
              <a:latin typeface="+mn-lt"/>
              <a:ea typeface="+mn-ea"/>
              <a:cs typeface="+mn-cs"/>
              <a:sym typeface="Helvetica Neue Medium"/>
            </a:endParaRPr>
          </a:p>
        </p:txBody>
      </p:sp>
      <p:sp>
        <p:nvSpPr>
          <p:cNvPr id="113" name="Rounded Rectangle">
            <a:extLst>
              <a:ext uri="{FF2B5EF4-FFF2-40B4-BE49-F238E27FC236}">
                <a16:creationId xmlns:a16="http://schemas.microsoft.com/office/drawing/2014/main" id="{9C9F26E4-1AF9-394C-9A0B-E5ECFFC259E2}"/>
              </a:ext>
            </a:extLst>
          </p:cNvPr>
          <p:cNvSpPr/>
          <p:nvPr/>
        </p:nvSpPr>
        <p:spPr>
          <a:xfrm>
            <a:off x="7422696" y="5403684"/>
            <a:ext cx="2199066"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Preparation Work</a:t>
            </a:r>
            <a:endParaRPr sz="900" kern="1200" dirty="0">
              <a:solidFill>
                <a:srgbClr val="000000"/>
              </a:solidFill>
              <a:latin typeface="+mn-lt"/>
              <a:ea typeface="+mn-ea"/>
              <a:cs typeface="+mn-cs"/>
              <a:sym typeface="Helvetica Neue Medium"/>
            </a:endParaRPr>
          </a:p>
        </p:txBody>
      </p:sp>
      <p:sp>
        <p:nvSpPr>
          <p:cNvPr id="115" name="Rounded Rectangle">
            <a:extLst>
              <a:ext uri="{FF2B5EF4-FFF2-40B4-BE49-F238E27FC236}">
                <a16:creationId xmlns:a16="http://schemas.microsoft.com/office/drawing/2014/main" id="{E10A26A3-5CBE-6F4D-990E-5BEE07C0540A}"/>
              </a:ext>
            </a:extLst>
          </p:cNvPr>
          <p:cNvSpPr/>
          <p:nvPr/>
        </p:nvSpPr>
        <p:spPr>
          <a:xfrm>
            <a:off x="9779035" y="4241200"/>
            <a:ext cx="986793" cy="853757"/>
          </a:xfrm>
          <a:prstGeom prst="roundRect">
            <a:avLst>
              <a:gd name="adj" fmla="val 22203"/>
            </a:avLst>
          </a:prstGeom>
          <a:solidFill>
            <a:schemeClr val="accent6"/>
          </a:solidFill>
          <a:ln w="12700">
            <a:miter lim="400000"/>
          </a:ln>
        </p:spPr>
        <p:txBody>
          <a:bodyPr lIns="42863" tIns="42863" rIns="42863" bIns="42863" anchor="ctr"/>
          <a:lstStyle/>
          <a:p>
            <a:pPr algn="ctr" defTabSz="1097280"/>
            <a:r>
              <a:rPr lang="en-US" sz="900" dirty="0">
                <a:solidFill>
                  <a:srgbClr val="000000"/>
                </a:solidFill>
                <a:sym typeface="Helvetica Neue Medium"/>
              </a:rPr>
              <a:t>Platform Baselined</a:t>
            </a:r>
            <a:endParaRPr sz="900" dirty="0">
              <a:solidFill>
                <a:srgbClr val="000000"/>
              </a:solidFill>
              <a:sym typeface="Helvetica Neue Medium"/>
            </a:endParaRPr>
          </a:p>
        </p:txBody>
      </p:sp>
      <p:sp>
        <p:nvSpPr>
          <p:cNvPr id="117" name="Rounded Rectangle">
            <a:extLst>
              <a:ext uri="{FF2B5EF4-FFF2-40B4-BE49-F238E27FC236}">
                <a16:creationId xmlns:a16="http://schemas.microsoft.com/office/drawing/2014/main" id="{2D971709-4C14-B945-AD18-90BCE703BBC7}"/>
              </a:ext>
            </a:extLst>
          </p:cNvPr>
          <p:cNvSpPr/>
          <p:nvPr/>
        </p:nvSpPr>
        <p:spPr>
          <a:xfrm>
            <a:off x="1808180" y="2973135"/>
            <a:ext cx="2153025" cy="769062"/>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Leadership Alignment &amp; Stakeholder Assessment</a:t>
            </a:r>
            <a:endParaRPr sz="900" kern="1200" dirty="0">
              <a:solidFill>
                <a:srgbClr val="000000"/>
              </a:solidFill>
              <a:latin typeface="+mn-lt"/>
              <a:ea typeface="+mn-ea"/>
              <a:cs typeface="+mn-cs"/>
              <a:sym typeface="Helvetica Neue Medium"/>
            </a:endParaRPr>
          </a:p>
        </p:txBody>
      </p:sp>
      <p:sp>
        <p:nvSpPr>
          <p:cNvPr id="118" name="Rounded Rectangle">
            <a:extLst>
              <a:ext uri="{FF2B5EF4-FFF2-40B4-BE49-F238E27FC236}">
                <a16:creationId xmlns:a16="http://schemas.microsoft.com/office/drawing/2014/main" id="{2D971709-4C14-B945-AD18-90BCE703BBC7}"/>
              </a:ext>
            </a:extLst>
          </p:cNvPr>
          <p:cNvSpPr/>
          <p:nvPr/>
        </p:nvSpPr>
        <p:spPr>
          <a:xfrm>
            <a:off x="5202254" y="2995439"/>
            <a:ext cx="1048678" cy="746757"/>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Case for Change</a:t>
            </a:r>
            <a:endParaRPr sz="900" kern="1200" dirty="0">
              <a:solidFill>
                <a:srgbClr val="000000"/>
              </a:solidFill>
              <a:latin typeface="+mn-lt"/>
              <a:ea typeface="+mn-ea"/>
              <a:cs typeface="+mn-cs"/>
              <a:sym typeface="Helvetica Neue Medium"/>
            </a:endParaRPr>
          </a:p>
        </p:txBody>
      </p:sp>
      <p:sp>
        <p:nvSpPr>
          <p:cNvPr id="119" name="Rounded Rectangle">
            <a:extLst>
              <a:ext uri="{FF2B5EF4-FFF2-40B4-BE49-F238E27FC236}">
                <a16:creationId xmlns:a16="http://schemas.microsoft.com/office/drawing/2014/main" id="{2D971709-4C14-B945-AD18-90BCE703BBC7}"/>
              </a:ext>
            </a:extLst>
          </p:cNvPr>
          <p:cNvSpPr/>
          <p:nvPr/>
        </p:nvSpPr>
        <p:spPr>
          <a:xfrm>
            <a:off x="6337609" y="2995440"/>
            <a:ext cx="1048678" cy="746756"/>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Org Change Readiness</a:t>
            </a:r>
            <a:endParaRPr sz="900" kern="1200" dirty="0">
              <a:solidFill>
                <a:srgbClr val="000000"/>
              </a:solidFill>
              <a:latin typeface="+mn-lt"/>
              <a:ea typeface="+mn-ea"/>
              <a:cs typeface="+mn-cs"/>
              <a:sym typeface="Helvetica Neue Medium"/>
            </a:endParaRPr>
          </a:p>
        </p:txBody>
      </p:sp>
      <p:sp>
        <p:nvSpPr>
          <p:cNvPr id="120" name="Rounded Rectangle">
            <a:extLst>
              <a:ext uri="{FF2B5EF4-FFF2-40B4-BE49-F238E27FC236}">
                <a16:creationId xmlns:a16="http://schemas.microsoft.com/office/drawing/2014/main" id="{2D971709-4C14-B945-AD18-90BCE703BBC7}"/>
              </a:ext>
            </a:extLst>
          </p:cNvPr>
          <p:cNvSpPr/>
          <p:nvPr/>
        </p:nvSpPr>
        <p:spPr>
          <a:xfrm>
            <a:off x="7458590" y="3006662"/>
            <a:ext cx="1048678" cy="735534"/>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OCM Risk Mitigation Strategy</a:t>
            </a:r>
            <a:endParaRPr sz="900" kern="1200" dirty="0">
              <a:solidFill>
                <a:srgbClr val="000000"/>
              </a:solidFill>
              <a:latin typeface="+mn-lt"/>
              <a:ea typeface="+mn-ea"/>
              <a:cs typeface="+mn-cs"/>
              <a:sym typeface="Helvetica Neue Medium"/>
            </a:endParaRPr>
          </a:p>
        </p:txBody>
      </p:sp>
      <p:sp>
        <p:nvSpPr>
          <p:cNvPr id="121" name="Rounded Rectangle">
            <a:extLst>
              <a:ext uri="{FF2B5EF4-FFF2-40B4-BE49-F238E27FC236}">
                <a16:creationId xmlns:a16="http://schemas.microsoft.com/office/drawing/2014/main" id="{2D971709-4C14-B945-AD18-90BCE703BBC7}"/>
              </a:ext>
            </a:extLst>
          </p:cNvPr>
          <p:cNvSpPr/>
          <p:nvPr/>
        </p:nvSpPr>
        <p:spPr>
          <a:xfrm>
            <a:off x="8598053" y="3006622"/>
            <a:ext cx="3155768" cy="350947"/>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Strategic Communications Delivery</a:t>
            </a:r>
            <a:endParaRPr sz="900" kern="1200" dirty="0">
              <a:solidFill>
                <a:srgbClr val="000000"/>
              </a:solidFill>
              <a:latin typeface="+mn-lt"/>
              <a:ea typeface="+mn-ea"/>
              <a:cs typeface="+mn-cs"/>
              <a:sym typeface="Helvetica Neue Medium"/>
            </a:endParaRPr>
          </a:p>
        </p:txBody>
      </p:sp>
      <p:sp>
        <p:nvSpPr>
          <p:cNvPr id="122" name="Rounded Rectangle">
            <a:extLst>
              <a:ext uri="{FF2B5EF4-FFF2-40B4-BE49-F238E27FC236}">
                <a16:creationId xmlns:a16="http://schemas.microsoft.com/office/drawing/2014/main" id="{2D971709-4C14-B945-AD18-90BCE703BBC7}"/>
              </a:ext>
            </a:extLst>
          </p:cNvPr>
          <p:cNvSpPr/>
          <p:nvPr/>
        </p:nvSpPr>
        <p:spPr>
          <a:xfrm>
            <a:off x="11142149" y="3398774"/>
            <a:ext cx="3110788" cy="343422"/>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dirty="0">
                <a:solidFill>
                  <a:srgbClr val="000000"/>
                </a:solidFill>
                <a:sym typeface="Helvetica Neue Medium"/>
              </a:rPr>
              <a:t>OCM Strategy &amp; Plan</a:t>
            </a:r>
            <a:endParaRPr sz="900" kern="1200" dirty="0">
              <a:solidFill>
                <a:srgbClr val="000000"/>
              </a:solidFill>
              <a:latin typeface="+mn-lt"/>
              <a:ea typeface="+mn-ea"/>
              <a:cs typeface="+mn-cs"/>
              <a:sym typeface="Helvetica Neue Medium"/>
            </a:endParaRPr>
          </a:p>
        </p:txBody>
      </p:sp>
      <p:sp>
        <p:nvSpPr>
          <p:cNvPr id="123" name="Rounded Rectangle">
            <a:extLst>
              <a:ext uri="{FF2B5EF4-FFF2-40B4-BE49-F238E27FC236}">
                <a16:creationId xmlns:a16="http://schemas.microsoft.com/office/drawing/2014/main" id="{9C9F26E4-1AF9-394C-9A0B-E5ECFFC259E2}"/>
              </a:ext>
            </a:extLst>
          </p:cNvPr>
          <p:cNvSpPr/>
          <p:nvPr/>
        </p:nvSpPr>
        <p:spPr>
          <a:xfrm>
            <a:off x="10931616" y="5407185"/>
            <a:ext cx="728022"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Prep</a:t>
            </a:r>
            <a:endParaRPr sz="900" kern="1200" dirty="0">
              <a:solidFill>
                <a:srgbClr val="000000"/>
              </a:solidFill>
              <a:latin typeface="+mn-lt"/>
              <a:ea typeface="+mn-ea"/>
              <a:cs typeface="+mn-cs"/>
              <a:sym typeface="Helvetica Neue Medium"/>
            </a:endParaRPr>
          </a:p>
        </p:txBody>
      </p:sp>
      <p:sp>
        <p:nvSpPr>
          <p:cNvPr id="125" name="Rounded Rectangle">
            <a:extLst>
              <a:ext uri="{FF2B5EF4-FFF2-40B4-BE49-F238E27FC236}">
                <a16:creationId xmlns:a16="http://schemas.microsoft.com/office/drawing/2014/main" id="{6EB2B2F3-D77D-A944-BABF-A93360ACAE1E}"/>
              </a:ext>
            </a:extLst>
          </p:cNvPr>
          <p:cNvSpPr/>
          <p:nvPr/>
        </p:nvSpPr>
        <p:spPr>
          <a:xfrm>
            <a:off x="11698469" y="5379374"/>
            <a:ext cx="823968" cy="930142"/>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00" b="1" kern="1200" dirty="0">
                <a:solidFill>
                  <a:srgbClr val="000000"/>
                </a:solidFill>
                <a:latin typeface="+mn-lt"/>
                <a:ea typeface="+mn-ea"/>
                <a:cs typeface="+mn-cs"/>
                <a:sym typeface="Helvetica Neue Medium"/>
              </a:rPr>
              <a:t>Move</a:t>
            </a:r>
            <a:br>
              <a:rPr lang="en-US" sz="1000" b="1" kern="1200" dirty="0">
                <a:solidFill>
                  <a:srgbClr val="000000"/>
                </a:solidFill>
                <a:latin typeface="+mn-lt"/>
                <a:ea typeface="+mn-ea"/>
                <a:cs typeface="+mn-cs"/>
                <a:sym typeface="Helvetica Neue Medium"/>
              </a:rPr>
            </a:br>
            <a:r>
              <a:rPr lang="en-US" sz="1000" b="1" kern="1200" dirty="0">
                <a:solidFill>
                  <a:srgbClr val="000000"/>
                </a:solidFill>
                <a:latin typeface="+mn-lt"/>
                <a:ea typeface="+mn-ea"/>
                <a:cs typeface="+mn-cs"/>
                <a:sym typeface="Helvetica Neue Medium"/>
              </a:rPr>
              <a:t>Party</a:t>
            </a:r>
            <a:br>
              <a:rPr lang="en-US" sz="1000" b="1" dirty="0">
                <a:solidFill>
                  <a:srgbClr val="000000"/>
                </a:solidFill>
                <a:sym typeface="Helvetica Neue Medium"/>
              </a:rPr>
            </a:br>
            <a:br>
              <a:rPr lang="en-US" sz="1000" b="1" dirty="0">
                <a:solidFill>
                  <a:srgbClr val="000000"/>
                </a:solidFill>
                <a:sym typeface="Helvetica Neue Medium"/>
              </a:rPr>
            </a:br>
            <a:r>
              <a:rPr lang="en-US" sz="900" i="1" dirty="0">
                <a:solidFill>
                  <a:srgbClr val="000000"/>
                </a:solidFill>
                <a:sym typeface="Helvetica Neue Medium"/>
              </a:rPr>
              <a:t>n App in Prod</a:t>
            </a:r>
            <a:endParaRPr lang="en-US" sz="900" i="1" kern="1200" dirty="0">
              <a:solidFill>
                <a:srgbClr val="000000"/>
              </a:solidFill>
              <a:sym typeface="Helvetica Neue Medium"/>
            </a:endParaRPr>
          </a:p>
        </p:txBody>
      </p:sp>
      <p:sp>
        <p:nvSpPr>
          <p:cNvPr id="126" name="Rounded Rectangle">
            <a:extLst>
              <a:ext uri="{FF2B5EF4-FFF2-40B4-BE49-F238E27FC236}">
                <a16:creationId xmlns:a16="http://schemas.microsoft.com/office/drawing/2014/main" id="{9C9F26E4-1AF9-394C-9A0B-E5ECFFC259E2}"/>
              </a:ext>
            </a:extLst>
          </p:cNvPr>
          <p:cNvSpPr/>
          <p:nvPr/>
        </p:nvSpPr>
        <p:spPr>
          <a:xfrm>
            <a:off x="12572754" y="5403684"/>
            <a:ext cx="728022"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Prep</a:t>
            </a:r>
            <a:endParaRPr sz="900" kern="1200" dirty="0">
              <a:solidFill>
                <a:srgbClr val="000000"/>
              </a:solidFill>
              <a:latin typeface="+mn-lt"/>
              <a:ea typeface="+mn-ea"/>
              <a:cs typeface="+mn-cs"/>
              <a:sym typeface="Helvetica Neue Medium"/>
            </a:endParaRPr>
          </a:p>
        </p:txBody>
      </p:sp>
      <p:sp>
        <p:nvSpPr>
          <p:cNvPr id="127" name="Rounded Rectangle">
            <a:extLst>
              <a:ext uri="{FF2B5EF4-FFF2-40B4-BE49-F238E27FC236}">
                <a16:creationId xmlns:a16="http://schemas.microsoft.com/office/drawing/2014/main" id="{9C9F26E4-1AF9-394C-9A0B-E5ECFFC259E2}"/>
              </a:ext>
            </a:extLst>
          </p:cNvPr>
          <p:cNvSpPr/>
          <p:nvPr/>
        </p:nvSpPr>
        <p:spPr>
          <a:xfrm rot="16200000">
            <a:off x="-178764" y="4361809"/>
            <a:ext cx="953926" cy="507699"/>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b="1" kern="1200" dirty="0">
                <a:solidFill>
                  <a:srgbClr val="000000"/>
                </a:solidFill>
                <a:latin typeface="+mn-lt"/>
                <a:ea typeface="+mn-ea"/>
                <a:cs typeface="+mn-cs"/>
                <a:sym typeface="Helvetica Neue Medium"/>
              </a:rPr>
              <a:t>Platform Accelerator</a:t>
            </a:r>
            <a:endParaRPr sz="1100" b="1" kern="1200" dirty="0">
              <a:solidFill>
                <a:srgbClr val="000000"/>
              </a:solidFill>
              <a:latin typeface="+mn-lt"/>
              <a:ea typeface="+mn-ea"/>
              <a:cs typeface="+mn-cs"/>
              <a:sym typeface="Helvetica Neue Medium"/>
            </a:endParaRPr>
          </a:p>
        </p:txBody>
      </p:sp>
      <p:sp>
        <p:nvSpPr>
          <p:cNvPr id="128" name="Rounded Rectangle">
            <a:extLst>
              <a:ext uri="{FF2B5EF4-FFF2-40B4-BE49-F238E27FC236}">
                <a16:creationId xmlns:a16="http://schemas.microsoft.com/office/drawing/2014/main" id="{E10A26A3-5CBE-6F4D-990E-5BEE07C0540A}"/>
              </a:ext>
            </a:extLst>
          </p:cNvPr>
          <p:cNvSpPr/>
          <p:nvPr/>
        </p:nvSpPr>
        <p:spPr>
          <a:xfrm>
            <a:off x="10920907" y="4251492"/>
            <a:ext cx="3344795" cy="853757"/>
          </a:xfrm>
          <a:prstGeom prst="roundRect">
            <a:avLst>
              <a:gd name="adj" fmla="val 22203"/>
            </a:avLst>
          </a:prstGeom>
          <a:solidFill>
            <a:schemeClr val="accent6"/>
          </a:solidFill>
          <a:ln w="12700">
            <a:miter lim="400000"/>
          </a:ln>
        </p:spPr>
        <p:txBody>
          <a:bodyPr lIns="42863" tIns="42863" rIns="42863" bIns="42863" anchor="ctr"/>
          <a:lstStyle/>
          <a:p>
            <a:pPr algn="ctr" defTabSz="1097280"/>
            <a:r>
              <a:rPr lang="en-US" sz="900" dirty="0">
                <a:solidFill>
                  <a:srgbClr val="000000"/>
                </a:solidFill>
                <a:sym typeface="Helvetica Neue Medium"/>
              </a:rPr>
              <a:t>Platform Optimization Activities</a:t>
            </a:r>
            <a:endParaRPr sz="900" dirty="0">
              <a:solidFill>
                <a:srgbClr val="000000"/>
              </a:solidFill>
              <a:sym typeface="Helvetica Neue Medium"/>
            </a:endParaRPr>
          </a:p>
        </p:txBody>
      </p:sp>
      <p:sp>
        <p:nvSpPr>
          <p:cNvPr id="49" name="Rounded Rectangle">
            <a:extLst>
              <a:ext uri="{FF2B5EF4-FFF2-40B4-BE49-F238E27FC236}">
                <a16:creationId xmlns:a16="http://schemas.microsoft.com/office/drawing/2014/main" id="{09668B15-F35F-5E4C-9CC7-F7D226342C7B}"/>
              </a:ext>
            </a:extLst>
          </p:cNvPr>
          <p:cNvSpPr/>
          <p:nvPr/>
        </p:nvSpPr>
        <p:spPr>
          <a:xfrm rot="16200000">
            <a:off x="-171164" y="3195841"/>
            <a:ext cx="932172" cy="531369"/>
          </a:xfrm>
          <a:prstGeom prst="roundRect">
            <a:avLst>
              <a:gd name="adj" fmla="val 22203"/>
            </a:avLst>
          </a:prstGeom>
          <a:solidFill>
            <a:schemeClr val="accent2">
              <a:lumMod val="40000"/>
              <a:lumOff val="60000"/>
            </a:schemeClr>
          </a:solidFill>
          <a:ln w="12700">
            <a:noFill/>
            <a:miter lim="400000"/>
          </a:ln>
        </p:spPr>
        <p:txBody>
          <a:bodyPr lIns="42863" tIns="42863" rIns="42863" bIns="42863" anchor="t"/>
          <a:lstStyle/>
          <a:p>
            <a:pPr algn="ctr" defTabSz="1097280">
              <a:defRPr sz="3000" b="0">
                <a:latin typeface="+mn-lt"/>
                <a:ea typeface="+mn-ea"/>
                <a:cs typeface="+mn-cs"/>
                <a:sym typeface="Helvetica Neue Medium"/>
              </a:defRPr>
            </a:pPr>
            <a:r>
              <a:rPr lang="en-US" sz="1100" b="1" dirty="0">
                <a:solidFill>
                  <a:schemeClr val="bg1"/>
                </a:solidFill>
                <a:sym typeface="Helvetica Neue Medium"/>
              </a:rPr>
              <a:t>People Accelerator</a:t>
            </a:r>
          </a:p>
        </p:txBody>
      </p:sp>
      <p:sp>
        <p:nvSpPr>
          <p:cNvPr id="129" name="Rounded Rectangle">
            <a:extLst>
              <a:ext uri="{FF2B5EF4-FFF2-40B4-BE49-F238E27FC236}">
                <a16:creationId xmlns:a16="http://schemas.microsoft.com/office/drawing/2014/main" id="{215E228D-7879-4B4D-9689-031ECC9C11D4}"/>
              </a:ext>
            </a:extLst>
          </p:cNvPr>
          <p:cNvSpPr/>
          <p:nvPr/>
        </p:nvSpPr>
        <p:spPr>
          <a:xfrm rot="16200000">
            <a:off x="-167338" y="2072406"/>
            <a:ext cx="933382" cy="522505"/>
          </a:xfrm>
          <a:prstGeom prst="roundRect">
            <a:avLst>
              <a:gd name="adj" fmla="val 22203"/>
            </a:avLst>
          </a:prstGeom>
          <a:solidFill>
            <a:schemeClr val="accent1"/>
          </a:solidFill>
          <a:ln w="12700">
            <a:noFill/>
            <a:miter lim="400000"/>
          </a:ln>
        </p:spPr>
        <p:txBody>
          <a:bodyPr lIns="42863" tIns="42863" rIns="42863" bIns="42863" anchor="t"/>
          <a:lstStyle/>
          <a:p>
            <a:pPr algn="ctr" defTabSz="1097280" hangingPunct="1">
              <a:defRPr sz="3000" b="0">
                <a:latin typeface="+mn-lt"/>
                <a:ea typeface="+mn-ea"/>
                <a:cs typeface="+mn-cs"/>
                <a:sym typeface="Helvetica Neue Medium"/>
              </a:defRPr>
            </a:pPr>
            <a:r>
              <a:rPr lang="en-US" sz="1100" b="1" dirty="0">
                <a:solidFill>
                  <a:schemeClr val="bg1"/>
                </a:solidFill>
                <a:sym typeface="Helvetica Neue Medium"/>
              </a:rPr>
              <a:t>Mobilize Accelerator </a:t>
            </a:r>
            <a:endParaRPr sz="1100" b="1" kern="1200" dirty="0">
              <a:solidFill>
                <a:schemeClr val="bg1"/>
              </a:solidFill>
              <a:sym typeface="Helvetica Neue Medium"/>
            </a:endParaRPr>
          </a:p>
        </p:txBody>
      </p:sp>
      <p:sp>
        <p:nvSpPr>
          <p:cNvPr id="114" name="Rounded Rectangle">
            <a:extLst>
              <a:ext uri="{FF2B5EF4-FFF2-40B4-BE49-F238E27FC236}">
                <a16:creationId xmlns:a16="http://schemas.microsoft.com/office/drawing/2014/main" id="{9AEE714D-39CD-894D-B2B0-F4ACB903BB44}"/>
              </a:ext>
            </a:extLst>
          </p:cNvPr>
          <p:cNvSpPr/>
          <p:nvPr/>
        </p:nvSpPr>
        <p:spPr>
          <a:xfrm>
            <a:off x="8625553" y="6693895"/>
            <a:ext cx="976806" cy="323003"/>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Wave Plan Draft</a:t>
            </a:r>
            <a:endParaRPr sz="900" kern="1200" dirty="0">
              <a:solidFill>
                <a:srgbClr val="000000"/>
              </a:solidFill>
              <a:latin typeface="+mn-lt"/>
              <a:ea typeface="+mn-ea"/>
              <a:cs typeface="+mn-cs"/>
              <a:sym typeface="Helvetica Neue Medium"/>
            </a:endParaRPr>
          </a:p>
        </p:txBody>
      </p:sp>
      <p:sp>
        <p:nvSpPr>
          <p:cNvPr id="116" name="Rounded Rectangle">
            <a:extLst>
              <a:ext uri="{FF2B5EF4-FFF2-40B4-BE49-F238E27FC236}">
                <a16:creationId xmlns:a16="http://schemas.microsoft.com/office/drawing/2014/main" id="{8AEB9C95-E9F6-E04D-9EB6-5586EB3FB9EE}"/>
              </a:ext>
            </a:extLst>
          </p:cNvPr>
          <p:cNvSpPr/>
          <p:nvPr/>
        </p:nvSpPr>
        <p:spPr>
          <a:xfrm>
            <a:off x="5211761" y="6693895"/>
            <a:ext cx="3290849" cy="325718"/>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rgbClr val="000000"/>
                </a:solidFill>
                <a:sym typeface="Helvetica Neue Medium"/>
              </a:rPr>
              <a:t>Pilot Application Discovery &amp; Design (continued)</a:t>
            </a:r>
            <a:endParaRPr sz="900" kern="1200" dirty="0">
              <a:solidFill>
                <a:srgbClr val="000000"/>
              </a:solidFill>
              <a:latin typeface="+mn-lt"/>
              <a:ea typeface="+mn-ea"/>
              <a:cs typeface="+mn-cs"/>
              <a:sym typeface="Helvetica Neue Medium"/>
            </a:endParaRPr>
          </a:p>
        </p:txBody>
      </p:sp>
      <p:sp>
        <p:nvSpPr>
          <p:cNvPr id="124" name="Rounded Rectangle">
            <a:extLst>
              <a:ext uri="{FF2B5EF4-FFF2-40B4-BE49-F238E27FC236}">
                <a16:creationId xmlns:a16="http://schemas.microsoft.com/office/drawing/2014/main" id="{2BC40C9B-ADF7-FA43-A29E-937B2DECA301}"/>
              </a:ext>
            </a:extLst>
          </p:cNvPr>
          <p:cNvSpPr/>
          <p:nvPr/>
        </p:nvSpPr>
        <p:spPr>
          <a:xfrm>
            <a:off x="5211760" y="7056310"/>
            <a:ext cx="5620047" cy="300138"/>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rgbClr val="000000"/>
                </a:solidFill>
                <a:sym typeface="Helvetica Neue Medium"/>
              </a:rPr>
              <a:t>App/Infra 7R Disposition, Categorization and Prioritization</a:t>
            </a:r>
            <a:endParaRPr sz="900" kern="1200" dirty="0">
              <a:solidFill>
                <a:srgbClr val="000000"/>
              </a:solidFill>
              <a:latin typeface="+mn-lt"/>
              <a:ea typeface="+mn-ea"/>
              <a:cs typeface="+mn-cs"/>
              <a:sym typeface="Helvetica Neue Medium"/>
            </a:endParaRPr>
          </a:p>
        </p:txBody>
      </p:sp>
      <p:sp>
        <p:nvSpPr>
          <p:cNvPr id="130" name="Rounded Rectangle">
            <a:extLst>
              <a:ext uri="{FF2B5EF4-FFF2-40B4-BE49-F238E27FC236}">
                <a16:creationId xmlns:a16="http://schemas.microsoft.com/office/drawing/2014/main" id="{7C028A91-5F9D-7949-A688-617DBCB5AEE2}"/>
              </a:ext>
            </a:extLst>
          </p:cNvPr>
          <p:cNvSpPr/>
          <p:nvPr/>
        </p:nvSpPr>
        <p:spPr>
          <a:xfrm>
            <a:off x="9724469" y="6693895"/>
            <a:ext cx="4556136" cy="300138"/>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900" dirty="0">
                <a:solidFill>
                  <a:srgbClr val="000000"/>
                </a:solidFill>
                <a:sym typeface="Helvetica Neue Medium"/>
              </a:rPr>
              <a:t>Continuous Data Enrichment and Validation</a:t>
            </a:r>
            <a:endParaRPr sz="900" kern="1200" dirty="0">
              <a:solidFill>
                <a:srgbClr val="000000"/>
              </a:solidFill>
              <a:latin typeface="+mn-lt"/>
              <a:ea typeface="+mn-ea"/>
              <a:cs typeface="+mn-cs"/>
              <a:sym typeface="Helvetica Neue Medium"/>
            </a:endParaRPr>
          </a:p>
        </p:txBody>
      </p:sp>
      <p:sp>
        <p:nvSpPr>
          <p:cNvPr id="131" name="Rounded Rectangle">
            <a:extLst>
              <a:ext uri="{FF2B5EF4-FFF2-40B4-BE49-F238E27FC236}">
                <a16:creationId xmlns:a16="http://schemas.microsoft.com/office/drawing/2014/main" id="{6EB2B2F3-D77D-A944-BABF-A93360ACAE1E}"/>
              </a:ext>
            </a:extLst>
          </p:cNvPr>
          <p:cNvSpPr/>
          <p:nvPr/>
        </p:nvSpPr>
        <p:spPr>
          <a:xfrm>
            <a:off x="13375318" y="5391012"/>
            <a:ext cx="823968" cy="918504"/>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00" b="1" kern="1200" dirty="0">
                <a:solidFill>
                  <a:srgbClr val="000000"/>
                </a:solidFill>
                <a:latin typeface="+mn-lt"/>
                <a:ea typeface="+mn-ea"/>
                <a:cs typeface="+mn-cs"/>
                <a:sym typeface="Helvetica Neue Medium"/>
              </a:rPr>
              <a:t>Move</a:t>
            </a:r>
            <a:br>
              <a:rPr lang="en-US" sz="1000" b="1" kern="1200" dirty="0">
                <a:solidFill>
                  <a:srgbClr val="000000"/>
                </a:solidFill>
                <a:latin typeface="+mn-lt"/>
                <a:ea typeface="+mn-ea"/>
                <a:cs typeface="+mn-cs"/>
                <a:sym typeface="Helvetica Neue Medium"/>
              </a:rPr>
            </a:br>
            <a:r>
              <a:rPr lang="en-US" sz="1000" b="1" kern="1200" dirty="0">
                <a:solidFill>
                  <a:srgbClr val="000000"/>
                </a:solidFill>
                <a:latin typeface="+mn-lt"/>
                <a:ea typeface="+mn-ea"/>
                <a:cs typeface="+mn-cs"/>
                <a:sym typeface="Helvetica Neue Medium"/>
              </a:rPr>
              <a:t>Party</a:t>
            </a:r>
            <a:br>
              <a:rPr lang="en-US" sz="1000" b="1" dirty="0">
                <a:solidFill>
                  <a:srgbClr val="000000"/>
                </a:solidFill>
                <a:sym typeface="Helvetica Neue Medium"/>
              </a:rPr>
            </a:br>
            <a:br>
              <a:rPr lang="en-US" sz="1000" b="1" dirty="0">
                <a:solidFill>
                  <a:srgbClr val="000000"/>
                </a:solidFill>
                <a:sym typeface="Helvetica Neue Medium"/>
              </a:rPr>
            </a:br>
            <a:r>
              <a:rPr lang="en-US" sz="900" i="1" dirty="0">
                <a:solidFill>
                  <a:srgbClr val="000000"/>
                </a:solidFill>
                <a:sym typeface="Helvetica Neue Medium"/>
              </a:rPr>
              <a:t>n App in Prod</a:t>
            </a:r>
            <a:endParaRPr lang="en-US" sz="900" i="1" kern="1200" dirty="0">
              <a:solidFill>
                <a:srgbClr val="000000"/>
              </a:solidFill>
              <a:sym typeface="Helvetica Neue Medium"/>
            </a:endParaRPr>
          </a:p>
        </p:txBody>
      </p:sp>
      <p:sp>
        <p:nvSpPr>
          <p:cNvPr id="132" name="Rounded Rectangle">
            <a:extLst>
              <a:ext uri="{FF2B5EF4-FFF2-40B4-BE49-F238E27FC236}">
                <a16:creationId xmlns:a16="http://schemas.microsoft.com/office/drawing/2014/main" id="{9C9F26E4-1AF9-394C-9A0B-E5ECFFC259E2}"/>
              </a:ext>
            </a:extLst>
          </p:cNvPr>
          <p:cNvSpPr/>
          <p:nvPr/>
        </p:nvSpPr>
        <p:spPr>
          <a:xfrm>
            <a:off x="6333468" y="5407186"/>
            <a:ext cx="1053675"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Factory Testing</a:t>
            </a:r>
            <a:endParaRPr sz="900" kern="1200" dirty="0">
              <a:solidFill>
                <a:srgbClr val="000000"/>
              </a:solidFill>
              <a:latin typeface="+mn-lt"/>
              <a:ea typeface="+mn-ea"/>
              <a:cs typeface="+mn-cs"/>
              <a:sym typeface="Helvetica Neue Medium"/>
            </a:endParaRPr>
          </a:p>
        </p:txBody>
      </p:sp>
      <p:sp>
        <p:nvSpPr>
          <p:cNvPr id="133" name="Rounded Rectangle">
            <a:extLst>
              <a:ext uri="{FF2B5EF4-FFF2-40B4-BE49-F238E27FC236}">
                <a16:creationId xmlns:a16="http://schemas.microsoft.com/office/drawing/2014/main" id="{9C9F26E4-1AF9-394C-9A0B-E5ECFFC259E2}"/>
              </a:ext>
            </a:extLst>
          </p:cNvPr>
          <p:cNvSpPr/>
          <p:nvPr/>
        </p:nvSpPr>
        <p:spPr>
          <a:xfrm>
            <a:off x="2924783" y="5416128"/>
            <a:ext cx="1053675" cy="408275"/>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Migration Patterns Analysis</a:t>
            </a:r>
            <a:endParaRPr sz="900" kern="1200" dirty="0">
              <a:solidFill>
                <a:srgbClr val="000000"/>
              </a:solidFill>
              <a:latin typeface="+mn-lt"/>
              <a:ea typeface="+mn-ea"/>
              <a:cs typeface="+mn-cs"/>
              <a:sym typeface="Helvetica Neue Medium"/>
            </a:endParaRPr>
          </a:p>
        </p:txBody>
      </p:sp>
      <p:sp>
        <p:nvSpPr>
          <p:cNvPr id="134" name="Title 1">
            <a:extLst>
              <a:ext uri="{FF2B5EF4-FFF2-40B4-BE49-F238E27FC236}">
                <a16:creationId xmlns:a16="http://schemas.microsoft.com/office/drawing/2014/main" id="{1B1E10EF-D518-2442-8A6A-4BD22C64E7B1}"/>
              </a:ext>
            </a:extLst>
          </p:cNvPr>
          <p:cNvSpPr>
            <a:spLocks noGrp="1"/>
          </p:cNvSpPr>
          <p:nvPr>
            <p:ph type="title" idx="4294967295"/>
          </p:nvPr>
        </p:nvSpPr>
        <p:spPr>
          <a:xfrm>
            <a:off x="647700" y="26988"/>
            <a:ext cx="13982700" cy="958850"/>
          </a:xfrm>
        </p:spPr>
        <p:txBody>
          <a:bodyPr>
            <a:normAutofit/>
          </a:bodyPr>
          <a:lstStyle/>
          <a:p>
            <a:r>
              <a:rPr lang="en-US" dirty="0"/>
              <a:t>Post-MRA Cloud Migration Journey – Mobilize Phase</a:t>
            </a:r>
          </a:p>
        </p:txBody>
      </p:sp>
      <p:sp>
        <p:nvSpPr>
          <p:cNvPr id="135" name="Rectangle 134">
            <a:extLst>
              <a:ext uri="{FF2B5EF4-FFF2-40B4-BE49-F238E27FC236}">
                <a16:creationId xmlns:a16="http://schemas.microsoft.com/office/drawing/2014/main" id="{7FE6D615-5733-2D46-8430-B83EF2AFF952}"/>
              </a:ext>
            </a:extLst>
          </p:cNvPr>
          <p:cNvSpPr/>
          <p:nvPr/>
        </p:nvSpPr>
        <p:spPr>
          <a:xfrm>
            <a:off x="344158" y="620080"/>
            <a:ext cx="13664546" cy="400110"/>
          </a:xfrm>
          <a:prstGeom prst="rect">
            <a:avLst/>
          </a:prstGeom>
        </p:spPr>
        <p:txBody>
          <a:bodyPr wrap="square">
            <a:spAutoFit/>
          </a:bodyPr>
          <a:lstStyle/>
          <a:p>
            <a:r>
              <a:rPr lang="en-US" sz="2000" dirty="0">
                <a:latin typeface="Ember"/>
              </a:rPr>
              <a:t>The timeline below serves as a first iteration of the recommended Mobilize engagement timeline which may need modifications.</a:t>
            </a:r>
            <a:endParaRPr lang="en-US" sz="2000" dirty="0"/>
          </a:p>
        </p:txBody>
      </p:sp>
      <p:grpSp>
        <p:nvGrpSpPr>
          <p:cNvPr id="4" name="Group 3">
            <a:extLst>
              <a:ext uri="{FF2B5EF4-FFF2-40B4-BE49-F238E27FC236}">
                <a16:creationId xmlns:a16="http://schemas.microsoft.com/office/drawing/2014/main" id="{5C3D2ACE-D9C3-9E4F-991C-A573A5FCA2EB}"/>
              </a:ext>
            </a:extLst>
          </p:cNvPr>
          <p:cNvGrpSpPr/>
          <p:nvPr/>
        </p:nvGrpSpPr>
        <p:grpSpPr>
          <a:xfrm>
            <a:off x="0" y="0"/>
            <a:ext cx="14630400" cy="8229600"/>
            <a:chOff x="0" y="0"/>
            <a:chExt cx="14630400" cy="8229600"/>
          </a:xfrm>
        </p:grpSpPr>
        <p:sp>
          <p:nvSpPr>
            <p:cNvPr id="136" name="TextBox 135">
              <a:extLst>
                <a:ext uri="{FF2B5EF4-FFF2-40B4-BE49-F238E27FC236}">
                  <a16:creationId xmlns:a16="http://schemas.microsoft.com/office/drawing/2014/main" id="{2ABA7845-EBCF-264F-B8F4-BC6E6F8E00D8}"/>
                </a:ext>
              </a:extLst>
            </p:cNvPr>
            <p:cNvSpPr txBox="1"/>
            <p:nvPr/>
          </p:nvSpPr>
          <p:spPr>
            <a:xfrm rot="20294682">
              <a:off x="3048236" y="3747225"/>
              <a:ext cx="9682208"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(Pick one of 2 based on delivery model) Modify based on MRA recommended next steps</a:t>
              </a:r>
            </a:p>
          </p:txBody>
        </p:sp>
        <p:grpSp>
          <p:nvGrpSpPr>
            <p:cNvPr id="2" name="Group 1">
              <a:extLst>
                <a:ext uri="{FF2B5EF4-FFF2-40B4-BE49-F238E27FC236}">
                  <a16:creationId xmlns:a16="http://schemas.microsoft.com/office/drawing/2014/main" id="{80865B6E-9CDB-5F43-82FF-13A6AE2ED02D}"/>
                </a:ext>
              </a:extLst>
            </p:cNvPr>
            <p:cNvGrpSpPr/>
            <p:nvPr/>
          </p:nvGrpSpPr>
          <p:grpSpPr>
            <a:xfrm>
              <a:off x="0" y="0"/>
              <a:ext cx="14630400" cy="8229600"/>
              <a:chOff x="0" y="0"/>
              <a:chExt cx="14630400" cy="8229600"/>
            </a:xfrm>
          </p:grpSpPr>
          <p:sp>
            <p:nvSpPr>
              <p:cNvPr id="77" name="TextBox 76">
                <a:extLst>
                  <a:ext uri="{FF2B5EF4-FFF2-40B4-BE49-F238E27FC236}">
                    <a16:creationId xmlns:a16="http://schemas.microsoft.com/office/drawing/2014/main" id="{4564E4DD-339F-5F45-8C17-62420DF6C0AE}"/>
                  </a:ext>
                </a:extLst>
              </p:cNvPr>
              <p:cNvSpPr txBox="1"/>
              <p:nvPr/>
            </p:nvSpPr>
            <p:spPr>
              <a:xfrm>
                <a:off x="0" y="7518868"/>
                <a:ext cx="14630400" cy="707886"/>
              </a:xfrm>
              <a:prstGeom prst="rect">
                <a:avLst/>
              </a:prstGeom>
              <a:solidFill>
                <a:srgbClr val="FF0000"/>
              </a:solidFill>
            </p:spPr>
            <p:txBody>
              <a:bodyPr wrap="square" rtlCol="0">
                <a:spAutoFit/>
              </a:bodyPr>
              <a:lstStyle/>
              <a:p>
                <a:pPr algn="ct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FACILITATOR: Use this slide for customers which will engage with AWS ProServe for Mobilize</a:t>
                </a:r>
              </a:p>
            </p:txBody>
          </p:sp>
          <p:sp>
            <p:nvSpPr>
              <p:cNvPr id="78" name="Rectangle 77">
                <a:extLst>
                  <a:ext uri="{FF2B5EF4-FFF2-40B4-BE49-F238E27FC236}">
                    <a16:creationId xmlns:a16="http://schemas.microsoft.com/office/drawing/2014/main" id="{FF9DA6BD-C9F8-4947-8F84-69FC1092DF6F}"/>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grpSp>
      </p:grpSp>
    </p:spTree>
    <p:extLst>
      <p:ext uri="{BB962C8B-B14F-4D97-AF65-F5344CB8AC3E}">
        <p14:creationId xmlns:p14="http://schemas.microsoft.com/office/powerpoint/2010/main" val="148247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CDE95AB4-CA61-0045-9264-D2398FA212A7}"/>
              </a:ext>
            </a:extLst>
          </p:cNvPr>
          <p:cNvGraphicFramePr>
            <a:graphicFrameLocks noGrp="1"/>
          </p:cNvGraphicFramePr>
          <p:nvPr/>
        </p:nvGraphicFramePr>
        <p:xfrm>
          <a:off x="751051" y="1376811"/>
          <a:ext cx="13557270" cy="6096842"/>
        </p:xfrm>
        <a:graphic>
          <a:graphicData uri="http://schemas.openxmlformats.org/drawingml/2006/table">
            <a:tbl>
              <a:tblPr firstRow="1" bandRow="1">
                <a:tableStyleId>{5940675A-B579-460E-94D1-54222C63F5DA}</a:tableStyleId>
              </a:tblPr>
              <a:tblGrid>
                <a:gridCol w="1135696">
                  <a:extLst>
                    <a:ext uri="{9D8B030D-6E8A-4147-A177-3AD203B41FA5}">
                      <a16:colId xmlns:a16="http://schemas.microsoft.com/office/drawing/2014/main" val="1345181805"/>
                    </a:ext>
                  </a:extLst>
                </a:gridCol>
                <a:gridCol w="1114023">
                  <a:extLst>
                    <a:ext uri="{9D8B030D-6E8A-4147-A177-3AD203B41FA5}">
                      <a16:colId xmlns:a16="http://schemas.microsoft.com/office/drawing/2014/main" val="3842254298"/>
                    </a:ext>
                  </a:extLst>
                </a:gridCol>
                <a:gridCol w="1126901">
                  <a:extLst>
                    <a:ext uri="{9D8B030D-6E8A-4147-A177-3AD203B41FA5}">
                      <a16:colId xmlns:a16="http://schemas.microsoft.com/office/drawing/2014/main" val="1484075571"/>
                    </a:ext>
                  </a:extLst>
                </a:gridCol>
                <a:gridCol w="1139780">
                  <a:extLst>
                    <a:ext uri="{9D8B030D-6E8A-4147-A177-3AD203B41FA5}">
                      <a16:colId xmlns:a16="http://schemas.microsoft.com/office/drawing/2014/main" val="255111226"/>
                    </a:ext>
                  </a:extLst>
                </a:gridCol>
                <a:gridCol w="1146220">
                  <a:extLst>
                    <a:ext uri="{9D8B030D-6E8A-4147-A177-3AD203B41FA5}">
                      <a16:colId xmlns:a16="http://schemas.microsoft.com/office/drawing/2014/main" val="66509699"/>
                    </a:ext>
                  </a:extLst>
                </a:gridCol>
                <a:gridCol w="1120462">
                  <a:extLst>
                    <a:ext uri="{9D8B030D-6E8A-4147-A177-3AD203B41FA5}">
                      <a16:colId xmlns:a16="http://schemas.microsoft.com/office/drawing/2014/main" val="4136782918"/>
                    </a:ext>
                  </a:extLst>
                </a:gridCol>
                <a:gridCol w="1126901">
                  <a:extLst>
                    <a:ext uri="{9D8B030D-6E8A-4147-A177-3AD203B41FA5}">
                      <a16:colId xmlns:a16="http://schemas.microsoft.com/office/drawing/2014/main" val="937844714"/>
                    </a:ext>
                  </a:extLst>
                </a:gridCol>
                <a:gridCol w="1152660">
                  <a:extLst>
                    <a:ext uri="{9D8B030D-6E8A-4147-A177-3AD203B41FA5}">
                      <a16:colId xmlns:a16="http://schemas.microsoft.com/office/drawing/2014/main" val="1669382892"/>
                    </a:ext>
                  </a:extLst>
                </a:gridCol>
                <a:gridCol w="1165538">
                  <a:extLst>
                    <a:ext uri="{9D8B030D-6E8A-4147-A177-3AD203B41FA5}">
                      <a16:colId xmlns:a16="http://schemas.microsoft.com/office/drawing/2014/main" val="347227544"/>
                    </a:ext>
                  </a:extLst>
                </a:gridCol>
                <a:gridCol w="3329089">
                  <a:extLst>
                    <a:ext uri="{9D8B030D-6E8A-4147-A177-3AD203B41FA5}">
                      <a16:colId xmlns:a16="http://schemas.microsoft.com/office/drawing/2014/main" val="3997009336"/>
                    </a:ext>
                  </a:extLst>
                </a:gridCol>
              </a:tblGrid>
              <a:tr h="6096842">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31927044"/>
                  </a:ext>
                </a:extLst>
              </a:tr>
            </a:tbl>
          </a:graphicData>
        </a:graphic>
      </p:graphicFrame>
      <p:pic>
        <p:nvPicPr>
          <p:cNvPr id="13" name="Picture 12">
            <a:extLst>
              <a:ext uri="{FF2B5EF4-FFF2-40B4-BE49-F238E27FC236}">
                <a16:creationId xmlns:a16="http://schemas.microsoft.com/office/drawing/2014/main" id="{4CCA0C4A-557A-2A42-9135-F334530AEFA3}"/>
              </a:ext>
            </a:extLst>
          </p:cNvPr>
          <p:cNvPicPr>
            <a:picLocks noChangeAspect="1"/>
          </p:cNvPicPr>
          <p:nvPr/>
        </p:nvPicPr>
        <p:blipFill>
          <a:blip r:embed="rId3"/>
          <a:stretch>
            <a:fillRect/>
          </a:stretch>
        </p:blipFill>
        <p:spPr>
          <a:xfrm>
            <a:off x="5168890" y="1078534"/>
            <a:ext cx="210467" cy="290104"/>
          </a:xfrm>
          <a:prstGeom prst="rect">
            <a:avLst/>
          </a:prstGeom>
        </p:spPr>
      </p:pic>
      <p:pic>
        <p:nvPicPr>
          <p:cNvPr id="18" name="Picture 17">
            <a:extLst>
              <a:ext uri="{FF2B5EF4-FFF2-40B4-BE49-F238E27FC236}">
                <a16:creationId xmlns:a16="http://schemas.microsoft.com/office/drawing/2014/main" id="{0F6EAACD-AE6E-434D-9006-AD6BFCD2D3FA}"/>
              </a:ext>
            </a:extLst>
          </p:cNvPr>
          <p:cNvPicPr>
            <a:picLocks noChangeAspect="1"/>
          </p:cNvPicPr>
          <p:nvPr/>
        </p:nvPicPr>
        <p:blipFill>
          <a:blip r:embed="rId3"/>
          <a:stretch>
            <a:fillRect/>
          </a:stretch>
        </p:blipFill>
        <p:spPr>
          <a:xfrm>
            <a:off x="9699697" y="1078534"/>
            <a:ext cx="210467" cy="290104"/>
          </a:xfrm>
          <a:prstGeom prst="rect">
            <a:avLst/>
          </a:prstGeom>
        </p:spPr>
      </p:pic>
      <p:pic>
        <p:nvPicPr>
          <p:cNvPr id="28" name="Picture 27">
            <a:extLst>
              <a:ext uri="{FF2B5EF4-FFF2-40B4-BE49-F238E27FC236}">
                <a16:creationId xmlns:a16="http://schemas.microsoft.com/office/drawing/2014/main" id="{0C16778A-5248-5748-A692-C96917B4B0A6}"/>
              </a:ext>
            </a:extLst>
          </p:cNvPr>
          <p:cNvPicPr>
            <a:picLocks noChangeAspect="1"/>
          </p:cNvPicPr>
          <p:nvPr/>
        </p:nvPicPr>
        <p:blipFill>
          <a:blip r:embed="rId3"/>
          <a:stretch>
            <a:fillRect/>
          </a:stretch>
        </p:blipFill>
        <p:spPr>
          <a:xfrm>
            <a:off x="7430088" y="1078534"/>
            <a:ext cx="210467" cy="290104"/>
          </a:xfrm>
          <a:prstGeom prst="rect">
            <a:avLst/>
          </a:prstGeom>
        </p:spPr>
      </p:pic>
      <p:sp>
        <p:nvSpPr>
          <p:cNvPr id="27" name="Rounded Rectangle">
            <a:extLst>
              <a:ext uri="{FF2B5EF4-FFF2-40B4-BE49-F238E27FC236}">
                <a16:creationId xmlns:a16="http://schemas.microsoft.com/office/drawing/2014/main" id="{7F9A9C82-9BA6-BC41-91A2-7EB718EC9381}"/>
              </a:ext>
            </a:extLst>
          </p:cNvPr>
          <p:cNvSpPr/>
          <p:nvPr/>
        </p:nvSpPr>
        <p:spPr>
          <a:xfrm>
            <a:off x="1926765" y="1422465"/>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1</a:t>
            </a:r>
            <a:endParaRPr sz="900" kern="1200" dirty="0">
              <a:solidFill>
                <a:srgbClr val="000000"/>
              </a:solidFill>
              <a:latin typeface="+mn-lt"/>
              <a:ea typeface="+mn-ea"/>
              <a:cs typeface="+mn-cs"/>
              <a:sym typeface="Helvetica Neue Medium"/>
            </a:endParaRPr>
          </a:p>
        </p:txBody>
      </p:sp>
      <p:sp>
        <p:nvSpPr>
          <p:cNvPr id="29" name="Rounded Rectangle">
            <a:extLst>
              <a:ext uri="{FF2B5EF4-FFF2-40B4-BE49-F238E27FC236}">
                <a16:creationId xmlns:a16="http://schemas.microsoft.com/office/drawing/2014/main" id="{CD53713F-4724-A149-A157-8884DE3AF2E3}"/>
              </a:ext>
            </a:extLst>
          </p:cNvPr>
          <p:cNvSpPr/>
          <p:nvPr/>
        </p:nvSpPr>
        <p:spPr>
          <a:xfrm>
            <a:off x="3045417" y="1422465"/>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2</a:t>
            </a:r>
            <a:endParaRPr sz="900" kern="1200" dirty="0">
              <a:solidFill>
                <a:srgbClr val="000000"/>
              </a:solidFill>
              <a:latin typeface="+mn-lt"/>
              <a:ea typeface="+mn-ea"/>
              <a:cs typeface="+mn-cs"/>
              <a:sym typeface="Helvetica Neue Medium"/>
            </a:endParaRPr>
          </a:p>
        </p:txBody>
      </p:sp>
      <p:sp>
        <p:nvSpPr>
          <p:cNvPr id="30" name="Rounded Rectangle">
            <a:extLst>
              <a:ext uri="{FF2B5EF4-FFF2-40B4-BE49-F238E27FC236}">
                <a16:creationId xmlns:a16="http://schemas.microsoft.com/office/drawing/2014/main" id="{EC1976FC-D5C9-BF41-91F9-30413BAE9D58}"/>
              </a:ext>
            </a:extLst>
          </p:cNvPr>
          <p:cNvSpPr/>
          <p:nvPr/>
        </p:nvSpPr>
        <p:spPr>
          <a:xfrm>
            <a:off x="4173594" y="1422465"/>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3</a:t>
            </a:r>
            <a:endParaRPr sz="900" kern="1200" dirty="0">
              <a:solidFill>
                <a:srgbClr val="000000"/>
              </a:solidFill>
              <a:latin typeface="+mn-lt"/>
              <a:ea typeface="+mn-ea"/>
              <a:cs typeface="+mn-cs"/>
              <a:sym typeface="Helvetica Neue Medium"/>
            </a:endParaRPr>
          </a:p>
        </p:txBody>
      </p:sp>
      <p:sp>
        <p:nvSpPr>
          <p:cNvPr id="31" name="Rounded Rectangle">
            <a:extLst>
              <a:ext uri="{FF2B5EF4-FFF2-40B4-BE49-F238E27FC236}">
                <a16:creationId xmlns:a16="http://schemas.microsoft.com/office/drawing/2014/main" id="{E0C4076B-9DE2-E344-800E-5A1FDD91FBC1}"/>
              </a:ext>
            </a:extLst>
          </p:cNvPr>
          <p:cNvSpPr/>
          <p:nvPr/>
        </p:nvSpPr>
        <p:spPr>
          <a:xfrm>
            <a:off x="5330346" y="1427696"/>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4</a:t>
            </a:r>
            <a:endParaRPr sz="900" kern="1200" dirty="0">
              <a:solidFill>
                <a:srgbClr val="000000"/>
              </a:solidFill>
              <a:latin typeface="+mn-lt"/>
              <a:ea typeface="+mn-ea"/>
              <a:cs typeface="+mn-cs"/>
              <a:sym typeface="Helvetica Neue Medium"/>
            </a:endParaRPr>
          </a:p>
        </p:txBody>
      </p:sp>
      <p:sp>
        <p:nvSpPr>
          <p:cNvPr id="33" name="Rounded Rectangle">
            <a:extLst>
              <a:ext uri="{FF2B5EF4-FFF2-40B4-BE49-F238E27FC236}">
                <a16:creationId xmlns:a16="http://schemas.microsoft.com/office/drawing/2014/main" id="{8D0C7CA8-E208-DA41-89E9-6B936EF48F03}"/>
              </a:ext>
            </a:extLst>
          </p:cNvPr>
          <p:cNvSpPr/>
          <p:nvPr/>
        </p:nvSpPr>
        <p:spPr>
          <a:xfrm>
            <a:off x="6458523" y="1427696"/>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5</a:t>
            </a:r>
            <a:endParaRPr sz="900" kern="1200" dirty="0">
              <a:solidFill>
                <a:srgbClr val="000000"/>
              </a:solidFill>
              <a:latin typeface="+mn-lt"/>
              <a:ea typeface="+mn-ea"/>
              <a:cs typeface="+mn-cs"/>
              <a:sym typeface="Helvetica Neue Medium"/>
            </a:endParaRPr>
          </a:p>
        </p:txBody>
      </p:sp>
      <p:sp>
        <p:nvSpPr>
          <p:cNvPr id="38" name="Rounded Rectangle">
            <a:extLst>
              <a:ext uri="{FF2B5EF4-FFF2-40B4-BE49-F238E27FC236}">
                <a16:creationId xmlns:a16="http://schemas.microsoft.com/office/drawing/2014/main" id="{16DD318A-52BA-F349-9DD5-673292B144CA}"/>
              </a:ext>
            </a:extLst>
          </p:cNvPr>
          <p:cNvSpPr/>
          <p:nvPr/>
        </p:nvSpPr>
        <p:spPr>
          <a:xfrm>
            <a:off x="7577175" y="1427696"/>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6</a:t>
            </a:r>
            <a:endParaRPr sz="900" kern="1200" dirty="0">
              <a:solidFill>
                <a:srgbClr val="000000"/>
              </a:solidFill>
              <a:latin typeface="+mn-lt"/>
              <a:ea typeface="+mn-ea"/>
              <a:cs typeface="+mn-cs"/>
              <a:sym typeface="Helvetica Neue Medium"/>
            </a:endParaRPr>
          </a:p>
        </p:txBody>
      </p:sp>
      <p:sp>
        <p:nvSpPr>
          <p:cNvPr id="39" name="Rounded Rectangle">
            <a:extLst>
              <a:ext uri="{FF2B5EF4-FFF2-40B4-BE49-F238E27FC236}">
                <a16:creationId xmlns:a16="http://schemas.microsoft.com/office/drawing/2014/main" id="{E651ECC8-DE90-9A46-9BC2-C9DBD8186C63}"/>
              </a:ext>
            </a:extLst>
          </p:cNvPr>
          <p:cNvSpPr/>
          <p:nvPr/>
        </p:nvSpPr>
        <p:spPr>
          <a:xfrm>
            <a:off x="8714877" y="1427696"/>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7</a:t>
            </a:r>
            <a:endParaRPr sz="900" kern="1200" dirty="0">
              <a:solidFill>
                <a:srgbClr val="000000"/>
              </a:solidFill>
              <a:latin typeface="+mn-lt"/>
              <a:ea typeface="+mn-ea"/>
              <a:cs typeface="+mn-cs"/>
              <a:sym typeface="Helvetica Neue Medium"/>
            </a:endParaRPr>
          </a:p>
        </p:txBody>
      </p:sp>
      <p:sp>
        <p:nvSpPr>
          <p:cNvPr id="40" name="Rounded Rectangle">
            <a:extLst>
              <a:ext uri="{FF2B5EF4-FFF2-40B4-BE49-F238E27FC236}">
                <a16:creationId xmlns:a16="http://schemas.microsoft.com/office/drawing/2014/main" id="{5FECA052-CE84-7544-A017-187D1F5ACF40}"/>
              </a:ext>
            </a:extLst>
          </p:cNvPr>
          <p:cNvSpPr/>
          <p:nvPr/>
        </p:nvSpPr>
        <p:spPr>
          <a:xfrm>
            <a:off x="9843054" y="1422465"/>
            <a:ext cx="1044020"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Week 8</a:t>
            </a:r>
            <a:endParaRPr sz="900" kern="1200" dirty="0">
              <a:solidFill>
                <a:srgbClr val="000000"/>
              </a:solidFill>
              <a:latin typeface="+mn-lt"/>
              <a:ea typeface="+mn-ea"/>
              <a:cs typeface="+mn-cs"/>
              <a:sym typeface="Helvetica Neue Medium"/>
            </a:endParaRPr>
          </a:p>
        </p:txBody>
      </p:sp>
      <p:sp>
        <p:nvSpPr>
          <p:cNvPr id="41" name="Rounded Rectangle">
            <a:extLst>
              <a:ext uri="{FF2B5EF4-FFF2-40B4-BE49-F238E27FC236}">
                <a16:creationId xmlns:a16="http://schemas.microsoft.com/office/drawing/2014/main" id="{DF1BFBF4-2784-DD4D-9EB5-C89FE0CEEF21}"/>
              </a:ext>
            </a:extLst>
          </p:cNvPr>
          <p:cNvSpPr/>
          <p:nvPr/>
        </p:nvSpPr>
        <p:spPr>
          <a:xfrm>
            <a:off x="11026988" y="1414264"/>
            <a:ext cx="3223477" cy="342168"/>
          </a:xfrm>
          <a:prstGeom prst="roundRect">
            <a:avLst>
              <a:gd name="adj" fmla="val 22203"/>
            </a:avLst>
          </a:prstGeom>
          <a:solidFill>
            <a:schemeClr val="tx1">
              <a:lumMod val="95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Continued….</a:t>
            </a:r>
            <a:endParaRPr sz="900" kern="1200" dirty="0">
              <a:solidFill>
                <a:srgbClr val="000000"/>
              </a:solidFill>
              <a:latin typeface="+mn-lt"/>
              <a:ea typeface="+mn-ea"/>
              <a:cs typeface="+mn-cs"/>
              <a:sym typeface="Helvetica Neue Medium"/>
            </a:endParaRPr>
          </a:p>
        </p:txBody>
      </p:sp>
      <p:sp>
        <p:nvSpPr>
          <p:cNvPr id="43" name="Rounded Rectangle">
            <a:extLst>
              <a:ext uri="{FF2B5EF4-FFF2-40B4-BE49-F238E27FC236}">
                <a16:creationId xmlns:a16="http://schemas.microsoft.com/office/drawing/2014/main" id="{F05FD3C2-B07E-3745-9AC4-2A0F13C5D51E}"/>
              </a:ext>
            </a:extLst>
          </p:cNvPr>
          <p:cNvSpPr/>
          <p:nvPr/>
        </p:nvSpPr>
        <p:spPr>
          <a:xfrm rot="16200000">
            <a:off x="-122836" y="6621617"/>
            <a:ext cx="1032366" cy="496413"/>
          </a:xfrm>
          <a:prstGeom prst="roundRect">
            <a:avLst>
              <a:gd name="adj" fmla="val 22203"/>
            </a:avLst>
          </a:prstGeom>
          <a:solidFill>
            <a:srgbClr val="CC66FF"/>
          </a:solidFill>
          <a:ln w="12700">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b="1" dirty="0">
                <a:solidFill>
                  <a:srgbClr val="000000"/>
                </a:solidFill>
                <a:sym typeface="Helvetica Neue Medium"/>
              </a:rPr>
              <a:t>Portfolio</a:t>
            </a:r>
            <a:endParaRPr sz="1100" b="1" kern="1200" dirty="0">
              <a:solidFill>
                <a:srgbClr val="000000"/>
              </a:solidFill>
              <a:sym typeface="Helvetica Neue Medium"/>
            </a:endParaRPr>
          </a:p>
        </p:txBody>
      </p:sp>
      <p:pic>
        <p:nvPicPr>
          <p:cNvPr id="97" name="Picture 96">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2898342" y="1078534"/>
            <a:ext cx="210467" cy="290104"/>
          </a:xfrm>
          <a:prstGeom prst="rect">
            <a:avLst/>
          </a:prstGeom>
        </p:spPr>
      </p:pic>
      <p:pic>
        <p:nvPicPr>
          <p:cNvPr id="98" name="Picture 97">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4023225" y="1078534"/>
            <a:ext cx="210467" cy="290104"/>
          </a:xfrm>
          <a:prstGeom prst="rect">
            <a:avLst/>
          </a:prstGeom>
        </p:spPr>
      </p:pic>
      <p:pic>
        <p:nvPicPr>
          <p:cNvPr id="99" name="Picture 98">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6314743" y="1078534"/>
            <a:ext cx="210467" cy="290104"/>
          </a:xfrm>
          <a:prstGeom prst="rect">
            <a:avLst/>
          </a:prstGeom>
        </p:spPr>
      </p:pic>
      <p:pic>
        <p:nvPicPr>
          <p:cNvPr id="100" name="Picture 99">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8547460" y="1078534"/>
            <a:ext cx="210467" cy="290104"/>
          </a:xfrm>
          <a:prstGeom prst="rect">
            <a:avLst/>
          </a:prstGeom>
        </p:spPr>
      </p:pic>
      <p:pic>
        <p:nvPicPr>
          <p:cNvPr id="101" name="Picture 100">
            <a:extLst>
              <a:ext uri="{FF2B5EF4-FFF2-40B4-BE49-F238E27FC236}">
                <a16:creationId xmlns:a16="http://schemas.microsoft.com/office/drawing/2014/main" id="{04E94116-EA90-1947-8C5A-8A064ED85A57}"/>
              </a:ext>
            </a:extLst>
          </p:cNvPr>
          <p:cNvPicPr>
            <a:picLocks noChangeAspect="1"/>
          </p:cNvPicPr>
          <p:nvPr/>
        </p:nvPicPr>
        <p:blipFill>
          <a:blip r:embed="rId3"/>
          <a:stretch>
            <a:fillRect/>
          </a:stretch>
        </p:blipFill>
        <p:spPr>
          <a:xfrm>
            <a:off x="10878235" y="1078534"/>
            <a:ext cx="210467" cy="290104"/>
          </a:xfrm>
          <a:prstGeom prst="rect">
            <a:avLst/>
          </a:prstGeom>
        </p:spPr>
      </p:pic>
      <p:pic>
        <p:nvPicPr>
          <p:cNvPr id="102" name="Picture 101">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1985161" y="1078534"/>
            <a:ext cx="210467" cy="290104"/>
          </a:xfrm>
          <a:prstGeom prst="rect">
            <a:avLst/>
          </a:prstGeom>
        </p:spPr>
      </p:pic>
      <p:pic>
        <p:nvPicPr>
          <p:cNvPr id="103" name="Picture 102">
            <a:extLst>
              <a:ext uri="{FF2B5EF4-FFF2-40B4-BE49-F238E27FC236}">
                <a16:creationId xmlns:a16="http://schemas.microsoft.com/office/drawing/2014/main" id="{69BE207D-1A26-FB42-ABC4-9EC86696D89F}"/>
              </a:ext>
            </a:extLst>
          </p:cNvPr>
          <p:cNvPicPr>
            <a:picLocks noChangeAspect="1"/>
          </p:cNvPicPr>
          <p:nvPr/>
        </p:nvPicPr>
        <p:blipFill>
          <a:blip r:embed="rId3"/>
          <a:stretch>
            <a:fillRect/>
          </a:stretch>
        </p:blipFill>
        <p:spPr>
          <a:xfrm>
            <a:off x="13096160" y="1078534"/>
            <a:ext cx="210467" cy="290104"/>
          </a:xfrm>
          <a:prstGeom prst="rect">
            <a:avLst/>
          </a:prstGeom>
        </p:spPr>
      </p:pic>
      <p:sp>
        <p:nvSpPr>
          <p:cNvPr id="112" name="Rounded Rectangle">
            <a:extLst>
              <a:ext uri="{FF2B5EF4-FFF2-40B4-BE49-F238E27FC236}">
                <a16:creationId xmlns:a16="http://schemas.microsoft.com/office/drawing/2014/main" id="{9C9F26E4-1AF9-394C-9A0B-E5ECFFC259E2}"/>
              </a:ext>
            </a:extLst>
          </p:cNvPr>
          <p:cNvSpPr/>
          <p:nvPr/>
        </p:nvSpPr>
        <p:spPr>
          <a:xfrm rot="16200000">
            <a:off x="-120199" y="5548659"/>
            <a:ext cx="1022335" cy="491657"/>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b="1" kern="1200" dirty="0">
                <a:solidFill>
                  <a:srgbClr val="000000"/>
                </a:solidFill>
                <a:latin typeface="+mn-lt"/>
                <a:ea typeface="+mn-ea"/>
                <a:cs typeface="+mn-cs"/>
                <a:sym typeface="Helvetica Neue Medium"/>
              </a:rPr>
              <a:t>Migration</a:t>
            </a:r>
            <a:endParaRPr sz="1100" b="1" kern="1200" dirty="0">
              <a:solidFill>
                <a:srgbClr val="000000"/>
              </a:solidFill>
              <a:latin typeface="+mn-lt"/>
              <a:ea typeface="+mn-ea"/>
              <a:cs typeface="+mn-cs"/>
              <a:sym typeface="Helvetica Neue Medium"/>
            </a:endParaRPr>
          </a:p>
        </p:txBody>
      </p:sp>
      <p:sp>
        <p:nvSpPr>
          <p:cNvPr id="127" name="Rounded Rectangle">
            <a:extLst>
              <a:ext uri="{FF2B5EF4-FFF2-40B4-BE49-F238E27FC236}">
                <a16:creationId xmlns:a16="http://schemas.microsoft.com/office/drawing/2014/main" id="{9C9F26E4-1AF9-394C-9A0B-E5ECFFC259E2}"/>
              </a:ext>
            </a:extLst>
          </p:cNvPr>
          <p:cNvSpPr/>
          <p:nvPr/>
        </p:nvSpPr>
        <p:spPr>
          <a:xfrm rot="16200000">
            <a:off x="-127794" y="4364555"/>
            <a:ext cx="1053567" cy="507699"/>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b="1" kern="1200" dirty="0">
                <a:solidFill>
                  <a:srgbClr val="000000"/>
                </a:solidFill>
                <a:latin typeface="+mn-lt"/>
                <a:ea typeface="+mn-ea"/>
                <a:cs typeface="+mn-cs"/>
                <a:sym typeface="Helvetica Neue Medium"/>
              </a:rPr>
              <a:t>Platform</a:t>
            </a:r>
            <a:endParaRPr sz="1100" b="1" kern="1200" dirty="0">
              <a:solidFill>
                <a:srgbClr val="000000"/>
              </a:solidFill>
              <a:latin typeface="+mn-lt"/>
              <a:ea typeface="+mn-ea"/>
              <a:cs typeface="+mn-cs"/>
              <a:sym typeface="Helvetica Neue Medium"/>
            </a:endParaRPr>
          </a:p>
        </p:txBody>
      </p:sp>
      <p:sp>
        <p:nvSpPr>
          <p:cNvPr id="49" name="Rounded Rectangle">
            <a:extLst>
              <a:ext uri="{FF2B5EF4-FFF2-40B4-BE49-F238E27FC236}">
                <a16:creationId xmlns:a16="http://schemas.microsoft.com/office/drawing/2014/main" id="{09668B15-F35F-5E4C-9CC7-F7D226342C7B}"/>
              </a:ext>
            </a:extLst>
          </p:cNvPr>
          <p:cNvSpPr/>
          <p:nvPr/>
        </p:nvSpPr>
        <p:spPr>
          <a:xfrm rot="16200000">
            <a:off x="-103946" y="3173034"/>
            <a:ext cx="1029541" cy="531369"/>
          </a:xfrm>
          <a:prstGeom prst="roundRect">
            <a:avLst>
              <a:gd name="adj" fmla="val 22203"/>
            </a:avLst>
          </a:prstGeom>
          <a:solidFill>
            <a:schemeClr val="accent2">
              <a:lumMod val="40000"/>
              <a:lumOff val="60000"/>
            </a:schemeClr>
          </a:solidFill>
          <a:ln w="12700">
            <a:noFill/>
            <a:miter lim="400000"/>
          </a:ln>
        </p:spPr>
        <p:txBody>
          <a:bodyPr lIns="42863" tIns="42863" rIns="42863" bIns="42863" anchor="ctr"/>
          <a:lstStyle/>
          <a:p>
            <a:pPr algn="ctr" defTabSz="1097280">
              <a:defRPr sz="3000" b="0">
                <a:latin typeface="+mn-lt"/>
                <a:ea typeface="+mn-ea"/>
                <a:cs typeface="+mn-cs"/>
                <a:sym typeface="Helvetica Neue Medium"/>
              </a:defRPr>
            </a:pPr>
            <a:r>
              <a:rPr lang="en-US" sz="1100" b="1" dirty="0">
                <a:solidFill>
                  <a:schemeClr val="bg1"/>
                </a:solidFill>
                <a:sym typeface="Helvetica Neue Medium"/>
              </a:rPr>
              <a:t>People</a:t>
            </a:r>
          </a:p>
        </p:txBody>
      </p:sp>
      <p:sp>
        <p:nvSpPr>
          <p:cNvPr id="129" name="Rounded Rectangle">
            <a:extLst>
              <a:ext uri="{FF2B5EF4-FFF2-40B4-BE49-F238E27FC236}">
                <a16:creationId xmlns:a16="http://schemas.microsoft.com/office/drawing/2014/main" id="{215E228D-7879-4B4D-9689-031ECC9C11D4}"/>
              </a:ext>
            </a:extLst>
          </p:cNvPr>
          <p:cNvSpPr/>
          <p:nvPr/>
        </p:nvSpPr>
        <p:spPr>
          <a:xfrm rot="16200000">
            <a:off x="-109045" y="2009125"/>
            <a:ext cx="1030876" cy="522505"/>
          </a:xfrm>
          <a:prstGeom prst="roundRect">
            <a:avLst>
              <a:gd name="adj" fmla="val 22203"/>
            </a:avLst>
          </a:prstGeom>
          <a:solidFill>
            <a:schemeClr val="accent1"/>
          </a:solidFill>
          <a:ln w="12700">
            <a:noFill/>
            <a:miter lim="400000"/>
          </a:ln>
        </p:spPr>
        <p:txBody>
          <a:bodyPr lIns="42863" tIns="42863" rIns="42863" bIns="42863" anchor="t"/>
          <a:lstStyle/>
          <a:p>
            <a:pPr algn="ctr" defTabSz="1097280" hangingPunct="1">
              <a:defRPr sz="3000" b="0">
                <a:latin typeface="+mn-lt"/>
                <a:ea typeface="+mn-ea"/>
                <a:cs typeface="+mn-cs"/>
                <a:sym typeface="Helvetica Neue Medium"/>
              </a:defRPr>
            </a:pPr>
            <a:r>
              <a:rPr lang="en-US" sz="1100" b="1" kern="1200" dirty="0">
                <a:solidFill>
                  <a:schemeClr val="bg1"/>
                </a:solidFill>
                <a:sym typeface="Helvetica Neue Medium"/>
              </a:rPr>
              <a:t>B</a:t>
            </a:r>
            <a:r>
              <a:rPr lang="en-US" sz="1100" b="1" dirty="0">
                <a:solidFill>
                  <a:schemeClr val="bg1"/>
                </a:solidFill>
                <a:sym typeface="Helvetica Neue Medium"/>
              </a:rPr>
              <a:t>usiness Case</a:t>
            </a:r>
            <a:endParaRPr sz="1100" b="1" kern="1200" dirty="0">
              <a:solidFill>
                <a:schemeClr val="bg1"/>
              </a:solidFill>
              <a:sym typeface="Helvetica Neue Medium"/>
            </a:endParaRPr>
          </a:p>
        </p:txBody>
      </p:sp>
      <p:sp>
        <p:nvSpPr>
          <p:cNvPr id="134" name="Title 1">
            <a:extLst>
              <a:ext uri="{FF2B5EF4-FFF2-40B4-BE49-F238E27FC236}">
                <a16:creationId xmlns:a16="http://schemas.microsoft.com/office/drawing/2014/main" id="{1B1E10EF-D518-2442-8A6A-4BD22C64E7B1}"/>
              </a:ext>
            </a:extLst>
          </p:cNvPr>
          <p:cNvSpPr>
            <a:spLocks noGrp="1"/>
          </p:cNvSpPr>
          <p:nvPr>
            <p:ph type="title" idx="4294967295"/>
          </p:nvPr>
        </p:nvSpPr>
        <p:spPr>
          <a:xfrm>
            <a:off x="647700" y="26988"/>
            <a:ext cx="13982700" cy="958850"/>
          </a:xfrm>
        </p:spPr>
        <p:txBody>
          <a:bodyPr>
            <a:normAutofit/>
          </a:bodyPr>
          <a:lstStyle/>
          <a:p>
            <a:r>
              <a:rPr lang="en-US" dirty="0"/>
              <a:t>Post-MRA Cloud Migration Journey – Mobilize Phase</a:t>
            </a:r>
          </a:p>
        </p:txBody>
      </p:sp>
      <p:sp>
        <p:nvSpPr>
          <p:cNvPr id="135" name="Rectangle 134">
            <a:extLst>
              <a:ext uri="{FF2B5EF4-FFF2-40B4-BE49-F238E27FC236}">
                <a16:creationId xmlns:a16="http://schemas.microsoft.com/office/drawing/2014/main" id="{7FE6D615-5733-2D46-8430-B83EF2AFF952}"/>
              </a:ext>
            </a:extLst>
          </p:cNvPr>
          <p:cNvSpPr/>
          <p:nvPr/>
        </p:nvSpPr>
        <p:spPr>
          <a:xfrm>
            <a:off x="344158" y="620080"/>
            <a:ext cx="13848260" cy="400110"/>
          </a:xfrm>
          <a:prstGeom prst="rect">
            <a:avLst/>
          </a:prstGeom>
        </p:spPr>
        <p:txBody>
          <a:bodyPr wrap="square">
            <a:spAutoFit/>
          </a:bodyPr>
          <a:lstStyle/>
          <a:p>
            <a:r>
              <a:rPr lang="en-US" sz="2000" dirty="0">
                <a:latin typeface="Ember"/>
              </a:rPr>
              <a:t>The timeline below serves as first iteration of the recommended EBA engagement, which will adapt as we work together</a:t>
            </a:r>
            <a:endParaRPr lang="en-US" sz="2000" dirty="0"/>
          </a:p>
        </p:txBody>
      </p:sp>
      <p:sp>
        <p:nvSpPr>
          <p:cNvPr id="80" name="Rounded Rectangle">
            <a:extLst>
              <a:ext uri="{FF2B5EF4-FFF2-40B4-BE49-F238E27FC236}">
                <a16:creationId xmlns:a16="http://schemas.microsoft.com/office/drawing/2014/main" id="{4A445DCD-42AC-CE4C-9873-2DEF6D62D06A}"/>
              </a:ext>
            </a:extLst>
          </p:cNvPr>
          <p:cNvSpPr/>
          <p:nvPr/>
        </p:nvSpPr>
        <p:spPr>
          <a:xfrm>
            <a:off x="801762" y="1822556"/>
            <a:ext cx="1019790" cy="5535639"/>
          </a:xfrm>
          <a:prstGeom prst="roundRect">
            <a:avLst>
              <a:gd name="adj" fmla="val 22203"/>
            </a:avLst>
          </a:prstGeom>
          <a:solidFill>
            <a:schemeClr val="accent6">
              <a:alpha val="4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400" b="1" kern="1200" dirty="0">
                <a:solidFill>
                  <a:srgbClr val="000000"/>
                </a:solidFill>
                <a:latin typeface="+mn-lt"/>
                <a:ea typeface="+mn-ea"/>
                <a:cs typeface="+mn-cs"/>
                <a:sym typeface="Helvetica Neue Medium"/>
              </a:rPr>
              <a:t>Platform Party</a:t>
            </a:r>
            <a:endParaRPr sz="1400" b="1" kern="1200" dirty="0">
              <a:solidFill>
                <a:srgbClr val="000000"/>
              </a:solidFill>
              <a:latin typeface="+mn-lt"/>
              <a:ea typeface="+mn-ea"/>
              <a:cs typeface="+mn-cs"/>
              <a:sym typeface="Helvetica Neue Medium"/>
            </a:endParaRPr>
          </a:p>
        </p:txBody>
      </p:sp>
      <p:sp>
        <p:nvSpPr>
          <p:cNvPr id="81" name="Rounded Rectangle">
            <a:extLst>
              <a:ext uri="{FF2B5EF4-FFF2-40B4-BE49-F238E27FC236}">
                <a16:creationId xmlns:a16="http://schemas.microsoft.com/office/drawing/2014/main" id="{5033C7C1-8D28-4948-B0BC-48204A3AB5E8}"/>
              </a:ext>
            </a:extLst>
          </p:cNvPr>
          <p:cNvSpPr/>
          <p:nvPr/>
        </p:nvSpPr>
        <p:spPr>
          <a:xfrm>
            <a:off x="6450374" y="1822556"/>
            <a:ext cx="1054228" cy="5535639"/>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400" b="1" kern="1200" dirty="0">
                <a:solidFill>
                  <a:srgbClr val="000000"/>
                </a:solidFill>
                <a:latin typeface="+mn-lt"/>
                <a:ea typeface="+mn-ea"/>
                <a:cs typeface="+mn-cs"/>
                <a:sym typeface="Helvetica Neue Medium"/>
              </a:rPr>
              <a:t>Migration Party</a:t>
            </a:r>
            <a:endParaRPr sz="1400" b="1" kern="1200" dirty="0">
              <a:solidFill>
                <a:srgbClr val="000000"/>
              </a:solidFill>
              <a:latin typeface="+mn-lt"/>
              <a:ea typeface="+mn-ea"/>
              <a:cs typeface="+mn-cs"/>
              <a:sym typeface="Helvetica Neue Medium"/>
            </a:endParaRPr>
          </a:p>
        </p:txBody>
      </p:sp>
      <p:sp>
        <p:nvSpPr>
          <p:cNvPr id="87" name="Rounded Rectangle">
            <a:extLst>
              <a:ext uri="{FF2B5EF4-FFF2-40B4-BE49-F238E27FC236}">
                <a16:creationId xmlns:a16="http://schemas.microsoft.com/office/drawing/2014/main" id="{AA4E464B-BDF4-1341-8596-C9A29773C612}"/>
              </a:ext>
            </a:extLst>
          </p:cNvPr>
          <p:cNvSpPr/>
          <p:nvPr/>
        </p:nvSpPr>
        <p:spPr>
          <a:xfrm>
            <a:off x="1954466" y="1941606"/>
            <a:ext cx="2056043" cy="671744"/>
          </a:xfrm>
          <a:prstGeom prst="roundRect">
            <a:avLst>
              <a:gd name="adj" fmla="val 22203"/>
            </a:avLst>
          </a:prstGeom>
          <a:solidFill>
            <a:schemeClr val="accent1"/>
          </a:solidFill>
          <a:ln w="12700">
            <a:miter lim="400000"/>
          </a:ln>
        </p:spPr>
        <p:txBody>
          <a:bodyPr lIns="42863" tIns="42863" rIns="42863" bIns="42863" anchor="ctr"/>
          <a:lstStyle/>
          <a:p>
            <a:pPr>
              <a:defRPr/>
            </a:pPr>
            <a:r>
              <a:rPr lang="en-US" altLang="en-US" sz="1100" dirty="0">
                <a:solidFill>
                  <a:schemeClr val="bg1"/>
                </a:solidFill>
              </a:rPr>
              <a:t>Update business case based on metrics and results of Learned from Party</a:t>
            </a:r>
            <a:endParaRPr lang="en-US" sz="1100" dirty="0">
              <a:solidFill>
                <a:schemeClr val="bg1"/>
              </a:solidFill>
              <a:latin typeface="Calibri"/>
            </a:endParaRPr>
          </a:p>
        </p:txBody>
      </p:sp>
      <p:sp>
        <p:nvSpPr>
          <p:cNvPr id="88" name="Rounded Rectangle">
            <a:extLst>
              <a:ext uri="{FF2B5EF4-FFF2-40B4-BE49-F238E27FC236}">
                <a16:creationId xmlns:a16="http://schemas.microsoft.com/office/drawing/2014/main" id="{DF839FCF-3E69-664A-B507-16C316D4E4D7}"/>
              </a:ext>
            </a:extLst>
          </p:cNvPr>
          <p:cNvSpPr/>
          <p:nvPr/>
        </p:nvSpPr>
        <p:spPr>
          <a:xfrm>
            <a:off x="3048591" y="2961407"/>
            <a:ext cx="1044020"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b="1" dirty="0">
                <a:solidFill>
                  <a:srgbClr val="000000"/>
                </a:solidFill>
                <a:sym typeface="Helvetica Neue Medium"/>
              </a:rPr>
              <a:t>People Party</a:t>
            </a:r>
            <a:endParaRPr sz="1050" b="1" kern="1200" dirty="0">
              <a:solidFill>
                <a:srgbClr val="000000"/>
              </a:solidFill>
              <a:ea typeface="+mn-ea"/>
              <a:cs typeface="+mn-cs"/>
              <a:sym typeface="Helvetica Neue Medium"/>
            </a:endParaRPr>
          </a:p>
        </p:txBody>
      </p:sp>
      <p:sp>
        <p:nvSpPr>
          <p:cNvPr id="89" name="Rounded Rectangle">
            <a:extLst>
              <a:ext uri="{FF2B5EF4-FFF2-40B4-BE49-F238E27FC236}">
                <a16:creationId xmlns:a16="http://schemas.microsoft.com/office/drawing/2014/main" id="{B5A114F7-8CD7-ED43-B378-9702E27B2D03}"/>
              </a:ext>
            </a:extLst>
          </p:cNvPr>
          <p:cNvSpPr/>
          <p:nvPr/>
        </p:nvSpPr>
        <p:spPr>
          <a:xfrm>
            <a:off x="1954467" y="6651432"/>
            <a:ext cx="995038" cy="650923"/>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dirty="0">
                <a:solidFill>
                  <a:srgbClr val="000000"/>
                </a:solidFill>
              </a:rPr>
              <a:t>Discovery Acceleration &amp; Planning</a:t>
            </a:r>
            <a:endParaRPr lang="en-US" sz="1100" kern="1200" dirty="0">
              <a:solidFill>
                <a:srgbClr val="000000"/>
              </a:solidFill>
              <a:latin typeface="+mn-lt"/>
              <a:ea typeface="+mn-ea"/>
              <a:cs typeface="+mn-cs"/>
              <a:sym typeface="Helvetica Neue Medium"/>
            </a:endParaRPr>
          </a:p>
          <a:p>
            <a:pPr algn="ctr" defTabSz="1097280">
              <a:defRPr sz="3000" b="0">
                <a:latin typeface="+mn-lt"/>
                <a:ea typeface="+mn-ea"/>
                <a:cs typeface="+mn-cs"/>
                <a:sym typeface="Helvetica Neue Medium"/>
              </a:defRPr>
            </a:pPr>
            <a:r>
              <a:rPr lang="en-US" sz="1100" dirty="0">
                <a:solidFill>
                  <a:srgbClr val="000000"/>
                </a:solidFill>
                <a:sym typeface="Helvetica Neue Medium"/>
              </a:rPr>
              <a:t>(DAP)</a:t>
            </a:r>
            <a:endParaRPr lang="en-US" sz="1100" kern="1200" dirty="0">
              <a:solidFill>
                <a:srgbClr val="000000"/>
              </a:solidFill>
              <a:latin typeface="+mn-lt"/>
              <a:ea typeface="+mn-ea"/>
              <a:cs typeface="+mn-cs"/>
              <a:sym typeface="Helvetica Neue Medium"/>
            </a:endParaRPr>
          </a:p>
        </p:txBody>
      </p:sp>
      <p:sp>
        <p:nvSpPr>
          <p:cNvPr id="137" name="Rounded Rectangle">
            <a:extLst>
              <a:ext uri="{FF2B5EF4-FFF2-40B4-BE49-F238E27FC236}">
                <a16:creationId xmlns:a16="http://schemas.microsoft.com/office/drawing/2014/main" id="{E6C383B8-DCAE-E740-9A49-EF9757A205C7}"/>
              </a:ext>
            </a:extLst>
          </p:cNvPr>
          <p:cNvSpPr/>
          <p:nvPr/>
        </p:nvSpPr>
        <p:spPr>
          <a:xfrm>
            <a:off x="1932397" y="4026229"/>
            <a:ext cx="1017108" cy="562312"/>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Landing Zone backlog</a:t>
            </a:r>
            <a:endParaRPr sz="1100" kern="1200" dirty="0">
              <a:solidFill>
                <a:srgbClr val="000000"/>
              </a:solidFill>
              <a:latin typeface="+mn-lt"/>
              <a:ea typeface="+mn-ea"/>
              <a:cs typeface="+mn-cs"/>
              <a:sym typeface="Helvetica Neue Medium"/>
            </a:endParaRPr>
          </a:p>
        </p:txBody>
      </p:sp>
      <p:sp>
        <p:nvSpPr>
          <p:cNvPr id="142" name="Rounded Rectangle">
            <a:extLst>
              <a:ext uri="{FF2B5EF4-FFF2-40B4-BE49-F238E27FC236}">
                <a16:creationId xmlns:a16="http://schemas.microsoft.com/office/drawing/2014/main" id="{A4E6AFD0-D67F-7949-A0EA-0560AAC42820}"/>
              </a:ext>
            </a:extLst>
          </p:cNvPr>
          <p:cNvSpPr/>
          <p:nvPr/>
        </p:nvSpPr>
        <p:spPr>
          <a:xfrm>
            <a:off x="4189820" y="2961407"/>
            <a:ext cx="1044020"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dirty="0">
                <a:solidFill>
                  <a:srgbClr val="000000"/>
                </a:solidFill>
                <a:sym typeface="Helvetica Neue Medium"/>
              </a:rPr>
              <a:t>Training plan for CCOE</a:t>
            </a:r>
            <a:endParaRPr sz="1050" kern="1200" dirty="0">
              <a:solidFill>
                <a:srgbClr val="000000"/>
              </a:solidFill>
              <a:ea typeface="+mn-ea"/>
              <a:cs typeface="+mn-cs"/>
              <a:sym typeface="Helvetica Neue Medium"/>
            </a:endParaRPr>
          </a:p>
        </p:txBody>
      </p:sp>
      <p:sp>
        <p:nvSpPr>
          <p:cNvPr id="143" name="Rounded Rectangle">
            <a:extLst>
              <a:ext uri="{FF2B5EF4-FFF2-40B4-BE49-F238E27FC236}">
                <a16:creationId xmlns:a16="http://schemas.microsoft.com/office/drawing/2014/main" id="{46E67121-99CC-5446-B845-535800F99047}"/>
              </a:ext>
            </a:extLst>
          </p:cNvPr>
          <p:cNvSpPr/>
          <p:nvPr/>
        </p:nvSpPr>
        <p:spPr>
          <a:xfrm>
            <a:off x="5331049" y="2961407"/>
            <a:ext cx="1044020"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dirty="0">
                <a:solidFill>
                  <a:srgbClr val="000000"/>
                </a:solidFill>
                <a:sym typeface="Helvetica Neue Medium"/>
              </a:rPr>
              <a:t>Execute Skills and Training Plan</a:t>
            </a:r>
            <a:endParaRPr sz="1050" kern="1200" dirty="0">
              <a:solidFill>
                <a:srgbClr val="000000"/>
              </a:solidFill>
              <a:ea typeface="+mn-ea"/>
              <a:cs typeface="+mn-cs"/>
              <a:sym typeface="Helvetica Neue Medium"/>
            </a:endParaRPr>
          </a:p>
        </p:txBody>
      </p:sp>
      <p:sp>
        <p:nvSpPr>
          <p:cNvPr id="145" name="Rounded Rectangle">
            <a:extLst>
              <a:ext uri="{FF2B5EF4-FFF2-40B4-BE49-F238E27FC236}">
                <a16:creationId xmlns:a16="http://schemas.microsoft.com/office/drawing/2014/main" id="{9079E86C-70B9-9B4D-AA78-A1F953DBC250}"/>
              </a:ext>
            </a:extLst>
          </p:cNvPr>
          <p:cNvSpPr/>
          <p:nvPr/>
        </p:nvSpPr>
        <p:spPr>
          <a:xfrm>
            <a:off x="7602997" y="1941606"/>
            <a:ext cx="3197107" cy="671744"/>
          </a:xfrm>
          <a:prstGeom prst="roundRect">
            <a:avLst>
              <a:gd name="adj" fmla="val 22203"/>
            </a:avLst>
          </a:prstGeom>
          <a:solidFill>
            <a:schemeClr val="accent1"/>
          </a:solidFill>
          <a:ln w="12700">
            <a:miter lim="400000"/>
          </a:ln>
        </p:spPr>
        <p:txBody>
          <a:bodyPr lIns="42863" tIns="42863" rIns="42863" bIns="42863" anchor="ctr"/>
          <a:lstStyle/>
          <a:p>
            <a:pPr>
              <a:defRPr/>
            </a:pPr>
            <a:r>
              <a:rPr lang="en-US" altLang="en-US" sz="1100" dirty="0">
                <a:solidFill>
                  <a:schemeClr val="bg1"/>
                </a:solidFill>
              </a:rPr>
              <a:t>Refine Business Case with Party Results and Socialize with Key Stakeholders (IT &amp; Business)</a:t>
            </a:r>
            <a:endParaRPr lang="en-US" sz="1100" dirty="0">
              <a:solidFill>
                <a:schemeClr val="bg1"/>
              </a:solidFill>
              <a:latin typeface="Calibri"/>
            </a:endParaRPr>
          </a:p>
        </p:txBody>
      </p:sp>
      <p:sp>
        <p:nvSpPr>
          <p:cNvPr id="146" name="Rounded Rectangle">
            <a:extLst>
              <a:ext uri="{FF2B5EF4-FFF2-40B4-BE49-F238E27FC236}">
                <a16:creationId xmlns:a16="http://schemas.microsoft.com/office/drawing/2014/main" id="{6B92091A-1A2B-C64E-BA7A-D69E67956880}"/>
              </a:ext>
            </a:extLst>
          </p:cNvPr>
          <p:cNvSpPr/>
          <p:nvPr/>
        </p:nvSpPr>
        <p:spPr>
          <a:xfrm>
            <a:off x="1942037" y="5397753"/>
            <a:ext cx="2131900" cy="80943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kern="1200" dirty="0">
                <a:solidFill>
                  <a:srgbClr val="000000"/>
                </a:solidFill>
                <a:ea typeface="+mn-ea"/>
                <a:cs typeface="+mn-cs"/>
                <a:sym typeface="Helvetica Neue Medium"/>
              </a:rPr>
              <a:t>Migration Pattern Designs</a:t>
            </a:r>
            <a:endParaRPr sz="1050" kern="1200" dirty="0">
              <a:solidFill>
                <a:srgbClr val="000000"/>
              </a:solidFill>
              <a:ea typeface="+mn-ea"/>
              <a:cs typeface="+mn-cs"/>
              <a:sym typeface="Helvetica Neue Medium"/>
            </a:endParaRPr>
          </a:p>
        </p:txBody>
      </p:sp>
      <p:sp>
        <p:nvSpPr>
          <p:cNvPr id="147" name="Rounded Rectangle">
            <a:extLst>
              <a:ext uri="{FF2B5EF4-FFF2-40B4-BE49-F238E27FC236}">
                <a16:creationId xmlns:a16="http://schemas.microsoft.com/office/drawing/2014/main" id="{E0ADA4AD-A0E0-E541-BF8E-14E143F47DC1}"/>
              </a:ext>
            </a:extLst>
          </p:cNvPr>
          <p:cNvSpPr/>
          <p:nvPr/>
        </p:nvSpPr>
        <p:spPr>
          <a:xfrm>
            <a:off x="4203829" y="5397753"/>
            <a:ext cx="2131900" cy="80943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kern="1200" dirty="0">
                <a:solidFill>
                  <a:srgbClr val="000000"/>
                </a:solidFill>
                <a:ea typeface="+mn-ea"/>
                <a:cs typeface="+mn-cs"/>
                <a:sym typeface="Helvetica Neue Medium"/>
              </a:rPr>
              <a:t>Build Backlog for Upcoming Party</a:t>
            </a:r>
            <a:endParaRPr sz="1050" kern="1200" dirty="0">
              <a:solidFill>
                <a:srgbClr val="000000"/>
              </a:solidFill>
              <a:ea typeface="+mn-ea"/>
              <a:cs typeface="+mn-cs"/>
              <a:sym typeface="Helvetica Neue Medium"/>
            </a:endParaRPr>
          </a:p>
        </p:txBody>
      </p:sp>
      <p:sp>
        <p:nvSpPr>
          <p:cNvPr id="148" name="Rounded Rectangle">
            <a:extLst>
              <a:ext uri="{FF2B5EF4-FFF2-40B4-BE49-F238E27FC236}">
                <a16:creationId xmlns:a16="http://schemas.microsoft.com/office/drawing/2014/main" id="{0DA4D1BC-6856-9D41-BEEF-0DFB677AB734}"/>
              </a:ext>
            </a:extLst>
          </p:cNvPr>
          <p:cNvSpPr/>
          <p:nvPr/>
        </p:nvSpPr>
        <p:spPr>
          <a:xfrm>
            <a:off x="3066230" y="4026229"/>
            <a:ext cx="1596057" cy="562312"/>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Iterate Integration and Security of environment</a:t>
            </a:r>
            <a:endParaRPr sz="1100" kern="1200" dirty="0">
              <a:solidFill>
                <a:srgbClr val="000000"/>
              </a:solidFill>
              <a:latin typeface="+mn-lt"/>
              <a:ea typeface="+mn-ea"/>
              <a:cs typeface="+mn-cs"/>
              <a:sym typeface="Helvetica Neue Medium"/>
            </a:endParaRPr>
          </a:p>
        </p:txBody>
      </p:sp>
      <p:sp>
        <p:nvSpPr>
          <p:cNvPr id="149" name="Rounded Rectangle">
            <a:extLst>
              <a:ext uri="{FF2B5EF4-FFF2-40B4-BE49-F238E27FC236}">
                <a16:creationId xmlns:a16="http://schemas.microsoft.com/office/drawing/2014/main" id="{CDD336D6-9A8E-1946-90CC-294E9175C7F7}"/>
              </a:ext>
            </a:extLst>
          </p:cNvPr>
          <p:cNvSpPr/>
          <p:nvPr/>
        </p:nvSpPr>
        <p:spPr>
          <a:xfrm>
            <a:off x="4779011" y="4026229"/>
            <a:ext cx="1596057" cy="550841"/>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Scale Landing Zone</a:t>
            </a:r>
            <a:endParaRPr sz="1100" kern="1200" dirty="0">
              <a:solidFill>
                <a:srgbClr val="000000"/>
              </a:solidFill>
              <a:latin typeface="+mn-lt"/>
              <a:ea typeface="+mn-ea"/>
              <a:cs typeface="+mn-cs"/>
              <a:sym typeface="Helvetica Neue Medium"/>
            </a:endParaRPr>
          </a:p>
        </p:txBody>
      </p:sp>
      <p:sp>
        <p:nvSpPr>
          <p:cNvPr id="150" name="Rounded Rectangle">
            <a:extLst>
              <a:ext uri="{FF2B5EF4-FFF2-40B4-BE49-F238E27FC236}">
                <a16:creationId xmlns:a16="http://schemas.microsoft.com/office/drawing/2014/main" id="{C8F40A5C-17BA-294D-B588-90B09BA3277A}"/>
              </a:ext>
            </a:extLst>
          </p:cNvPr>
          <p:cNvSpPr/>
          <p:nvPr/>
        </p:nvSpPr>
        <p:spPr>
          <a:xfrm>
            <a:off x="4779011" y="4686847"/>
            <a:ext cx="1596057" cy="550841"/>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Define </a:t>
            </a:r>
            <a:r>
              <a:rPr lang="en-US" sz="1100" dirty="0">
                <a:solidFill>
                  <a:srgbClr val="000000"/>
                </a:solidFill>
                <a:sym typeface="Helvetica Neue Medium"/>
              </a:rPr>
              <a:t>Required </a:t>
            </a:r>
            <a:r>
              <a:rPr lang="en-US" sz="1100" kern="1200" dirty="0">
                <a:solidFill>
                  <a:srgbClr val="000000"/>
                </a:solidFill>
                <a:latin typeface="+mn-lt"/>
                <a:ea typeface="+mn-ea"/>
                <a:cs typeface="+mn-cs"/>
                <a:sym typeface="Helvetica Neue Medium"/>
              </a:rPr>
              <a:t>Security Epics</a:t>
            </a:r>
            <a:endParaRPr sz="1100" kern="1200" dirty="0">
              <a:solidFill>
                <a:srgbClr val="000000"/>
              </a:solidFill>
              <a:latin typeface="+mn-lt"/>
              <a:ea typeface="+mn-ea"/>
              <a:cs typeface="+mn-cs"/>
              <a:sym typeface="Helvetica Neue Medium"/>
            </a:endParaRPr>
          </a:p>
        </p:txBody>
      </p:sp>
      <p:sp>
        <p:nvSpPr>
          <p:cNvPr id="151" name="Rounded Rectangle">
            <a:extLst>
              <a:ext uri="{FF2B5EF4-FFF2-40B4-BE49-F238E27FC236}">
                <a16:creationId xmlns:a16="http://schemas.microsoft.com/office/drawing/2014/main" id="{3AF31022-9090-3E4C-B839-D9712814E9C9}"/>
              </a:ext>
            </a:extLst>
          </p:cNvPr>
          <p:cNvSpPr/>
          <p:nvPr/>
        </p:nvSpPr>
        <p:spPr>
          <a:xfrm>
            <a:off x="7602997" y="5397753"/>
            <a:ext cx="929556" cy="80943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kern="1200" dirty="0">
                <a:solidFill>
                  <a:srgbClr val="000000"/>
                </a:solidFill>
                <a:ea typeface="+mn-ea"/>
                <a:cs typeface="+mn-cs"/>
                <a:sym typeface="Helvetica Neue Medium"/>
              </a:rPr>
              <a:t>Migration Pattern Designs</a:t>
            </a:r>
            <a:endParaRPr sz="1050" kern="1200" dirty="0">
              <a:solidFill>
                <a:srgbClr val="000000"/>
              </a:solidFill>
              <a:ea typeface="+mn-ea"/>
              <a:cs typeface="+mn-cs"/>
              <a:sym typeface="Helvetica Neue Medium"/>
            </a:endParaRPr>
          </a:p>
        </p:txBody>
      </p:sp>
      <p:sp>
        <p:nvSpPr>
          <p:cNvPr id="152" name="Rounded Rectangle">
            <a:extLst>
              <a:ext uri="{FF2B5EF4-FFF2-40B4-BE49-F238E27FC236}">
                <a16:creationId xmlns:a16="http://schemas.microsoft.com/office/drawing/2014/main" id="{DAEB746A-6BB0-3D4E-8A9A-A8886961059C}"/>
              </a:ext>
            </a:extLst>
          </p:cNvPr>
          <p:cNvSpPr/>
          <p:nvPr/>
        </p:nvSpPr>
        <p:spPr>
          <a:xfrm>
            <a:off x="1932396" y="4675376"/>
            <a:ext cx="1313547" cy="562312"/>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Ops Playback and Assessment</a:t>
            </a:r>
            <a:endParaRPr sz="1100" kern="1200" dirty="0">
              <a:solidFill>
                <a:srgbClr val="000000"/>
              </a:solidFill>
              <a:latin typeface="+mn-lt"/>
              <a:ea typeface="+mn-ea"/>
              <a:cs typeface="+mn-cs"/>
              <a:sym typeface="Helvetica Neue Medium"/>
            </a:endParaRPr>
          </a:p>
        </p:txBody>
      </p:sp>
      <p:sp>
        <p:nvSpPr>
          <p:cNvPr id="153" name="Rounded Rectangle">
            <a:extLst>
              <a:ext uri="{FF2B5EF4-FFF2-40B4-BE49-F238E27FC236}">
                <a16:creationId xmlns:a16="http://schemas.microsoft.com/office/drawing/2014/main" id="{AEEC9AF0-99F4-F44D-80DF-3EE2A9EA3519}"/>
              </a:ext>
            </a:extLst>
          </p:cNvPr>
          <p:cNvSpPr/>
          <p:nvPr/>
        </p:nvSpPr>
        <p:spPr>
          <a:xfrm>
            <a:off x="3354622" y="4675376"/>
            <a:ext cx="1315710" cy="562312"/>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MVP Ops Functions</a:t>
            </a:r>
            <a:endParaRPr sz="1100" kern="1200" dirty="0">
              <a:solidFill>
                <a:srgbClr val="000000"/>
              </a:solidFill>
              <a:latin typeface="+mn-lt"/>
              <a:ea typeface="+mn-ea"/>
              <a:cs typeface="+mn-cs"/>
              <a:sym typeface="Helvetica Neue Medium"/>
            </a:endParaRPr>
          </a:p>
        </p:txBody>
      </p:sp>
      <p:sp>
        <p:nvSpPr>
          <p:cNvPr id="154" name="Rounded Rectangle">
            <a:extLst>
              <a:ext uri="{FF2B5EF4-FFF2-40B4-BE49-F238E27FC236}">
                <a16:creationId xmlns:a16="http://schemas.microsoft.com/office/drawing/2014/main" id="{490215F5-43F6-FB4B-8F9F-AD3C169C6E1F}"/>
              </a:ext>
            </a:extLst>
          </p:cNvPr>
          <p:cNvSpPr/>
          <p:nvPr/>
        </p:nvSpPr>
        <p:spPr>
          <a:xfrm>
            <a:off x="7602997" y="4026229"/>
            <a:ext cx="1688112" cy="550841"/>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Scale Landing Zone</a:t>
            </a:r>
            <a:endParaRPr sz="1100" kern="1200" dirty="0">
              <a:solidFill>
                <a:srgbClr val="000000"/>
              </a:solidFill>
              <a:latin typeface="+mn-lt"/>
              <a:ea typeface="+mn-ea"/>
              <a:cs typeface="+mn-cs"/>
              <a:sym typeface="Helvetica Neue Medium"/>
            </a:endParaRPr>
          </a:p>
        </p:txBody>
      </p:sp>
      <p:sp>
        <p:nvSpPr>
          <p:cNvPr id="155" name="Rounded Rectangle">
            <a:extLst>
              <a:ext uri="{FF2B5EF4-FFF2-40B4-BE49-F238E27FC236}">
                <a16:creationId xmlns:a16="http://schemas.microsoft.com/office/drawing/2014/main" id="{0855A92E-9FE8-E94F-8F81-87093E05840A}"/>
              </a:ext>
            </a:extLst>
          </p:cNvPr>
          <p:cNvSpPr/>
          <p:nvPr/>
        </p:nvSpPr>
        <p:spPr>
          <a:xfrm>
            <a:off x="7602997" y="4686847"/>
            <a:ext cx="3223199" cy="550841"/>
          </a:xfrm>
          <a:prstGeom prst="roundRect">
            <a:avLst>
              <a:gd name="adj" fmla="val 22203"/>
            </a:avLst>
          </a:prstGeom>
          <a:solidFill>
            <a:schemeClr val="accent6"/>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Enable Platform to Support Migration Application Backlog And App Prioritization</a:t>
            </a:r>
            <a:endParaRPr sz="1100" kern="1200" dirty="0">
              <a:solidFill>
                <a:srgbClr val="000000"/>
              </a:solidFill>
              <a:latin typeface="+mn-lt"/>
              <a:ea typeface="+mn-ea"/>
              <a:cs typeface="+mn-cs"/>
              <a:sym typeface="Helvetica Neue Medium"/>
            </a:endParaRPr>
          </a:p>
        </p:txBody>
      </p:sp>
      <p:sp>
        <p:nvSpPr>
          <p:cNvPr id="156" name="Rounded Rectangle">
            <a:extLst>
              <a:ext uri="{FF2B5EF4-FFF2-40B4-BE49-F238E27FC236}">
                <a16:creationId xmlns:a16="http://schemas.microsoft.com/office/drawing/2014/main" id="{E1BED080-3292-9945-8AA9-22DFB117C2E0}"/>
              </a:ext>
            </a:extLst>
          </p:cNvPr>
          <p:cNvSpPr/>
          <p:nvPr/>
        </p:nvSpPr>
        <p:spPr>
          <a:xfrm>
            <a:off x="8706171" y="2959055"/>
            <a:ext cx="2196582"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dirty="0">
                <a:solidFill>
                  <a:srgbClr val="000000"/>
                </a:solidFill>
                <a:sym typeface="Helvetica Neue Medium"/>
              </a:rPr>
              <a:t>Continue Skills Development of COE and Build Organizational Training Plan</a:t>
            </a:r>
            <a:endParaRPr sz="1050" kern="1200" dirty="0">
              <a:solidFill>
                <a:srgbClr val="000000"/>
              </a:solidFill>
              <a:ea typeface="+mn-ea"/>
              <a:cs typeface="+mn-cs"/>
              <a:sym typeface="Helvetica Neue Medium"/>
            </a:endParaRPr>
          </a:p>
        </p:txBody>
      </p:sp>
      <p:sp>
        <p:nvSpPr>
          <p:cNvPr id="157" name="Rounded Rectangle">
            <a:extLst>
              <a:ext uri="{FF2B5EF4-FFF2-40B4-BE49-F238E27FC236}">
                <a16:creationId xmlns:a16="http://schemas.microsoft.com/office/drawing/2014/main" id="{A6D45E7F-31CF-DA49-9055-CCE3C03C7788}"/>
              </a:ext>
            </a:extLst>
          </p:cNvPr>
          <p:cNvSpPr/>
          <p:nvPr/>
        </p:nvSpPr>
        <p:spPr>
          <a:xfrm>
            <a:off x="5312026" y="6651432"/>
            <a:ext cx="1086139" cy="650923"/>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Wave Plans Established</a:t>
            </a:r>
            <a:endParaRPr sz="1100" kern="1200" dirty="0">
              <a:solidFill>
                <a:srgbClr val="000000"/>
              </a:solidFill>
              <a:latin typeface="+mn-lt"/>
              <a:ea typeface="+mn-ea"/>
              <a:cs typeface="+mn-cs"/>
              <a:sym typeface="Helvetica Neue Medium"/>
            </a:endParaRPr>
          </a:p>
        </p:txBody>
      </p:sp>
      <p:sp>
        <p:nvSpPr>
          <p:cNvPr id="66" name="Rounded Rectangle">
            <a:extLst>
              <a:ext uri="{FF2B5EF4-FFF2-40B4-BE49-F238E27FC236}">
                <a16:creationId xmlns:a16="http://schemas.microsoft.com/office/drawing/2014/main" id="{230F35C7-3E3B-DD41-AE2D-726DD17AE9DA}"/>
              </a:ext>
            </a:extLst>
          </p:cNvPr>
          <p:cNvSpPr/>
          <p:nvPr/>
        </p:nvSpPr>
        <p:spPr>
          <a:xfrm>
            <a:off x="789063" y="1414264"/>
            <a:ext cx="1044020" cy="342168"/>
          </a:xfrm>
          <a:prstGeom prst="roundRect">
            <a:avLst>
              <a:gd name="adj" fmla="val 22203"/>
            </a:avLst>
          </a:prstGeom>
          <a:solidFill>
            <a:schemeClr val="tx1">
              <a:lumMod val="95000"/>
              <a:alpha val="4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900" kern="1200" dirty="0">
                <a:solidFill>
                  <a:srgbClr val="000000"/>
                </a:solidFill>
                <a:latin typeface="+mn-lt"/>
                <a:ea typeface="+mn-ea"/>
                <a:cs typeface="+mn-cs"/>
                <a:sym typeface="Helvetica Neue Medium"/>
              </a:rPr>
              <a:t>Post-MRA Platform Party</a:t>
            </a:r>
            <a:endParaRPr sz="900" kern="1200" dirty="0">
              <a:solidFill>
                <a:srgbClr val="000000"/>
              </a:solidFill>
              <a:latin typeface="+mn-lt"/>
              <a:ea typeface="+mn-ea"/>
              <a:cs typeface="+mn-cs"/>
              <a:sym typeface="Helvetica Neue Medium"/>
            </a:endParaRPr>
          </a:p>
        </p:txBody>
      </p:sp>
      <p:pic>
        <p:nvPicPr>
          <p:cNvPr id="67" name="Picture 66">
            <a:extLst>
              <a:ext uri="{FF2B5EF4-FFF2-40B4-BE49-F238E27FC236}">
                <a16:creationId xmlns:a16="http://schemas.microsoft.com/office/drawing/2014/main" id="{6104CC05-003C-4E45-BE37-938BECCF8B68}"/>
              </a:ext>
            </a:extLst>
          </p:cNvPr>
          <p:cNvPicPr>
            <a:picLocks noChangeAspect="1"/>
          </p:cNvPicPr>
          <p:nvPr/>
        </p:nvPicPr>
        <p:blipFill>
          <a:blip r:embed="rId3"/>
          <a:stretch>
            <a:fillRect/>
          </a:stretch>
        </p:blipFill>
        <p:spPr>
          <a:xfrm>
            <a:off x="1768092" y="1078534"/>
            <a:ext cx="210467" cy="290104"/>
          </a:xfrm>
          <a:prstGeom prst="rect">
            <a:avLst/>
          </a:prstGeom>
        </p:spPr>
      </p:pic>
      <p:sp>
        <p:nvSpPr>
          <p:cNvPr id="68" name="Rounded Rectangle">
            <a:extLst>
              <a:ext uri="{FF2B5EF4-FFF2-40B4-BE49-F238E27FC236}">
                <a16:creationId xmlns:a16="http://schemas.microsoft.com/office/drawing/2014/main" id="{1A5430DA-BAFF-1443-BF58-9443993B64D3}"/>
              </a:ext>
            </a:extLst>
          </p:cNvPr>
          <p:cNvSpPr/>
          <p:nvPr/>
        </p:nvSpPr>
        <p:spPr>
          <a:xfrm>
            <a:off x="11026987" y="1809250"/>
            <a:ext cx="1054228" cy="5535639"/>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300" b="1" kern="1200" dirty="0">
                <a:solidFill>
                  <a:srgbClr val="000000"/>
                </a:solidFill>
                <a:latin typeface="+mn-lt"/>
                <a:ea typeface="+mn-ea"/>
                <a:cs typeface="+mn-cs"/>
                <a:sym typeface="Helvetica Neue Medium"/>
              </a:rPr>
              <a:t>Migration Parties </a:t>
            </a:r>
          </a:p>
          <a:p>
            <a:pPr algn="ctr" defTabSz="1097280" hangingPunct="1">
              <a:defRPr sz="3000" b="0">
                <a:latin typeface="+mn-lt"/>
                <a:ea typeface="+mn-ea"/>
                <a:cs typeface="+mn-cs"/>
                <a:sym typeface="Helvetica Neue Medium"/>
              </a:defRPr>
            </a:pPr>
            <a:endParaRPr lang="en-US" sz="1300" b="1" kern="1200" dirty="0">
              <a:solidFill>
                <a:srgbClr val="000000"/>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r>
              <a:rPr lang="en-US" sz="1300" b="1" kern="1200" dirty="0">
                <a:solidFill>
                  <a:srgbClr val="000000"/>
                </a:solidFill>
                <a:latin typeface="+mn-lt"/>
                <a:ea typeface="+mn-ea"/>
                <a:cs typeface="+mn-cs"/>
                <a:sym typeface="Helvetica Neue Medium"/>
              </a:rPr>
              <a:t>Or</a:t>
            </a:r>
          </a:p>
          <a:p>
            <a:pPr algn="ctr" defTabSz="1097280" hangingPunct="1">
              <a:defRPr sz="3000" b="0">
                <a:latin typeface="+mn-lt"/>
                <a:ea typeface="+mn-ea"/>
                <a:cs typeface="+mn-cs"/>
                <a:sym typeface="Helvetica Neue Medium"/>
              </a:defRPr>
            </a:pPr>
            <a:endParaRPr lang="en-US" sz="1300" b="1" kern="1200" dirty="0">
              <a:solidFill>
                <a:srgbClr val="000000"/>
              </a:solidFill>
              <a:latin typeface="+mn-lt"/>
              <a:ea typeface="+mn-ea"/>
              <a:cs typeface="+mn-cs"/>
              <a:sym typeface="Helvetica Neue Medium"/>
            </a:endParaRPr>
          </a:p>
          <a:p>
            <a:pPr algn="ctr" defTabSz="1097280" hangingPunct="1">
              <a:defRPr sz="3000" b="0">
                <a:latin typeface="+mn-lt"/>
                <a:ea typeface="+mn-ea"/>
                <a:cs typeface="+mn-cs"/>
                <a:sym typeface="Helvetica Neue Medium"/>
              </a:defRPr>
            </a:pPr>
            <a:r>
              <a:rPr lang="en-US" sz="1300" b="1" dirty="0">
                <a:solidFill>
                  <a:srgbClr val="000000"/>
                </a:solidFill>
                <a:sym typeface="Helvetica Neue Medium"/>
              </a:rPr>
              <a:t>Modernize Parties</a:t>
            </a:r>
            <a:endParaRPr sz="1300" b="1" kern="1200" dirty="0">
              <a:solidFill>
                <a:srgbClr val="000000"/>
              </a:solidFill>
              <a:latin typeface="+mn-lt"/>
              <a:ea typeface="+mn-ea"/>
              <a:cs typeface="+mn-cs"/>
              <a:sym typeface="Helvetica Neue Medium"/>
            </a:endParaRPr>
          </a:p>
        </p:txBody>
      </p:sp>
      <p:grpSp>
        <p:nvGrpSpPr>
          <p:cNvPr id="2" name="Group 1">
            <a:extLst>
              <a:ext uri="{FF2B5EF4-FFF2-40B4-BE49-F238E27FC236}">
                <a16:creationId xmlns:a16="http://schemas.microsoft.com/office/drawing/2014/main" id="{322F40CD-0CF1-7049-BF3B-22AB0764FB21}"/>
              </a:ext>
            </a:extLst>
          </p:cNvPr>
          <p:cNvGrpSpPr/>
          <p:nvPr/>
        </p:nvGrpSpPr>
        <p:grpSpPr>
          <a:xfrm>
            <a:off x="0" y="0"/>
            <a:ext cx="14630400" cy="8233765"/>
            <a:chOff x="0" y="0"/>
            <a:chExt cx="14630400" cy="8233765"/>
          </a:xfrm>
        </p:grpSpPr>
        <p:sp>
          <p:nvSpPr>
            <p:cNvPr id="78" name="TextBox 77">
              <a:extLst>
                <a:ext uri="{FF2B5EF4-FFF2-40B4-BE49-F238E27FC236}">
                  <a16:creationId xmlns:a16="http://schemas.microsoft.com/office/drawing/2014/main" id="{75CFD72C-D8FE-C147-9F5B-0255D934D6A9}"/>
                </a:ext>
              </a:extLst>
            </p:cNvPr>
            <p:cNvSpPr txBox="1"/>
            <p:nvPr/>
          </p:nvSpPr>
          <p:spPr>
            <a:xfrm>
              <a:off x="0" y="7525879"/>
              <a:ext cx="14630400" cy="707886"/>
            </a:xfrm>
            <a:prstGeom prst="rect">
              <a:avLst/>
            </a:prstGeom>
            <a:solidFill>
              <a:srgbClr val="FF0000"/>
            </a:solid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FACILITATOR: Use this slide for customers which don’t know yet if they will leverage AWS ProServe led Mobilize but will benefit from prescriptive guidance provided by AWS via EBA</a:t>
              </a:r>
            </a:p>
          </p:txBody>
        </p:sp>
        <p:sp>
          <p:nvSpPr>
            <p:cNvPr id="79" name="Rectangle 78">
              <a:extLst>
                <a:ext uri="{FF2B5EF4-FFF2-40B4-BE49-F238E27FC236}">
                  <a16:creationId xmlns:a16="http://schemas.microsoft.com/office/drawing/2014/main" id="{B1DDC3A9-89BD-0A4D-847E-A2942637C173}"/>
                </a:ext>
              </a:extLst>
            </p:cNvPr>
            <p:cNvSpPr/>
            <p:nvPr/>
          </p:nvSpPr>
          <p:spPr>
            <a:xfrm>
              <a:off x="0" y="0"/>
              <a:ext cx="14630400" cy="8229600"/>
            </a:xfrm>
            <a:prstGeom prst="rect">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grpSp>
      <p:sp>
        <p:nvSpPr>
          <p:cNvPr id="69" name="Rounded Rectangle">
            <a:extLst>
              <a:ext uri="{FF2B5EF4-FFF2-40B4-BE49-F238E27FC236}">
                <a16:creationId xmlns:a16="http://schemas.microsoft.com/office/drawing/2014/main" id="{BF6CDEA1-EA75-F040-8E49-8DCFF62655F4}"/>
              </a:ext>
            </a:extLst>
          </p:cNvPr>
          <p:cNvSpPr/>
          <p:nvPr/>
        </p:nvSpPr>
        <p:spPr>
          <a:xfrm>
            <a:off x="7602997" y="2953224"/>
            <a:ext cx="1044020"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dirty="0">
                <a:solidFill>
                  <a:srgbClr val="000000"/>
                </a:solidFill>
                <a:sym typeface="Helvetica Neue Medium"/>
              </a:rPr>
              <a:t>Stakeholder Enablement</a:t>
            </a:r>
            <a:endParaRPr sz="1050" kern="1200" dirty="0">
              <a:solidFill>
                <a:srgbClr val="000000"/>
              </a:solidFill>
              <a:ea typeface="+mn-ea"/>
              <a:cs typeface="+mn-cs"/>
              <a:sym typeface="Helvetica Neue Medium"/>
            </a:endParaRPr>
          </a:p>
        </p:txBody>
      </p:sp>
      <p:sp>
        <p:nvSpPr>
          <p:cNvPr id="70" name="Rounded Rectangle">
            <a:extLst>
              <a:ext uri="{FF2B5EF4-FFF2-40B4-BE49-F238E27FC236}">
                <a16:creationId xmlns:a16="http://schemas.microsoft.com/office/drawing/2014/main" id="{BA4CAAFD-E2A3-034C-805C-2083C10E3A8E}"/>
              </a:ext>
            </a:extLst>
          </p:cNvPr>
          <p:cNvSpPr/>
          <p:nvPr/>
        </p:nvSpPr>
        <p:spPr>
          <a:xfrm>
            <a:off x="12134345" y="2917663"/>
            <a:ext cx="1044020" cy="683388"/>
          </a:xfrm>
          <a:prstGeom prst="roundRect">
            <a:avLst>
              <a:gd name="adj" fmla="val 22203"/>
            </a:avLst>
          </a:prstGeom>
          <a:solidFill>
            <a:schemeClr val="accent2">
              <a:lumMod val="40000"/>
              <a:lumOff val="6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dirty="0">
                <a:solidFill>
                  <a:srgbClr val="000000"/>
                </a:solidFill>
                <a:sym typeface="Helvetica Neue Medium"/>
              </a:rPr>
              <a:t>Application Owner Engagement</a:t>
            </a:r>
            <a:endParaRPr sz="1050" kern="1200" dirty="0">
              <a:solidFill>
                <a:srgbClr val="000000"/>
              </a:solidFill>
              <a:ea typeface="+mn-ea"/>
              <a:cs typeface="+mn-cs"/>
              <a:sym typeface="Helvetica Neue Medium"/>
            </a:endParaRPr>
          </a:p>
        </p:txBody>
      </p:sp>
      <p:sp>
        <p:nvSpPr>
          <p:cNvPr id="71" name="Rounded Rectangle">
            <a:extLst>
              <a:ext uri="{FF2B5EF4-FFF2-40B4-BE49-F238E27FC236}">
                <a16:creationId xmlns:a16="http://schemas.microsoft.com/office/drawing/2014/main" id="{07B1607A-D25E-5B41-8EB0-654BCECBD7E5}"/>
              </a:ext>
            </a:extLst>
          </p:cNvPr>
          <p:cNvSpPr/>
          <p:nvPr/>
        </p:nvSpPr>
        <p:spPr>
          <a:xfrm>
            <a:off x="12134345" y="1963969"/>
            <a:ext cx="2006511" cy="671744"/>
          </a:xfrm>
          <a:prstGeom prst="roundRect">
            <a:avLst>
              <a:gd name="adj" fmla="val 22203"/>
            </a:avLst>
          </a:prstGeom>
          <a:solidFill>
            <a:schemeClr val="accent1"/>
          </a:solidFill>
          <a:ln w="12700">
            <a:miter lim="400000"/>
          </a:ln>
        </p:spPr>
        <p:txBody>
          <a:bodyPr lIns="42863" tIns="42863" rIns="42863" bIns="42863" anchor="ctr"/>
          <a:lstStyle/>
          <a:p>
            <a:pPr>
              <a:defRPr/>
            </a:pPr>
            <a:r>
              <a:rPr lang="en-US" altLang="en-US" sz="1100" dirty="0">
                <a:solidFill>
                  <a:schemeClr val="bg1"/>
                </a:solidFill>
              </a:rPr>
              <a:t>Business Case Validation and Cloud Cost Optimization</a:t>
            </a:r>
            <a:endParaRPr lang="en-US" sz="1100" dirty="0">
              <a:solidFill>
                <a:schemeClr val="bg1"/>
              </a:solidFill>
              <a:latin typeface="Calibri"/>
            </a:endParaRPr>
          </a:p>
        </p:txBody>
      </p:sp>
      <p:sp>
        <p:nvSpPr>
          <p:cNvPr id="72" name="Rounded Rectangle">
            <a:extLst>
              <a:ext uri="{FF2B5EF4-FFF2-40B4-BE49-F238E27FC236}">
                <a16:creationId xmlns:a16="http://schemas.microsoft.com/office/drawing/2014/main" id="{98D27718-B05C-924A-AF12-728767471874}"/>
              </a:ext>
            </a:extLst>
          </p:cNvPr>
          <p:cNvSpPr/>
          <p:nvPr/>
        </p:nvSpPr>
        <p:spPr>
          <a:xfrm>
            <a:off x="12134345" y="4029663"/>
            <a:ext cx="2044417" cy="342168"/>
          </a:xfrm>
          <a:prstGeom prst="roundRect">
            <a:avLst>
              <a:gd name="adj" fmla="val 22203"/>
            </a:avLst>
          </a:prstGeom>
          <a:solidFill>
            <a:schemeClr val="accent6"/>
          </a:solidFill>
          <a:ln w="12700">
            <a:miter lim="400000"/>
          </a:ln>
        </p:spPr>
        <p:txBody>
          <a:bodyPr lIns="42863" tIns="42863" rIns="42863" bIns="42863" anchor="ctr"/>
          <a:lstStyle/>
          <a:p>
            <a:pPr defTabSz="1097280" hangingPunct="1">
              <a:defRPr sz="3000" b="0">
                <a:latin typeface="+mn-lt"/>
                <a:ea typeface="+mn-ea"/>
                <a:cs typeface="+mn-cs"/>
                <a:sym typeface="Helvetica Neue Medium"/>
              </a:defRPr>
            </a:pPr>
            <a:r>
              <a:rPr lang="en-US" sz="1000" kern="1200" dirty="0">
                <a:solidFill>
                  <a:srgbClr val="000000"/>
                </a:solidFill>
                <a:latin typeface="+mn-lt"/>
                <a:ea typeface="+mn-ea"/>
                <a:cs typeface="+mn-cs"/>
                <a:sym typeface="Helvetica Neue Medium"/>
              </a:rPr>
              <a:t>Ongoing Security Controls Development &amp; Automation</a:t>
            </a:r>
            <a:endParaRPr sz="1000" kern="1200" dirty="0">
              <a:solidFill>
                <a:srgbClr val="000000"/>
              </a:solidFill>
              <a:latin typeface="+mn-lt"/>
              <a:ea typeface="+mn-ea"/>
              <a:cs typeface="+mn-cs"/>
              <a:sym typeface="Helvetica Neue Medium"/>
            </a:endParaRPr>
          </a:p>
        </p:txBody>
      </p:sp>
      <p:sp>
        <p:nvSpPr>
          <p:cNvPr id="74" name="Rounded Rectangle">
            <a:extLst>
              <a:ext uri="{FF2B5EF4-FFF2-40B4-BE49-F238E27FC236}">
                <a16:creationId xmlns:a16="http://schemas.microsoft.com/office/drawing/2014/main" id="{0ACF4877-CD1D-1743-AC85-51B7FE862927}"/>
              </a:ext>
            </a:extLst>
          </p:cNvPr>
          <p:cNvSpPr/>
          <p:nvPr/>
        </p:nvSpPr>
        <p:spPr>
          <a:xfrm>
            <a:off x="8706171" y="6651431"/>
            <a:ext cx="1086139" cy="650923"/>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Discovery per Migration Plan</a:t>
            </a:r>
            <a:endParaRPr sz="1100" kern="1200" dirty="0">
              <a:solidFill>
                <a:srgbClr val="000000"/>
              </a:solidFill>
              <a:latin typeface="+mn-lt"/>
              <a:ea typeface="+mn-ea"/>
              <a:cs typeface="+mn-cs"/>
              <a:sym typeface="Helvetica Neue Medium"/>
            </a:endParaRPr>
          </a:p>
        </p:txBody>
      </p:sp>
      <p:sp>
        <p:nvSpPr>
          <p:cNvPr id="75" name="Rounded Rectangle">
            <a:extLst>
              <a:ext uri="{FF2B5EF4-FFF2-40B4-BE49-F238E27FC236}">
                <a16:creationId xmlns:a16="http://schemas.microsoft.com/office/drawing/2014/main" id="{84C7A012-27BB-0B48-8406-6165C84780A4}"/>
              </a:ext>
            </a:extLst>
          </p:cNvPr>
          <p:cNvSpPr/>
          <p:nvPr/>
        </p:nvSpPr>
        <p:spPr>
          <a:xfrm>
            <a:off x="12154940" y="6648629"/>
            <a:ext cx="2047340" cy="650923"/>
          </a:xfrm>
          <a:prstGeom prst="roundRect">
            <a:avLst>
              <a:gd name="adj" fmla="val 22203"/>
            </a:avLst>
          </a:prstGeom>
          <a:solidFill>
            <a:srgbClr val="CC66FF"/>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100" kern="1200" dirty="0">
                <a:solidFill>
                  <a:srgbClr val="000000"/>
                </a:solidFill>
                <a:latin typeface="+mn-lt"/>
                <a:ea typeface="+mn-ea"/>
                <a:cs typeface="+mn-cs"/>
                <a:sym typeface="Helvetica Neue Medium"/>
              </a:rPr>
              <a:t>Ongoing Discovery per Migration Wave</a:t>
            </a:r>
            <a:endParaRPr sz="1100" kern="1200" dirty="0">
              <a:solidFill>
                <a:srgbClr val="000000"/>
              </a:solidFill>
              <a:latin typeface="+mn-lt"/>
              <a:ea typeface="+mn-ea"/>
              <a:cs typeface="+mn-cs"/>
              <a:sym typeface="Helvetica Neue Medium"/>
            </a:endParaRPr>
          </a:p>
        </p:txBody>
      </p:sp>
      <p:sp>
        <p:nvSpPr>
          <p:cNvPr id="76" name="Rounded Rectangle">
            <a:extLst>
              <a:ext uri="{FF2B5EF4-FFF2-40B4-BE49-F238E27FC236}">
                <a16:creationId xmlns:a16="http://schemas.microsoft.com/office/drawing/2014/main" id="{272B8B73-73D3-B243-8D8C-6CAD06BD0F79}"/>
              </a:ext>
            </a:extLst>
          </p:cNvPr>
          <p:cNvSpPr/>
          <p:nvPr/>
        </p:nvSpPr>
        <p:spPr>
          <a:xfrm>
            <a:off x="12134345" y="5397752"/>
            <a:ext cx="2077615" cy="80943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b="1" kern="1200" dirty="0">
                <a:solidFill>
                  <a:srgbClr val="000000"/>
                </a:solidFill>
                <a:ea typeface="+mn-ea"/>
                <a:cs typeface="+mn-cs"/>
                <a:sym typeface="Helvetica Neue Medium"/>
              </a:rPr>
              <a:t>Migrate, Refactor and Modernize Workloads</a:t>
            </a:r>
            <a:endParaRPr sz="1050" b="1" kern="1200" dirty="0">
              <a:solidFill>
                <a:srgbClr val="000000"/>
              </a:solidFill>
              <a:ea typeface="+mn-ea"/>
              <a:cs typeface="+mn-cs"/>
              <a:sym typeface="Helvetica Neue Medium"/>
            </a:endParaRPr>
          </a:p>
        </p:txBody>
      </p:sp>
      <p:sp>
        <p:nvSpPr>
          <p:cNvPr id="77" name="Rounded Rectangle">
            <a:extLst>
              <a:ext uri="{FF2B5EF4-FFF2-40B4-BE49-F238E27FC236}">
                <a16:creationId xmlns:a16="http://schemas.microsoft.com/office/drawing/2014/main" id="{E51B8991-3CB3-CF44-BD0D-1EAF20A2A430}"/>
              </a:ext>
            </a:extLst>
          </p:cNvPr>
          <p:cNvSpPr/>
          <p:nvPr/>
        </p:nvSpPr>
        <p:spPr>
          <a:xfrm>
            <a:off x="8763551" y="5397751"/>
            <a:ext cx="2131900" cy="809431"/>
          </a:xfrm>
          <a:prstGeom prst="roundRect">
            <a:avLst>
              <a:gd name="adj" fmla="val 22203"/>
            </a:avLst>
          </a:prstGeom>
          <a:solidFill>
            <a:schemeClr val="accent5">
              <a:lumMod val="20000"/>
              <a:lumOff val="80000"/>
            </a:schemeClr>
          </a:solidFill>
          <a:ln w="12700">
            <a:miter lim="400000"/>
          </a:ln>
        </p:spPr>
        <p:txBody>
          <a:bodyPr lIns="42863" tIns="42863" rIns="42863" bIns="42863" anchor="ctr"/>
          <a:lstStyle/>
          <a:p>
            <a:pPr algn="ctr" defTabSz="1097280" hangingPunct="1">
              <a:defRPr sz="3000" b="0">
                <a:latin typeface="+mn-lt"/>
                <a:ea typeface="+mn-ea"/>
                <a:cs typeface="+mn-cs"/>
                <a:sym typeface="Helvetica Neue Medium"/>
              </a:defRPr>
            </a:pPr>
            <a:r>
              <a:rPr lang="en-US" sz="1050" kern="1200" dirty="0">
                <a:solidFill>
                  <a:srgbClr val="000000"/>
                </a:solidFill>
                <a:ea typeface="+mn-ea"/>
                <a:cs typeface="+mn-cs"/>
                <a:sym typeface="Helvetica Neue Medium"/>
              </a:rPr>
              <a:t>Build Backlog for Upcoming Party</a:t>
            </a:r>
            <a:endParaRPr sz="1050" kern="1200" dirty="0">
              <a:solidFill>
                <a:srgbClr val="000000"/>
              </a:solidFill>
              <a:ea typeface="+mn-ea"/>
              <a:cs typeface="+mn-cs"/>
              <a:sym typeface="Helvetica Neue Medium"/>
            </a:endParaRPr>
          </a:p>
        </p:txBody>
      </p:sp>
      <p:sp>
        <p:nvSpPr>
          <p:cNvPr id="91" name="Rounded Rectangle">
            <a:extLst>
              <a:ext uri="{FF2B5EF4-FFF2-40B4-BE49-F238E27FC236}">
                <a16:creationId xmlns:a16="http://schemas.microsoft.com/office/drawing/2014/main" id="{A976F5FD-2EF0-BC40-AFDA-4A310D98FE6E}"/>
              </a:ext>
            </a:extLst>
          </p:cNvPr>
          <p:cNvSpPr/>
          <p:nvPr/>
        </p:nvSpPr>
        <p:spPr>
          <a:xfrm>
            <a:off x="12134345" y="4588541"/>
            <a:ext cx="2044417" cy="649302"/>
          </a:xfrm>
          <a:prstGeom prst="roundRect">
            <a:avLst>
              <a:gd name="adj" fmla="val 22203"/>
            </a:avLst>
          </a:prstGeom>
          <a:solidFill>
            <a:schemeClr val="accent6"/>
          </a:solidFill>
          <a:ln w="12700">
            <a:miter lim="400000"/>
          </a:ln>
        </p:spPr>
        <p:txBody>
          <a:bodyPr lIns="42863" tIns="42863" rIns="42863" bIns="42863" anchor="ctr"/>
          <a:lstStyle/>
          <a:p>
            <a:pPr defTabSz="1097280" hangingPunct="1">
              <a:defRPr sz="3000" b="0">
                <a:latin typeface="+mn-lt"/>
                <a:ea typeface="+mn-ea"/>
                <a:cs typeface="+mn-cs"/>
                <a:sym typeface="Helvetica Neue Medium"/>
              </a:defRPr>
            </a:pPr>
            <a:r>
              <a:rPr lang="en-US" sz="1000" kern="1200" dirty="0">
                <a:solidFill>
                  <a:srgbClr val="000000"/>
                </a:solidFill>
                <a:latin typeface="+mn-lt"/>
                <a:ea typeface="+mn-ea"/>
                <a:cs typeface="+mn-cs"/>
                <a:sym typeface="Helvetica Neue Medium"/>
              </a:rPr>
              <a:t>Operations / Automation / LZ Management / Security Control Automation / AWS Service events failure Ops</a:t>
            </a:r>
            <a:endParaRPr sz="1000" kern="1200" dirty="0">
              <a:solidFill>
                <a:srgbClr val="000000"/>
              </a:solidFill>
              <a:latin typeface="+mn-lt"/>
              <a:ea typeface="+mn-ea"/>
              <a:cs typeface="+mn-cs"/>
              <a:sym typeface="Helvetica Neue Medium"/>
            </a:endParaRPr>
          </a:p>
        </p:txBody>
      </p:sp>
      <p:sp>
        <p:nvSpPr>
          <p:cNvPr id="73" name="TextBox 72">
            <a:extLst>
              <a:ext uri="{FF2B5EF4-FFF2-40B4-BE49-F238E27FC236}">
                <a16:creationId xmlns:a16="http://schemas.microsoft.com/office/drawing/2014/main" id="{BC9020B7-AA39-CD4B-8485-3D7BA31EDA89}"/>
              </a:ext>
            </a:extLst>
          </p:cNvPr>
          <p:cNvSpPr txBox="1"/>
          <p:nvPr/>
        </p:nvSpPr>
        <p:spPr>
          <a:xfrm rot="20294682">
            <a:off x="3048236" y="3747225"/>
            <a:ext cx="9682208" cy="984885"/>
          </a:xfrm>
          <a:prstGeom prst="rect">
            <a:avLst/>
          </a:prstGeom>
          <a:solidFill>
            <a:schemeClr val="tx2"/>
          </a:solidFill>
        </p:spPr>
        <p:txBody>
          <a:bodyPr wrap="square" rtlCol="0">
            <a:spAutoFit/>
          </a:bodyPr>
          <a:lstStyle/>
          <a:p>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(Pick one of 2 based on delivery model) Modify based on MRA recommended next steps</a:t>
            </a:r>
          </a:p>
        </p:txBody>
      </p:sp>
    </p:spTree>
    <p:extLst>
      <p:ext uri="{BB962C8B-B14F-4D97-AF65-F5344CB8AC3E}">
        <p14:creationId xmlns:p14="http://schemas.microsoft.com/office/powerpoint/2010/main" val="26728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9671" y="212533"/>
            <a:ext cx="13128625" cy="873125"/>
          </a:xfrm>
        </p:spPr>
        <p:txBody>
          <a:bodyPr/>
          <a:lstStyle/>
          <a:p>
            <a:r>
              <a:rPr lang="en-US" dirty="0">
                <a:solidFill>
                  <a:schemeClr val="tx1"/>
                </a:solidFill>
              </a:rPr>
              <a:t>Mobilize Cost Breakdown by Scope</a:t>
            </a:r>
            <a:endParaRPr lang="en-US" dirty="0">
              <a:solidFill>
                <a:srgbClr val="FF0000"/>
              </a:solidFill>
            </a:endParaRPr>
          </a:p>
        </p:txBody>
      </p:sp>
      <p:sp>
        <p:nvSpPr>
          <p:cNvPr id="6" name="Content Placeholder 2">
            <a:extLst>
              <a:ext uri="{FF2B5EF4-FFF2-40B4-BE49-F238E27FC236}">
                <a16:creationId xmlns:a16="http://schemas.microsoft.com/office/drawing/2014/main" id="{22F9BF13-2A6A-5A40-A824-D0F1D62A256B}"/>
              </a:ext>
            </a:extLst>
          </p:cNvPr>
          <p:cNvSpPr txBox="1">
            <a:spLocks/>
          </p:cNvSpPr>
          <p:nvPr/>
        </p:nvSpPr>
        <p:spPr>
          <a:xfrm>
            <a:off x="569671" y="5630993"/>
            <a:ext cx="12193882" cy="1737226"/>
          </a:xfrm>
          <a:prstGeom prst="rect">
            <a:avLst/>
          </a:prstGeom>
        </p:spPr>
        <p:txBody>
          <a:bodyPr vert="horz" lIns="146304" tIns="73152" rIns="146304" bIns="73152" rtlCol="0">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280" baseline="30000" dirty="0">
                <a:solidFill>
                  <a:schemeClr val="tx1"/>
                </a:solidFill>
                <a:latin typeface="Amazon Ember Regular"/>
                <a:ea typeface="Amazon Ember Thin" panose="020B0303020204020204" pitchFamily="34" charset="0"/>
                <a:cs typeface="Segoe UI" panose="020B0502040204020203" pitchFamily="34" charset="0"/>
              </a:rPr>
              <a:t>1</a:t>
            </a:r>
            <a:r>
              <a:rPr lang="en-US" sz="1280" dirty="0">
                <a:solidFill>
                  <a:schemeClr val="tx1"/>
                </a:solidFill>
                <a:latin typeface="Amazon Ember Regular"/>
                <a:ea typeface="Amazon Ember Thin" panose="020B0303020204020204" pitchFamily="34" charset="0"/>
                <a:cs typeface="Segoe UI" panose="020B0502040204020203" pitchFamily="34" charset="0"/>
              </a:rPr>
              <a:t>Daily Rate is based on an 8 hour workday. </a:t>
            </a:r>
          </a:p>
          <a:p>
            <a:r>
              <a:rPr lang="en-US" sz="1280" baseline="30000" dirty="0">
                <a:solidFill>
                  <a:schemeClr val="tx1"/>
                </a:solidFill>
                <a:latin typeface="Amazon Ember Regular"/>
                <a:ea typeface="Amazon Ember Thin" panose="020B0303020204020204" pitchFamily="34" charset="0"/>
                <a:cs typeface="Segoe UI" panose="020B0502040204020203" pitchFamily="34" charset="0"/>
              </a:rPr>
              <a:t>2</a:t>
            </a:r>
            <a:r>
              <a:rPr lang="en-US" sz="1280" dirty="0">
                <a:solidFill>
                  <a:schemeClr val="tx1"/>
                </a:solidFill>
                <a:latin typeface="Amazon Ember Regular"/>
                <a:ea typeface="Amazon Ember Thin" panose="020B0303020204020204" pitchFamily="34" charset="0"/>
                <a:cs typeface="Segoe UI" panose="020B0502040204020203" pitchFamily="34" charset="0"/>
              </a:rPr>
              <a:t>Preliminary estimate and MAP funding subject to AWS financial approval</a:t>
            </a:r>
          </a:p>
          <a:p>
            <a:r>
              <a:rPr lang="en-US" sz="1280" baseline="30000" dirty="0">
                <a:solidFill>
                  <a:srgbClr val="FF0000"/>
                </a:solidFill>
                <a:latin typeface="Amazon Ember Regular"/>
                <a:ea typeface="Amazon Ember Thin" panose="020B0303020204020204" pitchFamily="34" charset="0"/>
              </a:rPr>
              <a:t>3</a:t>
            </a:r>
            <a:r>
              <a:rPr lang="en-US" sz="1280" dirty="0">
                <a:solidFill>
                  <a:srgbClr val="FF0000"/>
                </a:solidFill>
                <a:latin typeface="Amazon Ember Regular"/>
                <a:ea typeface="Amazon Ember Thin" panose="020B0303020204020204" pitchFamily="34" charset="0"/>
              </a:rPr>
              <a:t> &lt;customer&gt; to purchase Portfolio Tools for Discovery and Analysis, which includes licenses and Partner Professional Services, in the AWS Marketplace</a:t>
            </a:r>
          </a:p>
          <a:p>
            <a:r>
              <a:rPr lang="en-US" sz="1280" baseline="30000" dirty="0">
                <a:solidFill>
                  <a:srgbClr val="FF0000"/>
                </a:solidFill>
                <a:latin typeface="Amazon Ember Regular"/>
                <a:ea typeface="Amazon Ember Thin" panose="020B0303020204020204" pitchFamily="34" charset="0"/>
                <a:cs typeface="Segoe UI" panose="020B0502040204020203" pitchFamily="34" charset="0"/>
              </a:rPr>
              <a:t>4</a:t>
            </a:r>
            <a:r>
              <a:rPr lang="en-US" sz="1280" dirty="0">
                <a:solidFill>
                  <a:srgbClr val="FF0000"/>
                </a:solidFill>
                <a:latin typeface="Amazon Ember Regular"/>
                <a:ea typeface="Amazon Ember Thin" panose="020B0303020204020204" pitchFamily="34" charset="0"/>
                <a:cs typeface="Segoe UI" panose="020B0502040204020203" pitchFamily="34" charset="0"/>
              </a:rPr>
              <a:t> &lt;customer&gt;  to either purchase or extend existing Jira and Confluence licenses </a:t>
            </a:r>
          </a:p>
          <a:p>
            <a:r>
              <a:rPr lang="en-US" sz="1280" dirty="0">
                <a:solidFill>
                  <a:schemeClr val="tx1"/>
                </a:solidFill>
                <a:latin typeface="Amazon Ember Regular"/>
                <a:ea typeface="Amazon Ember Thin" panose="020B0303020204020204" pitchFamily="34" charset="0"/>
                <a:cs typeface="Segoe UI" panose="020B0502040204020203" pitchFamily="34" charset="0"/>
              </a:rPr>
              <a:t>Days are for estimation purposes. Customers will be billed at the equivalent hourly rate, based on actual hours worked</a:t>
            </a:r>
          </a:p>
          <a:p>
            <a:r>
              <a:rPr lang="en-US" sz="1280" dirty="0">
                <a:solidFill>
                  <a:schemeClr val="tx1"/>
                </a:solidFill>
                <a:latin typeface="Amazon Ember Regular"/>
                <a:ea typeface="Amazon Ember Thin" panose="020B0303020204020204" pitchFamily="34" charset="0"/>
              </a:rPr>
              <a:t>Excludes Expenses to be estimated at 15% (There will be no expenses if all work is done remotely)</a:t>
            </a:r>
          </a:p>
          <a:p>
            <a:r>
              <a:rPr lang="en-US" sz="1280" dirty="0">
                <a:solidFill>
                  <a:schemeClr val="tx1"/>
                </a:solidFill>
                <a:latin typeface="Amazon Ember Regular"/>
                <a:ea typeface="Amazon Ember Thin" panose="020B0303020204020204" pitchFamily="34" charset="0"/>
              </a:rPr>
              <a:t>Mobilize engagement is using Delivery Kits and Best Practices</a:t>
            </a: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cs typeface="Segoe UI" panose="020B0502040204020203" pitchFamily="34" charset="0"/>
            </a:endParaRPr>
          </a:p>
        </p:txBody>
      </p:sp>
      <p:graphicFrame>
        <p:nvGraphicFramePr>
          <p:cNvPr id="9" name="Table 8">
            <a:extLst>
              <a:ext uri="{FF2B5EF4-FFF2-40B4-BE49-F238E27FC236}">
                <a16:creationId xmlns:a16="http://schemas.microsoft.com/office/drawing/2014/main" id="{1258F1D7-102A-7C4C-BD75-D8E144EF66AC}"/>
              </a:ext>
            </a:extLst>
          </p:cNvPr>
          <p:cNvGraphicFramePr>
            <a:graphicFrameLocks noGrp="1"/>
          </p:cNvGraphicFramePr>
          <p:nvPr/>
        </p:nvGraphicFramePr>
        <p:xfrm>
          <a:off x="672907" y="1085658"/>
          <a:ext cx="10643294" cy="4389120"/>
        </p:xfrm>
        <a:graphic>
          <a:graphicData uri="http://schemas.openxmlformats.org/drawingml/2006/table">
            <a:tbl>
              <a:tblPr>
                <a:tableStyleId>{69012ECD-51FC-41F1-AA8D-1B2483CD663E}</a:tableStyleId>
              </a:tblPr>
              <a:tblGrid>
                <a:gridCol w="4531903">
                  <a:extLst>
                    <a:ext uri="{9D8B030D-6E8A-4147-A177-3AD203B41FA5}">
                      <a16:colId xmlns:a16="http://schemas.microsoft.com/office/drawing/2014/main" val="4057604124"/>
                    </a:ext>
                  </a:extLst>
                </a:gridCol>
                <a:gridCol w="1892958">
                  <a:extLst>
                    <a:ext uri="{9D8B030D-6E8A-4147-A177-3AD203B41FA5}">
                      <a16:colId xmlns:a16="http://schemas.microsoft.com/office/drawing/2014/main" val="3436894455"/>
                    </a:ext>
                  </a:extLst>
                </a:gridCol>
                <a:gridCol w="1892958">
                  <a:extLst>
                    <a:ext uri="{9D8B030D-6E8A-4147-A177-3AD203B41FA5}">
                      <a16:colId xmlns:a16="http://schemas.microsoft.com/office/drawing/2014/main" val="3537614053"/>
                    </a:ext>
                  </a:extLst>
                </a:gridCol>
                <a:gridCol w="2325475">
                  <a:extLst>
                    <a:ext uri="{9D8B030D-6E8A-4147-A177-3AD203B41FA5}">
                      <a16:colId xmlns:a16="http://schemas.microsoft.com/office/drawing/2014/main" val="1808991411"/>
                    </a:ext>
                  </a:extLst>
                </a:gridCol>
              </a:tblGrid>
              <a:tr h="396593">
                <a:tc>
                  <a:txBody>
                    <a:bodyPr/>
                    <a:lstStyle/>
                    <a:p>
                      <a:pPr algn="l" rtl="0" fontAlgn="ctr"/>
                      <a:r>
                        <a:rPr lang="en-US" sz="1600" b="1" u="none" strike="noStrike" dirty="0">
                          <a:effectLst/>
                        </a:rPr>
                        <a:t>Accelerator Scope </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i="0" u="none" strike="noStrike" dirty="0">
                          <a:solidFill>
                            <a:schemeClr val="tx1"/>
                          </a:solidFill>
                          <a:effectLst/>
                          <a:latin typeface="Amazon Ember" panose="020B0603020204020204" pitchFamily="34" charset="0"/>
                        </a:rPr>
                        <a:t>Daily Rate</a:t>
                      </a:r>
                      <a:r>
                        <a:rPr lang="en-US" sz="1600" b="1" i="0" u="none" strike="noStrike" baseline="30000" dirty="0">
                          <a:solidFill>
                            <a:schemeClr val="tx1"/>
                          </a:solidFill>
                          <a:effectLst/>
                          <a:latin typeface="Amazon Ember" panose="020B0603020204020204" pitchFamily="34" charset="0"/>
                        </a:rPr>
                        <a:t>1</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u="none" strike="noStrike" dirty="0">
                          <a:effectLst/>
                        </a:rPr>
                        <a:t>Total Days</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u="none" strike="noStrike" dirty="0">
                          <a:effectLst/>
                        </a:rPr>
                        <a:t>Total Fees</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2858784409"/>
                  </a:ext>
                </a:extLst>
              </a:tr>
              <a:tr h="275740">
                <a:tc>
                  <a:txBody>
                    <a:bodyPr/>
                    <a:lstStyle/>
                    <a:p>
                      <a:pPr algn="l" rtl="0" fontAlgn="ctr"/>
                      <a:r>
                        <a:rPr lang="en-US" sz="1600" u="none" strike="noStrike" dirty="0">
                          <a:effectLst/>
                        </a:rPr>
                        <a:t>Portfolio</a:t>
                      </a:r>
                      <a:r>
                        <a:rPr lang="en-US" sz="1600" u="none" strike="noStrike" baseline="0" dirty="0">
                          <a:effectLst/>
                        </a:rPr>
                        <a:t> Accelerator </a:t>
                      </a: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8609022"/>
                  </a:ext>
                </a:extLst>
              </a:tr>
              <a:tr h="502817">
                <a:tc>
                  <a:txBody>
                    <a:bodyPr/>
                    <a:lstStyle/>
                    <a:p>
                      <a:pPr marL="0" marR="0" lvl="0" indent="0" algn="l" defTabSz="731520" rtl="0" eaLnBrk="1" fontAlgn="ctr" latinLnBrk="0" hangingPunct="1">
                        <a:lnSpc>
                          <a:spcPct val="100000"/>
                        </a:lnSpc>
                        <a:spcBef>
                          <a:spcPts val="0"/>
                        </a:spcBef>
                        <a:spcAft>
                          <a:spcPts val="0"/>
                        </a:spcAft>
                        <a:buClrTx/>
                        <a:buSzTx/>
                        <a:buFontTx/>
                        <a:buNone/>
                        <a:tabLst/>
                        <a:defRPr/>
                      </a:pPr>
                      <a:r>
                        <a:rPr lang="en-US" sz="1600" u="none" strike="noStrike" dirty="0">
                          <a:effectLst/>
                        </a:rPr>
                        <a:t>Platform Accelerator </a:t>
                      </a:r>
                      <a:br>
                        <a:rPr lang="en-US" sz="1600" u="none" strike="noStrike" dirty="0">
                          <a:effectLst/>
                        </a:rPr>
                      </a:br>
                      <a:r>
                        <a:rPr lang="en-US" sz="1400" b="0" i="1" u="none" strike="noStrike" dirty="0">
                          <a:effectLst/>
                        </a:rPr>
                        <a:t>(LandingZone, Security, Operations) </a:t>
                      </a:r>
                      <a:endParaRPr lang="en-US" sz="1400" b="0"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591318"/>
                  </a:ext>
                </a:extLst>
              </a:tr>
              <a:tr h="367609">
                <a:tc>
                  <a:txBody>
                    <a:bodyPr/>
                    <a:lstStyle/>
                    <a:p>
                      <a:pPr marL="0" marR="0" lvl="0" indent="0" algn="l" defTabSz="731520" rtl="0" eaLnBrk="1" fontAlgn="ctr" latinLnBrk="0" hangingPunct="1">
                        <a:lnSpc>
                          <a:spcPct val="100000"/>
                        </a:lnSpc>
                        <a:spcBef>
                          <a:spcPts val="0"/>
                        </a:spcBef>
                        <a:spcAft>
                          <a:spcPts val="0"/>
                        </a:spcAft>
                        <a:buClrTx/>
                        <a:buSzTx/>
                        <a:buFontTx/>
                        <a:buNone/>
                        <a:tabLst/>
                        <a:defRPr/>
                      </a:pPr>
                      <a:r>
                        <a:rPr lang="en-US" sz="1600" u="none" strike="noStrike" dirty="0">
                          <a:effectLst/>
                        </a:rPr>
                        <a:t>Migration Accelerator </a:t>
                      </a: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4187521"/>
                  </a:ext>
                </a:extLst>
              </a:tr>
              <a:tr h="275740">
                <a:tc>
                  <a:txBody>
                    <a:bodyPr/>
                    <a:lstStyle/>
                    <a:p>
                      <a:pPr algn="l" rtl="0" fontAlgn="ctr"/>
                      <a:r>
                        <a:rPr lang="en-US" sz="1600" b="0" i="0" u="none" strike="noStrike" dirty="0">
                          <a:solidFill>
                            <a:schemeClr val="tx1"/>
                          </a:solidFill>
                          <a:effectLst/>
                          <a:latin typeface="Amazon Ember" panose="020B0603020204020204" pitchFamily="34" charset="0"/>
                        </a:rPr>
                        <a:t>People Accelerator </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057902"/>
                  </a:ext>
                </a:extLst>
              </a:tr>
              <a:tr h="502817">
                <a:tc>
                  <a:txBody>
                    <a:bodyPr/>
                    <a:lstStyle/>
                    <a:p>
                      <a:pPr algn="l" rtl="0" fontAlgn="ctr"/>
                      <a:r>
                        <a:rPr lang="en-US" sz="1600" b="0" i="0" u="none" strike="noStrike" dirty="0">
                          <a:solidFill>
                            <a:schemeClr val="tx1"/>
                          </a:solidFill>
                          <a:effectLst/>
                          <a:latin typeface="Amazon Ember" panose="020B0603020204020204" pitchFamily="34" charset="0"/>
                        </a:rPr>
                        <a:t>Mobilize Accelerator</a:t>
                      </a:r>
                      <a:br>
                        <a:rPr lang="en-US" sz="1600" b="0" i="0" u="none" strike="noStrike" dirty="0">
                          <a:solidFill>
                            <a:schemeClr val="tx1"/>
                          </a:solidFill>
                          <a:effectLst/>
                          <a:latin typeface="Amazon Ember" panose="020B0603020204020204" pitchFamily="34" charset="0"/>
                        </a:rPr>
                      </a:br>
                      <a:r>
                        <a:rPr lang="en-US" sz="1400" b="0" i="1" u="none" strike="noStrike" baseline="0" dirty="0">
                          <a:solidFill>
                            <a:schemeClr val="tx1"/>
                          </a:solidFill>
                          <a:effectLst/>
                          <a:latin typeface="Amazon Ember" panose="020B0603020204020204" pitchFamily="34" charset="0"/>
                        </a:rPr>
                        <a:t>(Engagement Manager, PM, CDA)</a:t>
                      </a:r>
                      <a:endParaRPr lang="en-US" sz="1600" b="0" i="1" u="none" strike="noStrike" dirty="0">
                        <a:solidFill>
                          <a:schemeClr val="tx1"/>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6589109"/>
                  </a:ext>
                </a:extLst>
              </a:tr>
              <a:tr h="352293">
                <a:tc>
                  <a:txBody>
                    <a:bodyPr/>
                    <a:lstStyle/>
                    <a:p>
                      <a:pPr algn="l" rtl="0" fontAlgn="ctr"/>
                      <a:r>
                        <a:rPr lang="en-US" sz="1600" u="none" strike="noStrike" dirty="0">
                          <a:effectLst/>
                        </a:rPr>
                        <a:t>Mobilize Sub-total</a:t>
                      </a: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922019493"/>
                  </a:ext>
                </a:extLst>
              </a:tr>
              <a:tr h="428878">
                <a:tc>
                  <a:txBody>
                    <a:bodyPr/>
                    <a:lstStyle/>
                    <a:p>
                      <a:pPr algn="l" rtl="0" fontAlgn="ctr"/>
                      <a:r>
                        <a:rPr lang="en-US" sz="1600" u="none" strike="noStrike" dirty="0">
                          <a:effectLst/>
                        </a:rPr>
                        <a:t>Portfolio</a:t>
                      </a:r>
                      <a:r>
                        <a:rPr lang="en-US" sz="1600" u="none" strike="noStrike" baseline="0" dirty="0">
                          <a:effectLst/>
                        </a:rPr>
                        <a:t> Tools for</a:t>
                      </a:r>
                      <a:r>
                        <a:rPr lang="en-US" sz="1600" u="none" strike="noStrike" dirty="0">
                          <a:effectLst/>
                        </a:rPr>
                        <a:t> Discovery &amp;</a:t>
                      </a:r>
                      <a:r>
                        <a:rPr lang="en-US" sz="1600" u="none" strike="noStrike" baseline="0" dirty="0">
                          <a:effectLst/>
                        </a:rPr>
                        <a:t> </a:t>
                      </a:r>
                      <a:r>
                        <a:rPr lang="en-US" sz="1600" u="none" strike="noStrike" dirty="0">
                          <a:effectLst/>
                        </a:rPr>
                        <a:t>Analysis</a:t>
                      </a:r>
                      <a:r>
                        <a:rPr lang="en-US" sz="1600" u="none" strike="noStrike" baseline="30000" dirty="0">
                          <a:effectLst/>
                        </a:rPr>
                        <a:t>3</a:t>
                      </a:r>
                      <a:endParaRPr lang="en-US" sz="1600" b="1" i="1" u="none" strike="noStrike" baseline="30000"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0891945"/>
                  </a:ext>
                </a:extLst>
              </a:tr>
              <a:tr h="428878">
                <a:tc>
                  <a:txBody>
                    <a:bodyPr/>
                    <a:lstStyle/>
                    <a:p>
                      <a:pPr marL="0" algn="l" defTabSz="731520" rtl="0" eaLnBrk="1" fontAlgn="ctr" latinLnBrk="0" hangingPunct="1"/>
                      <a:r>
                        <a:rPr lang="en-US" sz="1600" u="none" strike="noStrike" kern="1200" dirty="0">
                          <a:solidFill>
                            <a:schemeClr val="tx1"/>
                          </a:solidFill>
                          <a:effectLst/>
                          <a:latin typeface="+mn-lt"/>
                          <a:ea typeface="+mn-ea"/>
                          <a:cs typeface="+mn-cs"/>
                        </a:rPr>
                        <a:t>Collaboration Tools</a:t>
                      </a:r>
                      <a:r>
                        <a:rPr lang="en-US" sz="1600" u="none" strike="noStrike" kern="1200" baseline="30000" dirty="0">
                          <a:solidFill>
                            <a:schemeClr val="tx1"/>
                          </a:solidFill>
                          <a:effectLst/>
                          <a:latin typeface="+mn-lt"/>
                          <a:ea typeface="+mn-ea"/>
                          <a:cs typeface="+mn-cs"/>
                        </a:rPr>
                        <a:t>4</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1456775"/>
                  </a:ext>
                </a:extLst>
              </a:tr>
              <a:tr h="490146">
                <a:tc>
                  <a:txBody>
                    <a:bodyPr/>
                    <a:lstStyle/>
                    <a:p>
                      <a:pPr algn="l" rtl="0" fontAlgn="ctr"/>
                      <a:r>
                        <a:rPr lang="en-US" sz="1600" u="none" strike="noStrike" dirty="0">
                          <a:effectLst/>
                        </a:rPr>
                        <a:t>MAP $ for $ funding</a:t>
                      </a:r>
                      <a:r>
                        <a:rPr lang="en-US" sz="1600" u="none" strike="noStrike" baseline="30000" dirty="0">
                          <a:effectLst/>
                        </a:rPr>
                        <a:t>2</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sz="1600" b="0" i="0" u="none" strike="noStrike" dirty="0">
                          <a:solidFill>
                            <a:schemeClr val="tx1"/>
                          </a:solidFill>
                          <a:effectLst/>
                          <a:latin typeface="Amazon Ember" panose="020B0603020204020204" pitchFamily="34" charset="0"/>
                        </a:rPr>
                        <a:t>($###,###)</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5195126"/>
                  </a:ext>
                </a:extLst>
              </a:tr>
              <a:tr h="367609">
                <a:tc>
                  <a:txBody>
                    <a:bodyPr/>
                    <a:lstStyle/>
                    <a:p>
                      <a:pPr algn="l" rtl="0" fontAlgn="ctr"/>
                      <a:r>
                        <a:rPr lang="en-US" sz="1600" u="none" strike="noStrike" dirty="0">
                          <a:effectLst/>
                        </a:rPr>
                        <a:t>Grand Total</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857998067"/>
                  </a:ext>
                </a:extLst>
              </a:tr>
            </a:tbl>
          </a:graphicData>
        </a:graphic>
      </p:graphicFrame>
      <p:sp>
        <p:nvSpPr>
          <p:cNvPr id="5" name="TextBox 4">
            <a:extLst>
              <a:ext uri="{FF2B5EF4-FFF2-40B4-BE49-F238E27FC236}">
                <a16:creationId xmlns:a16="http://schemas.microsoft.com/office/drawing/2014/main" id="{36EDD1A0-0E65-3541-9704-423D4C69C922}"/>
              </a:ext>
            </a:extLst>
          </p:cNvPr>
          <p:cNvSpPr txBox="1"/>
          <p:nvPr/>
        </p:nvSpPr>
        <p:spPr>
          <a:xfrm rot="20286413">
            <a:off x="3001589" y="4232446"/>
            <a:ext cx="10671511" cy="523220"/>
          </a:xfrm>
          <a:prstGeom prst="rect">
            <a:avLst/>
          </a:prstGeom>
          <a:solidFill>
            <a:schemeClr val="tx2"/>
          </a:solidFill>
        </p:spPr>
        <p:txBody>
          <a:bodyPr wrap="none" rtlCol="0">
            <a:spAutoFit/>
          </a:bodyPr>
          <a:lstStyle/>
          <a:p>
            <a:pPr algn="l"/>
            <a:r>
              <a:rPr lang="en-US" sz="28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Use breakdown by scope or by role as appropriate</a:t>
            </a:r>
          </a:p>
        </p:txBody>
      </p:sp>
    </p:spTree>
    <p:extLst>
      <p:ext uri="{BB962C8B-B14F-4D97-AF65-F5344CB8AC3E}">
        <p14:creationId xmlns:p14="http://schemas.microsoft.com/office/powerpoint/2010/main" val="4165126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8863" y="175057"/>
            <a:ext cx="13128625" cy="873125"/>
          </a:xfrm>
        </p:spPr>
        <p:txBody>
          <a:bodyPr/>
          <a:lstStyle/>
          <a:p>
            <a:r>
              <a:rPr lang="en-US" dirty="0">
                <a:solidFill>
                  <a:schemeClr val="tx1"/>
                </a:solidFill>
              </a:rPr>
              <a:t>Mobilize Cost Breakdown by Role </a:t>
            </a:r>
          </a:p>
        </p:txBody>
      </p:sp>
      <p:sp>
        <p:nvSpPr>
          <p:cNvPr id="6" name="Content Placeholder 2">
            <a:extLst>
              <a:ext uri="{FF2B5EF4-FFF2-40B4-BE49-F238E27FC236}">
                <a16:creationId xmlns:a16="http://schemas.microsoft.com/office/drawing/2014/main" id="{22F9BF13-2A6A-5A40-A824-D0F1D62A256B}"/>
              </a:ext>
            </a:extLst>
          </p:cNvPr>
          <p:cNvSpPr txBox="1">
            <a:spLocks/>
          </p:cNvSpPr>
          <p:nvPr/>
        </p:nvSpPr>
        <p:spPr>
          <a:xfrm>
            <a:off x="538863" y="5467045"/>
            <a:ext cx="12193882" cy="1737226"/>
          </a:xfrm>
          <a:prstGeom prst="rect">
            <a:avLst/>
          </a:prstGeom>
        </p:spPr>
        <p:txBody>
          <a:bodyPr vert="horz" lIns="146304" tIns="73152" rIns="146304" bIns="73152" rtlCol="0">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280" baseline="30000" dirty="0">
                <a:solidFill>
                  <a:schemeClr val="tx1"/>
                </a:solidFill>
                <a:latin typeface="Amazon Ember Regular"/>
                <a:ea typeface="Amazon Ember Thin" panose="020B0303020204020204" pitchFamily="34" charset="0"/>
                <a:cs typeface="Segoe UI" panose="020B0502040204020203" pitchFamily="34" charset="0"/>
              </a:rPr>
              <a:t>1</a:t>
            </a:r>
            <a:r>
              <a:rPr lang="en-US" sz="1280" dirty="0">
                <a:solidFill>
                  <a:schemeClr val="tx1"/>
                </a:solidFill>
                <a:latin typeface="Amazon Ember Regular"/>
                <a:ea typeface="Amazon Ember Thin" panose="020B0303020204020204" pitchFamily="34" charset="0"/>
                <a:cs typeface="Segoe UI" panose="020B0502040204020203" pitchFamily="34" charset="0"/>
              </a:rPr>
              <a:t>Daily Rate is based on an 8 hour workday. </a:t>
            </a:r>
          </a:p>
          <a:p>
            <a:r>
              <a:rPr lang="en-US" sz="1280" baseline="30000" dirty="0">
                <a:solidFill>
                  <a:schemeClr val="tx1"/>
                </a:solidFill>
                <a:latin typeface="Amazon Ember Regular"/>
                <a:ea typeface="Amazon Ember Thin" panose="020B0303020204020204" pitchFamily="34" charset="0"/>
                <a:cs typeface="Segoe UI" panose="020B0502040204020203" pitchFamily="34" charset="0"/>
              </a:rPr>
              <a:t>2</a:t>
            </a:r>
            <a:r>
              <a:rPr lang="en-US" sz="1280" dirty="0">
                <a:solidFill>
                  <a:schemeClr val="tx1"/>
                </a:solidFill>
                <a:latin typeface="Amazon Ember Regular"/>
                <a:ea typeface="Amazon Ember Thin" panose="020B0303020204020204" pitchFamily="34" charset="0"/>
                <a:cs typeface="Segoe UI" panose="020B0502040204020203" pitchFamily="34" charset="0"/>
              </a:rPr>
              <a:t>Preliminary estimate and MAP funding subject to AWS financial approval</a:t>
            </a:r>
          </a:p>
          <a:p>
            <a:r>
              <a:rPr lang="en-US" sz="1280" baseline="30000" dirty="0">
                <a:solidFill>
                  <a:srgbClr val="FF0000"/>
                </a:solidFill>
                <a:latin typeface="Amazon Ember Regular"/>
                <a:ea typeface="Amazon Ember Thin" panose="020B0303020204020204" pitchFamily="34" charset="0"/>
              </a:rPr>
              <a:t>3</a:t>
            </a:r>
            <a:r>
              <a:rPr lang="en-US" sz="1280" dirty="0">
                <a:solidFill>
                  <a:srgbClr val="FF0000"/>
                </a:solidFill>
                <a:latin typeface="Amazon Ember Regular"/>
                <a:ea typeface="Amazon Ember Thin" panose="020B0303020204020204" pitchFamily="34" charset="0"/>
              </a:rPr>
              <a:t> &lt;customer&gt; to purchase Portfolio Tools for Discovery and Analysis, which includes licenses and Partner Professional Services, in the AWS Marketplace</a:t>
            </a:r>
          </a:p>
          <a:p>
            <a:r>
              <a:rPr lang="en-US" sz="1280" baseline="30000" dirty="0">
                <a:solidFill>
                  <a:srgbClr val="FF0000"/>
                </a:solidFill>
                <a:latin typeface="Amazon Ember Regular"/>
                <a:ea typeface="Amazon Ember Thin" panose="020B0303020204020204" pitchFamily="34" charset="0"/>
                <a:cs typeface="Segoe UI" panose="020B0502040204020203" pitchFamily="34" charset="0"/>
              </a:rPr>
              <a:t>4</a:t>
            </a:r>
            <a:r>
              <a:rPr lang="en-US" sz="1280" dirty="0">
                <a:solidFill>
                  <a:srgbClr val="FF0000"/>
                </a:solidFill>
                <a:latin typeface="Amazon Ember Regular"/>
                <a:ea typeface="Amazon Ember Thin" panose="020B0303020204020204" pitchFamily="34" charset="0"/>
                <a:cs typeface="Segoe UI" panose="020B0502040204020203" pitchFamily="34" charset="0"/>
              </a:rPr>
              <a:t> &lt;customer&gt;  to either purchase or extend existing Jira and Confluence licenses </a:t>
            </a:r>
          </a:p>
          <a:p>
            <a:r>
              <a:rPr lang="en-US" sz="1280" dirty="0">
                <a:solidFill>
                  <a:schemeClr val="tx1"/>
                </a:solidFill>
                <a:latin typeface="Amazon Ember Regular"/>
                <a:ea typeface="Amazon Ember Thin" panose="020B0303020204020204" pitchFamily="34" charset="0"/>
                <a:cs typeface="Segoe UI" panose="020B0502040204020203" pitchFamily="34" charset="0"/>
              </a:rPr>
              <a:t>Days are for estimation purposes. Customers will be billed at the equivalent hourly rate, based on actual hours worked</a:t>
            </a:r>
          </a:p>
          <a:p>
            <a:r>
              <a:rPr lang="en-US" sz="1280" dirty="0">
                <a:solidFill>
                  <a:schemeClr val="tx1"/>
                </a:solidFill>
                <a:latin typeface="Amazon Ember Regular"/>
                <a:ea typeface="Amazon Ember Thin" panose="020B0303020204020204" pitchFamily="34" charset="0"/>
              </a:rPr>
              <a:t>Excludes Expenses to be estimated at 15% (There will be no expenses if all work is done remotely)</a:t>
            </a:r>
          </a:p>
          <a:p>
            <a:r>
              <a:rPr lang="en-US" sz="1280" dirty="0">
                <a:solidFill>
                  <a:schemeClr val="tx1"/>
                </a:solidFill>
                <a:latin typeface="Amazon Ember Regular"/>
                <a:ea typeface="Amazon Ember Thin" panose="020B0303020204020204" pitchFamily="34" charset="0"/>
              </a:rPr>
              <a:t>Mobilize engagement is using Delivery Kits and Best Practices</a:t>
            </a: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endParaRPr>
          </a:p>
          <a:p>
            <a:endParaRPr lang="en-US" sz="1280" dirty="0">
              <a:solidFill>
                <a:schemeClr val="tx1"/>
              </a:solidFill>
              <a:latin typeface="Amazon Ember Regular"/>
              <a:ea typeface="Amazon Ember Thin" panose="020B0303020204020204" pitchFamily="34" charset="0"/>
              <a:cs typeface="Segoe UI" panose="020B0502040204020203" pitchFamily="34" charset="0"/>
            </a:endParaRPr>
          </a:p>
        </p:txBody>
      </p:sp>
      <p:graphicFrame>
        <p:nvGraphicFramePr>
          <p:cNvPr id="9" name="Table 8">
            <a:extLst>
              <a:ext uri="{FF2B5EF4-FFF2-40B4-BE49-F238E27FC236}">
                <a16:creationId xmlns:a16="http://schemas.microsoft.com/office/drawing/2014/main" id="{1258F1D7-102A-7C4C-BD75-D8E144EF66AC}"/>
              </a:ext>
            </a:extLst>
          </p:cNvPr>
          <p:cNvGraphicFramePr>
            <a:graphicFrameLocks noGrp="1"/>
          </p:cNvGraphicFramePr>
          <p:nvPr/>
        </p:nvGraphicFramePr>
        <p:xfrm>
          <a:off x="672578" y="1071180"/>
          <a:ext cx="12484606" cy="4232143"/>
        </p:xfrm>
        <a:graphic>
          <a:graphicData uri="http://schemas.openxmlformats.org/drawingml/2006/table">
            <a:tbl>
              <a:tblPr>
                <a:tableStyleId>{69012ECD-51FC-41F1-AA8D-1B2483CD663E}</a:tableStyleId>
              </a:tblPr>
              <a:tblGrid>
                <a:gridCol w="4986205">
                  <a:extLst>
                    <a:ext uri="{9D8B030D-6E8A-4147-A177-3AD203B41FA5}">
                      <a16:colId xmlns:a16="http://schemas.microsoft.com/office/drawing/2014/main" val="4057604124"/>
                    </a:ext>
                  </a:extLst>
                </a:gridCol>
                <a:gridCol w="1841313">
                  <a:extLst>
                    <a:ext uri="{9D8B030D-6E8A-4147-A177-3AD203B41FA5}">
                      <a16:colId xmlns:a16="http://schemas.microsoft.com/office/drawing/2014/main" val="3595458075"/>
                    </a:ext>
                  </a:extLst>
                </a:gridCol>
                <a:gridCol w="2828544">
                  <a:extLst>
                    <a:ext uri="{9D8B030D-6E8A-4147-A177-3AD203B41FA5}">
                      <a16:colId xmlns:a16="http://schemas.microsoft.com/office/drawing/2014/main" val="3537614053"/>
                    </a:ext>
                  </a:extLst>
                </a:gridCol>
                <a:gridCol w="2828544">
                  <a:extLst>
                    <a:ext uri="{9D8B030D-6E8A-4147-A177-3AD203B41FA5}">
                      <a16:colId xmlns:a16="http://schemas.microsoft.com/office/drawing/2014/main" val="1808991411"/>
                    </a:ext>
                  </a:extLst>
                </a:gridCol>
              </a:tblGrid>
              <a:tr h="374980">
                <a:tc>
                  <a:txBody>
                    <a:bodyPr/>
                    <a:lstStyle/>
                    <a:p>
                      <a:pPr algn="l" rtl="0" fontAlgn="ctr"/>
                      <a:r>
                        <a:rPr lang="en-US" sz="1600" b="1" u="none" strike="noStrike" dirty="0">
                          <a:effectLst/>
                        </a:rPr>
                        <a:t>Resource</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u="none" strike="noStrike" dirty="0">
                          <a:effectLst/>
                        </a:rPr>
                        <a:t>Daily Rate</a:t>
                      </a:r>
                      <a:r>
                        <a:rPr lang="en-US" sz="1600" b="1" u="none" strike="noStrike" baseline="30000" dirty="0">
                          <a:effectLst/>
                        </a:rPr>
                        <a:t>1</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u="none" strike="noStrike" dirty="0">
                          <a:effectLst/>
                        </a:rPr>
                        <a:t>Total Days</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r>
                        <a:rPr lang="en-US" sz="1600" b="1" u="none" strike="noStrike" dirty="0">
                          <a:effectLst/>
                        </a:rPr>
                        <a:t>Total Fees</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2858784409"/>
                  </a:ext>
                </a:extLst>
              </a:tr>
              <a:tr h="259080">
                <a:tc>
                  <a:txBody>
                    <a:bodyPr/>
                    <a:lstStyle/>
                    <a:p>
                      <a:pPr algn="l" rtl="0" fontAlgn="ctr"/>
                      <a:r>
                        <a:rPr lang="en-US" sz="1600" u="none" strike="noStrike" dirty="0">
                          <a:effectLst/>
                        </a:rPr>
                        <a:t>Practice Manager</a:t>
                      </a: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8609022"/>
                  </a:ext>
                </a:extLst>
              </a:tr>
              <a:tr h="259080">
                <a:tc>
                  <a:txBody>
                    <a:bodyPr/>
                    <a:lstStyle/>
                    <a:p>
                      <a:pPr marL="0" marR="0" lvl="0" indent="0" algn="l" defTabSz="731520" rtl="0" eaLnBrk="1" fontAlgn="ctr" latinLnBrk="0" hangingPunct="1">
                        <a:lnSpc>
                          <a:spcPct val="100000"/>
                        </a:lnSpc>
                        <a:spcBef>
                          <a:spcPts val="0"/>
                        </a:spcBef>
                        <a:spcAft>
                          <a:spcPts val="0"/>
                        </a:spcAft>
                        <a:buClrTx/>
                        <a:buSzTx/>
                        <a:buFontTx/>
                        <a:buNone/>
                        <a:tabLst/>
                        <a:defRPr/>
                      </a:pPr>
                      <a:r>
                        <a:rPr lang="en-US" sz="1600" u="none" strike="noStrike" dirty="0">
                          <a:effectLst/>
                        </a:rPr>
                        <a:t>Engagement Manager</a:t>
                      </a: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591318"/>
                  </a:ext>
                </a:extLst>
              </a:tr>
              <a:tr h="347574">
                <a:tc>
                  <a:txBody>
                    <a:bodyPr/>
                    <a:lstStyle/>
                    <a:p>
                      <a:pPr marL="0" marR="0" lvl="0" indent="0" algn="l" defTabSz="731520" rtl="0" eaLnBrk="1" fontAlgn="ctr" latinLnBrk="0" hangingPunct="1">
                        <a:lnSpc>
                          <a:spcPct val="100000"/>
                        </a:lnSpc>
                        <a:spcBef>
                          <a:spcPts val="0"/>
                        </a:spcBef>
                        <a:spcAft>
                          <a:spcPts val="0"/>
                        </a:spcAft>
                        <a:buClrTx/>
                        <a:buSzTx/>
                        <a:buFontTx/>
                        <a:buNone/>
                        <a:tabLst/>
                        <a:defRPr/>
                      </a:pPr>
                      <a:r>
                        <a:rPr lang="en-US" sz="1600" u="none" strike="noStrike" dirty="0">
                          <a:effectLst/>
                        </a:rPr>
                        <a:t>Platform Lead</a:t>
                      </a: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4187521"/>
                  </a:ext>
                </a:extLst>
              </a:tr>
              <a:tr h="259080">
                <a:tc>
                  <a:txBody>
                    <a:bodyPr/>
                    <a:lstStyle/>
                    <a:p>
                      <a:pPr algn="l" rtl="0" fontAlgn="ctr"/>
                      <a:r>
                        <a:rPr lang="en-US" sz="1600" b="0" i="0" u="none" strike="noStrike" dirty="0">
                          <a:solidFill>
                            <a:schemeClr val="tx1"/>
                          </a:solidFill>
                          <a:effectLst/>
                          <a:latin typeface="Amazon Ember" panose="020B0603020204020204" pitchFamily="34" charset="0"/>
                        </a:rPr>
                        <a:t>Security</a:t>
                      </a:r>
                      <a:r>
                        <a:rPr lang="en-US" sz="1600" b="0" i="0" u="none" strike="noStrike" baseline="0" dirty="0">
                          <a:solidFill>
                            <a:schemeClr val="tx1"/>
                          </a:solidFill>
                          <a:effectLst/>
                          <a:latin typeface="Amazon Ember" panose="020B0603020204020204" pitchFamily="34" charset="0"/>
                        </a:rPr>
                        <a:t> Lead</a:t>
                      </a:r>
                      <a:endParaRPr lang="en-US" sz="1600" b="0" i="0" u="none" strike="noStrike" dirty="0">
                        <a:solidFill>
                          <a:schemeClr val="tx1"/>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057902"/>
                  </a:ext>
                </a:extLst>
              </a:tr>
              <a:tr h="259080">
                <a:tc>
                  <a:txBody>
                    <a:bodyPr/>
                    <a:lstStyle/>
                    <a:p>
                      <a:pPr algn="l" rtl="0" fontAlgn="ctr"/>
                      <a:r>
                        <a:rPr lang="en-US" sz="1600" b="0" i="0" u="none" strike="noStrike" dirty="0">
                          <a:solidFill>
                            <a:schemeClr val="tx1"/>
                          </a:solidFill>
                          <a:effectLst/>
                          <a:latin typeface="Amazon Ember" panose="020B0603020204020204" pitchFamily="34" charset="0"/>
                        </a:rPr>
                        <a:t>Operations</a:t>
                      </a:r>
                      <a:r>
                        <a:rPr lang="en-US" sz="1600" b="0" i="0" u="none" strike="noStrike" baseline="0" dirty="0">
                          <a:solidFill>
                            <a:schemeClr val="tx1"/>
                          </a:solidFill>
                          <a:effectLst/>
                          <a:latin typeface="Amazon Ember" panose="020B0603020204020204" pitchFamily="34" charset="0"/>
                        </a:rPr>
                        <a:t> Lead </a:t>
                      </a:r>
                      <a:endParaRPr lang="en-US" sz="1600" b="0" i="0" u="none" strike="noStrike" dirty="0">
                        <a:solidFill>
                          <a:schemeClr val="tx1"/>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731520" rtl="0" eaLnBrk="1" fontAlgn="ctr" latinLnBrk="0" hangingPunct="1">
                        <a:lnSpc>
                          <a:spcPct val="100000"/>
                        </a:lnSpc>
                        <a:spcBef>
                          <a:spcPts val="0"/>
                        </a:spcBef>
                        <a:spcAft>
                          <a:spcPts val="0"/>
                        </a:spcAft>
                        <a:buClrTx/>
                        <a:buSzTx/>
                        <a:buFontTx/>
                        <a:buNone/>
                        <a:tabLst/>
                        <a:defRPr/>
                      </a:pP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6589109"/>
                  </a:ext>
                </a:extLst>
              </a:tr>
              <a:tr h="259080">
                <a:tc>
                  <a:txBody>
                    <a:bodyPr/>
                    <a:lstStyle/>
                    <a:p>
                      <a:pPr algn="l" rtl="0" fontAlgn="ctr"/>
                      <a:r>
                        <a:rPr lang="en-US" sz="1600" u="none" strike="noStrike" dirty="0">
                          <a:solidFill>
                            <a:schemeClr val="tx1"/>
                          </a:solidFill>
                          <a:effectLst/>
                        </a:rPr>
                        <a:t>Migration Lead</a:t>
                      </a:r>
                      <a:endParaRPr lang="en-US" sz="1600" b="0" i="0" u="none" strike="noStrike" dirty="0">
                        <a:solidFill>
                          <a:schemeClr val="tx1"/>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1060512"/>
                  </a:ext>
                </a:extLst>
              </a:tr>
              <a:tr h="259080">
                <a:tc>
                  <a:txBody>
                    <a:bodyPr/>
                    <a:lstStyle/>
                    <a:p>
                      <a:pPr algn="l" rtl="0" fontAlgn="ctr"/>
                      <a:r>
                        <a:rPr lang="en-US" sz="1600" b="0" i="0" u="none" strike="noStrike" dirty="0">
                          <a:solidFill>
                            <a:schemeClr val="tx1"/>
                          </a:solidFill>
                          <a:effectLst/>
                          <a:latin typeface="Amazon Ember" panose="020B0603020204020204" pitchFamily="34" charset="0"/>
                        </a:rPr>
                        <a:t>People &amp; Change</a:t>
                      </a:r>
                      <a:r>
                        <a:rPr lang="en-US" sz="1600" b="0" i="0" u="none" strike="noStrike" baseline="0" dirty="0">
                          <a:solidFill>
                            <a:schemeClr val="tx1"/>
                          </a:solidFill>
                          <a:effectLst/>
                          <a:latin typeface="Amazon Ember" panose="020B0603020204020204" pitchFamily="34" charset="0"/>
                        </a:rPr>
                        <a:t> Lead</a:t>
                      </a:r>
                      <a:endParaRPr lang="en-US" sz="1600" b="0" i="0" u="none" strike="noStrike" dirty="0">
                        <a:solidFill>
                          <a:schemeClr val="tx1"/>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731520" rtl="0" eaLnBrk="1" fontAlgn="ctr" latinLnBrk="0" hangingPunct="1">
                        <a:lnSpc>
                          <a:spcPct val="100000"/>
                        </a:lnSpc>
                        <a:spcBef>
                          <a:spcPts val="0"/>
                        </a:spcBef>
                        <a:spcAft>
                          <a:spcPts val="0"/>
                        </a:spcAft>
                        <a:buClrTx/>
                        <a:buSzTx/>
                        <a:buFontTx/>
                        <a:buNone/>
                        <a:tabLst/>
                        <a:defRPr/>
                      </a:pP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0"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1956043"/>
                  </a:ext>
                </a:extLst>
              </a:tr>
              <a:tr h="333093">
                <a:tc>
                  <a:txBody>
                    <a:bodyPr/>
                    <a:lstStyle/>
                    <a:p>
                      <a:pPr algn="l" rtl="0" fontAlgn="ctr"/>
                      <a:r>
                        <a:rPr lang="en-US" sz="1600" u="none" strike="noStrike" dirty="0">
                          <a:effectLst/>
                        </a:rPr>
                        <a:t>Mobilize Sub-total</a:t>
                      </a: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922019493"/>
                  </a:ext>
                </a:extLst>
              </a:tr>
              <a:tr h="405504">
                <a:tc>
                  <a:txBody>
                    <a:bodyPr/>
                    <a:lstStyle/>
                    <a:p>
                      <a:pPr algn="l" rtl="0" fontAlgn="ctr"/>
                      <a:r>
                        <a:rPr lang="en-US" sz="1600" u="none" strike="noStrike" dirty="0">
                          <a:effectLst/>
                        </a:rPr>
                        <a:t>Portfolio</a:t>
                      </a:r>
                      <a:r>
                        <a:rPr lang="en-US" sz="1600" u="none" strike="noStrike" baseline="0" dirty="0">
                          <a:effectLst/>
                        </a:rPr>
                        <a:t> Tools for</a:t>
                      </a:r>
                      <a:r>
                        <a:rPr lang="en-US" sz="1600" u="none" strike="noStrike" dirty="0">
                          <a:effectLst/>
                        </a:rPr>
                        <a:t> Discovery &amp;</a:t>
                      </a:r>
                      <a:r>
                        <a:rPr lang="en-US" sz="1600" u="none" strike="noStrike" baseline="0" dirty="0">
                          <a:effectLst/>
                        </a:rPr>
                        <a:t> </a:t>
                      </a:r>
                      <a:r>
                        <a:rPr lang="en-US" sz="1600" u="none" strike="noStrike" dirty="0">
                          <a:effectLst/>
                        </a:rPr>
                        <a:t>Analysis</a:t>
                      </a:r>
                      <a:r>
                        <a:rPr lang="en-US" sz="1600" u="none" strike="noStrike" baseline="30000" dirty="0">
                          <a:effectLst/>
                        </a:rPr>
                        <a:t>3</a:t>
                      </a:r>
                      <a:endParaRPr lang="en-US" sz="1600" b="1" i="1" u="none" strike="noStrike" baseline="30000"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0891945"/>
                  </a:ext>
                </a:extLst>
              </a:tr>
              <a:tr h="405504">
                <a:tc>
                  <a:txBody>
                    <a:bodyPr/>
                    <a:lstStyle/>
                    <a:p>
                      <a:pPr marL="0" algn="l" defTabSz="731520" rtl="0" eaLnBrk="1" fontAlgn="ctr" latinLnBrk="0" hangingPunct="1"/>
                      <a:r>
                        <a:rPr lang="en-US" sz="1600" u="none" strike="noStrike" kern="1200" dirty="0">
                          <a:solidFill>
                            <a:schemeClr val="tx1"/>
                          </a:solidFill>
                          <a:effectLst/>
                          <a:latin typeface="+mn-lt"/>
                          <a:ea typeface="+mn-ea"/>
                          <a:cs typeface="+mn-cs"/>
                        </a:rPr>
                        <a:t>Collaboration Tools</a:t>
                      </a:r>
                      <a:r>
                        <a:rPr lang="en-US" sz="1600" u="none" strike="noStrike" kern="1200" baseline="30000" dirty="0">
                          <a:solidFill>
                            <a:schemeClr val="tx1"/>
                          </a:solidFill>
                          <a:effectLst/>
                          <a:latin typeface="+mn-lt"/>
                          <a:ea typeface="+mn-ea"/>
                          <a:cs typeface="+mn-cs"/>
                        </a:rPr>
                        <a:t>4</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en-US" sz="1600" b="1" i="1"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1456775"/>
                  </a:ext>
                </a:extLst>
              </a:tr>
              <a:tr h="463434">
                <a:tc>
                  <a:txBody>
                    <a:bodyPr/>
                    <a:lstStyle/>
                    <a:p>
                      <a:pPr algn="l" rtl="0" fontAlgn="ctr"/>
                      <a:r>
                        <a:rPr lang="en-US" sz="1600" u="none" strike="noStrike" dirty="0">
                          <a:effectLst/>
                        </a:rPr>
                        <a:t>MAP $ for $ funding</a:t>
                      </a:r>
                      <a:r>
                        <a:rPr lang="en-US" sz="1600" u="none" strike="noStrike" baseline="30000" dirty="0">
                          <a:effectLst/>
                        </a:rPr>
                        <a:t>2</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sz="1600" b="0" i="0" u="none" strike="noStrike" dirty="0">
                          <a:solidFill>
                            <a:schemeClr val="tx1"/>
                          </a:solidFill>
                          <a:effectLst/>
                          <a:latin typeface="Amazon Ember" panose="020B0603020204020204" pitchFamily="34" charset="0"/>
                        </a:rPr>
                        <a:t>($###,###)</a:t>
                      </a: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5195126"/>
                  </a:ext>
                </a:extLst>
              </a:tr>
              <a:tr h="347574">
                <a:tc>
                  <a:txBody>
                    <a:bodyPr/>
                    <a:lstStyle/>
                    <a:p>
                      <a:pPr algn="l" rtl="0" fontAlgn="ctr"/>
                      <a:r>
                        <a:rPr lang="en-US" sz="1600" u="none" strike="noStrike" dirty="0">
                          <a:effectLst/>
                        </a:rPr>
                        <a:t>Grand Total</a:t>
                      </a: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t"/>
                      <a:r>
                        <a:rPr lang="en-US" sz="1600" u="none" strike="noStrike" dirty="0">
                          <a:effectLst/>
                        </a:rPr>
                        <a:t> </a:t>
                      </a:r>
                      <a:endParaRPr lang="en-US" sz="1600" b="0" i="0" u="none" strike="noStrike" dirty="0">
                        <a:solidFill>
                          <a:srgbClr val="000000"/>
                        </a:solidFill>
                        <a:effectLst/>
                        <a:latin typeface="Amazon Ember" panose="020B0603020204020204" pitchFamily="34" charset="0"/>
                      </a:endParaRPr>
                    </a:p>
                  </a:txBody>
                  <a:tcPr marL="15240" marR="15240" marT="1524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p>
                      <a:pPr algn="r" rtl="0" fontAlgn="ctr"/>
                      <a:endParaRPr lang="en-US" sz="1600" b="1" i="0" u="none" strike="noStrike" dirty="0">
                        <a:solidFill>
                          <a:srgbClr val="1D516C"/>
                        </a:solidFill>
                        <a:effectLst/>
                        <a:latin typeface="Amazon Ember" panose="020B0603020204020204" pitchFamily="34" charset="0"/>
                      </a:endParaRPr>
                    </a:p>
                  </a:txBody>
                  <a:tcPr marL="15240" marR="15240" marT="152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857998067"/>
                  </a:ext>
                </a:extLst>
              </a:tr>
            </a:tbl>
          </a:graphicData>
        </a:graphic>
      </p:graphicFrame>
      <p:sp>
        <p:nvSpPr>
          <p:cNvPr id="7" name="TextBox 6">
            <a:extLst>
              <a:ext uri="{FF2B5EF4-FFF2-40B4-BE49-F238E27FC236}">
                <a16:creationId xmlns:a16="http://schemas.microsoft.com/office/drawing/2014/main" id="{93F2881F-5A8C-804B-8209-E8AC3087A1E3}"/>
              </a:ext>
            </a:extLst>
          </p:cNvPr>
          <p:cNvSpPr txBox="1"/>
          <p:nvPr/>
        </p:nvSpPr>
        <p:spPr>
          <a:xfrm rot="20286413">
            <a:off x="3079626" y="3841728"/>
            <a:ext cx="10671511" cy="523220"/>
          </a:xfrm>
          <a:prstGeom prst="rect">
            <a:avLst/>
          </a:prstGeom>
          <a:solidFill>
            <a:schemeClr val="tx2"/>
          </a:solidFill>
        </p:spPr>
        <p:txBody>
          <a:bodyPr wrap="none" rtlCol="0">
            <a:spAutoFit/>
          </a:bodyPr>
          <a:lstStyle/>
          <a:p>
            <a:r>
              <a:rPr lang="en-US" sz="28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Use breakdown by scope or by role as appropriate</a:t>
            </a:r>
          </a:p>
        </p:txBody>
      </p:sp>
    </p:spTree>
    <p:extLst>
      <p:ext uri="{BB962C8B-B14F-4D97-AF65-F5344CB8AC3E}">
        <p14:creationId xmlns:p14="http://schemas.microsoft.com/office/powerpoint/2010/main" val="1621571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2366" y="194055"/>
            <a:ext cx="12593638" cy="871538"/>
          </a:xfrm>
        </p:spPr>
        <p:txBody>
          <a:bodyPr/>
          <a:lstStyle/>
          <a:p>
            <a:r>
              <a:rPr lang="en-US" sz="3600" dirty="0"/>
              <a:t>Agenda</a:t>
            </a:r>
          </a:p>
        </p:txBody>
      </p:sp>
      <p:sp>
        <p:nvSpPr>
          <p:cNvPr id="36" name="Text Placeholder 3">
            <a:extLst>
              <a:ext uri="{FF2B5EF4-FFF2-40B4-BE49-F238E27FC236}">
                <a16:creationId xmlns:a16="http://schemas.microsoft.com/office/drawing/2014/main" id="{2B4C67E8-90CA-9AD9-B44E-2062F92BDB88}"/>
              </a:ext>
            </a:extLst>
          </p:cNvPr>
          <p:cNvSpPr txBox="1">
            <a:spLocks/>
          </p:cNvSpPr>
          <p:nvPr/>
        </p:nvSpPr>
        <p:spPr>
          <a:xfrm>
            <a:off x="551222" y="1442234"/>
            <a:ext cx="6400800" cy="4520212"/>
          </a:xfrm>
          <a:prstGeom prst="rect">
            <a:avLst/>
          </a:prstGeom>
        </p:spPr>
        <p:txBody>
          <a:bodyPr vert="horz" wrap="square" lIns="0" tIns="45720" rIns="0" bIns="45720" rtlCol="0">
            <a:spAutoFit/>
          </a:bodyPr>
          <a:lstStyle>
            <a:lvl1pPr marL="274320" indent="-274320" algn="l" defTabSz="1097280" rtl="0" eaLnBrk="1" latinLnBrk="0" hangingPunct="1">
              <a:lnSpc>
                <a:spcPct val="90000"/>
              </a:lnSpc>
              <a:spcBef>
                <a:spcPts val="0"/>
              </a:spcBef>
              <a:spcAft>
                <a:spcPts val="1440"/>
              </a:spcAft>
              <a:buSzPct val="90000"/>
              <a:buFont typeface="Arial" panose="020B0604020202020204" pitchFamily="34" charset="0"/>
              <a:buChar char="•"/>
              <a:defRPr sz="3360" kern="1200" baseline="0">
                <a:solidFill>
                  <a:schemeClr val="tx1"/>
                </a:solidFill>
                <a:latin typeface="Amazon Ember Display" panose="020F0603020204020204" pitchFamily="34" charset="0"/>
                <a:ea typeface="+mn-ea"/>
                <a:cs typeface="+mn-cs"/>
              </a:defRPr>
            </a:lvl1pPr>
            <a:lvl2pPr marL="617220" indent="-274320" algn="l" defTabSz="1097280" rtl="0" eaLnBrk="1" latinLnBrk="0" hangingPunct="1">
              <a:lnSpc>
                <a:spcPct val="90000"/>
              </a:lnSpc>
              <a:spcBef>
                <a:spcPts val="0"/>
              </a:spcBef>
              <a:spcAft>
                <a:spcPts val="1440"/>
              </a:spcAft>
              <a:buSzPct val="90000"/>
              <a:buFont typeface="Wingdings" panose="05000000000000000000" pitchFamily="2" charset="2"/>
              <a:buChar char="§"/>
              <a:defRPr sz="2880" kern="1200" baseline="0">
                <a:solidFill>
                  <a:schemeClr val="tx1"/>
                </a:solidFill>
                <a:latin typeface="Amazon Ember Display" panose="020F0603020204020204" pitchFamily="34" charset="0"/>
                <a:ea typeface="+mn-ea"/>
                <a:cs typeface="+mn-cs"/>
              </a:defRPr>
            </a:lvl2pPr>
            <a:lvl3pPr marL="1028700" indent="-274320" algn="l" defTabSz="1097280" rtl="0" eaLnBrk="1" latinLnBrk="0" hangingPunct="1">
              <a:lnSpc>
                <a:spcPct val="90000"/>
              </a:lnSpc>
              <a:spcBef>
                <a:spcPts val="0"/>
              </a:spcBef>
              <a:spcAft>
                <a:spcPts val="1440"/>
              </a:spcAft>
              <a:buFont typeface="Amazon Ember" panose="020B0603020204020204" pitchFamily="34" charset="0"/>
              <a:buChar char="–"/>
              <a:defRPr sz="2400" kern="1200" baseline="0">
                <a:solidFill>
                  <a:schemeClr val="tx1"/>
                </a:solidFill>
                <a:latin typeface="Amazon Ember Display" panose="020F0603020204020204" pitchFamily="34" charset="0"/>
                <a:ea typeface="+mn-ea"/>
                <a:cs typeface="+mn-cs"/>
              </a:defRPr>
            </a:lvl3pPr>
            <a:lvl4pPr marL="123634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4pPr>
            <a:lvl5pPr marL="1442086" indent="-205740" algn="l" defTabSz="1097280" rtl="0" eaLnBrk="1" latinLnBrk="0" hangingPunct="1">
              <a:lnSpc>
                <a:spcPct val="90000"/>
              </a:lnSpc>
              <a:spcBef>
                <a:spcPts val="0"/>
              </a:spcBef>
              <a:spcAft>
                <a:spcPts val="1440"/>
              </a:spcAft>
              <a:buFont typeface="Arial" panose="020B0604020202020204" pitchFamily="34" charset="0"/>
              <a:buChar char="•"/>
              <a:defRPr sz="2160" kern="1200" baseline="0">
                <a:solidFill>
                  <a:schemeClr val="tx1"/>
                </a:solidFill>
                <a:latin typeface="Amazon Ember Display" panose="020F0603020204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endParaRPr lang="en-US" sz="2400" dirty="0"/>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MRA results</a:t>
            </a:r>
          </a:p>
          <a:p>
            <a:pPr marL="457200" indent="-457200">
              <a:buFontTx/>
              <a:buAutoNum type="arabicParenR"/>
            </a:pPr>
            <a:endPar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Actions to Accelerate Momentum</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latin typeface="Amazon Ember" panose="020B0603020204020204" pitchFamily="34" charset="0"/>
                <a:ea typeface="Amazon Ember" panose="020B0603020204020204" pitchFamily="34" charset="0"/>
                <a:cs typeface="Amazon Ember" panose="020B0603020204020204" pitchFamily="34" charset="0"/>
              </a:rPr>
              <a:t>Mobilize your Organization</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Tx/>
              <a:buAutoNum type="arabicParenR"/>
            </a:pPr>
            <a:r>
              <a:rPr lang="en-US" sz="24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Next steps</a:t>
            </a:r>
          </a:p>
          <a:p>
            <a:pPr marL="457200" indent="-457200">
              <a:buFontTx/>
              <a:buAutoNum type="arabicParenR"/>
            </a:pP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37" name="Group 36">
            <a:extLst>
              <a:ext uri="{FF2B5EF4-FFF2-40B4-BE49-F238E27FC236}">
                <a16:creationId xmlns:a16="http://schemas.microsoft.com/office/drawing/2014/main" id="{AD33C25A-3E01-12C3-1479-61325786F40C}"/>
              </a:ext>
            </a:extLst>
          </p:cNvPr>
          <p:cNvGrpSpPr>
            <a:grpSpLocks noChangeAspect="1"/>
          </p:cNvGrpSpPr>
          <p:nvPr/>
        </p:nvGrpSpPr>
        <p:grpSpPr>
          <a:xfrm>
            <a:off x="9105900" y="1442234"/>
            <a:ext cx="3234899" cy="4202130"/>
            <a:chOff x="-580230" y="3214241"/>
            <a:chExt cx="379337" cy="492759"/>
          </a:xfrm>
        </p:grpSpPr>
        <p:sp>
          <p:nvSpPr>
            <p:cNvPr id="38" name="Freeform: Shape 19">
              <a:extLst>
                <a:ext uri="{FF2B5EF4-FFF2-40B4-BE49-F238E27FC236}">
                  <a16:creationId xmlns:a16="http://schemas.microsoft.com/office/drawing/2014/main" id="{D309F27D-EE71-DB6F-09BD-2FE2CAA98CB9}"/>
                </a:ext>
              </a:extLst>
            </p:cNvPr>
            <p:cNvSpPr/>
            <p:nvPr/>
          </p:nvSpPr>
          <p:spPr>
            <a:xfrm>
              <a:off x="-445055" y="3291484"/>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39" name="Freeform: Shape 20">
              <a:extLst>
                <a:ext uri="{FF2B5EF4-FFF2-40B4-BE49-F238E27FC236}">
                  <a16:creationId xmlns:a16="http://schemas.microsoft.com/office/drawing/2014/main" id="{438B4314-757D-9204-4D2B-04C5692435F7}"/>
                </a:ext>
              </a:extLst>
            </p:cNvPr>
            <p:cNvSpPr/>
            <p:nvPr/>
          </p:nvSpPr>
          <p:spPr>
            <a:xfrm>
              <a:off x="-396778" y="323838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0" name="Freeform: Shape 21">
              <a:extLst>
                <a:ext uri="{FF2B5EF4-FFF2-40B4-BE49-F238E27FC236}">
                  <a16:creationId xmlns:a16="http://schemas.microsoft.com/office/drawing/2014/main" id="{543DA04C-3A71-1706-309C-7F499E0FEF48}"/>
                </a:ext>
              </a:extLst>
            </p:cNvPr>
            <p:cNvSpPr/>
            <p:nvPr/>
          </p:nvSpPr>
          <p:spPr>
            <a:xfrm>
              <a:off x="-580230" y="3214241"/>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1" name="Freeform: Shape 22">
              <a:extLst>
                <a:ext uri="{FF2B5EF4-FFF2-40B4-BE49-F238E27FC236}">
                  <a16:creationId xmlns:a16="http://schemas.microsoft.com/office/drawing/2014/main" id="{2B9FEEA4-798A-87D0-BF75-DA89973DEC3C}"/>
                </a:ext>
              </a:extLst>
            </p:cNvPr>
            <p:cNvSpPr/>
            <p:nvPr/>
          </p:nvSpPr>
          <p:spPr>
            <a:xfrm>
              <a:off x="-357738" y="331925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2" name="Freeform: Shape 23">
              <a:extLst>
                <a:ext uri="{FF2B5EF4-FFF2-40B4-BE49-F238E27FC236}">
                  <a16:creationId xmlns:a16="http://schemas.microsoft.com/office/drawing/2014/main" id="{29D84586-634B-08DF-A42E-FD7EDB7BA2EC}"/>
                </a:ext>
              </a:extLst>
            </p:cNvPr>
            <p:cNvSpPr/>
            <p:nvPr/>
          </p:nvSpPr>
          <p:spPr>
            <a:xfrm>
              <a:off x="-477958" y="334504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3" name="Freeform: Shape 24">
              <a:extLst>
                <a:ext uri="{FF2B5EF4-FFF2-40B4-BE49-F238E27FC236}">
                  <a16:creationId xmlns:a16="http://schemas.microsoft.com/office/drawing/2014/main" id="{87588BD0-73A3-B7EF-5769-66AFE1FC5AC7}"/>
                </a:ext>
              </a:extLst>
            </p:cNvPr>
            <p:cNvSpPr/>
            <p:nvPr/>
          </p:nvSpPr>
          <p:spPr>
            <a:xfrm>
              <a:off x="-410206" y="3340185"/>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4" name="Freeform: Shape 25">
              <a:extLst>
                <a:ext uri="{FF2B5EF4-FFF2-40B4-BE49-F238E27FC236}">
                  <a16:creationId xmlns:a16="http://schemas.microsoft.com/office/drawing/2014/main" id="{2AAF76A9-7515-A581-1CCA-A78C5BDCF031}"/>
                </a:ext>
              </a:extLst>
            </p:cNvPr>
            <p:cNvSpPr/>
            <p:nvPr/>
          </p:nvSpPr>
          <p:spPr>
            <a:xfrm>
              <a:off x="-486099" y="3425809"/>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5" name="Freeform: Shape 26">
              <a:extLst>
                <a:ext uri="{FF2B5EF4-FFF2-40B4-BE49-F238E27FC236}">
                  <a16:creationId xmlns:a16="http://schemas.microsoft.com/office/drawing/2014/main" id="{8E98867B-9EE2-2510-E913-6A6F442CECD5}"/>
                </a:ext>
              </a:extLst>
            </p:cNvPr>
            <p:cNvSpPr/>
            <p:nvPr/>
          </p:nvSpPr>
          <p:spPr>
            <a:xfrm>
              <a:off x="-539203" y="3377533"/>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6" name="Freeform: Shape 27">
              <a:extLst>
                <a:ext uri="{FF2B5EF4-FFF2-40B4-BE49-F238E27FC236}">
                  <a16:creationId xmlns:a16="http://schemas.microsoft.com/office/drawing/2014/main" id="{1FF4C926-AB41-A217-A111-FC3D0633B4A0}"/>
                </a:ext>
              </a:extLst>
            </p:cNvPr>
            <p:cNvSpPr/>
            <p:nvPr/>
          </p:nvSpPr>
          <p:spPr>
            <a:xfrm>
              <a:off x="-510762" y="3286800"/>
              <a:ext cx="32184" cy="32184"/>
            </a:xfrm>
            <a:custGeom>
              <a:avLst/>
              <a:gdLst>
                <a:gd name="connsiteX0" fmla="*/ 29610 w 32184"/>
                <a:gd name="connsiteY0" fmla="*/ 29610 h 32184"/>
                <a:gd name="connsiteX1" fmla="*/ 4828 w 32184"/>
                <a:gd name="connsiteY1" fmla="*/ 29610 h 32184"/>
                <a:gd name="connsiteX2" fmla="*/ 4828 w 32184"/>
                <a:gd name="connsiteY2" fmla="*/ 4828 h 32184"/>
                <a:gd name="connsiteX3" fmla="*/ 29610 w 32184"/>
                <a:gd name="connsiteY3" fmla="*/ 4828 h 32184"/>
              </a:gdLst>
              <a:ahLst/>
              <a:cxnLst>
                <a:cxn ang="0">
                  <a:pos x="connsiteX0" y="connsiteY0"/>
                </a:cxn>
                <a:cxn ang="0">
                  <a:pos x="connsiteX1" y="connsiteY1"/>
                </a:cxn>
                <a:cxn ang="0">
                  <a:pos x="connsiteX2" y="connsiteY2"/>
                </a:cxn>
                <a:cxn ang="0">
                  <a:pos x="connsiteX3" y="connsiteY3"/>
                </a:cxn>
              </a:cxnLst>
              <a:rect l="l" t="t" r="r" b="b"/>
              <a:pathLst>
                <a:path w="32184" h="32184">
                  <a:moveTo>
                    <a:pt x="29610" y="29610"/>
                  </a:moveTo>
                  <a:lnTo>
                    <a:pt x="4828" y="29610"/>
                  </a:lnTo>
                  <a:lnTo>
                    <a:pt x="4828" y="4828"/>
                  </a:lnTo>
                  <a:lnTo>
                    <a:pt x="29610" y="4828"/>
                  </a:lnTo>
                  <a:close/>
                </a:path>
              </a:pathLst>
            </a:custGeom>
            <a:noFill/>
            <a:ln w="19050" cap="flat">
              <a:solidFill>
                <a:schemeClr val="accent1"/>
              </a:solidFill>
              <a:prstDash val="solid"/>
              <a:round/>
            </a:ln>
          </p:spPr>
          <p:txBody>
            <a:bodyPr rtlCol="0" anchor="ctr"/>
            <a:lstStyle/>
            <a:p>
              <a:endParaRPr lang="en-US" dirty="0"/>
            </a:p>
          </p:txBody>
        </p:sp>
        <p:sp>
          <p:nvSpPr>
            <p:cNvPr id="47" name="Freeform: Shape 28">
              <a:extLst>
                <a:ext uri="{FF2B5EF4-FFF2-40B4-BE49-F238E27FC236}">
                  <a16:creationId xmlns:a16="http://schemas.microsoft.com/office/drawing/2014/main" id="{759A0E43-5B65-3E2A-678E-BEAA4BB0CDF4}"/>
                </a:ext>
              </a:extLst>
            </p:cNvPr>
            <p:cNvSpPr/>
            <p:nvPr/>
          </p:nvSpPr>
          <p:spPr>
            <a:xfrm>
              <a:off x="-439058" y="3365845"/>
              <a:ext cx="238165" cy="341155"/>
            </a:xfrm>
            <a:custGeom>
              <a:avLst/>
              <a:gdLst>
                <a:gd name="connsiteX0" fmla="*/ 4828 w 238164"/>
                <a:gd name="connsiteY0" fmla="*/ 327638 h 341155"/>
                <a:gd name="connsiteX1" fmla="*/ 4828 w 238164"/>
                <a:gd name="connsiteY1" fmla="*/ 13839 h 341155"/>
                <a:gd name="connsiteX2" fmla="*/ 13839 w 238164"/>
                <a:gd name="connsiteY2" fmla="*/ 4828 h 341155"/>
                <a:gd name="connsiteX3" fmla="*/ 158669 w 238164"/>
                <a:gd name="connsiteY3" fmla="*/ 4828 h 341155"/>
                <a:gd name="connsiteX4" fmla="*/ 235912 w 238164"/>
                <a:gd name="connsiteY4" fmla="*/ 82070 h 341155"/>
                <a:gd name="connsiteX5" fmla="*/ 235912 w 238164"/>
                <a:gd name="connsiteY5" fmla="*/ 327638 h 341155"/>
                <a:gd name="connsiteX6" fmla="*/ 226900 w 238164"/>
                <a:gd name="connsiteY6" fmla="*/ 336649 h 341155"/>
                <a:gd name="connsiteX7" fmla="*/ 13839 w 238164"/>
                <a:gd name="connsiteY7" fmla="*/ 336649 h 341155"/>
                <a:gd name="connsiteX8" fmla="*/ 4828 w 238164"/>
                <a:gd name="connsiteY8" fmla="*/ 327638 h 34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64" h="341155">
                  <a:moveTo>
                    <a:pt x="4828" y="327638"/>
                  </a:moveTo>
                  <a:lnTo>
                    <a:pt x="4828" y="13839"/>
                  </a:lnTo>
                  <a:cubicBezTo>
                    <a:pt x="4828" y="8690"/>
                    <a:pt x="9012" y="4828"/>
                    <a:pt x="13839" y="4828"/>
                  </a:cubicBezTo>
                  <a:lnTo>
                    <a:pt x="158669" y="4828"/>
                  </a:lnTo>
                  <a:lnTo>
                    <a:pt x="235912" y="82070"/>
                  </a:lnTo>
                  <a:lnTo>
                    <a:pt x="235912" y="327638"/>
                  </a:lnTo>
                  <a:cubicBezTo>
                    <a:pt x="235912" y="332787"/>
                    <a:pt x="231728" y="336649"/>
                    <a:pt x="226900" y="336649"/>
                  </a:cubicBezTo>
                  <a:lnTo>
                    <a:pt x="13839" y="336649"/>
                  </a:lnTo>
                  <a:cubicBezTo>
                    <a:pt x="9012" y="336649"/>
                    <a:pt x="4828" y="332465"/>
                    <a:pt x="4828" y="327638"/>
                  </a:cubicBezTo>
                  <a:close/>
                </a:path>
              </a:pathLst>
            </a:custGeom>
            <a:noFill/>
            <a:ln w="19050" cap="flat">
              <a:solidFill>
                <a:schemeClr val="tx1"/>
              </a:solidFill>
              <a:prstDash val="solid"/>
              <a:round/>
            </a:ln>
          </p:spPr>
          <p:txBody>
            <a:bodyPr rtlCol="0" anchor="ctr"/>
            <a:lstStyle/>
            <a:p>
              <a:endParaRPr lang="en-US" dirty="0"/>
            </a:p>
          </p:txBody>
        </p:sp>
        <p:sp>
          <p:nvSpPr>
            <p:cNvPr id="48" name="Freeform: Shape 29">
              <a:extLst>
                <a:ext uri="{FF2B5EF4-FFF2-40B4-BE49-F238E27FC236}">
                  <a16:creationId xmlns:a16="http://schemas.microsoft.com/office/drawing/2014/main" id="{A962C599-8FD8-EF4A-D965-02973DCD3502}"/>
                </a:ext>
              </a:extLst>
            </p:cNvPr>
            <p:cNvSpPr/>
            <p:nvPr/>
          </p:nvSpPr>
          <p:spPr>
            <a:xfrm>
              <a:off x="-284894" y="3365845"/>
              <a:ext cx="83680" cy="86898"/>
            </a:xfrm>
            <a:custGeom>
              <a:avLst/>
              <a:gdLst>
                <a:gd name="connsiteX0" fmla="*/ 4828 w 83679"/>
                <a:gd name="connsiteY0" fmla="*/ 82070 h 86898"/>
                <a:gd name="connsiteX1" fmla="*/ 81749 w 83679"/>
                <a:gd name="connsiteY1" fmla="*/ 82070 h 86898"/>
                <a:gd name="connsiteX2" fmla="*/ 4828 w 83679"/>
                <a:gd name="connsiteY2" fmla="*/ 4828 h 86898"/>
              </a:gdLst>
              <a:ahLst/>
              <a:cxnLst>
                <a:cxn ang="0">
                  <a:pos x="connsiteX0" y="connsiteY0"/>
                </a:cxn>
                <a:cxn ang="0">
                  <a:pos x="connsiteX1" y="connsiteY1"/>
                </a:cxn>
                <a:cxn ang="0">
                  <a:pos x="connsiteX2" y="connsiteY2"/>
                </a:cxn>
              </a:cxnLst>
              <a:rect l="l" t="t" r="r" b="b"/>
              <a:pathLst>
                <a:path w="83679" h="86898">
                  <a:moveTo>
                    <a:pt x="4828" y="82070"/>
                  </a:moveTo>
                  <a:lnTo>
                    <a:pt x="81749" y="82070"/>
                  </a:lnTo>
                  <a:lnTo>
                    <a:pt x="4828" y="4828"/>
                  </a:lnTo>
                  <a:close/>
                </a:path>
              </a:pathLst>
            </a:custGeom>
            <a:noFill/>
            <a:ln w="19050" cap="flat">
              <a:solidFill>
                <a:schemeClr val="tx1"/>
              </a:solidFill>
              <a:prstDash val="solid"/>
              <a:round/>
            </a:ln>
          </p:spPr>
          <p:txBody>
            <a:bodyPr rtlCol="0" anchor="ctr"/>
            <a:lstStyle/>
            <a:p>
              <a:endParaRPr lang="en-US" dirty="0"/>
            </a:p>
          </p:txBody>
        </p:sp>
        <p:sp>
          <p:nvSpPr>
            <p:cNvPr id="49" name="Freeform: Shape 30">
              <a:extLst>
                <a:ext uri="{FF2B5EF4-FFF2-40B4-BE49-F238E27FC236}">
                  <a16:creationId xmlns:a16="http://schemas.microsoft.com/office/drawing/2014/main" id="{5B732D3E-4893-B850-0543-43E7F01645FF}"/>
                </a:ext>
              </a:extLst>
            </p:cNvPr>
            <p:cNvSpPr/>
            <p:nvPr/>
          </p:nvSpPr>
          <p:spPr>
            <a:xfrm>
              <a:off x="-337999" y="3550584"/>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0" name="Freeform: Shape 31">
              <a:extLst>
                <a:ext uri="{FF2B5EF4-FFF2-40B4-BE49-F238E27FC236}">
                  <a16:creationId xmlns:a16="http://schemas.microsoft.com/office/drawing/2014/main" id="{77CF35C0-35A2-0137-EAE7-3A8548F68694}"/>
                </a:ext>
              </a:extLst>
            </p:cNvPr>
            <p:cNvSpPr/>
            <p:nvPr/>
          </p:nvSpPr>
          <p:spPr>
            <a:xfrm>
              <a:off x="-337999" y="3641022"/>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1" name="Freeform: Shape 35">
              <a:extLst>
                <a:ext uri="{FF2B5EF4-FFF2-40B4-BE49-F238E27FC236}">
                  <a16:creationId xmlns:a16="http://schemas.microsoft.com/office/drawing/2014/main" id="{4E0E7219-D3C3-08EF-C1F1-5EF28B5AF063}"/>
                </a:ext>
              </a:extLst>
            </p:cNvPr>
            <p:cNvSpPr/>
            <p:nvPr/>
          </p:nvSpPr>
          <p:spPr>
            <a:xfrm>
              <a:off x="-337999" y="3507135"/>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2" name="Freeform: Shape 36">
              <a:extLst>
                <a:ext uri="{FF2B5EF4-FFF2-40B4-BE49-F238E27FC236}">
                  <a16:creationId xmlns:a16="http://schemas.microsoft.com/office/drawing/2014/main" id="{194A7FBC-C56A-899E-62F2-C21822A8B158}"/>
                </a:ext>
              </a:extLst>
            </p:cNvPr>
            <p:cNvSpPr/>
            <p:nvPr/>
          </p:nvSpPr>
          <p:spPr>
            <a:xfrm>
              <a:off x="-337999" y="3597573"/>
              <a:ext cx="102990" cy="9655"/>
            </a:xfrm>
            <a:custGeom>
              <a:avLst/>
              <a:gdLst>
                <a:gd name="connsiteX0" fmla="*/ 4828 w 102990"/>
                <a:gd name="connsiteY0" fmla="*/ 4828 h 9655"/>
                <a:gd name="connsiteX1" fmla="*/ 101059 w 102990"/>
                <a:gd name="connsiteY1" fmla="*/ 4828 h 9655"/>
              </a:gdLst>
              <a:ahLst/>
              <a:cxnLst>
                <a:cxn ang="0">
                  <a:pos x="connsiteX0" y="connsiteY0"/>
                </a:cxn>
                <a:cxn ang="0">
                  <a:pos x="connsiteX1" y="connsiteY1"/>
                </a:cxn>
              </a:cxnLst>
              <a:rect l="l" t="t" r="r" b="b"/>
              <a:pathLst>
                <a:path w="102990" h="9655">
                  <a:moveTo>
                    <a:pt x="4828" y="4828"/>
                  </a:moveTo>
                  <a:lnTo>
                    <a:pt x="101059" y="4828"/>
                  </a:lnTo>
                </a:path>
              </a:pathLst>
            </a:custGeom>
            <a:ln w="19050" cap="flat">
              <a:solidFill>
                <a:schemeClr val="tx1"/>
              </a:solidFill>
              <a:prstDash val="solid"/>
              <a:round/>
            </a:ln>
          </p:spPr>
          <p:txBody>
            <a:bodyPr rtlCol="0" anchor="ctr"/>
            <a:lstStyle/>
            <a:p>
              <a:endParaRPr lang="en-US" dirty="0"/>
            </a:p>
          </p:txBody>
        </p:sp>
        <p:sp>
          <p:nvSpPr>
            <p:cNvPr id="53" name="Freeform: Shape 37">
              <a:extLst>
                <a:ext uri="{FF2B5EF4-FFF2-40B4-BE49-F238E27FC236}">
                  <a16:creationId xmlns:a16="http://schemas.microsoft.com/office/drawing/2014/main" id="{14CAF6A7-FE25-F86E-6936-3BDEEBBF9277}"/>
                </a:ext>
              </a:extLst>
            </p:cNvPr>
            <p:cNvSpPr/>
            <p:nvPr/>
          </p:nvSpPr>
          <p:spPr>
            <a:xfrm>
              <a:off x="-337999" y="3460146"/>
              <a:ext cx="38621" cy="9655"/>
            </a:xfrm>
            <a:custGeom>
              <a:avLst/>
              <a:gdLst>
                <a:gd name="connsiteX0" fmla="*/ 4828 w 38621"/>
                <a:gd name="connsiteY0" fmla="*/ 4828 h 9655"/>
                <a:gd name="connsiteX1" fmla="*/ 36368 w 38621"/>
                <a:gd name="connsiteY1" fmla="*/ 4828 h 9655"/>
              </a:gdLst>
              <a:ahLst/>
              <a:cxnLst>
                <a:cxn ang="0">
                  <a:pos x="connsiteX0" y="connsiteY0"/>
                </a:cxn>
                <a:cxn ang="0">
                  <a:pos x="connsiteX1" y="connsiteY1"/>
                </a:cxn>
              </a:cxnLst>
              <a:rect l="l" t="t" r="r" b="b"/>
              <a:pathLst>
                <a:path w="38621" h="9655">
                  <a:moveTo>
                    <a:pt x="4828" y="4828"/>
                  </a:moveTo>
                  <a:lnTo>
                    <a:pt x="36368" y="4828"/>
                  </a:lnTo>
                </a:path>
              </a:pathLst>
            </a:custGeom>
            <a:ln w="19050" cap="flat">
              <a:solidFill>
                <a:schemeClr val="tx1"/>
              </a:solidFill>
              <a:prstDash val="solid"/>
              <a:round/>
            </a:ln>
          </p:spPr>
          <p:txBody>
            <a:bodyPr rtlCol="0" anchor="ctr"/>
            <a:lstStyle/>
            <a:p>
              <a:endParaRPr lang="en-US" dirty="0"/>
            </a:p>
          </p:txBody>
        </p:sp>
        <p:sp>
          <p:nvSpPr>
            <p:cNvPr id="54" name="Freeform: Shape 38">
              <a:extLst>
                <a:ext uri="{FF2B5EF4-FFF2-40B4-BE49-F238E27FC236}">
                  <a16:creationId xmlns:a16="http://schemas.microsoft.com/office/drawing/2014/main" id="{36150510-0A9E-599C-04C4-A6C55AF51AED}"/>
                </a:ext>
              </a:extLst>
            </p:cNvPr>
            <p:cNvSpPr/>
            <p:nvPr/>
          </p:nvSpPr>
          <p:spPr>
            <a:xfrm>
              <a:off x="-405908" y="3443088"/>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6" name="Freeform: Shape 39">
              <a:extLst>
                <a:ext uri="{FF2B5EF4-FFF2-40B4-BE49-F238E27FC236}">
                  <a16:creationId xmlns:a16="http://schemas.microsoft.com/office/drawing/2014/main" id="{D79577DA-3AD9-3978-C4D7-5576731B04F9}"/>
                </a:ext>
              </a:extLst>
            </p:cNvPr>
            <p:cNvSpPr/>
            <p:nvPr/>
          </p:nvSpPr>
          <p:spPr>
            <a:xfrm>
              <a:off x="-405908" y="3621712"/>
              <a:ext cx="57932" cy="45058"/>
            </a:xfrm>
            <a:custGeom>
              <a:avLst/>
              <a:gdLst>
                <a:gd name="connsiteX0" fmla="*/ 4828 w 57932"/>
                <a:gd name="connsiteY0" fmla="*/ 26069 h 45058"/>
                <a:gd name="connsiteX1" fmla="*/ 19311 w 57932"/>
                <a:gd name="connsiteY1" fmla="*/ 40552 h 45058"/>
                <a:gd name="connsiteX2" fmla="*/ 55035 w 57932"/>
                <a:gd name="connsiteY2" fmla="*/ 4828 h 45058"/>
              </a:gdLst>
              <a:ahLst/>
              <a:cxnLst>
                <a:cxn ang="0">
                  <a:pos x="connsiteX0" y="connsiteY0"/>
                </a:cxn>
                <a:cxn ang="0">
                  <a:pos x="connsiteX1" y="connsiteY1"/>
                </a:cxn>
                <a:cxn ang="0">
                  <a:pos x="connsiteX2" y="connsiteY2"/>
                </a:cxn>
              </a:cxnLst>
              <a:rect l="l" t="t" r="r" b="b"/>
              <a:pathLst>
                <a:path w="57932" h="45058">
                  <a:moveTo>
                    <a:pt x="4828" y="26069"/>
                  </a:moveTo>
                  <a:lnTo>
                    <a:pt x="19311" y="40552"/>
                  </a:lnTo>
                  <a:lnTo>
                    <a:pt x="55035" y="4828"/>
                  </a:lnTo>
                </a:path>
              </a:pathLst>
            </a:custGeom>
            <a:noFill/>
            <a:ln w="19050" cap="flat">
              <a:solidFill>
                <a:schemeClr val="tx1"/>
              </a:solidFill>
              <a:prstDash val="solid"/>
              <a:round/>
            </a:ln>
          </p:spPr>
          <p:txBody>
            <a:bodyPr rtlCol="0" anchor="ctr"/>
            <a:lstStyle/>
            <a:p>
              <a:endParaRPr lang="en-US" dirty="0"/>
            </a:p>
          </p:txBody>
        </p:sp>
        <p:sp>
          <p:nvSpPr>
            <p:cNvPr id="67" name="Freeform: Shape 40">
              <a:extLst>
                <a:ext uri="{FF2B5EF4-FFF2-40B4-BE49-F238E27FC236}">
                  <a16:creationId xmlns:a16="http://schemas.microsoft.com/office/drawing/2014/main" id="{48FBDB36-2DB6-77F6-6484-8A51E3EB5D01}"/>
                </a:ext>
              </a:extLst>
            </p:cNvPr>
            <p:cNvSpPr/>
            <p:nvPr/>
          </p:nvSpPr>
          <p:spPr>
            <a:xfrm>
              <a:off x="-398827" y="3532239"/>
              <a:ext cx="45058" cy="45058"/>
            </a:xfrm>
            <a:custGeom>
              <a:avLst/>
              <a:gdLst>
                <a:gd name="connsiteX0" fmla="*/ 4828 w 45058"/>
                <a:gd name="connsiteY0" fmla="*/ 4828 h 45058"/>
                <a:gd name="connsiteX1" fmla="*/ 40874 w 45058"/>
                <a:gd name="connsiteY1" fmla="*/ 40874 h 45058"/>
              </a:gdLst>
              <a:ahLst/>
              <a:cxnLst>
                <a:cxn ang="0">
                  <a:pos x="connsiteX0" y="connsiteY0"/>
                </a:cxn>
                <a:cxn ang="0">
                  <a:pos x="connsiteX1" y="connsiteY1"/>
                </a:cxn>
              </a:cxnLst>
              <a:rect l="l" t="t" r="r" b="b"/>
              <a:pathLst>
                <a:path w="45058" h="45058">
                  <a:moveTo>
                    <a:pt x="4828" y="4828"/>
                  </a:moveTo>
                  <a:lnTo>
                    <a:pt x="40874" y="40874"/>
                  </a:lnTo>
                </a:path>
              </a:pathLst>
            </a:custGeom>
            <a:ln w="19050" cap="flat">
              <a:solidFill>
                <a:schemeClr val="tx1"/>
              </a:solidFill>
              <a:prstDash val="solid"/>
              <a:round/>
            </a:ln>
          </p:spPr>
          <p:txBody>
            <a:bodyPr rtlCol="0" anchor="ctr"/>
            <a:lstStyle/>
            <a:p>
              <a:endParaRPr lang="en-US" dirty="0"/>
            </a:p>
          </p:txBody>
        </p:sp>
        <p:sp>
          <p:nvSpPr>
            <p:cNvPr id="68" name="Freeform: Shape 41">
              <a:extLst>
                <a:ext uri="{FF2B5EF4-FFF2-40B4-BE49-F238E27FC236}">
                  <a16:creationId xmlns:a16="http://schemas.microsoft.com/office/drawing/2014/main" id="{E327A866-8AFB-F8F1-0069-0BF0A0C35596}"/>
                </a:ext>
              </a:extLst>
            </p:cNvPr>
            <p:cNvSpPr/>
            <p:nvPr/>
          </p:nvSpPr>
          <p:spPr>
            <a:xfrm>
              <a:off x="-398827" y="3532239"/>
              <a:ext cx="45058" cy="45058"/>
            </a:xfrm>
            <a:custGeom>
              <a:avLst/>
              <a:gdLst>
                <a:gd name="connsiteX0" fmla="*/ 40874 w 45058"/>
                <a:gd name="connsiteY0" fmla="*/ 4828 h 45058"/>
                <a:gd name="connsiteX1" fmla="*/ 4828 w 45058"/>
                <a:gd name="connsiteY1" fmla="*/ 41196 h 45058"/>
              </a:gdLst>
              <a:ahLst/>
              <a:cxnLst>
                <a:cxn ang="0">
                  <a:pos x="connsiteX0" y="connsiteY0"/>
                </a:cxn>
                <a:cxn ang="0">
                  <a:pos x="connsiteX1" y="connsiteY1"/>
                </a:cxn>
              </a:cxnLst>
              <a:rect l="l" t="t" r="r" b="b"/>
              <a:pathLst>
                <a:path w="45058" h="45058">
                  <a:moveTo>
                    <a:pt x="40874" y="4828"/>
                  </a:moveTo>
                  <a:lnTo>
                    <a:pt x="4828" y="41196"/>
                  </a:lnTo>
                </a:path>
              </a:pathLst>
            </a:custGeom>
            <a:ln w="19050" cap="flat">
              <a:solidFill>
                <a:schemeClr val="tx1"/>
              </a:solidFill>
              <a:prstDash val="solid"/>
              <a:round/>
            </a:ln>
          </p:spPr>
          <p:txBody>
            <a:bodyPr rtlCol="0" anchor="ctr"/>
            <a:lstStyle/>
            <a:p>
              <a:endParaRPr lang="en-US" dirty="0"/>
            </a:p>
          </p:txBody>
        </p:sp>
      </p:grpSp>
    </p:spTree>
    <p:extLst>
      <p:ext uri="{BB962C8B-B14F-4D97-AF65-F5344CB8AC3E}">
        <p14:creationId xmlns:p14="http://schemas.microsoft.com/office/powerpoint/2010/main" val="119963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35" presetClass="path" presetSubtype="0" decel="100000" fill="hold" nodeType="withEffect">
                                  <p:stCondLst>
                                    <p:cond delay="200"/>
                                  </p:stCondLst>
                                  <p:childTnLst>
                                    <p:animMotion origin="layout" path="M 3.22917E-6 3.64198E-6 L 3.22917E-6 0.01504 " pathEditMode="relative" rAng="0" ptsTypes="AA">
                                      <p:cBhvr>
                                        <p:cTn id="9" dur="500" spd="-100000" fill="hold"/>
                                        <p:tgtEl>
                                          <p:spTgt spid="37"/>
                                        </p:tgtEl>
                                        <p:attrNameLst>
                                          <p:attrName>ppt_x</p:attrName>
                                          <p:attrName>ppt_y</p:attrName>
                                        </p:attrNameLst>
                                      </p:cBhvr>
                                      <p:rCtr x="0" y="7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A95D-6FBE-214A-BB2F-E4CF3AB7BAA7}"/>
              </a:ext>
            </a:extLst>
          </p:cNvPr>
          <p:cNvSpPr>
            <a:spLocks noGrp="1"/>
          </p:cNvSpPr>
          <p:nvPr>
            <p:ph type="title" idx="4294967295"/>
          </p:nvPr>
        </p:nvSpPr>
        <p:spPr>
          <a:xfrm>
            <a:off x="548639" y="81661"/>
            <a:ext cx="12557125" cy="873125"/>
          </a:xfrm>
        </p:spPr>
        <p:txBody>
          <a:bodyPr/>
          <a:lstStyle/>
          <a:p>
            <a:r>
              <a:rPr lang="en-US" sz="3600" dirty="0"/>
              <a:t>Next Steps</a:t>
            </a:r>
          </a:p>
        </p:txBody>
      </p:sp>
      <p:graphicFrame>
        <p:nvGraphicFramePr>
          <p:cNvPr id="151" name="Table 150">
            <a:extLst>
              <a:ext uri="{FF2B5EF4-FFF2-40B4-BE49-F238E27FC236}">
                <a16:creationId xmlns:a16="http://schemas.microsoft.com/office/drawing/2014/main" id="{717FA692-696C-BC46-B733-FB9536F7B632}"/>
              </a:ext>
            </a:extLst>
          </p:cNvPr>
          <p:cNvGraphicFramePr>
            <a:graphicFrameLocks noGrp="1"/>
          </p:cNvGraphicFramePr>
          <p:nvPr>
            <p:extLst>
              <p:ext uri="{D42A27DB-BD31-4B8C-83A1-F6EECF244321}">
                <p14:modId xmlns:p14="http://schemas.microsoft.com/office/powerpoint/2010/main" val="1244453932"/>
              </p:ext>
            </p:extLst>
          </p:nvPr>
        </p:nvGraphicFramePr>
        <p:xfrm>
          <a:off x="661060" y="936561"/>
          <a:ext cx="13420701" cy="5684106"/>
        </p:xfrm>
        <a:graphic>
          <a:graphicData uri="http://schemas.openxmlformats.org/drawingml/2006/table">
            <a:tbl>
              <a:tblPr firstRow="1" firstCol="1" bandRow="1">
                <a:tableStyleId>{073A0DAA-6AF3-43AB-8588-CEC1D06C72B9}</a:tableStyleId>
              </a:tblPr>
              <a:tblGrid>
                <a:gridCol w="685140">
                  <a:extLst>
                    <a:ext uri="{9D8B030D-6E8A-4147-A177-3AD203B41FA5}">
                      <a16:colId xmlns:a16="http://schemas.microsoft.com/office/drawing/2014/main" val="2131712719"/>
                    </a:ext>
                  </a:extLst>
                </a:gridCol>
                <a:gridCol w="9082171">
                  <a:extLst>
                    <a:ext uri="{9D8B030D-6E8A-4147-A177-3AD203B41FA5}">
                      <a16:colId xmlns:a16="http://schemas.microsoft.com/office/drawing/2014/main" val="3541207790"/>
                    </a:ext>
                  </a:extLst>
                </a:gridCol>
                <a:gridCol w="2135723">
                  <a:extLst>
                    <a:ext uri="{9D8B030D-6E8A-4147-A177-3AD203B41FA5}">
                      <a16:colId xmlns:a16="http://schemas.microsoft.com/office/drawing/2014/main" val="134945569"/>
                    </a:ext>
                  </a:extLst>
                </a:gridCol>
                <a:gridCol w="1517667">
                  <a:extLst>
                    <a:ext uri="{9D8B030D-6E8A-4147-A177-3AD203B41FA5}">
                      <a16:colId xmlns:a16="http://schemas.microsoft.com/office/drawing/2014/main" val="1008722677"/>
                    </a:ext>
                  </a:extLst>
                </a:gridCol>
              </a:tblGrid>
              <a:tr h="502150">
                <a:tc>
                  <a:txBody>
                    <a:bodyPr/>
                    <a:lstStyle/>
                    <a:p>
                      <a:pPr marL="0" marR="0" algn="ctr">
                        <a:spcBef>
                          <a:spcPts val="0"/>
                        </a:spcBef>
                        <a:spcAft>
                          <a:spcPts val="0"/>
                        </a:spcAft>
                      </a:pPr>
                      <a:endParaRPr lang="en-US" sz="1600" dirty="0">
                        <a:solidFill>
                          <a:srgbClr val="FF9900"/>
                        </a:solidFill>
                        <a:effectLst/>
                        <a:latin typeface="+mn-lt"/>
                      </a:endParaRPr>
                    </a:p>
                  </a:txBody>
                  <a:tcPr marL="59351" marR="59351" marT="0" marB="0" anchor="ctr">
                    <a:solidFill>
                      <a:schemeClr val="bg2"/>
                    </a:solidFill>
                  </a:tcPr>
                </a:tc>
                <a:tc>
                  <a:txBody>
                    <a:bodyPr/>
                    <a:lstStyle/>
                    <a:p>
                      <a:pPr marL="0" marR="0" algn="ctr">
                        <a:spcBef>
                          <a:spcPts val="0"/>
                        </a:spcBef>
                        <a:spcAft>
                          <a:spcPts val="0"/>
                        </a:spcAft>
                      </a:pPr>
                      <a:r>
                        <a:rPr lang="en-US" sz="1600" dirty="0">
                          <a:solidFill>
                            <a:srgbClr val="FF9900"/>
                          </a:solidFill>
                          <a:effectLst/>
                          <a:latin typeface="+mn-lt"/>
                        </a:rPr>
                        <a:t>Action</a:t>
                      </a:r>
                    </a:p>
                  </a:txBody>
                  <a:tcPr marL="59351" marR="59351" marT="0" marB="0" anchor="ctr">
                    <a:solidFill>
                      <a:schemeClr val="bg2"/>
                    </a:solidFill>
                  </a:tcPr>
                </a:tc>
                <a:tc>
                  <a:txBody>
                    <a:bodyPr/>
                    <a:lstStyle/>
                    <a:p>
                      <a:pPr algn="ctr"/>
                      <a:r>
                        <a:rPr lang="en-US" sz="1600" dirty="0">
                          <a:solidFill>
                            <a:srgbClr val="FF9900"/>
                          </a:solidFill>
                          <a:latin typeface="+mn-lt"/>
                        </a:rPr>
                        <a:t>Owner</a:t>
                      </a:r>
                    </a:p>
                  </a:txBody>
                  <a:tcPr marL="59351" marR="59351" marT="0" marB="0" anchor="ctr">
                    <a:solidFill>
                      <a:schemeClr val="bg2"/>
                    </a:solidFill>
                  </a:tcPr>
                </a:tc>
                <a:tc>
                  <a:txBody>
                    <a:bodyPr/>
                    <a:lstStyle/>
                    <a:p>
                      <a:pPr algn="ctr"/>
                      <a:r>
                        <a:rPr lang="en-US" sz="1600" dirty="0">
                          <a:solidFill>
                            <a:srgbClr val="FF9900"/>
                          </a:solidFill>
                          <a:latin typeface="+mn-lt"/>
                        </a:rPr>
                        <a:t>Target Date</a:t>
                      </a:r>
                    </a:p>
                  </a:txBody>
                  <a:tcPr marL="59351" marR="59351" marT="0" marB="0" anchor="ctr">
                    <a:solidFill>
                      <a:schemeClr val="bg2"/>
                    </a:solidFill>
                  </a:tcPr>
                </a:tc>
                <a:extLst>
                  <a:ext uri="{0D108BD9-81ED-4DB2-BD59-A6C34878D82A}">
                    <a16:rowId xmlns:a16="http://schemas.microsoft.com/office/drawing/2014/main" val="792550057"/>
                  </a:ext>
                </a:extLst>
              </a:tr>
              <a:tr h="374309">
                <a:tc>
                  <a:txBody>
                    <a:bodyPr/>
                    <a:lstStyle/>
                    <a:p>
                      <a:pPr marL="0" marR="0" algn="l">
                        <a:spcBef>
                          <a:spcPts val="0"/>
                        </a:spcBef>
                        <a:spcAft>
                          <a:spcPts val="0"/>
                        </a:spcAft>
                      </a:pPr>
                      <a:r>
                        <a:rPr lang="en-US" sz="1600" b="0" dirty="0">
                          <a:solidFill>
                            <a:schemeClr val="tx1"/>
                          </a:solidFill>
                          <a:effectLst/>
                          <a:latin typeface="+mn-lt"/>
                          <a:ea typeface="Calibri" panose="020F0502020204030204" pitchFamily="34" charset="0"/>
                          <a:cs typeface="Times New Roman" panose="02020603050405020304" pitchFamily="18" charset="0"/>
                        </a:rPr>
                        <a:t>1</a:t>
                      </a:r>
                    </a:p>
                  </a:txBody>
                  <a:tcPr marL="59351" marR="59351" marT="0" marB="0" anchor="ctr">
                    <a:solidFill>
                      <a:schemeClr val="bg2"/>
                    </a:solidFill>
                  </a:tcPr>
                </a:tc>
                <a:tc>
                  <a:txBody>
                    <a:bodyPr/>
                    <a:lstStyle/>
                    <a:p>
                      <a:pPr marL="0" marR="0" algn="l">
                        <a:spcBef>
                          <a:spcPts val="0"/>
                        </a:spcBef>
                        <a:spcAft>
                          <a:spcPts val="0"/>
                        </a:spcAft>
                      </a:pPr>
                      <a:r>
                        <a:rPr lang="en-US" sz="1600" b="0" dirty="0">
                          <a:solidFill>
                            <a:schemeClr val="tx1"/>
                          </a:solidFill>
                          <a:effectLst/>
                          <a:latin typeface="+mn-lt"/>
                          <a:ea typeface="Calibri" panose="020F0502020204030204" pitchFamily="34" charset="0"/>
                          <a:cs typeface="Times New Roman" panose="02020603050405020304" pitchFamily="18" charset="0"/>
                        </a:rPr>
                        <a:t>Review detailed workstreams recommended actions and assign owners</a:t>
                      </a:r>
                    </a:p>
                  </a:txBody>
                  <a:tcPr marL="59351" marR="59351" marT="0" marB="0" anchor="ctr">
                    <a:solidFill>
                      <a:schemeClr val="bg2"/>
                    </a:solidFill>
                  </a:tcPr>
                </a:tc>
                <a:tc>
                  <a:txBody>
                    <a:bodyPr/>
                    <a:lstStyle/>
                    <a:p>
                      <a:pPr marL="0" marR="0" algn="l">
                        <a:spcBef>
                          <a:spcPts val="0"/>
                        </a:spcBef>
                        <a:spcAft>
                          <a:spcPts val="0"/>
                        </a:spcAft>
                      </a:pPr>
                      <a:r>
                        <a:rPr lang="en-US" sz="1400" i="1" dirty="0">
                          <a:effectLst/>
                          <a:latin typeface="+mn-lt"/>
                          <a:ea typeface="Calibri" panose="020F0502020204030204" pitchFamily="34" charset="0"/>
                          <a:cs typeface="Times New Roman" panose="02020603050405020304" pitchFamily="18" charset="0"/>
                        </a:rPr>
                        <a:t> &lt;customer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algn="l">
                        <a:spcBef>
                          <a:spcPts val="0"/>
                        </a:spcBef>
                        <a:spcAft>
                          <a:spcPts val="0"/>
                        </a:spcAft>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16027722"/>
                  </a:ext>
                </a:extLst>
              </a:tr>
              <a:tr h="441682">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2</a:t>
                      </a:r>
                    </a:p>
                  </a:txBody>
                  <a:tcPr marL="59351" marR="59351" marT="0" marB="0" anchor="ctr">
                    <a:solidFill>
                      <a:schemeClr val="bg2"/>
                    </a:solidFill>
                  </a:tcPr>
                </a:tc>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Evaluate AWS Managed Services (AMS) to see if it makes sense to offload mundane activities/infrastructure ops </a:t>
                      </a:r>
                    </a:p>
                  </a:txBody>
                  <a:tcPr marL="59351" marR="59351" marT="0" marB="0" anchor="ctr">
                    <a:solidFill>
                      <a:schemeClr val="bg2"/>
                    </a:solidFill>
                  </a:tcPr>
                </a:tc>
                <a:tc>
                  <a:txBody>
                    <a:bodyPr/>
                    <a:lstStyle/>
                    <a:p>
                      <a:pPr marL="0" marR="0" algn="l">
                        <a:spcBef>
                          <a:spcPts val="0"/>
                        </a:spcBef>
                        <a:spcAft>
                          <a:spcPts val="0"/>
                        </a:spcAft>
                      </a:pPr>
                      <a:r>
                        <a:rPr lang="en-US" sz="1400" i="1" dirty="0">
                          <a:effectLst/>
                          <a:latin typeface="+mn-lt"/>
                          <a:ea typeface="Calibri" panose="020F0502020204030204" pitchFamily="34" charset="0"/>
                          <a:cs typeface="Times New Roman" panose="02020603050405020304" pitchFamily="18" charset="0"/>
                        </a:rPr>
                        <a:t> &lt;customer stakeholder&gt;</a:t>
                      </a: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1134568257"/>
                  </a:ext>
                </a:extLst>
              </a:tr>
              <a:tr h="591587">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3</a:t>
                      </a:r>
                    </a:p>
                  </a:txBody>
                  <a:tcPr marL="59351" marR="59351" marT="0" marB="0" anchor="ctr">
                    <a:solidFill>
                      <a:schemeClr val="bg2"/>
                    </a:solidFill>
                  </a:tcPr>
                </a:tc>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Schedule “CCOE Foundations”, “Security Briefing” workshops</a:t>
                      </a:r>
                    </a:p>
                  </a:txBody>
                  <a:tcPr marL="59351" marR="59351" marT="0" marB="0" anchor="ctr">
                    <a:solidFill>
                      <a:schemeClr val="bg2"/>
                    </a:solidFill>
                  </a:tcPr>
                </a:tc>
                <a:tc>
                  <a:txBody>
                    <a:bodyPr/>
                    <a:lstStyle/>
                    <a:p>
                      <a:pPr marL="0" marR="0" algn="l">
                        <a:spcBef>
                          <a:spcPts val="0"/>
                        </a:spcBef>
                        <a:spcAft>
                          <a:spcPts val="0"/>
                        </a:spcAft>
                      </a:pPr>
                      <a:r>
                        <a:rPr lang="en-US" sz="1400" i="1" dirty="0">
                          <a:effectLst/>
                          <a:latin typeface="+mn-lt"/>
                          <a:ea typeface="Calibri" panose="020F0502020204030204" pitchFamily="34" charset="0"/>
                          <a:cs typeface="Times New Roman" panose="02020603050405020304" pitchFamily="18" charset="0"/>
                        </a:rPr>
                        <a:t> &lt;AWS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29660448"/>
                  </a:ext>
                </a:extLst>
              </a:tr>
              <a:tr h="636245">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4</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Schedule Experience Based Acceleration party</a:t>
                      </a:r>
                      <a:endParaRPr lang="en-US" sz="1600" b="0" dirty="0">
                        <a:solidFill>
                          <a:srgbClr val="FF0000"/>
                        </a:solidFill>
                        <a:effectLst/>
                        <a:latin typeface="+mn-lt"/>
                        <a:ea typeface="Calibri" panose="020F0502020204030204" pitchFamily="34" charset="0"/>
                        <a:cs typeface="Times New Roman" panose="02020603050405020304" pitchFamily="18" charset="0"/>
                      </a:endParaRP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i="1" dirty="0">
                          <a:effectLst/>
                          <a:latin typeface="+mn-lt"/>
                          <a:ea typeface="Calibri" panose="020F0502020204030204" pitchFamily="34" charset="0"/>
                          <a:cs typeface="Times New Roman" panose="02020603050405020304" pitchFamily="18" charset="0"/>
                        </a:rPr>
                        <a:t> &lt;AWS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137408682"/>
                  </a:ext>
                </a:extLst>
              </a:tr>
              <a:tr h="636245">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5</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Create a mechanism to track post-MRA actions to closure</a:t>
                      </a:r>
                    </a:p>
                  </a:txBody>
                  <a:tcPr marL="59351" marR="59351" marT="0" marB="0" anchor="ctr">
                    <a:solidFill>
                      <a:schemeClr val="bg2"/>
                    </a:solidFill>
                  </a:tcPr>
                </a:tc>
                <a:tc>
                  <a:txBody>
                    <a:bodyPr/>
                    <a:lstStyle/>
                    <a:p>
                      <a:pPr marL="0" marR="0" algn="l">
                        <a:spcBef>
                          <a:spcPts val="0"/>
                        </a:spcBef>
                        <a:spcAft>
                          <a:spcPts val="0"/>
                        </a:spcAft>
                      </a:pPr>
                      <a:r>
                        <a:rPr lang="en-US" sz="1400" i="1" dirty="0">
                          <a:effectLst/>
                          <a:latin typeface="+mn-lt"/>
                          <a:ea typeface="Calibri" panose="020F0502020204030204" pitchFamily="34" charset="0"/>
                          <a:cs typeface="Times New Roman" panose="02020603050405020304" pitchFamily="18" charset="0"/>
                        </a:rPr>
                        <a:t> &lt;customer stakeholder&gt;</a:t>
                      </a: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1666806211"/>
                  </a:ext>
                </a:extLst>
              </a:tr>
              <a:tr h="636245">
                <a:tc>
                  <a:txBody>
                    <a:bodyPr/>
                    <a:lstStyle/>
                    <a:p>
                      <a:pPr marL="0" marR="0" algn="l">
                        <a:spcBef>
                          <a:spcPts val="0"/>
                        </a:spcBef>
                        <a:spcAft>
                          <a:spcPts val="0"/>
                        </a:spcAft>
                      </a:pPr>
                      <a:r>
                        <a:rPr lang="en-US" sz="1600" b="0" dirty="0">
                          <a:solidFill>
                            <a:schemeClr val="tx1"/>
                          </a:solidFill>
                          <a:effectLst/>
                          <a:latin typeface="+mn-lt"/>
                          <a:ea typeface="Calibri" panose="020F0502020204030204" pitchFamily="34" charset="0"/>
                          <a:cs typeface="Times New Roman" panose="02020603050405020304" pitchFamily="18" charset="0"/>
                        </a:rPr>
                        <a:t>6</a:t>
                      </a:r>
                    </a:p>
                  </a:txBody>
                  <a:tcPr marL="59351" marR="59351" marT="0" marB="0" anchor="ctr">
                    <a:solidFill>
                      <a:schemeClr val="bg2"/>
                    </a:solidFill>
                  </a:tcPr>
                </a:tc>
                <a:tc>
                  <a:txBody>
                    <a:bodyPr/>
                    <a:lstStyle/>
                    <a:p>
                      <a:pPr marL="0" marR="0" algn="l">
                        <a:spcBef>
                          <a:spcPts val="0"/>
                        </a:spcBef>
                        <a:spcAft>
                          <a:spcPts val="0"/>
                        </a:spcAft>
                      </a:pPr>
                      <a:r>
                        <a:rPr lang="en-US" sz="1600" b="0" dirty="0">
                          <a:solidFill>
                            <a:schemeClr val="tx1"/>
                          </a:solidFill>
                          <a:effectLst/>
                          <a:latin typeface="+mn-lt"/>
                          <a:ea typeface="Calibri" panose="020F0502020204030204" pitchFamily="34" charset="0"/>
                          <a:cs typeface="Times New Roman" panose="02020603050405020304" pitchFamily="18" charset="0"/>
                        </a:rPr>
                        <a:t>Schedule a meeting with the CEO to present the business case</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i="1" dirty="0">
                          <a:effectLst/>
                          <a:latin typeface="+mn-lt"/>
                          <a:ea typeface="Calibri" panose="020F0502020204030204" pitchFamily="34" charset="0"/>
                          <a:cs typeface="Times New Roman" panose="02020603050405020304" pitchFamily="18" charset="0"/>
                        </a:rPr>
                        <a:t> &lt;customer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2756929173"/>
                  </a:ext>
                </a:extLst>
              </a:tr>
              <a:tr h="589208">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7</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Review Mobilize proposal and sign the SOW</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 &lt;customer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1148808513"/>
                  </a:ext>
                </a:extLst>
              </a:tr>
              <a:tr h="589208">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8</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Discuss Mobilize start date</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 &lt;AWS stakeholder&gt;</a:t>
                      </a:r>
                      <a:endParaRPr lang="en-US" sz="1400" dirty="0">
                        <a:effectLst/>
                        <a:latin typeface="+mn-lt"/>
                        <a:ea typeface="Calibri" panose="020F0502020204030204" pitchFamily="34" charset="0"/>
                        <a:cs typeface="Times New Roman" panose="02020603050405020304" pitchFamily="18" charset="0"/>
                      </a:endParaRPr>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4123759115"/>
                  </a:ext>
                </a:extLst>
              </a:tr>
              <a:tr h="641229">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9</a:t>
                      </a:r>
                    </a:p>
                  </a:txBody>
                  <a:tcPr marL="59351" marR="59351" marT="0" marB="0" anchor="ctr">
                    <a:solidFill>
                      <a:schemeClr val="bg2"/>
                    </a:solidFill>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latin typeface="+mn-lt"/>
                          <a:ea typeface="Calibri" panose="020F0502020204030204" pitchFamily="34" charset="0"/>
                          <a:cs typeface="Times New Roman" panose="02020603050405020304" pitchFamily="18" charset="0"/>
                        </a:rPr>
                        <a:t>Sign up for the MAP incentive program as soon as possible to avoid migrating outside the program terms</a:t>
                      </a:r>
                    </a:p>
                  </a:txBody>
                  <a:tcPr marL="59351" marR="59351" marT="0" marB="0" anchor="ctr">
                    <a:solidFill>
                      <a:schemeClr val="bg2"/>
                    </a:solidFill>
                  </a:tcPr>
                </a:tc>
                <a:tc>
                  <a:txBody>
                    <a:bodyPr/>
                    <a:lstStyle/>
                    <a:p>
                      <a:pPr marL="0" indent="0">
                        <a:buFont typeface="Arial" panose="020B0604020202020204" pitchFamily="34" charset="0"/>
                        <a:buNone/>
                      </a:pPr>
                      <a:r>
                        <a:rPr lang="en-US" sz="1400" i="1" dirty="0">
                          <a:effectLst/>
                          <a:latin typeface="+mn-lt"/>
                          <a:ea typeface="Calibri" panose="020F0502020204030204" pitchFamily="34" charset="0"/>
                          <a:cs typeface="Times New Roman" panose="02020603050405020304" pitchFamily="18" charset="0"/>
                        </a:rPr>
                        <a:t>&lt;customer stakeholder&gt;</a:t>
                      </a:r>
                      <a:endParaRPr lang="en-US" sz="1400" dirty="0"/>
                    </a:p>
                  </a:txBody>
                  <a:tcPr marL="59351" marR="59351" marT="0" marB="0" anchor="ctr">
                    <a:solidFill>
                      <a:schemeClr val="tx2">
                        <a:lumMod val="95000"/>
                      </a:schemeClr>
                    </a:solidFill>
                  </a:tcPr>
                </a:tc>
                <a:tc>
                  <a:txBody>
                    <a:bodyPr/>
                    <a:lstStyle/>
                    <a:p>
                      <a:pPr marL="0" marR="0" lvl="0" indent="0" algn="l" defTabSz="73152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i="1" dirty="0">
                          <a:effectLst/>
                          <a:latin typeface="+mn-lt"/>
                          <a:ea typeface="Calibri" panose="020F0502020204030204" pitchFamily="34" charset="0"/>
                          <a:cs typeface="Times New Roman" panose="02020603050405020304" pitchFamily="18" charset="0"/>
                        </a:rPr>
                        <a:t>&lt;target date&gt;</a:t>
                      </a:r>
                    </a:p>
                  </a:txBody>
                  <a:tcPr marL="59351" marR="59351" marT="0" marB="0" anchor="ctr">
                    <a:solidFill>
                      <a:schemeClr val="tx2">
                        <a:lumMod val="95000"/>
                      </a:schemeClr>
                    </a:solidFill>
                  </a:tcPr>
                </a:tc>
                <a:extLst>
                  <a:ext uri="{0D108BD9-81ED-4DB2-BD59-A6C34878D82A}">
                    <a16:rowId xmlns:a16="http://schemas.microsoft.com/office/drawing/2014/main" val="3964532376"/>
                  </a:ext>
                </a:extLst>
              </a:tr>
            </a:tbl>
          </a:graphicData>
        </a:graphic>
      </p:graphicFrame>
      <p:sp>
        <p:nvSpPr>
          <p:cNvPr id="5" name="TextBox 4">
            <a:extLst>
              <a:ext uri="{FF2B5EF4-FFF2-40B4-BE49-F238E27FC236}">
                <a16:creationId xmlns:a16="http://schemas.microsoft.com/office/drawing/2014/main" id="{BB8A896F-CBC9-334F-A6CA-BD25FFA580B7}"/>
              </a:ext>
            </a:extLst>
          </p:cNvPr>
          <p:cNvSpPr txBox="1"/>
          <p:nvPr/>
        </p:nvSpPr>
        <p:spPr>
          <a:xfrm rot="20294682">
            <a:off x="1323693" y="2141255"/>
            <a:ext cx="12095434" cy="2816156"/>
          </a:xfrm>
          <a:prstGeom prst="rect">
            <a:avLst/>
          </a:prstGeom>
          <a:solidFill>
            <a:schemeClr val="tx2"/>
          </a:solidFill>
        </p:spPr>
        <p:txBody>
          <a:bodyPr wrap="square" rtlCol="0">
            <a:spAutoFit/>
          </a:bodyPr>
          <a:lstStyle/>
          <a:p>
            <a:r>
              <a:rPr lang="en-US"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a:t>
            </a:r>
            <a:r>
              <a:rPr 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Example inputs only.  Modify based on actual MRA workshop observations, prioritized actions, and campaign requirements. Discuss and fill out owners and completion target dates. Align account team and customer on means to maintain momentum and assure actions on both sides are not lost and have a mechanism for tracking.</a:t>
            </a:r>
          </a:p>
        </p:txBody>
      </p:sp>
    </p:spTree>
    <p:extLst>
      <p:ext uri="{BB962C8B-B14F-4D97-AF65-F5344CB8AC3E}">
        <p14:creationId xmlns:p14="http://schemas.microsoft.com/office/powerpoint/2010/main" val="2259615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725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61E7EA-DD0D-704C-92D5-249A81A0EDCC}"/>
              </a:ext>
            </a:extLst>
          </p:cNvPr>
          <p:cNvSpPr txBox="1"/>
          <p:nvPr/>
        </p:nvSpPr>
        <p:spPr>
          <a:xfrm>
            <a:off x="780191" y="2922166"/>
            <a:ext cx="9331011" cy="3308598"/>
          </a:xfrm>
          <a:prstGeom prst="rect">
            <a:avLst/>
          </a:prstGeom>
          <a:noFill/>
        </p:spPr>
        <p:txBody>
          <a:bodyPr wrap="square" rtlCol="0">
            <a:spAutoFit/>
          </a:bodyPr>
          <a:lstStyle/>
          <a:p>
            <a:pPr>
              <a:spcAft>
                <a:spcPts val="3000"/>
              </a:spcAft>
            </a:pPr>
            <a:r>
              <a:rPr lang="en-US" sz="6400" dirty="0">
                <a:latin typeface="Amazon Ember Medium" panose="020B0603020204020204" pitchFamily="34" charset="0"/>
                <a:ea typeface="Amazon Ember Medium" panose="020B0603020204020204" pitchFamily="34" charset="0"/>
                <a:cs typeface="Amazon Ember Medium" panose="020B0603020204020204" pitchFamily="34" charset="0"/>
              </a:rPr>
              <a:t>Appendix</a:t>
            </a:r>
          </a:p>
          <a:p>
            <a:r>
              <a:rPr lang="en-US" sz="3000" dirty="0">
                <a:solidFill>
                  <a:srgbClr val="F89628"/>
                </a:solidFill>
                <a:latin typeface="Amazon Ember Light" panose="020B0403020204020204" pitchFamily="34" charset="0"/>
                <a:ea typeface="Amazon Ember Light" panose="020B0403020204020204" pitchFamily="34" charset="0"/>
                <a:cs typeface="Amazon Ember Light" panose="020B0403020204020204" pitchFamily="34" charset="0"/>
              </a:rPr>
              <a:t>References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AMS Qualification</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Observations &amp; Actions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Questionnaire Summary</a:t>
            </a:r>
          </a:p>
        </p:txBody>
      </p:sp>
    </p:spTree>
    <p:extLst>
      <p:ext uri="{BB962C8B-B14F-4D97-AF65-F5344CB8AC3E}">
        <p14:creationId xmlns:p14="http://schemas.microsoft.com/office/powerpoint/2010/main" val="189351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8377-3B04-F546-AF19-6E041575E485}"/>
              </a:ext>
            </a:extLst>
          </p:cNvPr>
          <p:cNvSpPr>
            <a:spLocks noGrp="1"/>
          </p:cNvSpPr>
          <p:nvPr>
            <p:ph type="title"/>
          </p:nvPr>
        </p:nvSpPr>
        <p:spPr/>
        <p:txBody>
          <a:bodyPr/>
          <a:lstStyle/>
          <a:p>
            <a:r>
              <a:rPr lang="en-US" dirty="0"/>
              <a:t>Quick References</a:t>
            </a:r>
          </a:p>
        </p:txBody>
      </p:sp>
      <p:graphicFrame>
        <p:nvGraphicFramePr>
          <p:cNvPr id="3" name="Table 2">
            <a:extLst>
              <a:ext uri="{FF2B5EF4-FFF2-40B4-BE49-F238E27FC236}">
                <a16:creationId xmlns:a16="http://schemas.microsoft.com/office/drawing/2014/main" id="{9FA97D76-A0ED-5A4F-9867-A0D06CCF34E0}"/>
              </a:ext>
            </a:extLst>
          </p:cNvPr>
          <p:cNvGraphicFramePr>
            <a:graphicFrameLocks noGrp="1"/>
          </p:cNvGraphicFramePr>
          <p:nvPr>
            <p:extLst>
              <p:ext uri="{D42A27DB-BD31-4B8C-83A1-F6EECF244321}">
                <p14:modId xmlns:p14="http://schemas.microsoft.com/office/powerpoint/2010/main" val="1570506135"/>
              </p:ext>
            </p:extLst>
          </p:nvPr>
        </p:nvGraphicFramePr>
        <p:xfrm>
          <a:off x="548639" y="808043"/>
          <a:ext cx="13611860" cy="6542460"/>
        </p:xfrm>
        <a:graphic>
          <a:graphicData uri="http://schemas.openxmlformats.org/drawingml/2006/table">
            <a:tbl>
              <a:tblPr/>
              <a:tblGrid>
                <a:gridCol w="1800861">
                  <a:extLst>
                    <a:ext uri="{9D8B030D-6E8A-4147-A177-3AD203B41FA5}">
                      <a16:colId xmlns:a16="http://schemas.microsoft.com/office/drawing/2014/main" val="696785600"/>
                    </a:ext>
                  </a:extLst>
                </a:gridCol>
                <a:gridCol w="1333500">
                  <a:extLst>
                    <a:ext uri="{9D8B030D-6E8A-4147-A177-3AD203B41FA5}">
                      <a16:colId xmlns:a16="http://schemas.microsoft.com/office/drawing/2014/main" val="2220604730"/>
                    </a:ext>
                  </a:extLst>
                </a:gridCol>
                <a:gridCol w="6858000">
                  <a:extLst>
                    <a:ext uri="{9D8B030D-6E8A-4147-A177-3AD203B41FA5}">
                      <a16:colId xmlns:a16="http://schemas.microsoft.com/office/drawing/2014/main" val="554454376"/>
                    </a:ext>
                  </a:extLst>
                </a:gridCol>
                <a:gridCol w="3619499">
                  <a:extLst>
                    <a:ext uri="{9D8B030D-6E8A-4147-A177-3AD203B41FA5}">
                      <a16:colId xmlns:a16="http://schemas.microsoft.com/office/drawing/2014/main" val="11673451"/>
                    </a:ext>
                  </a:extLst>
                </a:gridCol>
              </a:tblGrid>
              <a:tr h="219479">
                <a:tc>
                  <a:txBody>
                    <a:bodyPr/>
                    <a:lstStyle/>
                    <a:p>
                      <a:pPr marL="0" marR="0">
                        <a:spcBef>
                          <a:spcPts val="0"/>
                        </a:spcBef>
                        <a:spcAft>
                          <a:spcPts val="0"/>
                        </a:spcAft>
                      </a:pPr>
                      <a:r>
                        <a:rPr lang="en-US" sz="1000" b="1" dirty="0">
                          <a:solidFill>
                            <a:schemeClr val="bg1"/>
                          </a:solidFill>
                          <a:effectLst/>
                          <a:latin typeface="Calibri" panose="020F0502020204030204" pitchFamily="34" charset="0"/>
                        </a:rPr>
                        <a:t>Outcome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spcBef>
                          <a:spcPts val="0"/>
                        </a:spcBef>
                        <a:spcAft>
                          <a:spcPts val="0"/>
                        </a:spcAft>
                      </a:pPr>
                      <a:r>
                        <a:rPr lang="en-US" sz="1000" b="1" dirty="0">
                          <a:solidFill>
                            <a:schemeClr val="bg1"/>
                          </a:solidFill>
                          <a:effectLst/>
                          <a:latin typeface="Calibri" panose="020F0502020204030204" pitchFamily="34" charset="0"/>
                        </a:rPr>
                        <a:t>APG Public Reference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spcBef>
                          <a:spcPts val="0"/>
                        </a:spcBef>
                        <a:spcAft>
                          <a:spcPts val="0"/>
                        </a:spcAft>
                      </a:pPr>
                      <a:r>
                        <a:rPr lang="en-US" sz="1000" b="1" dirty="0">
                          <a:solidFill>
                            <a:schemeClr val="bg1"/>
                          </a:solidFill>
                          <a:effectLst/>
                          <a:latin typeface="Calibri" panose="020F0502020204030204" pitchFamily="34" charset="0"/>
                        </a:rPr>
                        <a:t>Key Potential Actions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spcBef>
                          <a:spcPts val="0"/>
                        </a:spcBef>
                        <a:spcAft>
                          <a:spcPts val="0"/>
                        </a:spcAft>
                      </a:pPr>
                      <a:r>
                        <a:rPr lang="en-US" sz="1000" b="1" dirty="0">
                          <a:solidFill>
                            <a:schemeClr val="bg1"/>
                          </a:solidFill>
                          <a:effectLst/>
                          <a:latin typeface="Calibri" panose="020F0502020204030204" pitchFamily="34" charset="0"/>
                        </a:rPr>
                        <a:t>AWS Offerings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536231538"/>
                  </a:ext>
                </a:extLst>
              </a:tr>
              <a:tr h="326041">
                <a:tc>
                  <a:txBody>
                    <a:bodyPr/>
                    <a:lstStyle/>
                    <a:p>
                      <a:pPr marL="0" marR="0">
                        <a:spcBef>
                          <a:spcPts val="0"/>
                        </a:spcBef>
                        <a:spcAft>
                          <a:spcPts val="0"/>
                        </a:spcAft>
                      </a:pPr>
                      <a:r>
                        <a:rPr lang="en-US" sz="1000" dirty="0">
                          <a:solidFill>
                            <a:schemeClr val="tx1"/>
                          </a:solidFill>
                          <a:effectLst/>
                          <a:latin typeface="Calibri" panose="020F0502020204030204" pitchFamily="34" charset="0"/>
                        </a:rPr>
                        <a:t>Start with Migrating at scale in mind!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3"/>
                        </a:rPr>
                        <a:t>APG Large Migration Guidance</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rPr>
                        <a:t>Understand the guidance around migrating at scale for a large migration as you begin your Assess and Mobilize Phase activities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5778545"/>
                  </a:ext>
                </a:extLst>
              </a:tr>
              <a:tr h="326041">
                <a:tc>
                  <a:txBody>
                    <a:bodyPr/>
                    <a:lstStyle/>
                    <a:p>
                      <a:pPr marL="0" marR="0">
                        <a:spcBef>
                          <a:spcPts val="0"/>
                        </a:spcBef>
                        <a:spcAft>
                          <a:spcPts val="0"/>
                        </a:spcAft>
                      </a:pPr>
                      <a:r>
                        <a:rPr lang="en-US" sz="1000" dirty="0">
                          <a:solidFill>
                            <a:schemeClr val="tx1"/>
                          </a:solidFill>
                          <a:effectLst/>
                          <a:latin typeface="Calibri" panose="020F0502020204030204" pitchFamily="34" charset="0"/>
                        </a:rPr>
                        <a:t>Have a business case!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4"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cost&amp;apg-all-cards.q_operator=AND"/>
                        </a:rPr>
                        <a:t>APG Cost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Share the initial business case with the broader team to build consensus and buy-in </a:t>
                      </a:r>
                      <a:r>
                        <a:rPr lang="en-US" sz="1000" b="1" i="0" u="none" strike="noStrike" kern="1200" dirty="0">
                          <a:solidFill>
                            <a:schemeClr val="tx1"/>
                          </a:solidFill>
                          <a:effectLst/>
                          <a:latin typeface="+mn-lt"/>
                          <a:ea typeface="+mn-ea"/>
                          <a:cs typeface="+mn-cs"/>
                        </a:rPr>
                        <a:t>AND/OR </a:t>
                      </a:r>
                      <a:r>
                        <a:rPr lang="en-US" sz="1000" b="0" i="0" u="none" strike="noStrike" kern="1200" dirty="0">
                          <a:solidFill>
                            <a:schemeClr val="tx1"/>
                          </a:solidFill>
                          <a:effectLst/>
                          <a:latin typeface="+mn-lt"/>
                          <a:ea typeface="+mn-ea"/>
                          <a:cs typeface="+mn-cs"/>
                        </a:rPr>
                        <a:t>MAP Accelerator: Start the ”Rapid Migration Business Case” engagement with AWS Cloud Economics team, including Migration Evaluator based infrastructure discovery, software licensing optimization, and TCO saving estimation</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5"/>
                        </a:rPr>
                        <a:t>https://aws.amazon.com/migration-evaluator/</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1218848"/>
                  </a:ext>
                </a:extLst>
              </a:tr>
              <a:tr h="241300">
                <a:tc>
                  <a:txBody>
                    <a:bodyPr/>
                    <a:lstStyle/>
                    <a:p>
                      <a:pPr marL="0" marR="0">
                        <a:spcBef>
                          <a:spcPts val="0"/>
                        </a:spcBef>
                        <a:spcAft>
                          <a:spcPts val="0"/>
                        </a:spcAft>
                      </a:pPr>
                      <a:r>
                        <a:rPr lang="en-US" sz="1000" dirty="0">
                          <a:solidFill>
                            <a:schemeClr val="tx1"/>
                          </a:solidFill>
                          <a:effectLst/>
                          <a:latin typeface="Calibri" panose="020F0502020204030204" pitchFamily="34" charset="0"/>
                        </a:rPr>
                        <a:t>Have a Leader named!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6"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organization&amp;apg-all-cards.q_operator=AND"/>
                        </a:rPr>
                        <a:t>APG Organization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Customer to identify a single threaded leader who has authority within the organization to increase decision velocity and identify key stakeholders across the value chain</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7"/>
                        </a:rPr>
                        <a:t>https://aws.amazon.com/training/classroom/aws-cloud-essentials-for-business-leaders/</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8221192"/>
                  </a:ext>
                </a:extLst>
              </a:tr>
              <a:tr h="220980">
                <a:tc>
                  <a:txBody>
                    <a:bodyPr/>
                    <a:lstStyle/>
                    <a:p>
                      <a:pPr marL="0" marR="0">
                        <a:spcBef>
                          <a:spcPts val="0"/>
                        </a:spcBef>
                        <a:spcAft>
                          <a:spcPts val="0"/>
                        </a:spcAft>
                      </a:pPr>
                      <a:r>
                        <a:rPr lang="en-US" sz="1000" dirty="0">
                          <a:solidFill>
                            <a:schemeClr val="tx1"/>
                          </a:solidFill>
                          <a:effectLst/>
                          <a:latin typeface="Calibri" panose="020F0502020204030204" pitchFamily="34" charset="0"/>
                        </a:rPr>
                        <a:t>Build a </a:t>
                      </a:r>
                      <a:r>
                        <a:rPr lang="en-US" sz="1000" dirty="0" err="1">
                          <a:solidFill>
                            <a:schemeClr val="tx1"/>
                          </a:solidFill>
                          <a:effectLst/>
                          <a:latin typeface="Calibri" panose="020F0502020204030204" pitchFamily="34" charset="0"/>
                        </a:rPr>
                        <a:t>CCoE</a:t>
                      </a:r>
                      <a:r>
                        <a:rPr lang="en-US" sz="1000" dirty="0">
                          <a:solidFill>
                            <a:schemeClr val="tx1"/>
                          </a:solidFill>
                          <a:effectLst/>
                          <a:latin typeface="Calibri" panose="020F0502020204030204" pitchFamily="34"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8"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eople&amp;apg-all-cards.q_operator=AND"/>
                        </a:rPr>
                        <a:t>APG People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Engage AWS to build/refine CCOE functions </a:t>
                      </a:r>
                      <a:r>
                        <a:rPr lang="en-US" sz="1000" b="1" i="0" u="none" strike="noStrike" kern="1200" dirty="0">
                          <a:solidFill>
                            <a:schemeClr val="tx1"/>
                          </a:solidFill>
                          <a:effectLst/>
                          <a:latin typeface="+mn-lt"/>
                          <a:ea typeface="+mn-ea"/>
                          <a:cs typeface="+mn-cs"/>
                        </a:rPr>
                        <a:t>AND/OR </a:t>
                      </a:r>
                      <a:r>
                        <a:rPr lang="en-US" sz="1000" b="0" i="0" u="none" strike="noStrike" kern="1200" dirty="0">
                          <a:solidFill>
                            <a:schemeClr val="tx1"/>
                          </a:solidFill>
                          <a:effectLst/>
                          <a:latin typeface="+mn-lt"/>
                          <a:ea typeface="+mn-ea"/>
                          <a:cs typeface="+mn-cs"/>
                        </a:rPr>
                        <a:t>MAP Accelerator: Run the "Cloud Center of Excellence (</a:t>
                      </a:r>
                      <a:r>
                        <a:rPr lang="en-US" sz="1000" b="0" i="0" u="none" strike="noStrike" kern="1200" dirty="0" err="1">
                          <a:solidFill>
                            <a:schemeClr val="tx1"/>
                          </a:solidFill>
                          <a:effectLst/>
                          <a:latin typeface="+mn-lt"/>
                          <a:ea typeface="+mn-ea"/>
                          <a:cs typeface="+mn-cs"/>
                        </a:rPr>
                        <a:t>CCoE</a:t>
                      </a:r>
                      <a:r>
                        <a:rPr lang="en-US" sz="1000" b="0" i="0" u="none" strike="noStrike" kern="1200" dirty="0">
                          <a:solidFill>
                            <a:schemeClr val="tx1"/>
                          </a:solidFill>
                          <a:effectLst/>
                          <a:latin typeface="+mn-lt"/>
                          <a:ea typeface="+mn-ea"/>
                          <a:cs typeface="+mn-cs"/>
                        </a:rPr>
                        <a:t>) Educational Workshop" to educate leaders on the value of a CCOE function, and provides best practice insights on structure maturation, and initial steps to optimal decision-making and functionality</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9"/>
                        </a:rPr>
                        <a:t>https://docs.aws.amazon.com/whitepapers/latest/public-sector-cloud-transformation/building-a-cloud-center-of-excellence-ccoe-to-transform-the-entire-enterprise.html</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9604569"/>
                  </a:ext>
                </a:extLst>
              </a:tr>
              <a:tr h="175260">
                <a:tc>
                  <a:txBody>
                    <a:bodyPr/>
                    <a:lstStyle/>
                    <a:p>
                      <a:pPr marL="0" marR="0">
                        <a:spcBef>
                          <a:spcPts val="0"/>
                        </a:spcBef>
                        <a:spcAft>
                          <a:spcPts val="0"/>
                        </a:spcAft>
                      </a:pPr>
                      <a:r>
                        <a:rPr lang="en-US" sz="1000" dirty="0">
                          <a:solidFill>
                            <a:schemeClr val="tx1"/>
                          </a:solidFill>
                          <a:effectLst/>
                          <a:latin typeface="Calibri" panose="020F0502020204030204" pitchFamily="34" charset="0"/>
                        </a:rPr>
                        <a:t>Ensure right skills!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10"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obilization&amp;apg-all-cards.q_operator=AND"/>
                        </a:rPr>
                        <a:t>APG Mobilization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Identify a training leader to help drive initiative </a:t>
                      </a:r>
                      <a:r>
                        <a:rPr lang="en-US" sz="1000" b="1" i="0" u="none" strike="noStrike" kern="1200" dirty="0">
                          <a:solidFill>
                            <a:schemeClr val="tx1"/>
                          </a:solidFill>
                          <a:effectLst/>
                          <a:latin typeface="+mn-lt"/>
                          <a:ea typeface="+mn-ea"/>
                          <a:cs typeface="+mn-cs"/>
                        </a:rPr>
                        <a:t>AND/OR</a:t>
                      </a:r>
                      <a:r>
                        <a:rPr lang="en-US" sz="1000" b="0" i="0" u="none" strike="noStrike" kern="1200" dirty="0">
                          <a:solidFill>
                            <a:schemeClr val="tx1"/>
                          </a:solidFill>
                          <a:effectLst/>
                          <a:latin typeface="+mn-lt"/>
                          <a:ea typeface="+mn-ea"/>
                          <a:cs typeface="+mn-cs"/>
                        </a:rPr>
                        <a:t> Engage the AWS Training team for a learning needs assessment</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11"/>
                        </a:rPr>
                        <a:t>https://aws.amazon.com/training/teams/learning-needs-analysis/</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8603750"/>
                  </a:ext>
                </a:extLst>
              </a:tr>
              <a:tr h="205740">
                <a:tc>
                  <a:txBody>
                    <a:bodyPr/>
                    <a:lstStyle/>
                    <a:p>
                      <a:pPr marL="0" marR="0">
                        <a:spcBef>
                          <a:spcPts val="0"/>
                        </a:spcBef>
                        <a:spcAft>
                          <a:spcPts val="0"/>
                        </a:spcAft>
                      </a:pPr>
                      <a:r>
                        <a:rPr lang="en-US" sz="1000" dirty="0">
                          <a:solidFill>
                            <a:schemeClr val="tx1"/>
                          </a:solidFill>
                          <a:effectLst/>
                          <a:latin typeface="Calibri" panose="020F0502020204030204" pitchFamily="34" charset="0"/>
                        </a:rPr>
                        <a:t>Gain experience and change the way you work!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12"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landing%2Bzone&amp;apg-all-cards.q_operator=AND"/>
                        </a:rPr>
                        <a:t>APG Landing Zone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EBA Accelerator: Conduct the "Platform Party" to stress test and validate the AWS landing zone and move your first applications (for customers not leveraging </a:t>
                      </a:r>
                      <a:r>
                        <a:rPr lang="en-US" sz="1000" b="0" i="0" u="none" strike="noStrike" kern="1200" dirty="0" err="1">
                          <a:solidFill>
                            <a:schemeClr val="tx1"/>
                          </a:solidFill>
                          <a:effectLst/>
                          <a:latin typeface="+mn-lt"/>
                          <a:ea typeface="+mn-ea"/>
                          <a:cs typeface="+mn-cs"/>
                        </a:rPr>
                        <a:t>ProServe</a:t>
                      </a:r>
                      <a:r>
                        <a:rPr lang="en-US" sz="1000" b="0" i="0" u="none" strike="noStrike" kern="1200" dirty="0">
                          <a:solidFill>
                            <a:schemeClr val="tx1"/>
                          </a:solidFill>
                          <a:effectLst/>
                          <a:latin typeface="+mn-lt"/>
                          <a:ea typeface="+mn-ea"/>
                          <a:cs typeface="+mn-cs"/>
                        </a:rPr>
                        <a:t> led Mobilize but using prescriptive guidance from AWS via EBA) </a:t>
                      </a:r>
                      <a:r>
                        <a:rPr lang="en-US" sz="1000" b="1" i="0" u="none" strike="noStrike" kern="1200" dirty="0">
                          <a:solidFill>
                            <a:schemeClr val="tx1"/>
                          </a:solidFill>
                          <a:effectLst/>
                          <a:latin typeface="+mn-lt"/>
                          <a:ea typeface="+mn-ea"/>
                          <a:cs typeface="+mn-cs"/>
                        </a:rPr>
                        <a:t>AND/OR</a:t>
                      </a:r>
                      <a:r>
                        <a:rPr lang="en-US" sz="1000" b="0" i="0" u="none" strike="noStrike" kern="1200" dirty="0">
                          <a:solidFill>
                            <a:schemeClr val="tx1"/>
                          </a:solidFill>
                          <a:effectLst/>
                          <a:latin typeface="+mn-lt"/>
                          <a:ea typeface="+mn-ea"/>
                          <a:cs typeface="+mn-cs"/>
                        </a:rPr>
                        <a:t>, MAP Accelerator: Participate in the 1-day "Migration Immersion Day" that introduces AWS discovery and migration tools (e.g. </a:t>
                      </a:r>
                      <a:r>
                        <a:rPr lang="en-US" sz="1000" b="0" i="0" u="none" strike="noStrike" kern="1200" dirty="0" err="1">
                          <a:solidFill>
                            <a:schemeClr val="tx1"/>
                          </a:solidFill>
                          <a:effectLst/>
                          <a:latin typeface="+mn-lt"/>
                          <a:ea typeface="+mn-ea"/>
                          <a:cs typeface="+mn-cs"/>
                        </a:rPr>
                        <a:t>CloudEndure</a:t>
                      </a:r>
                      <a:r>
                        <a:rPr lang="en-US" sz="1000" b="0" i="0" u="none" strike="noStrike" kern="1200" dirty="0">
                          <a:solidFill>
                            <a:schemeClr val="tx1"/>
                          </a:solidFill>
                          <a:effectLst/>
                          <a:latin typeface="+mn-lt"/>
                          <a:ea typeface="+mn-ea"/>
                          <a:cs typeface="+mn-cs"/>
                        </a:rPr>
                        <a:t>, Application Discovery Service) and migrate an app in a simulated environment</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13"/>
                        </a:rPr>
                        <a:t>https://aws.amazon.com/solutions/implementations/customizations-for-aws-control-tower/</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5538466"/>
                  </a:ext>
                </a:extLst>
              </a:tr>
              <a:tr h="185420">
                <a:tc>
                  <a:txBody>
                    <a:bodyPr/>
                    <a:lstStyle/>
                    <a:p>
                      <a:pPr marL="0" marR="0">
                        <a:spcBef>
                          <a:spcPts val="0"/>
                        </a:spcBef>
                        <a:spcAft>
                          <a:spcPts val="0"/>
                        </a:spcAft>
                      </a:pPr>
                      <a:r>
                        <a:rPr lang="en-US" sz="1000" dirty="0">
                          <a:solidFill>
                            <a:schemeClr val="tx1"/>
                          </a:solidFill>
                          <a:effectLst/>
                          <a:latin typeface="Calibri" panose="020F0502020204030204" pitchFamily="34" charset="0"/>
                        </a:rPr>
                        <a:t>Assure security is considered at front of the initiative!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14"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account%2Bsecurity&amp;apg-all-cards.q_operator=AND"/>
                        </a:rPr>
                        <a:t>APG Account Security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MAP Accelerator: Run the "Security Briefing" to educate key stakeholders on security model and cloud security foundations </a:t>
                      </a:r>
                      <a:r>
                        <a:rPr lang="en-US" sz="1000" b="1" i="0" u="none" strike="noStrike" kern="1200" dirty="0">
                          <a:solidFill>
                            <a:schemeClr val="tx1"/>
                          </a:solidFill>
                          <a:effectLst/>
                          <a:latin typeface="+mn-lt"/>
                          <a:ea typeface="+mn-ea"/>
                          <a:cs typeface="+mn-cs"/>
                        </a:rPr>
                        <a:t>AND/OR</a:t>
                      </a:r>
                      <a:r>
                        <a:rPr lang="en-US" sz="1000" b="0" i="0" u="none" strike="noStrike" kern="1200" dirty="0">
                          <a:solidFill>
                            <a:schemeClr val="tx1"/>
                          </a:solidFill>
                          <a:effectLst/>
                          <a:latin typeface="+mn-lt"/>
                          <a:ea typeface="+mn-ea"/>
                          <a:cs typeface="+mn-cs"/>
                        </a:rPr>
                        <a:t> Get the 3rd party risk assessment completed. Engage AWS as needed to ensure passage</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15"/>
                        </a:rPr>
                        <a:t>https://aws.amazon.com/security/</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944336"/>
                  </a:ext>
                </a:extLst>
              </a:tr>
              <a:tr h="177800">
                <a:tc>
                  <a:txBody>
                    <a:bodyPr/>
                    <a:lstStyle/>
                    <a:p>
                      <a:pPr marL="0" marR="0">
                        <a:spcBef>
                          <a:spcPts val="0"/>
                        </a:spcBef>
                        <a:spcAft>
                          <a:spcPts val="0"/>
                        </a:spcAft>
                      </a:pPr>
                      <a:r>
                        <a:rPr lang="en-US" sz="1000" dirty="0">
                          <a:solidFill>
                            <a:schemeClr val="tx1"/>
                          </a:solidFill>
                          <a:effectLst/>
                          <a:latin typeface="Calibri" panose="020F0502020204030204" pitchFamily="34" charset="0"/>
                        </a:rPr>
                        <a:t>Determine preferred operating model!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16"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operating%2Bmodel&amp;apg-all-cards.q_operator=AND"/>
                        </a:rPr>
                        <a:t>APG Operating Model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Evaluate AWS Managed Services (AMS) to see if it makes sense to offload mundane activities/infrastructure ops to that and keep resources focused on innovation and differentiating activities</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17"/>
                        </a:rPr>
                        <a:t>https://aws.amazon.com/managed-services/</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677772"/>
                  </a:ext>
                </a:extLst>
              </a:tr>
              <a:tr h="182880">
                <a:tc>
                  <a:txBody>
                    <a:bodyPr/>
                    <a:lstStyle/>
                    <a:p>
                      <a:pPr marL="0" marR="0">
                        <a:spcBef>
                          <a:spcPts val="0"/>
                        </a:spcBef>
                        <a:spcAft>
                          <a:spcPts val="0"/>
                        </a:spcAft>
                      </a:pPr>
                      <a:r>
                        <a:rPr lang="en-US" sz="1000" dirty="0">
                          <a:solidFill>
                            <a:schemeClr val="tx1"/>
                          </a:solidFill>
                          <a:effectLst/>
                          <a:latin typeface="Calibri" panose="020F0502020204030204" pitchFamily="34" charset="0"/>
                        </a:rPr>
                        <a:t>Get discovery tooling in place!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18"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ortfolio%2Bdiscovery&amp;apg-all-cards.q_operator=AND"/>
                        </a:rPr>
                        <a:t>APG Portfolio Discovery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Select and implement automated discovery tooling from one of the AWS partners that can assist in inventory and dependency mapping with expert guidance </a:t>
                      </a:r>
                      <a:r>
                        <a:rPr lang="en-US" sz="1000" b="1" i="0" u="none" strike="noStrike" kern="1200" dirty="0">
                          <a:solidFill>
                            <a:schemeClr val="tx1"/>
                          </a:solidFill>
                          <a:effectLst/>
                          <a:latin typeface="+mn-lt"/>
                          <a:ea typeface="+mn-ea"/>
                          <a:cs typeface="+mn-cs"/>
                        </a:rPr>
                        <a:t>AND/OR</a:t>
                      </a:r>
                      <a:r>
                        <a:rPr lang="en-US" sz="1000" b="0" i="0" u="none" strike="noStrike" kern="1200" dirty="0">
                          <a:solidFill>
                            <a:schemeClr val="tx1"/>
                          </a:solidFill>
                          <a:effectLst/>
                          <a:latin typeface="+mn-lt"/>
                          <a:ea typeface="+mn-ea"/>
                          <a:cs typeface="+mn-cs"/>
                        </a:rPr>
                        <a:t>, MAP Accelerator: Participate in the 1-day "Migration Immersion Day" that introduces AWS discovery and migration tools (e.g. CEMF/MGN, Application Discovery Service) and migrate an app in a simulated environment</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19"/>
                        </a:rPr>
                        <a:t>https://aws.amazon.com/application-discovery/</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5137288"/>
                  </a:ext>
                </a:extLst>
              </a:tr>
              <a:tr h="162560">
                <a:tc>
                  <a:txBody>
                    <a:bodyPr/>
                    <a:lstStyle/>
                    <a:p>
                      <a:pPr marL="0" marR="0">
                        <a:spcBef>
                          <a:spcPts val="0"/>
                        </a:spcBef>
                        <a:spcAft>
                          <a:spcPts val="0"/>
                        </a:spcAft>
                      </a:pPr>
                      <a:r>
                        <a:rPr lang="en-US" sz="1000" dirty="0">
                          <a:solidFill>
                            <a:schemeClr val="tx1"/>
                          </a:solidFill>
                          <a:effectLst/>
                          <a:latin typeface="Calibri" panose="020F0502020204030204" pitchFamily="34" charset="0"/>
                        </a:rPr>
                        <a:t>Determine and engage</a:t>
                      </a:r>
                      <a:r>
                        <a:rPr lang="en-US" sz="1000" b="1" dirty="0">
                          <a:solidFill>
                            <a:schemeClr val="tx1"/>
                          </a:solidFill>
                          <a:effectLst/>
                          <a:latin typeface="Calibri" panose="020F0502020204030204" pitchFamily="34" charset="0"/>
                        </a:rPr>
                        <a:t> </a:t>
                      </a:r>
                      <a:r>
                        <a:rPr lang="en-US" sz="1000" dirty="0">
                          <a:solidFill>
                            <a:schemeClr val="tx1"/>
                          </a:solidFill>
                          <a:effectLst/>
                          <a:latin typeface="Calibri" panose="020F0502020204030204" pitchFamily="34" charset="0"/>
                        </a:rPr>
                        <a:t>partners involved in the initiative!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20"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artner&amp;apg-all-cards.q_operator=AND&amp;awsm.page-apg-all-cards=2"/>
                        </a:rPr>
                        <a:t>APG Partner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Confirm decision regarding roles of internal teams, Partner, and AWS, and involve Partner (if applicable) in the migration strategy and planning as early as possible</a:t>
                      </a: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21"/>
                        </a:rPr>
                        <a:t>https://aws.amazon.com/partners/featured/migration/</a:t>
                      </a:r>
                      <a:endParaRPr lang="en-US" sz="1000" dirty="0">
                        <a:effectLst/>
                        <a:latin typeface="Calibri" panose="020F0502020204030204" pitchFamily="34" charset="0"/>
                      </a:endParaRPr>
                    </a:p>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2777146"/>
                  </a:ext>
                </a:extLst>
              </a:tr>
              <a:tr h="205740">
                <a:tc>
                  <a:txBody>
                    <a:bodyPr/>
                    <a:lstStyle/>
                    <a:p>
                      <a:pPr marL="0" marR="0">
                        <a:spcBef>
                          <a:spcPts val="0"/>
                        </a:spcBef>
                        <a:spcAft>
                          <a:spcPts val="0"/>
                        </a:spcAft>
                      </a:pPr>
                      <a:r>
                        <a:rPr lang="en-US" sz="1000" dirty="0">
                          <a:solidFill>
                            <a:schemeClr val="tx1"/>
                          </a:solidFill>
                          <a:effectLst/>
                          <a:latin typeface="Calibri" panose="020F0502020204030204" pitchFamily="34" charset="0"/>
                        </a:rPr>
                        <a:t>Identify first movers!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22"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igrate&amp;apg-all-cards.q_operator=AND&amp;awsm.page-apg-all-cards=1"/>
                        </a:rPr>
                        <a:t>APG Migrate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Identify initial movers (generally require App Owner who is a promoter and an App that is not complex)</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030916"/>
                  </a:ext>
                </a:extLst>
              </a:tr>
              <a:tr h="147320">
                <a:tc>
                  <a:txBody>
                    <a:bodyPr/>
                    <a:lstStyle/>
                    <a:p>
                      <a:pPr marL="0" marR="0">
                        <a:spcBef>
                          <a:spcPts val="0"/>
                        </a:spcBef>
                        <a:spcAft>
                          <a:spcPts val="0"/>
                        </a:spcAft>
                      </a:pPr>
                      <a:r>
                        <a:rPr lang="en-US" sz="1000" dirty="0">
                          <a:solidFill>
                            <a:schemeClr val="tx1"/>
                          </a:solidFill>
                          <a:effectLst/>
                          <a:latin typeface="Calibri" panose="020F0502020204030204" pitchFamily="34" charset="0"/>
                        </a:rPr>
                        <a:t>Have a Modernization Strategy!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a:solidFill>
                            <a:srgbClr val="954F72"/>
                          </a:solidFill>
                          <a:effectLst/>
                          <a:latin typeface="Calibri" panose="020F0502020204030204" pitchFamily="34" charset="0"/>
                          <a:hlinkClick r:id="rId23"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modernize&amp;apg-all-cards.q_operator=AND&amp;awsm.page-apg-all-cards=1"/>
                        </a:rPr>
                        <a:t>APG Modernize Guidance</a:t>
                      </a:r>
                      <a:endParaRPr lang="en-US" sz="100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000" b="0" i="0" u="none" strike="noStrike" kern="1200" dirty="0">
                          <a:solidFill>
                            <a:schemeClr val="tx1"/>
                          </a:solidFill>
                          <a:effectLst/>
                          <a:latin typeface="+mn-lt"/>
                          <a:ea typeface="+mn-ea"/>
                          <a:cs typeface="+mn-cs"/>
                        </a:rPr>
                        <a:t>Engage with AWS to 1/ conduct a Windows Migration and Modernization Assessment </a:t>
                      </a:r>
                      <a:r>
                        <a:rPr lang="en-US" sz="1000" b="1" i="0" u="none" strike="noStrike" kern="1200" dirty="0">
                          <a:solidFill>
                            <a:schemeClr val="tx1"/>
                          </a:solidFill>
                          <a:effectLst/>
                          <a:latin typeface="+mn-lt"/>
                          <a:ea typeface="+mn-ea"/>
                          <a:cs typeface="+mn-cs"/>
                        </a:rPr>
                        <a:t>AND/OR</a:t>
                      </a:r>
                      <a:r>
                        <a:rPr lang="en-US" sz="1000" b="0" i="0" u="none" strike="noStrike" kern="1200" dirty="0">
                          <a:solidFill>
                            <a:schemeClr val="tx1"/>
                          </a:solidFill>
                          <a:effectLst/>
                          <a:latin typeface="+mn-lt"/>
                          <a:ea typeface="+mn-ea"/>
                          <a:cs typeface="+mn-cs"/>
                        </a:rPr>
                        <a:t> 2/an Application Modernization Assessment </a:t>
                      </a:r>
                      <a:r>
                        <a:rPr lang="en-US" sz="1000" b="1" i="0" u="none" strike="noStrike" kern="1200" dirty="0">
                          <a:solidFill>
                            <a:schemeClr val="tx1"/>
                          </a:solidFill>
                          <a:effectLst/>
                          <a:latin typeface="+mn-lt"/>
                          <a:ea typeface="+mn-ea"/>
                          <a:cs typeface="+mn-cs"/>
                        </a:rPr>
                        <a:t>AND/OR </a:t>
                      </a:r>
                      <a:r>
                        <a:rPr lang="en-US" sz="1000" b="0" i="0" u="none" strike="noStrike" kern="1200" dirty="0">
                          <a:solidFill>
                            <a:schemeClr val="tx1"/>
                          </a:solidFill>
                          <a:effectLst/>
                          <a:latin typeface="+mn-lt"/>
                          <a:ea typeface="+mn-ea"/>
                          <a:cs typeface="+mn-cs"/>
                        </a:rPr>
                        <a:t>3/</a:t>
                      </a:r>
                      <a:r>
                        <a:rPr lang="en-US" sz="1000" b="1" i="0" u="none" strike="noStrike" kern="1200" dirty="0">
                          <a:solidFill>
                            <a:schemeClr val="tx1"/>
                          </a:solidFill>
                          <a:effectLst/>
                          <a:latin typeface="+mn-lt"/>
                          <a:ea typeface="+mn-ea"/>
                          <a:cs typeface="+mn-cs"/>
                        </a:rPr>
                        <a:t> </a:t>
                      </a:r>
                      <a:r>
                        <a:rPr lang="en-US" sz="1000" b="0" i="0" u="none" strike="noStrike" kern="1200" dirty="0">
                          <a:solidFill>
                            <a:schemeClr val="tx1"/>
                          </a:solidFill>
                          <a:effectLst/>
                          <a:latin typeface="+mn-lt"/>
                          <a:ea typeface="+mn-ea"/>
                          <a:cs typeface="+mn-cs"/>
                        </a:rPr>
                        <a:t>apply AWS Database Migration Assessment Framework to seek ways to modernize your IT landscape to achieve your business objectives.</a:t>
                      </a:r>
                    </a:p>
                    <a:p>
                      <a:endParaRPr lang="en-US" sz="1000" b="0" i="0" u="none" strike="noStrike" kern="1200" dirty="0">
                        <a:solidFill>
                          <a:schemeClr val="tx1"/>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000" b="0" i="0" u="none" strike="noStrike" kern="1200" dirty="0">
                          <a:solidFill>
                            <a:schemeClr val="tx1"/>
                          </a:solidFill>
                          <a:effectLst/>
                          <a:latin typeface="+mn-lt"/>
                          <a:ea typeface="+mn-ea"/>
                          <a:cs typeface="+mn-cs"/>
                          <a:hlinkClick r:id="rId24"/>
                        </a:rPr>
                        <a:t>https://aws.amazon.com/enterprise/modernization/</a:t>
                      </a:r>
                      <a:endParaRPr lang="en-US" sz="1000" b="0" i="0" u="none" strike="noStrike" kern="1200" dirty="0">
                        <a:solidFill>
                          <a:schemeClr val="tx1"/>
                        </a:solidFill>
                        <a:effectLst/>
                        <a:latin typeface="+mn-lt"/>
                        <a:ea typeface="+mn-ea"/>
                        <a:cs typeface="+mn-cs"/>
                      </a:endParaRPr>
                    </a:p>
                    <a:p>
                      <a:endParaRPr lang="en-US" sz="1000" b="0" i="0" u="none" strike="noStrike" kern="1200" dirty="0">
                        <a:solidFill>
                          <a:schemeClr val="tx1"/>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118716"/>
                  </a:ext>
                </a:extLst>
              </a:tr>
              <a:tr h="177800">
                <a:tc>
                  <a:txBody>
                    <a:bodyPr/>
                    <a:lstStyle/>
                    <a:p>
                      <a:pPr marL="0" marR="0">
                        <a:spcBef>
                          <a:spcPts val="0"/>
                        </a:spcBef>
                        <a:spcAft>
                          <a:spcPts val="0"/>
                        </a:spcAft>
                      </a:pPr>
                      <a:r>
                        <a:rPr lang="en-US" sz="1000" dirty="0">
                          <a:solidFill>
                            <a:schemeClr val="tx1"/>
                          </a:solidFill>
                          <a:effectLst/>
                          <a:latin typeface="Calibri" panose="020F0502020204030204" pitchFamily="34" charset="0"/>
                        </a:rPr>
                        <a:t>Make sure there is a follow-up on the actions identified!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u="sng" dirty="0">
                          <a:solidFill>
                            <a:srgbClr val="954F72"/>
                          </a:solidFill>
                          <a:effectLst/>
                          <a:latin typeface="Calibri" panose="020F0502020204030204" pitchFamily="34" charset="0"/>
                          <a:hlinkClick r:id="rId25" tooltip="https://aws.amazon.com/prescriptive-guidance/?apg-all-cards.sort-by=item.additionalFields.sortText&amp;apg-all-cards.sort-order=desc&amp;awsf.apg-new-filter=*all&amp;awsf.apg-content-type-filter=*all&amp;awsf.apg-code-filter=*all&amp;awsf.apg-category-filter=*all&amp;awsf.apg-rtype-filter=*all&amp;awsf.apg-isv-filter=*all&amp;awsf.apg-product-filter=*all&amp;awsf.apg-env-filter=*all&amp;apg-all-cards.q=project%2Bgovernance&amp;apg-all-cards.q_operator=AND&amp;awsm.page-apg-all-cards=1"/>
                        </a:rPr>
                        <a:t>APG Project Governance Guidance</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b="0" i="0" u="none" strike="noStrike" kern="1200" dirty="0">
                          <a:solidFill>
                            <a:schemeClr val="tx1"/>
                          </a:solidFill>
                          <a:effectLst/>
                          <a:latin typeface="+mn-lt"/>
                          <a:ea typeface="+mn-ea"/>
                          <a:cs typeface="+mn-cs"/>
                        </a:rPr>
                        <a:t>Create a mechanism to track post-MRA actions to closure</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000" dirty="0">
                          <a:effectLst/>
                          <a:latin typeface="Calibri" panose="020F0502020204030204" pitchFamily="34" charset="0"/>
                          <a:hlinkClick r:id="rId26"/>
                        </a:rPr>
                        <a:t>https://docs.aws.amazon.com/prescriptive-guidance/latest/large-migration-governance-playbook/task-project-management.html</a:t>
                      </a:r>
                      <a:endParaRPr lang="en-US" sz="1000" dirty="0">
                        <a:effectLst/>
                        <a:latin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6132994"/>
                  </a:ext>
                </a:extLst>
              </a:tr>
            </a:tbl>
          </a:graphicData>
        </a:graphic>
      </p:graphicFrame>
    </p:spTree>
    <p:extLst>
      <p:ext uri="{BB962C8B-B14F-4D97-AF65-F5344CB8AC3E}">
        <p14:creationId xmlns:p14="http://schemas.microsoft.com/office/powerpoint/2010/main" val="1134038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61E7EA-DD0D-704C-92D5-249A81A0EDCC}"/>
              </a:ext>
            </a:extLst>
          </p:cNvPr>
          <p:cNvSpPr txBox="1"/>
          <p:nvPr/>
        </p:nvSpPr>
        <p:spPr>
          <a:xfrm>
            <a:off x="780191" y="2922166"/>
            <a:ext cx="9331011" cy="3308598"/>
          </a:xfrm>
          <a:prstGeom prst="rect">
            <a:avLst/>
          </a:prstGeom>
          <a:noFill/>
        </p:spPr>
        <p:txBody>
          <a:bodyPr wrap="square" rtlCol="0">
            <a:spAutoFit/>
          </a:bodyPr>
          <a:lstStyle/>
          <a:p>
            <a:pPr>
              <a:spcAft>
                <a:spcPts val="3000"/>
              </a:spcAft>
            </a:pPr>
            <a:r>
              <a:rPr lang="en-US" sz="6400" dirty="0">
                <a:latin typeface="Amazon Ember Medium" panose="020B0603020204020204" pitchFamily="34" charset="0"/>
                <a:ea typeface="Amazon Ember Medium" panose="020B0603020204020204" pitchFamily="34" charset="0"/>
                <a:cs typeface="Amazon Ember Medium" panose="020B0603020204020204" pitchFamily="34" charset="0"/>
              </a:rPr>
              <a:t>Appendix</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References</a:t>
            </a:r>
          </a:p>
          <a:p>
            <a:r>
              <a:rPr lang="en-US" sz="3000" dirty="0">
                <a:solidFill>
                  <a:srgbClr val="F89628"/>
                </a:solidFill>
                <a:latin typeface="Amazon Ember Light" panose="020B0403020204020204" pitchFamily="34" charset="0"/>
                <a:ea typeface="Amazon Ember Light" panose="020B0403020204020204" pitchFamily="34" charset="0"/>
                <a:cs typeface="Amazon Ember Light" panose="020B0403020204020204" pitchFamily="34" charset="0"/>
              </a:rPr>
              <a:t>AMS Qualification</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Observations &amp; Actions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Questionnaire Summary</a:t>
            </a:r>
          </a:p>
        </p:txBody>
      </p:sp>
    </p:spTree>
    <p:extLst>
      <p:ext uri="{BB962C8B-B14F-4D97-AF65-F5344CB8AC3E}">
        <p14:creationId xmlns:p14="http://schemas.microsoft.com/office/powerpoint/2010/main" val="284879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6E9DAC-BF9B-F8E6-426D-17EE5CD2A1C8}"/>
              </a:ext>
            </a:extLst>
          </p:cNvPr>
          <p:cNvSpPr>
            <a:spLocks noGrp="1"/>
          </p:cNvSpPr>
          <p:nvPr>
            <p:ph type="sldNum" sz="quarter" idx="12"/>
          </p:nvPr>
        </p:nvSpPr>
        <p:spPr/>
        <p:txBody>
          <a:bodyPr/>
          <a:lstStyle/>
          <a:p>
            <a:fld id="{EB4B8DE2-A4E8-46E4-8BBF-D75455EFF32C}" type="slidenum">
              <a:rPr lang="en-US" smtClean="0"/>
              <a:pPr/>
              <a:t>39</a:t>
            </a:fld>
            <a:endParaRPr lang="en-US" dirty="0"/>
          </a:p>
        </p:txBody>
      </p:sp>
      <p:sp>
        <p:nvSpPr>
          <p:cNvPr id="4" name="Title 1">
            <a:extLst>
              <a:ext uri="{FF2B5EF4-FFF2-40B4-BE49-F238E27FC236}">
                <a16:creationId xmlns:a16="http://schemas.microsoft.com/office/drawing/2014/main" id="{A4D710CE-A09B-813D-AD35-0361A0102D08}"/>
              </a:ext>
            </a:extLst>
          </p:cNvPr>
          <p:cNvSpPr txBox="1">
            <a:spLocks/>
          </p:cNvSpPr>
          <p:nvPr/>
        </p:nvSpPr>
        <p:spPr>
          <a:xfrm>
            <a:off x="504825" y="167979"/>
            <a:ext cx="12571413" cy="871538"/>
          </a:xfrm>
          <a:prstGeom prst="rect">
            <a:avLst/>
          </a:prstGeom>
        </p:spPr>
        <p:txBody>
          <a:bodyPr vert="horz" wrap="square" lIns="0" tIns="45720" rIns="0" bIns="45720" rtlCol="0" anchor="t" anchorCtr="0">
            <a:spAutoFit/>
          </a:bodyPr>
          <a:lstStyle>
            <a:lvl1pPr algn="l" defTabSz="1097280" rtl="0" eaLnBrk="1" latinLnBrk="0" hangingPunct="1">
              <a:lnSpc>
                <a:spcPct val="90000"/>
              </a:lnSpc>
              <a:spcBef>
                <a:spcPct val="0"/>
              </a:spcBef>
              <a:buNone/>
              <a:defRPr sz="3840" b="1" i="0" kern="1200" baseline="0">
                <a:solidFill>
                  <a:schemeClr val="tx1"/>
                </a:solidFill>
                <a:latin typeface="Amazon Ember Display" panose="020F0603020204020204" pitchFamily="34" charset="0"/>
                <a:ea typeface="+mj-ea"/>
                <a:cs typeface="+mj-cs"/>
              </a:defRPr>
            </a:lvl1pPr>
          </a:lstStyle>
          <a:p>
            <a:r>
              <a:rPr lang="en-US" sz="3600" dirty="0"/>
              <a:t>AWS Managed Services – just the right thing for you?</a:t>
            </a:r>
          </a:p>
        </p:txBody>
      </p:sp>
      <p:sp>
        <p:nvSpPr>
          <p:cNvPr id="6" name="Rectangle 5">
            <a:extLst>
              <a:ext uri="{FF2B5EF4-FFF2-40B4-BE49-F238E27FC236}">
                <a16:creationId xmlns:a16="http://schemas.microsoft.com/office/drawing/2014/main" id="{F9F268F0-B2F6-EDA0-0991-908AF68833E8}"/>
              </a:ext>
            </a:extLst>
          </p:cNvPr>
          <p:cNvSpPr/>
          <p:nvPr/>
        </p:nvSpPr>
        <p:spPr>
          <a:xfrm>
            <a:off x="7686874" y="1050681"/>
            <a:ext cx="6249552" cy="1990581"/>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b="1" dirty="0">
                <a:solidFill>
                  <a:schemeClr val="tx1"/>
                </a:solidFill>
              </a:rPr>
              <a:t>What is AWS Managed Services (AMS)?</a:t>
            </a:r>
          </a:p>
          <a:p>
            <a:r>
              <a:rPr lang="en-US" sz="1400" dirty="0">
                <a:solidFill>
                  <a:srgbClr val="D1D2D3"/>
                </a:solidFill>
                <a:latin typeface="Amazon Ember" panose="020B0603020204020204" pitchFamily="34" charset="0"/>
                <a:ea typeface="Amazon Ember" panose="020B0603020204020204" pitchFamily="34" charset="0"/>
                <a:cs typeface="Amazon Ember" panose="020B0603020204020204" pitchFamily="34" charset="0"/>
              </a:rPr>
              <a:t>AWS Managed Services (AMS) helps customers adopt AWS at scale and operate more efficiently and securely. AMS provides proactive, preventative, and detective capabilities that raise the operational bar and help reduce risk without constraining agility. AMS extends the customer’s team with operational capabilities including monitoring, incident detection and management, security, patch, backup, and cost optimization.</a:t>
            </a:r>
            <a:endParaRPr lang="en-US" sz="1400" b="0" i="0" dirty="0">
              <a:solidFill>
                <a:srgbClr val="D1D2D3"/>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ectangle 6">
            <a:extLst>
              <a:ext uri="{FF2B5EF4-FFF2-40B4-BE49-F238E27FC236}">
                <a16:creationId xmlns:a16="http://schemas.microsoft.com/office/drawing/2014/main" id="{1139E643-55F4-7795-693C-33B400B0E7D8}"/>
              </a:ext>
            </a:extLst>
          </p:cNvPr>
          <p:cNvSpPr/>
          <p:nvPr/>
        </p:nvSpPr>
        <p:spPr>
          <a:xfrm>
            <a:off x="7686874" y="3121549"/>
            <a:ext cx="6249552" cy="181911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b="1" dirty="0">
                <a:solidFill>
                  <a:schemeClr val="tx1"/>
                </a:solidFill>
              </a:rPr>
              <a:t>Who is AMS for?</a:t>
            </a:r>
          </a:p>
          <a:p>
            <a:r>
              <a:rPr lang="en-US" sz="1400" b="0" i="0" dirty="0">
                <a:solidFill>
                  <a:srgbClr val="D1D2D3"/>
                </a:solidFill>
                <a:effectLst/>
                <a:latin typeface="Amazon Ember" panose="020B0603020204020204" pitchFamily="34" charset="0"/>
                <a:ea typeface="Amazon Ember" panose="020B0603020204020204" pitchFamily="34" charset="0"/>
                <a:cs typeface="Amazon Ember" panose="020B0603020204020204" pitchFamily="34" charset="0"/>
              </a:rPr>
              <a:t>AMS is appropriate for enterprise customers who want to make cloud ops more predictable so they can focus on more important business priorities. Whether it’s a staff or skill gap, the desire to stay on top of security alerts, operating new workloads, and more, AMS augments the customer team’s cloud operations capabilities. </a:t>
            </a:r>
            <a:endParaRPr lang="en-US" sz="2200" dirty="0">
              <a:solidFill>
                <a:schemeClr val="tx1"/>
              </a:solidFill>
            </a:endParaRPr>
          </a:p>
        </p:txBody>
      </p:sp>
      <p:sp>
        <p:nvSpPr>
          <p:cNvPr id="8" name="Isosceles Triangle 16">
            <a:extLst>
              <a:ext uri="{FF2B5EF4-FFF2-40B4-BE49-F238E27FC236}">
                <a16:creationId xmlns:a16="http://schemas.microsoft.com/office/drawing/2014/main" id="{4959DB63-C8EA-7770-A2ED-297DEAC93A2A}"/>
              </a:ext>
            </a:extLst>
          </p:cNvPr>
          <p:cNvSpPr/>
          <p:nvPr/>
        </p:nvSpPr>
        <p:spPr>
          <a:xfrm rot="5400000">
            <a:off x="7226510" y="3984499"/>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sz="2200" dirty="0"/>
          </a:p>
        </p:txBody>
      </p:sp>
      <p:sp>
        <p:nvSpPr>
          <p:cNvPr id="9" name="Rectangle 8">
            <a:extLst>
              <a:ext uri="{FF2B5EF4-FFF2-40B4-BE49-F238E27FC236}">
                <a16:creationId xmlns:a16="http://schemas.microsoft.com/office/drawing/2014/main" id="{B3D47DE2-336F-3849-C16F-C47B5D959ABF}"/>
              </a:ext>
            </a:extLst>
          </p:cNvPr>
          <p:cNvSpPr/>
          <p:nvPr/>
        </p:nvSpPr>
        <p:spPr>
          <a:xfrm>
            <a:off x="7698403" y="5020955"/>
            <a:ext cx="6249552" cy="1143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r>
              <a:rPr lang="en-US" sz="2200" b="1" dirty="0">
                <a:solidFill>
                  <a:schemeClr val="tx1"/>
                </a:solidFill>
              </a:rPr>
              <a:t>Would AMS be useful for me?</a:t>
            </a:r>
          </a:p>
          <a:p>
            <a:r>
              <a:rPr lang="en-US" sz="1400" b="0" i="0" dirty="0">
                <a:solidFill>
                  <a:srgbClr val="D1D2D3"/>
                </a:solidFill>
                <a:effectLst/>
                <a:latin typeface="Amazon Ember" panose="020B0603020204020204" pitchFamily="34" charset="0"/>
                <a:ea typeface="Amazon Ember" panose="020B0603020204020204" pitchFamily="34" charset="0"/>
                <a:cs typeface="Amazon Ember" panose="020B0603020204020204" pitchFamily="34" charset="0"/>
              </a:rPr>
              <a:t>Based on your fit score, AMS may still be an interesting option for you. Please contact your AWS Account Team to explore this option further.</a:t>
            </a:r>
            <a:endParaRPr lang="en-US" sz="1400" dirty="0">
              <a:solidFill>
                <a:schemeClr val="tx1"/>
              </a:solidFill>
            </a:endParaRPr>
          </a:p>
        </p:txBody>
      </p:sp>
      <p:sp>
        <p:nvSpPr>
          <p:cNvPr id="10" name="Isosceles Triangle 17">
            <a:extLst>
              <a:ext uri="{FF2B5EF4-FFF2-40B4-BE49-F238E27FC236}">
                <a16:creationId xmlns:a16="http://schemas.microsoft.com/office/drawing/2014/main" id="{A743087D-3B16-BF68-0FFD-C554B0EFB02B}"/>
              </a:ext>
            </a:extLst>
          </p:cNvPr>
          <p:cNvSpPr/>
          <p:nvPr/>
        </p:nvSpPr>
        <p:spPr>
          <a:xfrm rot="5400000">
            <a:off x="7229884" y="5538455"/>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sz="2200" dirty="0"/>
          </a:p>
        </p:txBody>
      </p:sp>
      <p:sp>
        <p:nvSpPr>
          <p:cNvPr id="11" name="Rectangle 10">
            <a:extLst>
              <a:ext uri="{FF2B5EF4-FFF2-40B4-BE49-F238E27FC236}">
                <a16:creationId xmlns:a16="http://schemas.microsoft.com/office/drawing/2014/main" id="{EF4D26C4-6284-BE60-6A22-CEDA022600D0}"/>
              </a:ext>
            </a:extLst>
          </p:cNvPr>
          <p:cNvSpPr/>
          <p:nvPr/>
        </p:nvSpPr>
        <p:spPr>
          <a:xfrm>
            <a:off x="2399592" y="4997056"/>
            <a:ext cx="2871735" cy="87153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5400" dirty="0">
                <a:solidFill>
                  <a:schemeClr val="tx1"/>
                </a:solidFill>
              </a:rPr>
              <a:t>0%</a:t>
            </a:r>
          </a:p>
        </p:txBody>
      </p:sp>
      <p:sp>
        <p:nvSpPr>
          <p:cNvPr id="12" name="Rectangle 11">
            <a:extLst>
              <a:ext uri="{FF2B5EF4-FFF2-40B4-BE49-F238E27FC236}">
                <a16:creationId xmlns:a16="http://schemas.microsoft.com/office/drawing/2014/main" id="{5F14CB07-7542-21B0-0343-F8E532FC97F6}"/>
              </a:ext>
            </a:extLst>
          </p:cNvPr>
          <p:cNvSpPr/>
          <p:nvPr/>
        </p:nvSpPr>
        <p:spPr>
          <a:xfrm>
            <a:off x="2410747" y="6085479"/>
            <a:ext cx="2871735" cy="3722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3200" b="1" dirty="0">
                <a:solidFill>
                  <a:schemeClr val="accent1"/>
                </a:solidFill>
              </a:rPr>
              <a:t>AMS Fit Score</a:t>
            </a:r>
            <a:endParaRPr lang="en-US" sz="3200" dirty="0">
              <a:solidFill>
                <a:schemeClr val="accent1"/>
              </a:solidFill>
            </a:endParaRPr>
          </a:p>
        </p:txBody>
      </p:sp>
      <p:sp>
        <p:nvSpPr>
          <p:cNvPr id="23" name="Freeform: Shape 128" descr="Bar0">
            <a:extLst>
              <a:ext uri="{FF2B5EF4-FFF2-40B4-BE49-F238E27FC236}">
                <a16:creationId xmlns:a16="http://schemas.microsoft.com/office/drawing/2014/main" id="{4BA5C514-233A-DF14-806B-FC2DE89E112E}"/>
              </a:ext>
            </a:extLst>
          </p:cNvPr>
          <p:cNvSpPr/>
          <p:nvPr/>
        </p:nvSpPr>
        <p:spPr>
          <a:xfrm>
            <a:off x="1296348" y="4106068"/>
            <a:ext cx="608357" cy="633608"/>
          </a:xfrm>
          <a:custGeom>
            <a:avLst/>
            <a:gdLst>
              <a:gd name="connsiteX0" fmla="*/ 0 w 608357"/>
              <a:gd name="connsiteY0" fmla="*/ 0 h 633608"/>
              <a:gd name="connsiteX1" fmla="*/ 540000 w 608357"/>
              <a:gd name="connsiteY1" fmla="*/ 0 h 633608"/>
              <a:gd name="connsiteX2" fmla="*/ 549314 w 608357"/>
              <a:gd name="connsiteY2" fmla="*/ 184444 h 633608"/>
              <a:gd name="connsiteX3" fmla="*/ 579318 w 608357"/>
              <a:gd name="connsiteY3" fmla="*/ 381039 h 633608"/>
              <a:gd name="connsiteX4" fmla="*/ 608357 w 608357"/>
              <a:gd name="connsiteY4" fmla="*/ 493977 h 633608"/>
              <a:gd name="connsiteX5" fmla="*/ 87248 w 608357"/>
              <a:gd name="connsiteY5" fmla="*/ 633608 h 633608"/>
              <a:gd name="connsiteX6" fmla="*/ 50289 w 608357"/>
              <a:gd name="connsiteY6" fmla="*/ 489868 h 633608"/>
              <a:gd name="connsiteX7" fmla="*/ 12102 w 608357"/>
              <a:gd name="connsiteY7" fmla="*/ 239656 h 63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8357" h="633608">
                <a:moveTo>
                  <a:pt x="0" y="0"/>
                </a:moveTo>
                <a:lnTo>
                  <a:pt x="540000" y="0"/>
                </a:lnTo>
                <a:lnTo>
                  <a:pt x="549314" y="184444"/>
                </a:lnTo>
                <a:cubicBezTo>
                  <a:pt x="556073" y="251006"/>
                  <a:pt x="566130" y="316593"/>
                  <a:pt x="579318" y="381039"/>
                </a:cubicBezTo>
                <a:lnTo>
                  <a:pt x="608357" y="493977"/>
                </a:lnTo>
                <a:lnTo>
                  <a:pt x="87248" y="633608"/>
                </a:lnTo>
                <a:lnTo>
                  <a:pt x="50289" y="489868"/>
                </a:lnTo>
                <a:cubicBezTo>
                  <a:pt x="33505" y="407845"/>
                  <a:pt x="20705" y="324371"/>
                  <a:pt x="12102" y="239656"/>
                </a:cubicBezTo>
                <a:close/>
              </a:path>
            </a:pathLst>
          </a:custGeom>
          <a:solidFill>
            <a:srgbClr val="FF9B00"/>
          </a:solidFill>
          <a:ln>
            <a:solidFill>
              <a:schemeClr val="bg1"/>
            </a:solid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endParaRPr lang="en-US" sz="1000" dirty="0"/>
          </a:p>
        </p:txBody>
      </p:sp>
      <p:sp>
        <p:nvSpPr>
          <p:cNvPr id="24" name="Freeform: Shape 129" descr="Bar1">
            <a:extLst>
              <a:ext uri="{FF2B5EF4-FFF2-40B4-BE49-F238E27FC236}">
                <a16:creationId xmlns:a16="http://schemas.microsoft.com/office/drawing/2014/main" id="{429F6E91-94A1-98AD-38CF-34FB443F5C5A}"/>
              </a:ext>
            </a:extLst>
          </p:cNvPr>
          <p:cNvSpPr/>
          <p:nvPr/>
        </p:nvSpPr>
        <p:spPr>
          <a:xfrm>
            <a:off x="1296348" y="1916711"/>
            <a:ext cx="1514465" cy="2153358"/>
          </a:xfrm>
          <a:custGeom>
            <a:avLst/>
            <a:gdLst>
              <a:gd name="connsiteX0" fmla="*/ 1244673 w 1514465"/>
              <a:gd name="connsiteY0" fmla="*/ 0 h 2153358"/>
              <a:gd name="connsiteX1" fmla="*/ 1514465 w 1514465"/>
              <a:gd name="connsiteY1" fmla="*/ 467294 h 2153358"/>
              <a:gd name="connsiteX2" fmla="*/ 1412054 w 1514465"/>
              <a:gd name="connsiteY2" fmla="*/ 529510 h 2153358"/>
              <a:gd name="connsiteX3" fmla="*/ 549314 w 1514465"/>
              <a:gd name="connsiteY3" fmla="*/ 1968914 h 2153358"/>
              <a:gd name="connsiteX4" fmla="*/ 540000 w 1514465"/>
              <a:gd name="connsiteY4" fmla="*/ 2153357 h 2153358"/>
              <a:gd name="connsiteX5" fmla="*/ 0 w 1514465"/>
              <a:gd name="connsiteY5" fmla="*/ 2153358 h 2153358"/>
              <a:gd name="connsiteX6" fmla="*/ 12102 w 1514465"/>
              <a:gd name="connsiteY6" fmla="*/ 1913702 h 2153358"/>
              <a:gd name="connsiteX7" fmla="*/ 1110135 w 1514465"/>
              <a:gd name="connsiteY7" fmla="*/ 81734 h 215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4465" h="2153358">
                <a:moveTo>
                  <a:pt x="1244673" y="0"/>
                </a:moveTo>
                <a:lnTo>
                  <a:pt x="1514465" y="467294"/>
                </a:lnTo>
                <a:lnTo>
                  <a:pt x="1412054" y="529510"/>
                </a:lnTo>
                <a:cubicBezTo>
                  <a:pt x="938039" y="849748"/>
                  <a:pt x="610151" y="1369857"/>
                  <a:pt x="549314" y="1968914"/>
                </a:cubicBezTo>
                <a:lnTo>
                  <a:pt x="540000" y="2153357"/>
                </a:lnTo>
                <a:lnTo>
                  <a:pt x="0" y="2153358"/>
                </a:lnTo>
                <a:lnTo>
                  <a:pt x="12102" y="1913702"/>
                </a:lnTo>
                <a:cubicBezTo>
                  <a:pt x="89531" y="1151266"/>
                  <a:pt x="506843" y="489309"/>
                  <a:pt x="1110135" y="81734"/>
                </a:cubicBezTo>
                <a:close/>
              </a:path>
            </a:pathLst>
          </a:custGeom>
          <a:solidFill>
            <a:srgbClr val="FF9B00"/>
          </a:solidFill>
          <a:ln>
            <a:solidFill>
              <a:srgbClr val="000000"/>
            </a:solid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1000" dirty="0">
                <a:solidFill>
                  <a:schemeClr val="accent1"/>
                </a:solidFill>
              </a:rPr>
              <a:t/>
            </a:r>
          </a:p>
        </p:txBody>
      </p:sp>
      <p:sp>
        <p:nvSpPr>
          <p:cNvPr id="25" name="Freeform: Shape 130" descr="Bar2">
            <a:extLst>
              <a:ext uri="{FF2B5EF4-FFF2-40B4-BE49-F238E27FC236}">
                <a16:creationId xmlns:a16="http://schemas.microsoft.com/office/drawing/2014/main" id="{4B52F84A-9C4C-F49A-6730-D7AE3B24BE4D}"/>
              </a:ext>
            </a:extLst>
          </p:cNvPr>
          <p:cNvSpPr/>
          <p:nvPr/>
        </p:nvSpPr>
        <p:spPr>
          <a:xfrm>
            <a:off x="2571796" y="1568069"/>
            <a:ext cx="2487287" cy="797241"/>
          </a:xfrm>
          <a:custGeom>
            <a:avLst/>
            <a:gdLst>
              <a:gd name="connsiteX0" fmla="*/ 1243643 w 2487287"/>
              <a:gd name="connsiteY0" fmla="*/ 0 h 797241"/>
              <a:gd name="connsiteX1" fmla="*/ 2444825 w 2487287"/>
              <a:gd name="connsiteY1" fmla="*/ 304150 h 797241"/>
              <a:gd name="connsiteX2" fmla="*/ 2487287 w 2487287"/>
              <a:gd name="connsiteY2" fmla="*/ 329947 h 797241"/>
              <a:gd name="connsiteX3" fmla="*/ 2217494 w 2487287"/>
              <a:gd name="connsiteY3" fmla="*/ 797241 h 797241"/>
              <a:gd name="connsiteX4" fmla="*/ 2187429 w 2487287"/>
              <a:gd name="connsiteY4" fmla="*/ 778975 h 797241"/>
              <a:gd name="connsiteX5" fmla="*/ 1243643 w 2487287"/>
              <a:gd name="connsiteY5" fmla="*/ 540000 h 797241"/>
              <a:gd name="connsiteX6" fmla="*/ 299857 w 2487287"/>
              <a:gd name="connsiteY6" fmla="*/ 778975 h 797241"/>
              <a:gd name="connsiteX7" fmla="*/ 269792 w 2487287"/>
              <a:gd name="connsiteY7" fmla="*/ 797240 h 797241"/>
              <a:gd name="connsiteX8" fmla="*/ 0 w 2487287"/>
              <a:gd name="connsiteY8" fmla="*/ 329946 h 797241"/>
              <a:gd name="connsiteX9" fmla="*/ 42461 w 2487287"/>
              <a:gd name="connsiteY9" fmla="*/ 304150 h 797241"/>
              <a:gd name="connsiteX10" fmla="*/ 1243643 w 2487287"/>
              <a:gd name="connsiteY10" fmla="*/ 0 h 79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7287" h="797241">
                <a:moveTo>
                  <a:pt x="1243643" y="0"/>
                </a:moveTo>
                <a:cubicBezTo>
                  <a:pt x="1678568" y="0"/>
                  <a:pt x="2087758" y="110180"/>
                  <a:pt x="2444825" y="304150"/>
                </a:cubicBezTo>
                <a:lnTo>
                  <a:pt x="2487287" y="329947"/>
                </a:lnTo>
                <a:lnTo>
                  <a:pt x="2217494" y="797241"/>
                </a:lnTo>
                <a:lnTo>
                  <a:pt x="2187429" y="778975"/>
                </a:lnTo>
                <a:cubicBezTo>
                  <a:pt x="1906876" y="626570"/>
                  <a:pt x="1585369" y="540000"/>
                  <a:pt x="1243643" y="540000"/>
                </a:cubicBezTo>
                <a:cubicBezTo>
                  <a:pt x="901917" y="540000"/>
                  <a:pt x="580410" y="626570"/>
                  <a:pt x="299857" y="778975"/>
                </a:cubicBezTo>
                <a:lnTo>
                  <a:pt x="269792" y="797240"/>
                </a:lnTo>
                <a:lnTo>
                  <a:pt x="0" y="329946"/>
                </a:lnTo>
                <a:lnTo>
                  <a:pt x="42461" y="304150"/>
                </a:lnTo>
                <a:cubicBezTo>
                  <a:pt x="399528" y="110180"/>
                  <a:pt x="808719" y="0"/>
                  <a:pt x="1243643" y="0"/>
                </a:cubicBezTo>
                <a:close/>
              </a:path>
            </a:pathLst>
          </a:custGeom>
          <a:solidFill>
            <a:srgbClr val="D9D9D9"/>
          </a:solidFill>
          <a:ln>
            <a:solidFill>
              <a:srgbClr val="000000"/>
            </a:solid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1000" dirty="0">
                <a:solidFill>
                  <a:schemeClr val="accent1"/>
                </a:solidFill>
              </a:rPr>
              <a:t/>
            </a:r>
          </a:p>
        </p:txBody>
      </p:sp>
      <p:sp>
        <p:nvSpPr>
          <p:cNvPr id="26" name="Freeform: Shape 131" descr="Bar3">
            <a:extLst>
              <a:ext uri="{FF2B5EF4-FFF2-40B4-BE49-F238E27FC236}">
                <a16:creationId xmlns:a16="http://schemas.microsoft.com/office/drawing/2014/main" id="{8197FF53-5C62-7FC8-2E5B-3585A2E42713}"/>
              </a:ext>
            </a:extLst>
          </p:cNvPr>
          <p:cNvSpPr/>
          <p:nvPr/>
        </p:nvSpPr>
        <p:spPr>
          <a:xfrm>
            <a:off x="4820065" y="1916711"/>
            <a:ext cx="1514465" cy="2153358"/>
          </a:xfrm>
          <a:custGeom>
            <a:avLst/>
            <a:gdLst>
              <a:gd name="connsiteX0" fmla="*/ 269793 w 1514465"/>
              <a:gd name="connsiteY0" fmla="*/ 0 h 2153358"/>
              <a:gd name="connsiteX1" fmla="*/ 404330 w 1514465"/>
              <a:gd name="connsiteY1" fmla="*/ 81734 h 2153358"/>
              <a:gd name="connsiteX2" fmla="*/ 1502364 w 1514465"/>
              <a:gd name="connsiteY2" fmla="*/ 1913702 h 2153358"/>
              <a:gd name="connsiteX3" fmla="*/ 1514465 w 1514465"/>
              <a:gd name="connsiteY3" fmla="*/ 2153358 h 2153358"/>
              <a:gd name="connsiteX4" fmla="*/ 974465 w 1514465"/>
              <a:gd name="connsiteY4" fmla="*/ 2153357 h 2153358"/>
              <a:gd name="connsiteX5" fmla="*/ 965152 w 1514465"/>
              <a:gd name="connsiteY5" fmla="*/ 1968914 h 2153358"/>
              <a:gd name="connsiteX6" fmla="*/ 102411 w 1514465"/>
              <a:gd name="connsiteY6" fmla="*/ 529510 h 2153358"/>
              <a:gd name="connsiteX7" fmla="*/ 0 w 1514465"/>
              <a:gd name="connsiteY7" fmla="*/ 467294 h 215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4465" h="2153358">
                <a:moveTo>
                  <a:pt x="269793" y="0"/>
                </a:moveTo>
                <a:lnTo>
                  <a:pt x="404330" y="81734"/>
                </a:lnTo>
                <a:cubicBezTo>
                  <a:pt x="1007622" y="489309"/>
                  <a:pt x="1424934" y="1151266"/>
                  <a:pt x="1502364" y="1913702"/>
                </a:cubicBezTo>
                <a:lnTo>
                  <a:pt x="1514465" y="2153358"/>
                </a:lnTo>
                <a:lnTo>
                  <a:pt x="974465" y="2153357"/>
                </a:lnTo>
                <a:lnTo>
                  <a:pt x="965152" y="1968914"/>
                </a:lnTo>
                <a:cubicBezTo>
                  <a:pt x="904314" y="1369857"/>
                  <a:pt x="576426" y="849748"/>
                  <a:pt x="102411" y="529510"/>
                </a:cubicBezTo>
                <a:lnTo>
                  <a:pt x="0" y="467294"/>
                </a:lnTo>
                <a:close/>
              </a:path>
            </a:pathLst>
          </a:custGeom>
          <a:solidFill>
            <a:srgbClr val="D9D9D9"/>
          </a:solidFill>
          <a:ln>
            <a:solidFill>
              <a:srgbClr val="000000"/>
            </a:solid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en-US" sz="1000" dirty="0">
                <a:solidFill>
                  <a:schemeClr val="accent1"/>
                </a:solidFill>
              </a:rPr>
              <a:t/>
            </a:r>
          </a:p>
        </p:txBody>
      </p:sp>
      <p:sp>
        <p:nvSpPr>
          <p:cNvPr id="27" name="Freeform: Shape 132">
            <a:extLst>
              <a:ext uri="{FF2B5EF4-FFF2-40B4-BE49-F238E27FC236}">
                <a16:creationId xmlns:a16="http://schemas.microsoft.com/office/drawing/2014/main" id="{2C9E6E2E-A32E-9878-B89B-CB74768D610B}"/>
              </a:ext>
            </a:extLst>
          </p:cNvPr>
          <p:cNvSpPr/>
          <p:nvPr/>
        </p:nvSpPr>
        <p:spPr>
          <a:xfrm>
            <a:off x="5726173" y="4106068"/>
            <a:ext cx="608357" cy="633610"/>
          </a:xfrm>
          <a:custGeom>
            <a:avLst/>
            <a:gdLst>
              <a:gd name="connsiteX0" fmla="*/ 68357 w 608357"/>
              <a:gd name="connsiteY0" fmla="*/ 0 h 633610"/>
              <a:gd name="connsiteX1" fmla="*/ 608357 w 608357"/>
              <a:gd name="connsiteY1" fmla="*/ 0 h 633610"/>
              <a:gd name="connsiteX2" fmla="*/ 596256 w 608357"/>
              <a:gd name="connsiteY2" fmla="*/ 239656 h 633610"/>
              <a:gd name="connsiteX3" fmla="*/ 558069 w 608357"/>
              <a:gd name="connsiteY3" fmla="*/ 489868 h 633610"/>
              <a:gd name="connsiteX4" fmla="*/ 521109 w 608357"/>
              <a:gd name="connsiteY4" fmla="*/ 633610 h 633610"/>
              <a:gd name="connsiteX5" fmla="*/ 0 w 608357"/>
              <a:gd name="connsiteY5" fmla="*/ 493979 h 633610"/>
              <a:gd name="connsiteX6" fmla="*/ 29040 w 608357"/>
              <a:gd name="connsiteY6" fmla="*/ 381039 h 633610"/>
              <a:gd name="connsiteX7" fmla="*/ 59044 w 608357"/>
              <a:gd name="connsiteY7" fmla="*/ 184444 h 63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8357" h="633610">
                <a:moveTo>
                  <a:pt x="68357" y="0"/>
                </a:moveTo>
                <a:lnTo>
                  <a:pt x="608357" y="0"/>
                </a:lnTo>
                <a:lnTo>
                  <a:pt x="596256" y="239656"/>
                </a:lnTo>
                <a:cubicBezTo>
                  <a:pt x="587652" y="324371"/>
                  <a:pt x="574853" y="407845"/>
                  <a:pt x="558069" y="489868"/>
                </a:cubicBezTo>
                <a:lnTo>
                  <a:pt x="521109" y="633610"/>
                </a:lnTo>
                <a:lnTo>
                  <a:pt x="0" y="493979"/>
                </a:lnTo>
                <a:lnTo>
                  <a:pt x="29040" y="381039"/>
                </a:lnTo>
                <a:cubicBezTo>
                  <a:pt x="42228" y="316593"/>
                  <a:pt x="52284" y="251006"/>
                  <a:pt x="59044" y="184444"/>
                </a:cubicBezTo>
                <a:close/>
              </a:path>
            </a:pathLst>
          </a:custGeom>
          <a:solidFill>
            <a:schemeClr val="tx1">
              <a:lumMod val="85000"/>
            </a:schemeClr>
          </a:solidFill>
          <a:ln>
            <a:solidFill>
              <a:schemeClr val="bg1"/>
            </a:solid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endParaRPr lang="en-US" dirty="0" err="1"/>
          </a:p>
        </p:txBody>
      </p:sp>
      <p:sp>
        <p:nvSpPr>
          <p:cNvPr id="28" name="Rectangle 27" descr="Pointer0">
            <a:extLst>
              <a:ext uri="{FF2B5EF4-FFF2-40B4-BE49-F238E27FC236}">
                <a16:creationId xmlns:a16="http://schemas.microsoft.com/office/drawing/2014/main" id="{035FCAC0-F1ED-A354-857B-7A543B1A1E8F}"/>
              </a:ext>
            </a:extLst>
          </p:cNvPr>
          <p:cNvSpPr/>
          <p:nvPr/>
        </p:nvSpPr>
        <p:spPr>
          <a:xfrm>
            <a:off x="1295438" y="4052068"/>
            <a:ext cx="2520000" cy="720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dirty="0" err="1"/>
          </a:p>
        </p:txBody>
      </p:sp>
      <p:sp>
        <p:nvSpPr>
          <p:cNvPr id="29" name="Rectangle 28" descr="Pointer3">
            <a:extLst>
              <a:ext uri="{FF2B5EF4-FFF2-40B4-BE49-F238E27FC236}">
                <a16:creationId xmlns:a16="http://schemas.microsoft.com/office/drawing/2014/main" id="{C020D1E8-9892-AB4B-0BF8-B3FDF9804D5A}"/>
              </a:ext>
            </a:extLst>
          </p:cNvPr>
          <p:cNvSpPr/>
          <p:nvPr/>
        </p:nvSpPr>
        <p:spPr>
          <a:xfrm>
            <a:off x="3815438" y="4052068"/>
            <a:ext cx="2520000" cy="720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dirty="0"/>
          </a:p>
        </p:txBody>
      </p:sp>
      <p:sp>
        <p:nvSpPr>
          <p:cNvPr id="30" name="Rectangle 29" descr="Pointer1">
            <a:extLst>
              <a:ext uri="{FF2B5EF4-FFF2-40B4-BE49-F238E27FC236}">
                <a16:creationId xmlns:a16="http://schemas.microsoft.com/office/drawing/2014/main" id="{DEAD1588-796C-EB73-D804-88C95BB9E79C}"/>
              </a:ext>
            </a:extLst>
          </p:cNvPr>
          <p:cNvSpPr/>
          <p:nvPr/>
        </p:nvSpPr>
        <p:spPr>
          <a:xfrm rot="3600000">
            <a:off x="1925438" y="2960876"/>
            <a:ext cx="2520000" cy="720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dirty="0" err="1"/>
          </a:p>
        </p:txBody>
      </p:sp>
      <p:sp>
        <p:nvSpPr>
          <p:cNvPr id="31" name="Rectangle 30" descr="Pointer2">
            <a:extLst>
              <a:ext uri="{FF2B5EF4-FFF2-40B4-BE49-F238E27FC236}">
                <a16:creationId xmlns:a16="http://schemas.microsoft.com/office/drawing/2014/main" id="{5EEDF9D5-7F7C-3A2F-7147-03185D7E0281}"/>
              </a:ext>
            </a:extLst>
          </p:cNvPr>
          <p:cNvSpPr/>
          <p:nvPr/>
        </p:nvSpPr>
        <p:spPr>
          <a:xfrm rot="7200000">
            <a:off x="3185438" y="2960876"/>
            <a:ext cx="2520000" cy="72000"/>
          </a:xfrm>
          <a:prstGeom prst="rect">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dirty="0" err="1"/>
          </a:p>
        </p:txBody>
      </p:sp>
      <p:sp>
        <p:nvSpPr>
          <p:cNvPr id="32" name="Oval 31">
            <a:extLst>
              <a:ext uri="{FF2B5EF4-FFF2-40B4-BE49-F238E27FC236}">
                <a16:creationId xmlns:a16="http://schemas.microsoft.com/office/drawing/2014/main" id="{4E464542-C9BE-05D9-6592-6C20560B4B6F}"/>
              </a:ext>
            </a:extLst>
          </p:cNvPr>
          <p:cNvSpPr/>
          <p:nvPr/>
        </p:nvSpPr>
        <p:spPr>
          <a:xfrm>
            <a:off x="3455438" y="3728066"/>
            <a:ext cx="720000" cy="720000"/>
          </a:xfrm>
          <a:prstGeom prst="ellipse">
            <a:avLst/>
          </a:prstGeom>
          <a:solidFill>
            <a:schemeClr val="tx2"/>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dirty="0" err="1"/>
          </a:p>
        </p:txBody>
      </p:sp>
      <p:sp>
        <p:nvSpPr>
          <p:cNvPr id="2" name="TextBox 1">
            <a:extLst>
              <a:ext uri="{FF2B5EF4-FFF2-40B4-BE49-F238E27FC236}">
                <a16:creationId xmlns:a16="http://schemas.microsoft.com/office/drawing/2014/main" id="{4F09D61A-07FD-4CCC-2A0A-808B8560D5AD}"/>
              </a:ext>
            </a:extLst>
          </p:cNvPr>
          <p:cNvSpPr txBox="1"/>
          <p:nvPr/>
        </p:nvSpPr>
        <p:spPr>
          <a:xfrm rot="20294682">
            <a:off x="1232794" y="2943236"/>
            <a:ext cx="12095434" cy="1569660"/>
          </a:xfrm>
          <a:prstGeom prst="rect">
            <a:avLst/>
          </a:prstGeom>
          <a:solidFill>
            <a:schemeClr val="tx2"/>
          </a:solidFill>
        </p:spPr>
        <p:txBody>
          <a:bodyPr wrap="square" rtlCol="0">
            <a:spAutoFit/>
          </a:bodyPr>
          <a:lstStyle/>
          <a:p>
            <a:r>
              <a:rPr lang="en-US"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FACILITATOR: This slide will show a score of 0% unless AMS is assigned as a recommended action and the assessment is marked as complete before generating the report.</a:t>
            </a:r>
          </a:p>
        </p:txBody>
      </p:sp>
      <p:sp>
        <p:nvSpPr>
          <p:cNvPr id="14" name="Isosceles Triangle 16">
            <a:extLst>
              <a:ext uri="{FF2B5EF4-FFF2-40B4-BE49-F238E27FC236}">
                <a16:creationId xmlns:a16="http://schemas.microsoft.com/office/drawing/2014/main" id="{27E6D381-2FD6-EDAF-5AA1-583BD43C5E97}"/>
              </a:ext>
            </a:extLst>
          </p:cNvPr>
          <p:cNvSpPr/>
          <p:nvPr/>
        </p:nvSpPr>
        <p:spPr>
          <a:xfrm rot="5400000">
            <a:off x="7226510" y="1991971"/>
            <a:ext cx="216000" cy="108000"/>
          </a:xfrm>
          <a:prstGeom prst="triangle">
            <a:avLst/>
          </a:prstGeom>
          <a:solidFill>
            <a:schemeClr val="accent1"/>
          </a:solidFill>
          <a:ln>
            <a:noFill/>
          </a:ln>
          <a:effectLst>
            <a:outerShdw blurRad="508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285750" indent="-285750" algn="ctr">
              <a:buBlip>
                <a:blip r:embed="rId2">
                  <a:extLst>
                    <a:ext uri="{96DAC541-7B7A-43D3-8B79-37D633B846F1}">
                      <asvg:svgBlip xmlns:asvg="http://schemas.microsoft.com/office/drawing/2016/SVG/main" r:embed="rId3"/>
                    </a:ext>
                  </a:extLst>
                </a:blip>
              </a:buBlip>
            </a:pPr>
            <a:endParaRPr lang="en-US" sz="2200" dirty="0"/>
          </a:p>
        </p:txBody>
      </p:sp>
    </p:spTree>
    <p:extLst>
      <p:ext uri="{BB962C8B-B14F-4D97-AF65-F5344CB8AC3E}">
        <p14:creationId xmlns:p14="http://schemas.microsoft.com/office/powerpoint/2010/main" val="3560219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61E7EA-DD0D-704C-92D5-249A81A0EDCC}"/>
              </a:ext>
            </a:extLst>
          </p:cNvPr>
          <p:cNvSpPr txBox="1"/>
          <p:nvPr/>
        </p:nvSpPr>
        <p:spPr>
          <a:xfrm>
            <a:off x="780191" y="2922166"/>
            <a:ext cx="9331011" cy="3308598"/>
          </a:xfrm>
          <a:prstGeom prst="rect">
            <a:avLst/>
          </a:prstGeom>
          <a:noFill/>
        </p:spPr>
        <p:txBody>
          <a:bodyPr wrap="square" rtlCol="0">
            <a:spAutoFit/>
          </a:bodyPr>
          <a:lstStyle/>
          <a:p>
            <a:pPr>
              <a:spcAft>
                <a:spcPts val="3000"/>
              </a:spcAft>
            </a:pPr>
            <a:r>
              <a:rPr lang="en-US" sz="6400" dirty="0">
                <a:latin typeface="Amazon Ember Medium" panose="020B0603020204020204" pitchFamily="34" charset="0"/>
                <a:ea typeface="Amazon Ember Medium" panose="020B0603020204020204" pitchFamily="34" charset="0"/>
                <a:cs typeface="Amazon Ember Medium" panose="020B0603020204020204" pitchFamily="34" charset="0"/>
              </a:rPr>
              <a:t>Appendix</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References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AMS Qualification</a:t>
            </a:r>
          </a:p>
          <a:p>
            <a:r>
              <a:rPr lang="en-US" sz="3000" dirty="0">
                <a:solidFill>
                  <a:srgbClr val="F89628"/>
                </a:solidFill>
                <a:latin typeface="Amazon Ember Light" panose="020B0403020204020204" pitchFamily="34" charset="0"/>
                <a:ea typeface="Amazon Ember Light" panose="020B0403020204020204" pitchFamily="34" charset="0"/>
                <a:cs typeface="Amazon Ember Light" panose="020B0403020204020204" pitchFamily="34" charset="0"/>
              </a:rPr>
              <a:t>MRA Observations &amp; Actions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Questionnaire Summary</a:t>
            </a:r>
          </a:p>
        </p:txBody>
      </p:sp>
    </p:spTree>
    <p:extLst>
      <p:ext uri="{BB962C8B-B14F-4D97-AF65-F5344CB8AC3E}">
        <p14:creationId xmlns:p14="http://schemas.microsoft.com/office/powerpoint/2010/main" val="208272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Object 6">
            <a:extLst>
              <a:ext uri="{FF2B5EF4-FFF2-40B4-BE49-F238E27FC236}">
                <a16:creationId xmlns:a16="http://schemas.microsoft.com/office/drawing/2014/main" id="{BDC8B4D2-6212-5F44-AE53-9E6F28B38CAB}"/>
              </a:ext>
            </a:extLst>
          </p:cNvPr>
          <p:cNvSpPr/>
          <p:nvPr/>
        </p:nvSpPr>
        <p:spPr>
          <a:xfrm>
            <a:off x="508635" y="113122"/>
            <a:ext cx="13840358" cy="804672"/>
          </a:xfrm>
          <a:prstGeom prst="rect">
            <a:avLst/>
          </a:prstGeom>
          <a:noFill/>
        </p:spPr>
        <p:txBody>
          <a:bodyPr wrap="square" rtlCol="0" anchor="ctr"/>
          <a:lstStyle/>
          <a:p>
            <a:r>
              <a:rPr lang="en-US" sz="3800" b="1" dirty="0">
                <a:latin typeface="+mj-lt"/>
                <a:cs typeface="Calibri" pitchFamily="34" charset="0"/>
              </a:rPr>
              <a:t>Business Case</a:t>
            </a:r>
          </a:p>
        </p:txBody>
      </p:sp>
      <p:graphicFrame>
        <p:nvGraphicFramePr>
          <p:cNvPr id="69" name="Table 68"/>
          <p:cNvGraphicFramePr>
            <a:graphicFrameLocks noGrp="1"/>
          </p:cNvGraphicFramePr>
          <p:nvPr/>
        </p:nvGraphicFramePr>
        <p:xfrm>
          <a:off x="580860" y="1330485"/>
          <a:ext cx="13258800" cy="2011680"/>
        </p:xfrm>
        <a:graphic>
          <a:graphicData uri="http://schemas.openxmlformats.org/drawingml/2006/table">
            <a:tbl>
              <a:tblPr firstRow="1" bandRow="1">
                <a:tableStyleId>{5C22544A-7EE6-4342-B048-85BDC9FD1C3A}</a:tableStyleId>
              </a:tblPr>
              <a:tblGrid>
                <a:gridCol w="3108960"/>
                <a:gridCol w="4206240"/>
                <a:gridCol w="5943600"/>
              </a:tblGrid>
              <a:tr h="402336">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402336">
                <a:tc>
                  <a:txBody>
                    <a:bodyPr/>
                    <a:lstStyle/>
                    <a:p>
                      <a:pPr>
                        <a:defRPr sz="1400">
                          <a:solidFill>
                            <a:schemeClr val="tx1"/>
                          </a:solidFill>
                        </a:defRPr>
                      </a:pPr>
                      <a:r>
                        <a:t>High Level Business Case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Key Stakeholder Sign-off</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Migration Funding Commitment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Specific Migration Workloads Committed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8769639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65B5AB71-A3DD-6043-970C-D35D64ECC12B}"/>
              </a:ext>
            </a:extLst>
          </p:cNvPr>
          <p:cNvSpPr txBox="1">
            <a:spLocks/>
          </p:cNvSpPr>
          <p:nvPr/>
        </p:nvSpPr>
        <p:spPr>
          <a:xfrm>
            <a:off x="532784" y="169611"/>
            <a:ext cx="13987712"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Migration Project Plan</a:t>
            </a:r>
            <a:br>
              <a:rPr lang="en-US" dirty="0">
                <a:cs typeface="Calibri" pitchFamily="34" charset="0"/>
              </a:rPr>
            </a:br>
            <a:endParaRPr lang="en-US" dirty="0"/>
          </a:p>
        </p:txBody>
      </p:sp>
      <p:graphicFrame>
        <p:nvGraphicFramePr>
          <p:cNvPr id="36" name="Table 35"/>
          <p:cNvGraphicFramePr>
            <a:graphicFrameLocks noGrp="1"/>
          </p:cNvGraphicFramePr>
          <p:nvPr/>
        </p:nvGraphicFramePr>
        <p:xfrm>
          <a:off x="580860" y="1330485"/>
          <a:ext cx="13258800" cy="1508760"/>
        </p:xfrm>
        <a:graphic>
          <a:graphicData uri="http://schemas.openxmlformats.org/drawingml/2006/table">
            <a:tbl>
              <a:tblPr firstRow="1" bandRow="1">
                <a:tableStyleId>{5C22544A-7EE6-4342-B048-85BDC9FD1C3A}</a:tableStyleId>
              </a:tblPr>
              <a:tblGrid>
                <a:gridCol w="3108960"/>
                <a:gridCol w="4206240"/>
                <a:gridCol w="5943600"/>
              </a:tblGrid>
              <a:tr h="37719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377190">
                <a:tc>
                  <a:txBody>
                    <a:bodyPr/>
                    <a:lstStyle/>
                    <a:p>
                      <a:pPr>
                        <a:defRPr sz="1400">
                          <a:solidFill>
                            <a:schemeClr val="tx1"/>
                          </a:solidFill>
                        </a:defRPr>
                      </a:pPr>
                      <a:r>
                        <a:t>Determine Delivery Model &amp; Approach</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Project Management Capability</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Migration Plan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1405466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3F58217E-2394-8541-B90B-BD8588139AA4}"/>
              </a:ext>
            </a:extLst>
          </p:cNvPr>
          <p:cNvSpPr txBox="1">
            <a:spLocks/>
          </p:cNvSpPr>
          <p:nvPr/>
        </p:nvSpPr>
        <p:spPr>
          <a:xfrm>
            <a:off x="548640" y="183898"/>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Skills &amp; COE</a:t>
            </a:r>
            <a:br>
              <a:rPr lang="en-US" dirty="0">
                <a:cs typeface="Calibri" pitchFamily="34" charset="0"/>
              </a:rPr>
            </a:br>
            <a:endParaRPr lang="en-US" dirty="0"/>
          </a:p>
        </p:txBody>
      </p:sp>
      <p:graphicFrame>
        <p:nvGraphicFramePr>
          <p:cNvPr id="31" name="Table 30"/>
          <p:cNvGraphicFramePr>
            <a:graphicFrameLocks noGrp="1"/>
          </p:cNvGraphicFramePr>
          <p:nvPr/>
        </p:nvGraphicFramePr>
        <p:xfrm>
          <a:off x="580860" y="1330485"/>
          <a:ext cx="13258800" cy="1508760"/>
        </p:xfrm>
        <a:graphic>
          <a:graphicData uri="http://schemas.openxmlformats.org/drawingml/2006/table">
            <a:tbl>
              <a:tblPr firstRow="1" bandRow="1">
                <a:tableStyleId>{5C22544A-7EE6-4342-B048-85BDC9FD1C3A}</a:tableStyleId>
              </a:tblPr>
              <a:tblGrid>
                <a:gridCol w="3108960"/>
                <a:gridCol w="4206240"/>
                <a:gridCol w="5943600"/>
              </a:tblGrid>
              <a:tr h="37719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377190">
                <a:tc>
                  <a:txBody>
                    <a:bodyPr/>
                    <a:lstStyle/>
                    <a:p>
                      <a:pPr>
                        <a:defRPr sz="1400">
                          <a:solidFill>
                            <a:schemeClr val="tx1"/>
                          </a:solidFill>
                        </a:defRPr>
                      </a:pPr>
                      <a:r>
                        <a:t>Single Threaded Leader</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Experience baseline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Design or Evolve COE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8970729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FB0ABCF-A1CB-9449-9646-AE9CBF0E2878}"/>
              </a:ext>
            </a:extLst>
          </p:cNvPr>
          <p:cNvSpPr txBox="1">
            <a:spLocks/>
          </p:cNvSpPr>
          <p:nvPr/>
        </p:nvSpPr>
        <p:spPr>
          <a:xfrm>
            <a:off x="548640" y="183898"/>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Landing Zone</a:t>
            </a:r>
            <a:br>
              <a:rPr lang="en-US" dirty="0">
                <a:cs typeface="Calibri" pitchFamily="34" charset="0"/>
              </a:rPr>
            </a:br>
            <a:endParaRPr lang="en-US" dirty="0"/>
          </a:p>
        </p:txBody>
      </p:sp>
      <p:graphicFrame>
        <p:nvGraphicFramePr>
          <p:cNvPr id="15" name="Table 14"/>
          <p:cNvGraphicFramePr>
            <a:graphicFrameLocks noGrp="1"/>
          </p:cNvGraphicFramePr>
          <p:nvPr/>
        </p:nvGraphicFramePr>
        <p:xfrm>
          <a:off x="580860" y="1330485"/>
          <a:ext cx="13258800" cy="502920"/>
        </p:xfrm>
        <a:graphic>
          <a:graphicData uri="http://schemas.openxmlformats.org/drawingml/2006/table">
            <a:tbl>
              <a:tblPr firstRow="1" bandRow="1">
                <a:tableStyleId>{5C22544A-7EE6-4342-B048-85BDC9FD1C3A}</a:tableStyleId>
              </a:tblPr>
              <a:tblGrid>
                <a:gridCol w="3108960"/>
                <a:gridCol w="4206240"/>
                <a:gridCol w="5943600"/>
              </a:tblGrid>
              <a:tr h="25146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251460">
                <a:tc>
                  <a:txBody>
                    <a:bodyPr/>
                    <a:lstStyle/>
                    <a:p>
                      <a:pPr>
                        <a:defRPr sz="1400">
                          <a:solidFill>
                            <a:schemeClr val="tx1"/>
                          </a:solidFill>
                        </a:defRPr>
                      </a:pPr>
                      <a:r>
                        <a:t>Account Design &amp; Configuration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1979161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38F43A42-DF72-6146-B30D-4B2F7F5B4573}"/>
              </a:ext>
            </a:extLst>
          </p:cNvPr>
          <p:cNvSpPr txBox="1">
            <a:spLocks/>
          </p:cNvSpPr>
          <p:nvPr/>
        </p:nvSpPr>
        <p:spPr>
          <a:xfrm>
            <a:off x="548637" y="131144"/>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Application Portfolio Discovery &amp; Planning</a:t>
            </a:r>
            <a:br>
              <a:rPr lang="en-US" dirty="0">
                <a:cs typeface="Calibri" pitchFamily="34" charset="0"/>
              </a:rPr>
            </a:br>
            <a:endParaRPr lang="en-US" dirty="0"/>
          </a:p>
        </p:txBody>
      </p:sp>
      <p:graphicFrame>
        <p:nvGraphicFramePr>
          <p:cNvPr id="30" name="Table 29"/>
          <p:cNvGraphicFramePr>
            <a:graphicFrameLocks noGrp="1"/>
          </p:cNvGraphicFramePr>
          <p:nvPr/>
        </p:nvGraphicFramePr>
        <p:xfrm>
          <a:off x="580860" y="1330485"/>
          <a:ext cx="13258800" cy="1005840"/>
        </p:xfrm>
        <a:graphic>
          <a:graphicData uri="http://schemas.openxmlformats.org/drawingml/2006/table">
            <a:tbl>
              <a:tblPr firstRow="1" bandRow="1">
                <a:tableStyleId>{5C22544A-7EE6-4342-B048-85BDC9FD1C3A}</a:tableStyleId>
              </a:tblPr>
              <a:tblGrid>
                <a:gridCol w="3108960"/>
                <a:gridCol w="4206240"/>
                <a:gridCol w="5943600"/>
              </a:tblGrid>
              <a:tr h="33528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335280">
                <a:tc>
                  <a:txBody>
                    <a:bodyPr/>
                    <a:lstStyle/>
                    <a:p>
                      <a:pPr>
                        <a:defRPr sz="1400">
                          <a:solidFill>
                            <a:schemeClr val="tx1"/>
                          </a:solidFill>
                        </a:defRPr>
                      </a:pPr>
                      <a:r>
                        <a:t>Application Discovery Data</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Workload Owner Buy-In or Alignment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4071020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BCE48FE5-AAA0-604D-9C0B-668584620AC9}"/>
              </a:ext>
            </a:extLst>
          </p:cNvPr>
          <p:cNvSpPr txBox="1">
            <a:spLocks/>
          </p:cNvSpPr>
          <p:nvPr/>
        </p:nvSpPr>
        <p:spPr>
          <a:xfrm>
            <a:off x="548637" y="131144"/>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Migration Process &amp; Experience</a:t>
            </a:r>
            <a:br>
              <a:rPr lang="en-US" dirty="0">
                <a:cs typeface="Calibri" pitchFamily="34" charset="0"/>
              </a:rPr>
            </a:br>
            <a:endParaRPr lang="en-US" dirty="0"/>
          </a:p>
        </p:txBody>
      </p:sp>
      <p:graphicFrame>
        <p:nvGraphicFramePr>
          <p:cNvPr id="15" name="Table 14"/>
          <p:cNvGraphicFramePr>
            <a:graphicFrameLocks noGrp="1"/>
          </p:cNvGraphicFramePr>
          <p:nvPr/>
        </p:nvGraphicFramePr>
        <p:xfrm>
          <a:off x="580860" y="1330485"/>
          <a:ext cx="13258800" cy="502920"/>
        </p:xfrm>
        <a:graphic>
          <a:graphicData uri="http://schemas.openxmlformats.org/drawingml/2006/table">
            <a:tbl>
              <a:tblPr firstRow="1" bandRow="1">
                <a:tableStyleId>{5C22544A-7EE6-4342-B048-85BDC9FD1C3A}</a:tableStyleId>
              </a:tblPr>
              <a:tblGrid>
                <a:gridCol w="3108960"/>
                <a:gridCol w="4206240"/>
                <a:gridCol w="5943600"/>
              </a:tblGrid>
              <a:tr h="25146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251460">
                <a:tc>
                  <a:txBody>
                    <a:bodyPr/>
                    <a:lstStyle/>
                    <a:p>
                      <a:pPr>
                        <a:defRPr sz="1400">
                          <a:solidFill>
                            <a:schemeClr val="tx1"/>
                          </a:solidFill>
                        </a:defRPr>
                      </a:pPr>
                      <a:r>
                        <a:t>Migration Experience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162638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le 1">
            <a:extLst>
              <a:ext uri="{FF2B5EF4-FFF2-40B4-BE49-F238E27FC236}">
                <a16:creationId xmlns:a16="http://schemas.microsoft.com/office/drawing/2014/main" id="{D5A12EC1-E78C-5640-92CA-D2305293C842}"/>
              </a:ext>
            </a:extLst>
          </p:cNvPr>
          <p:cNvSpPr txBox="1">
            <a:spLocks/>
          </p:cNvSpPr>
          <p:nvPr/>
        </p:nvSpPr>
        <p:spPr>
          <a:xfrm>
            <a:off x="548637" y="131144"/>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Operating Model</a:t>
            </a:r>
            <a:br>
              <a:rPr lang="en-US" dirty="0">
                <a:cs typeface="Calibri" pitchFamily="34" charset="0"/>
              </a:rPr>
            </a:br>
            <a:endParaRPr lang="en-US" dirty="0"/>
          </a:p>
        </p:txBody>
      </p:sp>
      <p:graphicFrame>
        <p:nvGraphicFramePr>
          <p:cNvPr id="60" name="Table 59"/>
          <p:cNvGraphicFramePr>
            <a:graphicFrameLocks noGrp="1"/>
          </p:cNvGraphicFramePr>
          <p:nvPr/>
        </p:nvGraphicFramePr>
        <p:xfrm>
          <a:off x="580860" y="1330485"/>
          <a:ext cx="13258800" cy="6035040"/>
        </p:xfrm>
        <a:graphic>
          <a:graphicData uri="http://schemas.openxmlformats.org/drawingml/2006/table">
            <a:tbl>
              <a:tblPr firstRow="1" bandRow="1">
                <a:tableStyleId>{5C22544A-7EE6-4342-B048-85BDC9FD1C3A}</a:tableStyleId>
              </a:tblPr>
              <a:tblGrid>
                <a:gridCol w="3108960"/>
                <a:gridCol w="4206240"/>
                <a:gridCol w="5943600"/>
              </a:tblGrid>
              <a:tr h="464233">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464233">
                <a:tc>
                  <a:txBody>
                    <a:bodyPr/>
                    <a:lstStyle/>
                    <a:p>
                      <a:pPr>
                        <a:defRPr sz="1400">
                          <a:solidFill>
                            <a:schemeClr val="tx1"/>
                          </a:solidFill>
                        </a:defRPr>
                      </a:pPr>
                      <a:r>
                        <a:t>Current Operations Model</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Managed Service Provider Identified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AMI/Patching</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Backup</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Asset Management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Config Management &amp; Change Management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BCP/DR</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Service Catalog</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Cost Management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Cloud Ready Operational Processes &amp; Run Books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33">
                <a:tc>
                  <a:txBody>
                    <a:bodyPr/>
                    <a:lstStyle/>
                    <a:p>
                      <a:pPr>
                        <a:defRPr sz="1400">
                          <a:solidFill>
                            <a:schemeClr val="tx1"/>
                          </a:solidFill>
                        </a:defRPr>
                      </a:pPr>
                      <a:r>
                        <a:t>CI/CD Pipelines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4244">
                <a:tc>
                  <a:txBody>
                    <a:bodyPr/>
                    <a:lstStyle/>
                    <a:p>
                      <a:pPr>
                        <a:defRPr sz="1400">
                          <a:solidFill>
                            <a:schemeClr val="tx1"/>
                          </a:solidFill>
                        </a:defRPr>
                      </a:pPr>
                      <a:r>
                        <a:t>Incident Response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520337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le 1">
            <a:extLst>
              <a:ext uri="{FF2B5EF4-FFF2-40B4-BE49-F238E27FC236}">
                <a16:creationId xmlns:a16="http://schemas.microsoft.com/office/drawing/2014/main" id="{8EB34C9A-EFC6-8A4F-9DA4-7FD632B770F1}"/>
              </a:ext>
            </a:extLst>
          </p:cNvPr>
          <p:cNvSpPr txBox="1">
            <a:spLocks/>
          </p:cNvSpPr>
          <p:nvPr/>
        </p:nvSpPr>
        <p:spPr>
          <a:xfrm>
            <a:off x="548637" y="131144"/>
            <a:ext cx="12571896" cy="872307"/>
          </a:xfrm>
          <a:prstGeom prst="rect">
            <a:avLst/>
          </a:prstGeom>
        </p:spPr>
        <p:txBody>
          <a:bodyPr/>
          <a:lstStyle>
            <a:lvl1pPr algn="l" defTabSz="731520" rtl="0" eaLnBrk="1" latinLnBrk="0" hangingPunct="1">
              <a:spcBef>
                <a:spcPct val="0"/>
              </a:spcBef>
              <a:buNone/>
              <a:defRPr sz="3800" b="1" i="0" kern="1200">
                <a:solidFill>
                  <a:schemeClr val="tx1"/>
                </a:solidFill>
                <a:latin typeface="+mj-lt"/>
                <a:ea typeface="+mj-ea"/>
                <a:cs typeface="Amazon Ember Regular" charset="0"/>
              </a:defRPr>
            </a:lvl1pPr>
          </a:lstStyle>
          <a:p>
            <a:r>
              <a:rPr lang="en-US" dirty="0">
                <a:cs typeface="Calibri" pitchFamily="34" charset="0"/>
              </a:rPr>
              <a:t>Security &amp; Compliance</a:t>
            </a:r>
            <a:br>
              <a:rPr lang="en-US" dirty="0">
                <a:cs typeface="Calibri" pitchFamily="34" charset="0"/>
              </a:rPr>
            </a:br>
            <a:endParaRPr lang="en-US" dirty="0"/>
          </a:p>
        </p:txBody>
      </p:sp>
      <p:graphicFrame>
        <p:nvGraphicFramePr>
          <p:cNvPr id="60" name="Table 59"/>
          <p:cNvGraphicFramePr>
            <a:graphicFrameLocks noGrp="1"/>
          </p:cNvGraphicFramePr>
          <p:nvPr/>
        </p:nvGraphicFramePr>
        <p:xfrm>
          <a:off x="580860" y="1330485"/>
          <a:ext cx="13258800" cy="4023360"/>
        </p:xfrm>
        <a:graphic>
          <a:graphicData uri="http://schemas.openxmlformats.org/drawingml/2006/table">
            <a:tbl>
              <a:tblPr firstRow="1" bandRow="1">
                <a:tableStyleId>{5C22544A-7EE6-4342-B048-85BDC9FD1C3A}</a:tableStyleId>
              </a:tblPr>
              <a:tblGrid>
                <a:gridCol w="3108960"/>
                <a:gridCol w="4206240"/>
                <a:gridCol w="5943600"/>
              </a:tblGrid>
              <a:tr h="447040">
                <a:tc>
                  <a:txBody>
                    <a:bodyPr/>
                    <a:lstStyle/>
                    <a:p>
                      <a:pPr>
                        <a:defRPr sz="1400">
                          <a:solidFill>
                            <a:schemeClr val="accent1"/>
                          </a:solidFill>
                        </a:defRPr>
                      </a:pPr>
                      <a:r>
                        <a:t>Category</a:t>
                      </a:r>
                    </a:p>
                  </a:txBody>
                  <a:tcPr>
                    <a:noFill/>
                  </a:tcPr>
                </a:tc>
                <a:tc>
                  <a:txBody>
                    <a:bodyPr/>
                    <a:lstStyle/>
                    <a:p>
                      <a:pPr>
                        <a:defRPr sz="1400">
                          <a:solidFill>
                            <a:schemeClr val="accent1"/>
                          </a:solidFill>
                        </a:defRPr>
                      </a:pPr>
                      <a:r>
                        <a:t>Summary Observations</a:t>
                      </a:r>
                    </a:p>
                  </a:txBody>
                  <a:tcPr>
                    <a:noFill/>
                  </a:tcPr>
                </a:tc>
                <a:tc>
                  <a:txBody>
                    <a:bodyPr/>
                    <a:lstStyle/>
                    <a:p>
                      <a:pPr>
                        <a:defRPr sz="1400">
                          <a:solidFill>
                            <a:schemeClr val="accent1"/>
                          </a:solidFill>
                        </a:defRPr>
                      </a:pPr>
                      <a:r>
                        <a:t>Actions &amp; Next Steps</a:t>
                      </a:r>
                    </a:p>
                  </a:txBody>
                  <a:tcPr>
                    <a:noFill/>
                  </a:tcPr>
                </a:tc>
              </a:tr>
              <a:tr h="447040">
                <a:tc>
                  <a:txBody>
                    <a:bodyPr/>
                    <a:lstStyle/>
                    <a:p>
                      <a:pPr>
                        <a:defRPr sz="1400">
                          <a:solidFill>
                            <a:schemeClr val="tx1"/>
                          </a:solidFill>
                        </a:defRPr>
                      </a:pPr>
                      <a:r>
                        <a:t>Security Strategy</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Security Reference Architecture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3rd Party Risk</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Governance, Risk &amp; Compliance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Logging &amp; Monitoring</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Lifecycle Security Capabilities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DevSecOps Principles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47040">
                <a:tc>
                  <a:txBody>
                    <a:bodyPr/>
                    <a:lstStyle/>
                    <a:p>
                      <a:pPr>
                        <a:defRPr sz="1400">
                          <a:solidFill>
                            <a:schemeClr val="tx1"/>
                          </a:solidFill>
                        </a:defRPr>
                      </a:pPr>
                      <a:r>
                        <a:t>Security Operations Playbook</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6364547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61E7EA-DD0D-704C-92D5-249A81A0EDCC}"/>
              </a:ext>
            </a:extLst>
          </p:cNvPr>
          <p:cNvSpPr txBox="1"/>
          <p:nvPr/>
        </p:nvSpPr>
        <p:spPr>
          <a:xfrm>
            <a:off x="780191" y="2922166"/>
            <a:ext cx="9331011" cy="3308598"/>
          </a:xfrm>
          <a:prstGeom prst="rect">
            <a:avLst/>
          </a:prstGeom>
          <a:noFill/>
        </p:spPr>
        <p:txBody>
          <a:bodyPr wrap="square" rtlCol="0">
            <a:spAutoFit/>
          </a:bodyPr>
          <a:lstStyle/>
          <a:p>
            <a:pPr>
              <a:spcAft>
                <a:spcPts val="3000"/>
              </a:spcAft>
            </a:pPr>
            <a:r>
              <a:rPr lang="en-US" sz="6400" dirty="0">
                <a:latin typeface="Amazon Ember Medium" panose="020B0603020204020204" pitchFamily="34" charset="0"/>
                <a:ea typeface="Amazon Ember Medium" panose="020B0603020204020204" pitchFamily="34" charset="0"/>
                <a:cs typeface="Amazon Ember Medium" panose="020B0603020204020204" pitchFamily="34" charset="0"/>
              </a:rPr>
              <a:t>Appendix</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References</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AMS Qualification</a:t>
            </a:r>
          </a:p>
          <a:p>
            <a:r>
              <a:rPr lang="en-US" sz="3000" dirty="0">
                <a:latin typeface="Amazon Ember Light" panose="020B0403020204020204" pitchFamily="34" charset="0"/>
                <a:ea typeface="Amazon Ember Light" panose="020B0403020204020204" pitchFamily="34" charset="0"/>
                <a:cs typeface="Amazon Ember Light" panose="020B0403020204020204" pitchFamily="34" charset="0"/>
              </a:rPr>
              <a:t>MRA Observations &amp; Actions</a:t>
            </a:r>
          </a:p>
          <a:p>
            <a:r>
              <a:rPr lang="en-US" sz="3000" dirty="0">
                <a:solidFill>
                  <a:srgbClr val="F89628"/>
                </a:solidFill>
                <a:latin typeface="Amazon Ember Light" panose="020B0403020204020204" pitchFamily="34" charset="0"/>
                <a:ea typeface="Amazon Ember Light" panose="020B0403020204020204" pitchFamily="34" charset="0"/>
                <a:cs typeface="Amazon Ember Light" panose="020B0403020204020204" pitchFamily="34" charset="0"/>
              </a:rPr>
              <a:t>MRA Questionnaire Summary</a:t>
            </a:r>
          </a:p>
        </p:txBody>
      </p:sp>
    </p:spTree>
    <p:extLst>
      <p:ext uri="{BB962C8B-B14F-4D97-AF65-F5344CB8AC3E}">
        <p14:creationId xmlns:p14="http://schemas.microsoft.com/office/powerpoint/2010/main" val="2992584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Scope – </a:t>
            </a:r>
            <a:r>
              <a:rPr lang="en-US" sz="4000" b="1" dirty="0"/>
              <a:t>Goals</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Q1</a:t>
                      </a:r>
                    </a:p>
                  </a:txBody>
                  <a:tcPr>
                    <a:noFill/>
                  </a:tcPr>
                </a:tc>
                <a:tc>
                  <a:txBody>
                    <a:bodyPr/>
                    <a:lstStyle/>
                    <a:p>
                      <a:pPr>
                        <a:defRPr sz="1400">
                          <a:solidFill>
                            <a:schemeClr val="tx1"/>
                          </a:solidFill>
                        </a:defRPr>
                      </a:pPr>
                      <a:r>
                        <a:t>Describe the scope for this MRA. What is being considered in scope and what is out of scope?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Q2</a:t>
                      </a:r>
                    </a:p>
                  </a:txBody>
                  <a:tcPr>
                    <a:noFill/>
                  </a:tcPr>
                </a:tc>
                <a:tc>
                  <a:txBody>
                    <a:bodyPr/>
                    <a:lstStyle/>
                    <a:p>
                      <a:pPr>
                        <a:defRPr sz="1400">
                          <a:solidFill>
                            <a:schemeClr val="tx1"/>
                          </a:solidFill>
                        </a:defRPr>
                      </a:pPr>
                      <a:r>
                        <a:t>What are the organization's target outcomes (business and/or IT) that are in focus for this cloud initiative?  What are the primary drivers of these objectives?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7822969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Scope – </a:t>
            </a:r>
            <a:r>
              <a:rPr lang="en-US" sz="4000" b="1" dirty="0"/>
              <a:t>Technical</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7040880"/>
        </p:xfrm>
        <a:graphic>
          <a:graphicData uri="http://schemas.openxmlformats.org/drawingml/2006/table">
            <a:tbl>
              <a:tblPr firstRow="1" bandRow="1">
                <a:tableStyleId>{5C22544A-7EE6-4342-B048-85BDC9FD1C3A}</a:tableStyleId>
              </a:tblPr>
              <a:tblGrid>
                <a:gridCol w="685800"/>
                <a:gridCol w="4572000"/>
                <a:gridCol w="1005840"/>
                <a:gridCol w="7315200"/>
              </a:tblGrid>
              <a:tr h="469392">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469392">
                <a:tc>
                  <a:txBody>
                    <a:bodyPr/>
                    <a:lstStyle/>
                    <a:p>
                      <a:pPr>
                        <a:defRPr sz="1400">
                          <a:solidFill>
                            <a:schemeClr val="tx1"/>
                          </a:solidFill>
                        </a:defRPr>
                      </a:pPr>
                      <a:r>
                        <a:t>Q3</a:t>
                      </a:r>
                    </a:p>
                  </a:txBody>
                  <a:tcPr>
                    <a:noFill/>
                  </a:tcPr>
                </a:tc>
                <a:tc>
                  <a:txBody>
                    <a:bodyPr/>
                    <a:lstStyle/>
                    <a:p>
                      <a:pPr>
                        <a:defRPr sz="1400">
                          <a:solidFill>
                            <a:schemeClr val="tx1"/>
                          </a:solidFill>
                        </a:defRPr>
                      </a:pPr>
                      <a:r>
                        <a:t>How many servers and applications are in scope of this initiative?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Q4</a:t>
                      </a:r>
                    </a:p>
                  </a:txBody>
                  <a:tcPr>
                    <a:noFill/>
                  </a:tcPr>
                </a:tc>
                <a:tc>
                  <a:txBody>
                    <a:bodyPr/>
                    <a:lstStyle/>
                    <a:p>
                      <a:pPr>
                        <a:defRPr sz="1400">
                          <a:solidFill>
                            <a:schemeClr val="tx1"/>
                          </a:solidFill>
                        </a:defRPr>
                      </a:pPr>
                      <a:r>
                        <a:t>Do you have workloads that require specific security architecture considerations (for example, PCI, SOC2, NIST, HITRUST, FedRAMP High, CJIS, ITAR, EAR, or others)?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Q5</a:t>
                      </a:r>
                    </a:p>
                  </a:txBody>
                  <a:tcPr>
                    <a:noFill/>
                  </a:tcPr>
                </a:tc>
                <a:tc>
                  <a:txBody>
                    <a:bodyPr/>
                    <a:lstStyle/>
                    <a:p>
                      <a:pPr>
                        <a:defRPr sz="1400">
                          <a:solidFill>
                            <a:schemeClr val="tx1"/>
                          </a:solidFill>
                        </a:defRPr>
                      </a:pPr>
                      <a:r>
                        <a:t>Are there application requirements (fault tolerance, performance, resiliency, DR,etc.) that require Multi-AZ or multi-Region architectures?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Q6</a:t>
                      </a:r>
                    </a:p>
                  </a:txBody>
                  <a:tcPr>
                    <a:noFill/>
                  </a:tcPr>
                </a:tc>
                <a:tc>
                  <a:txBody>
                    <a:bodyPr/>
                    <a:lstStyle/>
                    <a:p>
                      <a:pPr>
                        <a:defRPr sz="1400">
                          <a:solidFill>
                            <a:schemeClr val="tx1"/>
                          </a:solidFill>
                        </a:defRPr>
                      </a:pPr>
                      <a:r>
                        <a:t>What tools do you use for project management? Specifically, is Jira or Confluence in use, and which teams have been onboarded? Has the Draw.io plugin been activated?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Q7</a:t>
                      </a:r>
                    </a:p>
                  </a:txBody>
                  <a:tcPr>
                    <a:noFill/>
                  </a:tcPr>
                </a:tc>
                <a:tc>
                  <a:txBody>
                    <a:bodyPr/>
                    <a:lstStyle/>
                    <a:p>
                      <a:pPr>
                        <a:defRPr sz="1400">
                          <a:solidFill>
                            <a:schemeClr val="tx1"/>
                          </a:solidFill>
                        </a:defRPr>
                      </a:pPr>
                      <a:r>
                        <a:t>Are VMware Cloud workloads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Q8</a:t>
                      </a:r>
                    </a:p>
                  </a:txBody>
                  <a:tcPr>
                    <a:noFill/>
                  </a:tcPr>
                </a:tc>
                <a:tc>
                  <a:txBody>
                    <a:bodyPr/>
                    <a:lstStyle/>
                    <a:p>
                      <a:pPr>
                        <a:defRPr sz="1400">
                          <a:solidFill>
                            <a:schemeClr val="tx1"/>
                          </a:solidFill>
                        </a:defRPr>
                      </a:pPr>
                      <a:r>
                        <a:t>Is storage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Q9</a:t>
                      </a:r>
                    </a:p>
                  </a:txBody>
                  <a:tcPr>
                    <a:noFill/>
                  </a:tcPr>
                </a:tc>
                <a:tc>
                  <a:txBody>
                    <a:bodyPr/>
                    <a:lstStyle/>
                    <a:p>
                      <a:pPr>
                        <a:defRPr sz="1400">
                          <a:solidFill>
                            <a:schemeClr val="tx1"/>
                          </a:solidFill>
                        </a:defRPr>
                      </a:pPr>
                      <a:r>
                        <a:t>Are Microsoft workloads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Q10</a:t>
                      </a:r>
                    </a:p>
                  </a:txBody>
                  <a:tcPr>
                    <a:noFill/>
                  </a:tcPr>
                </a:tc>
                <a:tc>
                  <a:txBody>
                    <a:bodyPr/>
                    <a:lstStyle/>
                    <a:p>
                      <a:pPr>
                        <a:defRPr sz="1400">
                          <a:solidFill>
                            <a:schemeClr val="tx1"/>
                          </a:solidFill>
                        </a:defRPr>
                      </a:pPr>
                      <a:r>
                        <a:t>Is network transformation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Q11</a:t>
                      </a:r>
                    </a:p>
                  </a:txBody>
                  <a:tcPr>
                    <a:noFill/>
                  </a:tcPr>
                </a:tc>
                <a:tc>
                  <a:txBody>
                    <a:bodyPr/>
                    <a:lstStyle/>
                    <a:p>
                      <a:pPr>
                        <a:defRPr sz="1400">
                          <a:solidFill>
                            <a:schemeClr val="tx1"/>
                          </a:solidFill>
                        </a:defRPr>
                      </a:pPr>
                      <a:r>
                        <a:t>Are databases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Q12</a:t>
                      </a:r>
                    </a:p>
                  </a:txBody>
                  <a:tcPr>
                    <a:noFill/>
                  </a:tcPr>
                </a:tc>
                <a:tc>
                  <a:txBody>
                    <a:bodyPr/>
                    <a:lstStyle/>
                    <a:p>
                      <a:pPr>
                        <a:defRPr sz="1400">
                          <a:solidFill>
                            <a:schemeClr val="tx1"/>
                          </a:solidFill>
                        </a:defRPr>
                      </a:pPr>
                      <a:r>
                        <a:t>Are on-premise appliances considered in order to meet one of the following requirements : low latency, local processing needs for technical reasons such as data gravity, or data residency?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Q13</a:t>
                      </a:r>
                    </a:p>
                  </a:txBody>
                  <a:tcPr>
                    <a:noFill/>
                  </a:tcPr>
                </a:tc>
                <a:tc>
                  <a:txBody>
                    <a:bodyPr/>
                    <a:lstStyle/>
                    <a:p>
                      <a:pPr>
                        <a:defRPr sz="1400">
                          <a:solidFill>
                            <a:schemeClr val="tx1"/>
                          </a:solidFill>
                        </a:defRPr>
                      </a:pPr>
                      <a:r>
                        <a:t>Are SAP workloads being considered as part of this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Q14</a:t>
                      </a:r>
                    </a:p>
                  </a:txBody>
                  <a:tcPr>
                    <a:noFill/>
                  </a:tcPr>
                </a:tc>
                <a:tc>
                  <a:txBody>
                    <a:bodyPr/>
                    <a:lstStyle/>
                    <a:p>
                      <a:pPr>
                        <a:defRPr sz="1400">
                          <a:solidFill>
                            <a:schemeClr val="tx1"/>
                          </a:solidFill>
                        </a:defRPr>
                      </a:pPr>
                      <a:r>
                        <a:t>Are there applications that are part of this migration effort with legacy characteristics that may prevent you from fully leveraging cloud benefits post migration?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Q15</a:t>
                      </a:r>
                    </a:p>
                  </a:txBody>
                  <a:tcPr>
                    <a:noFill/>
                  </a:tcPr>
                </a:tc>
                <a:tc>
                  <a:txBody>
                    <a:bodyPr/>
                    <a:lstStyle/>
                    <a:p>
                      <a:pPr>
                        <a:defRPr sz="1400">
                          <a:solidFill>
                            <a:schemeClr val="tx1"/>
                          </a:solidFill>
                        </a:defRPr>
                      </a:pPr>
                      <a:r>
                        <a:t>Are there applications that are part of this migration effort which you sell to other parties that you plan on evolving your licensing model for (eg perpetual to subscription)? (Additional questions in Optional Section)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69392">
                <a:tc>
                  <a:txBody>
                    <a:bodyPr/>
                    <a:lstStyle/>
                    <a:p>
                      <a:pPr>
                        <a:defRPr sz="1400">
                          <a:solidFill>
                            <a:schemeClr val="tx1"/>
                          </a:solidFill>
                        </a:defRPr>
                      </a:pPr>
                      <a:r>
                        <a:t>Q16</a:t>
                      </a:r>
                    </a:p>
                  </a:txBody>
                  <a:tcPr>
                    <a:noFill/>
                  </a:tcPr>
                </a:tc>
                <a:tc>
                  <a:txBody>
                    <a:bodyPr/>
                    <a:lstStyle/>
                    <a:p>
                      <a:pPr>
                        <a:defRPr sz="1400">
                          <a:solidFill>
                            <a:schemeClr val="tx1"/>
                          </a:solidFill>
                        </a:defRPr>
                      </a:pPr>
                      <a:r>
                        <a:t>Is Data Analytics/AI/ML workloads considered as part of this migration?If yes, do you have a specific use case identified for initial POC?</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1109737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EBA Activities – Activity 1</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Q17</a:t>
                      </a:r>
                    </a:p>
                  </a:txBody>
                  <a:tcPr>
                    <a:noFill/>
                  </a:tcPr>
                </a:tc>
                <a:tc>
                  <a:txBody>
                    <a:bodyPr/>
                    <a:lstStyle/>
                    <a:p>
                      <a:pPr>
                        <a:defRPr sz="1400">
                          <a:solidFill>
                            <a:schemeClr val="tx1"/>
                          </a:solidFill>
                        </a:defRPr>
                      </a:pPr>
                      <a:r>
                        <a:t>Describe the current strategy, mandate for cloud, and level of commitment and communication (for example, is there a time-based specific value driver, pending datacenter closure, publicly communicated objective, sustainability target, or others?)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Q18</a:t>
                      </a:r>
                    </a:p>
                  </a:txBody>
                  <a:tcPr>
                    <a:noFill/>
                  </a:tcPr>
                </a:tc>
                <a:tc>
                  <a:txBody>
                    <a:bodyPr/>
                    <a:lstStyle/>
                    <a:p>
                      <a:pPr>
                        <a:defRPr sz="1400">
                          <a:solidFill>
                            <a:schemeClr val="tx1"/>
                          </a:solidFill>
                        </a:defRPr>
                      </a:pPr>
                      <a:r>
                        <a:t>What is the scope and intent of this initiative (for example, lines of business, regions, application types, and/or intent to learn, test, pilot, or accelerate at scale)?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3691874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EBA Activities – Activity 2</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Q19</a:t>
                      </a:r>
                    </a:p>
                  </a:txBody>
                  <a:tcPr>
                    <a:noFill/>
                  </a:tcPr>
                </a:tc>
                <a:tc>
                  <a:txBody>
                    <a:bodyPr/>
                    <a:lstStyle/>
                    <a:p>
                      <a:pPr>
                        <a:defRPr sz="1400">
                          <a:solidFill>
                            <a:schemeClr val="tx1"/>
                          </a:solidFill>
                        </a:defRPr>
                      </a:pPr>
                      <a:r>
                        <a:t>Are there any friction points concerning enterprise, technology, applications, process, or people which may potentially stall this initiative?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Q20</a:t>
                      </a:r>
                    </a:p>
                  </a:txBody>
                  <a:tcPr>
                    <a:noFill/>
                  </a:tcPr>
                </a:tc>
                <a:tc>
                  <a:txBody>
                    <a:bodyPr/>
                    <a:lstStyle/>
                    <a:p>
                      <a:pPr>
                        <a:defRPr sz="1400">
                          <a:solidFill>
                            <a:schemeClr val="tx1"/>
                          </a:solidFill>
                        </a:defRPr>
                      </a:pPr>
                      <a:r>
                        <a:t>Are there aspects of your organization and culture which you think will help move this initiative forward?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6172013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EBA Activities – Activity 3</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Q21</a:t>
                      </a:r>
                    </a:p>
                  </a:txBody>
                  <a:tcPr>
                    <a:noFill/>
                  </a:tcPr>
                </a:tc>
                <a:tc>
                  <a:txBody>
                    <a:bodyPr/>
                    <a:lstStyle/>
                    <a:p>
                      <a:pPr>
                        <a:defRPr sz="1400">
                          <a:solidFill>
                            <a:schemeClr val="tx1"/>
                          </a:solidFill>
                        </a:defRPr>
                      </a:pPr>
                      <a:r>
                        <a:t>Do you have a defined target to shift the operating model for infrastructure, operating systems, or platforms in this move to cloud?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9580294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EBA Activities – Activity 4</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Q22</a:t>
                      </a:r>
                    </a:p>
                  </a:txBody>
                  <a:tcPr>
                    <a:noFill/>
                  </a:tcPr>
                </a:tc>
                <a:tc>
                  <a:txBody>
                    <a:bodyPr/>
                    <a:lstStyle/>
                    <a:p>
                      <a:pPr>
                        <a:defRPr sz="1400">
                          <a:solidFill>
                            <a:schemeClr val="tx1"/>
                          </a:solidFill>
                        </a:defRPr>
                      </a:pPr>
                      <a:r>
                        <a:t> Who are the members of the current cloud team? What are their roles, responsibilities, and authorities? Does your cloud team have a strong mix of different perspectives?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342147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187CAC1-FF7E-F542-9A3D-76DE18648FE4}"/>
              </a:ext>
            </a:extLst>
          </p:cNvPr>
          <p:cNvSpPr txBox="1"/>
          <p:nvPr/>
        </p:nvSpPr>
        <p:spPr>
          <a:xfrm>
            <a:off x="395649" y="200533"/>
            <a:ext cx="13968745"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Business Case - </a:t>
            </a:r>
            <a:r>
              <a:rPr lang="en-US" sz="3800" b="1" dirty="0">
                <a:cs typeface="Calibri" pitchFamily="34" charset="0"/>
              </a:rPr>
              <a:t>High Level Business Case</a:t>
            </a:r>
          </a:p>
        </p:txBody>
      </p:sp>
      <p:graphicFrame>
        <p:nvGraphicFramePr>
          <p:cNvPr id="69" name="Table 68"/>
          <p:cNvGraphicFramePr>
            <a:graphicFrameLocks noGrp="1"/>
          </p:cNvGraphicFramePr>
          <p:nvPr/>
        </p:nvGraphicFramePr>
        <p:xfrm>
          <a:off x="580860" y="1330485"/>
          <a:ext cx="13578840" cy="1508760"/>
        </p:xfrm>
        <a:graphic>
          <a:graphicData uri="http://schemas.openxmlformats.org/drawingml/2006/table">
            <a:tbl>
              <a:tblPr firstRow="1" bandRow="1">
                <a:tableStyleId>{5C22544A-7EE6-4342-B048-85BDC9FD1C3A}</a:tableStyleId>
              </a:tblPr>
              <a:tblGrid>
                <a:gridCol w="685800"/>
                <a:gridCol w="4572000"/>
                <a:gridCol w="1005840"/>
                <a:gridCol w="7315200"/>
              </a:tblGrid>
              <a:tr h="37719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77190">
                <a:tc>
                  <a:txBody>
                    <a:bodyPr/>
                    <a:lstStyle/>
                    <a:p>
                      <a:pPr>
                        <a:defRPr sz="1400">
                          <a:solidFill>
                            <a:schemeClr val="tx1"/>
                          </a:solidFill>
                        </a:defRPr>
                      </a:pPr>
                      <a:r>
                        <a:t>Q26</a:t>
                      </a:r>
                    </a:p>
                  </a:txBody>
                  <a:tcPr>
                    <a:noFill/>
                  </a:tcPr>
                </a:tc>
                <a:tc>
                  <a:txBody>
                    <a:bodyPr/>
                    <a:lstStyle/>
                    <a:p>
                      <a:pPr>
                        <a:defRPr sz="1400">
                          <a:solidFill>
                            <a:schemeClr val="tx1"/>
                          </a:solidFill>
                        </a:defRPr>
                      </a:pPr>
                      <a:r>
                        <a:t>Do you have a business case that articulates the cloud program objectives around all areas of value, including sustainability improvements? Has the business case been communicated to all leadership stakeholders?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Q29</a:t>
                      </a:r>
                    </a:p>
                  </a:txBody>
                  <a:tcPr>
                    <a:noFill/>
                  </a:tcPr>
                </a:tc>
                <a:tc>
                  <a:txBody>
                    <a:bodyPr/>
                    <a:lstStyle/>
                    <a:p>
                      <a:pPr>
                        <a:defRPr sz="1400">
                          <a:solidFill>
                            <a:schemeClr val="tx1"/>
                          </a:solidFill>
                        </a:defRPr>
                      </a:pPr>
                      <a:r>
                        <a:t>Does your IT strategy explicitly state the cloud's role and how it is tied to your business objectives? Where do you want to invest in infrastructure innovation vs. application outcomes?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Q33</a:t>
                      </a:r>
                    </a:p>
                  </a:txBody>
                  <a:tcPr>
                    <a:noFill/>
                  </a:tcPr>
                </a:tc>
                <a:tc>
                  <a:txBody>
                    <a:bodyPr/>
                    <a:lstStyle/>
                    <a:p>
                      <a:pPr>
                        <a:defRPr sz="1400">
                          <a:solidFill>
                            <a:schemeClr val="tx1"/>
                          </a:solidFill>
                        </a:defRPr>
                      </a:pPr>
                      <a:r>
                        <a:t>Does your business case account for the facility closure(s) and asset liquidation anticipated with going off premises? Is there a plan and owner for this IT infrastructure disposal project?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920703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8" y="286090"/>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Business Case - </a:t>
            </a:r>
            <a:r>
              <a:rPr lang="en-US" sz="3800" b="1" dirty="0">
                <a:cs typeface="Calibri" pitchFamily="34" charset="0"/>
              </a:rPr>
              <a:t>Key Stakeholder Sign-off</a:t>
            </a: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Q27</a:t>
                      </a:r>
                    </a:p>
                  </a:txBody>
                  <a:tcPr>
                    <a:noFill/>
                  </a:tcPr>
                </a:tc>
                <a:tc>
                  <a:txBody>
                    <a:bodyPr/>
                    <a:lstStyle/>
                    <a:p>
                      <a:pPr>
                        <a:defRPr sz="1400">
                          <a:solidFill>
                            <a:schemeClr val="tx1"/>
                          </a:solidFill>
                        </a:defRPr>
                      </a:pPr>
                      <a:r>
                        <a:t>Do all your key stakeholders support the business case and the commitment to migration? Example stakeholders: CFO, COO, CISO, and so 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223959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187CAC1-FF7E-F542-9A3D-76DE18648FE4}"/>
              </a:ext>
            </a:extLst>
          </p:cNvPr>
          <p:cNvSpPr txBox="1"/>
          <p:nvPr/>
        </p:nvSpPr>
        <p:spPr>
          <a:xfrm>
            <a:off x="330827" y="286090"/>
            <a:ext cx="13968745"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Business Case - </a:t>
            </a:r>
            <a:r>
              <a:rPr lang="en-US" sz="3800" b="1" dirty="0"/>
              <a:t>Migration Funding Commitment</a:t>
            </a:r>
            <a:endParaRPr lang="en-US" sz="3800" b="1" dirty="0">
              <a:cs typeface="Calibri" pitchFamily="34" charset="0"/>
            </a:endParaRPr>
          </a:p>
        </p:txBody>
      </p:sp>
      <p:graphicFrame>
        <p:nvGraphicFramePr>
          <p:cNvPr id="69" name="Table 68"/>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Q28</a:t>
                      </a:r>
                    </a:p>
                  </a:txBody>
                  <a:tcPr>
                    <a:noFill/>
                  </a:tcPr>
                </a:tc>
                <a:tc>
                  <a:txBody>
                    <a:bodyPr/>
                    <a:lstStyle/>
                    <a:p>
                      <a:pPr>
                        <a:defRPr sz="1400">
                          <a:solidFill>
                            <a:schemeClr val="tx1"/>
                          </a:solidFill>
                        </a:defRPr>
                      </a:pPr>
                      <a:r>
                        <a:t>Have you made a funding commitment for your resources and AWS resources to work on migration or modernization? Has the funding been reviewed by AWS or a partner? </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0752325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7314" y="253775"/>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Business Case - </a:t>
            </a:r>
            <a:r>
              <a:rPr lang="en-US" sz="3800" b="1" dirty="0"/>
              <a:t>Specific Migration Workloads Committed</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Q25</a:t>
                      </a:r>
                    </a:p>
                  </a:txBody>
                  <a:tcPr>
                    <a:noFill/>
                  </a:tcPr>
                </a:tc>
                <a:tc>
                  <a:txBody>
                    <a:bodyPr/>
                    <a:lstStyle/>
                    <a:p>
                      <a:pPr>
                        <a:defRPr sz="1400">
                          <a:solidFill>
                            <a:schemeClr val="tx1"/>
                          </a:solidFill>
                        </a:defRPr>
                      </a:pPr>
                      <a:r>
                        <a:t>Have you defined and committed specific workloads for the initiative? Is the scope documented and communicated to all stakeholders? Are there defined first-movers or pilot applications? Do the initial workloads help accelerate attainment of your sustainability objectives?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1025465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187CAC1-FF7E-F542-9A3D-76DE18648FE4}"/>
              </a:ext>
            </a:extLst>
          </p:cNvPr>
          <p:cNvSpPr txBox="1"/>
          <p:nvPr/>
        </p:nvSpPr>
        <p:spPr>
          <a:xfrm>
            <a:off x="418798" y="241487"/>
            <a:ext cx="14014832"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Migration Project Plan - </a:t>
            </a:r>
            <a:r>
              <a:rPr lang="en-US" sz="3200" b="1" dirty="0"/>
              <a:t>Determine Delivery Model &amp; Approach</a:t>
            </a:r>
            <a:endParaRPr lang="en-US" sz="3800" b="1" dirty="0">
              <a:cs typeface="Calibri" pitchFamily="34" charset="0"/>
            </a:endParaRPr>
          </a:p>
        </p:txBody>
      </p:sp>
      <p:graphicFrame>
        <p:nvGraphicFramePr>
          <p:cNvPr id="69" name="Table 68"/>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Q54</a:t>
                      </a:r>
                    </a:p>
                  </a:txBody>
                  <a:tcPr>
                    <a:noFill/>
                  </a:tcPr>
                </a:tc>
                <a:tc>
                  <a:txBody>
                    <a:bodyPr/>
                    <a:lstStyle/>
                    <a:p>
                      <a:pPr>
                        <a:defRPr sz="1400">
                          <a:solidFill>
                            <a:schemeClr val="tx1"/>
                          </a:solidFill>
                        </a:defRPr>
                      </a:pPr>
                      <a:r>
                        <a:t>Have you determined the migration or modernization delivery partner and approach?</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6126133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8" y="154934"/>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Migration Project Plan - </a:t>
            </a:r>
            <a:r>
              <a:rPr lang="en-US" sz="4000" b="1" dirty="0"/>
              <a:t>Project Management Capability</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Q53</a:t>
                      </a:r>
                    </a:p>
                  </a:txBody>
                  <a:tcPr>
                    <a:noFill/>
                  </a:tcPr>
                </a:tc>
                <a:tc>
                  <a:txBody>
                    <a:bodyPr/>
                    <a:lstStyle/>
                    <a:p>
                      <a:pPr>
                        <a:defRPr sz="1400">
                          <a:solidFill>
                            <a:schemeClr val="tx1"/>
                          </a:solidFill>
                        </a:defRPr>
                      </a:pPr>
                      <a:r>
                        <a:t>Do you have mature and disciplined project and program management capabilities? What type of project management methodologies do you use (for example, agile, scrum, waterfall)?</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518860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187CAC1-FF7E-F542-9A3D-76DE18648FE4}"/>
              </a:ext>
            </a:extLst>
          </p:cNvPr>
          <p:cNvSpPr txBox="1"/>
          <p:nvPr/>
        </p:nvSpPr>
        <p:spPr>
          <a:xfrm>
            <a:off x="395649" y="200533"/>
            <a:ext cx="13968745"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Migration Project Plan - </a:t>
            </a:r>
            <a:r>
              <a:rPr lang="en-US" sz="4000" b="1" dirty="0"/>
              <a:t>Migration Plan</a:t>
            </a:r>
            <a:endParaRPr lang="en-US" sz="3800" b="1" dirty="0">
              <a:cs typeface="Calibri" pitchFamily="34" charset="0"/>
            </a:endParaRPr>
          </a:p>
        </p:txBody>
      </p:sp>
      <p:graphicFrame>
        <p:nvGraphicFramePr>
          <p:cNvPr id="69" name="Table 68"/>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Q55</a:t>
                      </a:r>
                    </a:p>
                  </a:txBody>
                  <a:tcPr>
                    <a:noFill/>
                  </a:tcPr>
                </a:tc>
                <a:tc>
                  <a:txBody>
                    <a:bodyPr/>
                    <a:lstStyle/>
                    <a:p>
                      <a:pPr>
                        <a:defRPr sz="1400">
                          <a:solidFill>
                            <a:schemeClr val="tx1"/>
                          </a:solidFill>
                        </a:defRPr>
                      </a:pPr>
                      <a:r>
                        <a:t>Do you have a detailed cloud migration or modernization plan? Has it been communicated to the impacted workload owners?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273899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Skills &amp; COE - </a:t>
            </a:r>
            <a:r>
              <a:rPr lang="en-US" sz="4000" b="1" dirty="0"/>
              <a:t>Single Threaded Leader</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Q44</a:t>
                      </a:r>
                    </a:p>
                  </a:txBody>
                  <a:tcPr>
                    <a:noFill/>
                  </a:tcPr>
                </a:tc>
                <a:tc>
                  <a:txBody>
                    <a:bodyPr/>
                    <a:lstStyle/>
                    <a:p>
                      <a:pPr>
                        <a:defRPr sz="1400">
                          <a:solidFill>
                            <a:schemeClr val="tx1"/>
                          </a:solidFill>
                        </a:defRPr>
                      </a:pPr>
                      <a:r>
                        <a:t>Have you assigned, empowered, and enabled a single-threaded senior leader (STL) to oversee the cloud initiative or program? Have you engaged continuous improvement and organizational change experts to assist the STL with the change?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302516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Skills &amp; COE - </a:t>
            </a:r>
            <a:r>
              <a:rPr lang="en-US" sz="4000" b="1" dirty="0"/>
              <a:t>Experience Baseline</a:t>
            </a:r>
            <a:endParaRPr lang="en-US" sz="3800" b="1" dirty="0">
              <a:latin typeface="Calibri" pitchFamily="34" charset="0"/>
              <a:cs typeface="Calibri" pitchFamily="34" charset="0"/>
            </a:endParaRPr>
          </a:p>
        </p:txBody>
      </p:sp>
      <p:graphicFrame>
        <p:nvGraphicFramePr>
          <p:cNvPr id="53" name="Table 52"/>
          <p:cNvGraphicFramePr>
            <a:graphicFrameLocks noGrp="1"/>
          </p:cNvGraphicFramePr>
          <p:nvPr/>
        </p:nvGraphicFramePr>
        <p:xfrm>
          <a:off x="580860" y="1330485"/>
          <a:ext cx="13578840" cy="2011680"/>
        </p:xfrm>
        <a:graphic>
          <a:graphicData uri="http://schemas.openxmlformats.org/drawingml/2006/table">
            <a:tbl>
              <a:tblPr firstRow="1" bandRow="1">
                <a:tableStyleId>{5C22544A-7EE6-4342-B048-85BDC9FD1C3A}</a:tableStyleId>
              </a:tblPr>
              <a:tblGrid>
                <a:gridCol w="685800"/>
                <a:gridCol w="4572000"/>
                <a:gridCol w="1005840"/>
                <a:gridCol w="7315200"/>
              </a:tblGrid>
              <a:tr h="402336">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402336">
                <a:tc>
                  <a:txBody>
                    <a:bodyPr/>
                    <a:lstStyle/>
                    <a:p>
                      <a:pPr>
                        <a:defRPr sz="1400">
                          <a:solidFill>
                            <a:schemeClr val="tx1"/>
                          </a:solidFill>
                        </a:defRPr>
                      </a:pPr>
                      <a:r>
                        <a:t>Q39</a:t>
                      </a:r>
                    </a:p>
                  </a:txBody>
                  <a:tcPr>
                    <a:noFill/>
                  </a:tcPr>
                </a:tc>
                <a:tc>
                  <a:txBody>
                    <a:bodyPr/>
                    <a:lstStyle/>
                    <a:p>
                      <a:pPr>
                        <a:defRPr sz="1400">
                          <a:solidFill>
                            <a:schemeClr val="tx1"/>
                          </a:solidFill>
                        </a:defRPr>
                      </a:pPr>
                      <a:r>
                        <a:t>Have you invested in any cloud-native architectures or DevOps practices? Are those responsible for running the services involved in building the service?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Q40</a:t>
                      </a:r>
                    </a:p>
                  </a:txBody>
                  <a:tcPr>
                    <a:noFill/>
                  </a:tcPr>
                </a:tc>
                <a:tc>
                  <a:txBody>
                    <a:bodyPr/>
                    <a:lstStyle/>
                    <a:p>
                      <a:pPr>
                        <a:defRPr sz="1400">
                          <a:solidFill>
                            <a:schemeClr val="tx1"/>
                          </a:solidFill>
                        </a:defRPr>
                      </a:pPr>
                      <a:r>
                        <a:t>Do you incorporate modern AI for DevOps solutions to build applications faster and more securely with AI coding companion?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Q46</a:t>
                      </a:r>
                    </a:p>
                  </a:txBody>
                  <a:tcPr>
                    <a:noFill/>
                  </a:tcPr>
                </a:tc>
                <a:tc>
                  <a:txBody>
                    <a:bodyPr/>
                    <a:lstStyle/>
                    <a:p>
                      <a:pPr>
                        <a:defRPr sz="1400">
                          <a:solidFill>
                            <a:schemeClr val="tx1"/>
                          </a:solidFill>
                        </a:defRPr>
                      </a:pPr>
                      <a:r>
                        <a:t>Have you identified the cloud skills and competencies to enable resources in your organization? Has a training plan been established and rolled out? Have you conducted a learning needs analysis across your organization as it relates to cloud skills?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Q47</a:t>
                      </a:r>
                    </a:p>
                  </a:txBody>
                  <a:tcPr>
                    <a:noFill/>
                  </a:tcPr>
                </a:tc>
                <a:tc>
                  <a:txBody>
                    <a:bodyPr/>
                    <a:lstStyle/>
                    <a:p>
                      <a:pPr>
                        <a:defRPr sz="1400">
                          <a:solidFill>
                            <a:schemeClr val="tx1"/>
                          </a:solidFill>
                        </a:defRPr>
                      </a:pPr>
                      <a:r>
                        <a:t>How would you rate your organization's AI literacy and readiness to adopt generative AI technologies?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7987886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Skills &amp; COE - </a:t>
            </a:r>
            <a:r>
              <a:rPr lang="en-US" sz="4000" b="1" dirty="0"/>
              <a:t>Design or Evolve COE</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Q42</a:t>
                      </a:r>
                    </a:p>
                  </a:txBody>
                  <a:tcPr>
                    <a:noFill/>
                  </a:tcPr>
                </a:tc>
                <a:tc>
                  <a:txBody>
                    <a:bodyPr/>
                    <a:lstStyle/>
                    <a:p>
                      <a:pPr>
                        <a:defRPr sz="1400">
                          <a:solidFill>
                            <a:schemeClr val="tx1"/>
                          </a:solidFill>
                        </a:defRPr>
                      </a:pPr>
                      <a:r>
                        <a:t>Has a dedicated cloud team been formed with formalized role definitions and strong support and governance from the CIO? Is your cloud team inclusive of the various business and IT views of the company (such as regional representation, line-of-business representation, and so 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Q43</a:t>
                      </a:r>
                    </a:p>
                  </a:txBody>
                  <a:tcPr>
                    <a:noFill/>
                  </a:tcPr>
                </a:tc>
                <a:tc>
                  <a:txBody>
                    <a:bodyPr/>
                    <a:lstStyle/>
                    <a:p>
                      <a:pPr>
                        <a:defRPr sz="1400">
                          <a:solidFill>
                            <a:schemeClr val="tx1"/>
                          </a:solidFill>
                        </a:defRPr>
                      </a:pPr>
                      <a:r>
                        <a:t>Have the roles and responsibilities of operations or other non-CoE teams been clarified or redefined in the cloud context?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7164728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Landing Zone - </a:t>
            </a:r>
            <a:r>
              <a:rPr lang="en-US" sz="4000" b="1" dirty="0"/>
              <a:t>Account Design &amp; Configuration</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Q41</a:t>
                      </a:r>
                    </a:p>
                  </a:txBody>
                  <a:tcPr>
                    <a:noFill/>
                  </a:tcPr>
                </a:tc>
                <a:tc>
                  <a:txBody>
                    <a:bodyPr/>
                    <a:lstStyle/>
                    <a:p>
                      <a:pPr>
                        <a:defRPr sz="1400">
                          <a:solidFill>
                            <a:schemeClr val="tx1"/>
                          </a:solidFill>
                        </a:defRPr>
                      </a:pPr>
                      <a:r>
                        <a:t>How closely do your current AWS accounts and foundational architecture follow AWS best practices around security, account management/governance, and operations, and align with workloads in scope of this initiative and future growth? Do you use standardized templates for infrastructure services, and manage infrastructure as code with full lifecycle management?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2795751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508337" y="274454"/>
            <a:ext cx="13954129" cy="584775"/>
          </a:xfrm>
          <a:prstGeom prst="rect">
            <a:avLst/>
          </a:prstGeom>
          <a:noFill/>
        </p:spPr>
        <p:txBody>
          <a:bodyPr wrap="square" rtlCol="0">
            <a:spAutoFit/>
          </a:bodyPr>
          <a:lstStyle/>
          <a:p>
            <a:r>
              <a:rPr lang="en-US" sz="3200" b="1" dirty="0">
                <a:ea typeface="Amazon Ember" panose="020B0603020204020204" pitchFamily="34" charset="0"/>
                <a:cs typeface="Amazon Ember" panose="020B0603020204020204" pitchFamily="34" charset="0"/>
              </a:rPr>
              <a:t>Application Portfolio Discovery &amp; Planning - </a:t>
            </a:r>
            <a:r>
              <a:rPr lang="en-US" sz="3200" b="1" dirty="0"/>
              <a:t>Application Discovery Data</a:t>
            </a:r>
            <a:endParaRPr lang="en-US" sz="3200" b="1" dirty="0">
              <a:cs typeface="Calibri" pitchFamily="34" charset="0"/>
            </a:endParaRPr>
          </a:p>
        </p:txBody>
      </p:sp>
      <p:graphicFrame>
        <p:nvGraphicFramePr>
          <p:cNvPr id="53" name="Table 52"/>
          <p:cNvGraphicFramePr>
            <a:graphicFrameLocks noGrp="1"/>
          </p:cNvGraphicFramePr>
          <p:nvPr/>
        </p:nvGraphicFramePr>
        <p:xfrm>
          <a:off x="580860" y="1330485"/>
          <a:ext cx="13578840" cy="3017520"/>
        </p:xfrm>
        <a:graphic>
          <a:graphicData uri="http://schemas.openxmlformats.org/drawingml/2006/table">
            <a:tbl>
              <a:tblPr firstRow="1" bandRow="1">
                <a:tableStyleId>{5C22544A-7EE6-4342-B048-85BDC9FD1C3A}</a:tableStyleId>
              </a:tblPr>
              <a:tblGrid>
                <a:gridCol w="685800"/>
                <a:gridCol w="4572000"/>
                <a:gridCol w="1005840"/>
                <a:gridCol w="7315200"/>
              </a:tblGrid>
              <a:tr h="431074">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431074">
                <a:tc>
                  <a:txBody>
                    <a:bodyPr/>
                    <a:lstStyle/>
                    <a:p>
                      <a:pPr>
                        <a:defRPr sz="1400">
                          <a:solidFill>
                            <a:schemeClr val="tx1"/>
                          </a:solidFill>
                        </a:defRPr>
                      </a:pPr>
                      <a:r>
                        <a:t>Q36</a:t>
                      </a:r>
                    </a:p>
                  </a:txBody>
                  <a:tcPr>
                    <a:noFill/>
                  </a:tcPr>
                </a:tc>
                <a:tc>
                  <a:txBody>
                    <a:bodyPr/>
                    <a:lstStyle/>
                    <a:p>
                      <a:pPr>
                        <a:defRPr sz="1400">
                          <a:solidFill>
                            <a:schemeClr val="tx1"/>
                          </a:solidFill>
                        </a:defRPr>
                      </a:pPr>
                      <a:r>
                        <a:t>Do you have standard architectures? Are they consistently applied to applications and services in your existing environments and AWS? Is there a defined role and individual responsible for enforcing these?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Q37</a:t>
                      </a:r>
                    </a:p>
                  </a:txBody>
                  <a:tcPr>
                    <a:noFill/>
                  </a:tcPr>
                </a:tc>
                <a:tc>
                  <a:txBody>
                    <a:bodyPr/>
                    <a:lstStyle/>
                    <a:p>
                      <a:pPr>
                        <a:defRPr sz="1400">
                          <a:solidFill>
                            <a:schemeClr val="tx1"/>
                          </a:solidFill>
                        </a:defRPr>
                      </a:pPr>
                      <a:r>
                        <a:t>Do you have documented data flow and integration points for applications in scope?  Does this documentation reflect performance, utilization, and dependencies in addition to data flow?</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Q48</a:t>
                      </a:r>
                    </a:p>
                  </a:txBody>
                  <a:tcPr>
                    <a:noFill/>
                  </a:tcPr>
                </a:tc>
                <a:tc>
                  <a:txBody>
                    <a:bodyPr/>
                    <a:lstStyle/>
                    <a:p>
                      <a:pPr>
                        <a:defRPr sz="1400">
                          <a:solidFill>
                            <a:schemeClr val="tx1"/>
                          </a:solidFill>
                        </a:defRPr>
                      </a:pPr>
                      <a:r>
                        <a:t>Do you have an up-to-date and reliable application inventory with accurate metadata on the applications? Where is this information stored and how is it maintained?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Q49</a:t>
                      </a:r>
                    </a:p>
                  </a:txBody>
                  <a:tcPr>
                    <a:noFill/>
                  </a:tcPr>
                </a:tc>
                <a:tc>
                  <a:txBody>
                    <a:bodyPr/>
                    <a:lstStyle/>
                    <a:p>
                      <a:pPr>
                        <a:defRPr sz="1400">
                          <a:solidFill>
                            <a:schemeClr val="tx1"/>
                          </a:solidFill>
                        </a:defRPr>
                      </a:pPr>
                      <a:r>
                        <a:t>In order to produce accurate estimates of migration costs, it is important to have good baseline data: Do you have a complete and accurate accounting and configuration data set? Do you have the ability to report and track on all resources deployed in the cloud?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Q50</a:t>
                      </a:r>
                    </a:p>
                  </a:txBody>
                  <a:tcPr>
                    <a:noFill/>
                  </a:tcPr>
                </a:tc>
                <a:tc>
                  <a:txBody>
                    <a:bodyPr/>
                    <a:lstStyle/>
                    <a:p>
                      <a:pPr>
                        <a:defRPr sz="1400">
                          <a:solidFill>
                            <a:schemeClr val="tx1"/>
                          </a:solidFill>
                        </a:defRPr>
                      </a:pPr>
                      <a:r>
                        <a:t>Do you have a DB migration and modernization strategy that accounts for your existing vendor relationships and licensing agreements? Is your IT spend for DB activities well understood and in line with expectations?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6">
                <a:tc>
                  <a:txBody>
                    <a:bodyPr/>
                    <a:lstStyle/>
                    <a:p>
                      <a:pPr>
                        <a:defRPr sz="1400">
                          <a:solidFill>
                            <a:schemeClr val="tx1"/>
                          </a:solidFill>
                        </a:defRPr>
                      </a:pPr>
                      <a:r>
                        <a:t>Q51</a:t>
                      </a:r>
                    </a:p>
                  </a:txBody>
                  <a:tcPr>
                    <a:noFill/>
                  </a:tcPr>
                </a:tc>
                <a:tc>
                  <a:txBody>
                    <a:bodyPr/>
                    <a:lstStyle/>
                    <a:p>
                      <a:pPr>
                        <a:defRPr sz="1400">
                          <a:solidFill>
                            <a:schemeClr val="tx1"/>
                          </a:solidFill>
                        </a:defRPr>
                      </a:pPr>
                      <a:r>
                        <a:t>Do you have an application migration and modernization strategy that accounts for the rearchitecting of monolithic, legacy, or self-managed applications? Is there a re-architecture strategy in place to leverage modern cloud native paradigms such as server-less to improve agility / lower costs? Are there any significant/foundational tech decisions/changes that are currently under consideration?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2225313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508337" y="358828"/>
            <a:ext cx="13954129" cy="523220"/>
          </a:xfrm>
          <a:prstGeom prst="rect">
            <a:avLst/>
          </a:prstGeom>
          <a:noFill/>
        </p:spPr>
        <p:txBody>
          <a:bodyPr wrap="square" rtlCol="0">
            <a:spAutoFit/>
          </a:bodyPr>
          <a:lstStyle/>
          <a:p>
            <a:r>
              <a:rPr lang="en-US" sz="2800" b="1" dirty="0">
                <a:ea typeface="Amazon Ember" panose="020B0603020204020204" pitchFamily="34" charset="0"/>
                <a:cs typeface="Amazon Ember" panose="020B0603020204020204" pitchFamily="34" charset="0"/>
              </a:rPr>
              <a:t>Application Portfolio Discovery &amp; Planning </a:t>
            </a:r>
            <a:r>
              <a:rPr lang="en-US" sz="2400" b="1" dirty="0">
                <a:ea typeface="Amazon Ember" panose="020B0603020204020204" pitchFamily="34" charset="0"/>
                <a:cs typeface="Amazon Ember" panose="020B0603020204020204" pitchFamily="34" charset="0"/>
              </a:rPr>
              <a:t>- </a:t>
            </a:r>
            <a:r>
              <a:rPr lang="en-US" sz="2400" b="1" dirty="0"/>
              <a:t>Workload Owner Buy-In or Alignment</a:t>
            </a:r>
            <a:endParaRPr lang="en-US" sz="2400" b="1" dirty="0">
              <a:cs typeface="Calibri" pitchFamily="34" charset="0"/>
            </a:endParaRPr>
          </a:p>
        </p:txBody>
      </p:sp>
      <p:graphicFrame>
        <p:nvGraphicFramePr>
          <p:cNvPr id="53" name="Table 52"/>
          <p:cNvGraphicFramePr>
            <a:graphicFrameLocks noGrp="1"/>
          </p:cNvGraphicFramePr>
          <p:nvPr/>
        </p:nvGraphicFramePr>
        <p:xfrm>
          <a:off x="580860" y="1330485"/>
          <a:ext cx="13578840" cy="1508760"/>
        </p:xfrm>
        <a:graphic>
          <a:graphicData uri="http://schemas.openxmlformats.org/drawingml/2006/table">
            <a:tbl>
              <a:tblPr firstRow="1" bandRow="1">
                <a:tableStyleId>{5C22544A-7EE6-4342-B048-85BDC9FD1C3A}</a:tableStyleId>
              </a:tblPr>
              <a:tblGrid>
                <a:gridCol w="685800"/>
                <a:gridCol w="4572000"/>
                <a:gridCol w="1005840"/>
                <a:gridCol w="7315200"/>
              </a:tblGrid>
              <a:tr h="37719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77190">
                <a:tc>
                  <a:txBody>
                    <a:bodyPr/>
                    <a:lstStyle/>
                    <a:p>
                      <a:pPr>
                        <a:defRPr sz="1400">
                          <a:solidFill>
                            <a:schemeClr val="tx1"/>
                          </a:solidFill>
                        </a:defRPr>
                      </a:pPr>
                      <a:r>
                        <a:t>Q23</a:t>
                      </a:r>
                    </a:p>
                  </a:txBody>
                  <a:tcPr>
                    <a:noFill/>
                  </a:tcPr>
                </a:tc>
                <a:tc>
                  <a:txBody>
                    <a:bodyPr/>
                    <a:lstStyle/>
                    <a:p>
                      <a:pPr>
                        <a:defRPr sz="1400">
                          <a:solidFill>
                            <a:schemeClr val="tx1"/>
                          </a:solidFill>
                        </a:defRPr>
                      </a:pPr>
                      <a:r>
                        <a:t>Is your IT organization run as a federation of groups or as a centralized organization? The more distributed it is, the more difficult migration coordination will be, assuming the scope spans these distributed groups.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Q35</a:t>
                      </a:r>
                    </a:p>
                  </a:txBody>
                  <a:tcPr>
                    <a:noFill/>
                  </a:tcPr>
                </a:tc>
                <a:tc>
                  <a:txBody>
                    <a:bodyPr/>
                    <a:lstStyle/>
                    <a:p>
                      <a:pPr>
                        <a:defRPr sz="1400">
                          <a:solidFill>
                            <a:schemeClr val="tx1"/>
                          </a:solidFill>
                        </a:defRPr>
                      </a:pPr>
                      <a:r>
                        <a:t>Have you identified the owners of workloads targeted for cloud migration or modernization, and are there clear lines of accountability and responsibility for those owners? Have those owners been bought in to the migration program?</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Q45</a:t>
                      </a:r>
                    </a:p>
                  </a:txBody>
                  <a:tcPr>
                    <a:noFill/>
                  </a:tcPr>
                </a:tc>
                <a:tc>
                  <a:txBody>
                    <a:bodyPr/>
                    <a:lstStyle/>
                    <a:p>
                      <a:pPr>
                        <a:defRPr sz="1400">
                          <a:solidFill>
                            <a:schemeClr val="tx1"/>
                          </a:solidFill>
                        </a:defRPr>
                      </a:pPr>
                      <a:r>
                        <a:t>Have you communicated the migration/modernization goals and the corresponding benefits, priorities, and timeline to the entire organization? Have you defined performance goals for leaders who are involved in the cloud transformation? Have you cascaded these performance goals to the managers of your organization?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1684457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Migration Process &amp; Experience - </a:t>
            </a:r>
            <a:r>
              <a:rPr lang="en-US" sz="4000" b="1" dirty="0"/>
              <a:t>Migration Experience</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Q38</a:t>
                      </a:r>
                    </a:p>
                  </a:txBody>
                  <a:tcPr>
                    <a:noFill/>
                  </a:tcPr>
                </a:tc>
                <a:tc>
                  <a:txBody>
                    <a:bodyPr/>
                    <a:lstStyle/>
                    <a:p>
                      <a:pPr>
                        <a:defRPr sz="1400">
                          <a:solidFill>
                            <a:schemeClr val="tx1"/>
                          </a:solidFill>
                        </a:defRPr>
                      </a:pPr>
                      <a:r>
                        <a:t>Do you have experience migrating or modernizing workloads in the cloud? Have you leveraged automated migration tools such as MGN?</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41901842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Current Operations Model</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Q52</a:t>
                      </a:r>
                    </a:p>
                  </a:txBody>
                  <a:tcPr>
                    <a:noFill/>
                  </a:tcPr>
                </a:tc>
                <a:tc>
                  <a:txBody>
                    <a:bodyPr/>
                    <a:lstStyle/>
                    <a:p>
                      <a:pPr>
                        <a:defRPr sz="1400">
                          <a:solidFill>
                            <a:schemeClr val="tx1"/>
                          </a:solidFill>
                        </a:defRPr>
                      </a:pPr>
                      <a:r>
                        <a:t>Do your infrastructure, applications and services have well-defined SLAs and OLAs? Have you examined support options and selected an AWS or third-party support option that considers your tolerance for downtime and vendor responsiveness?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182279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7453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Managed Service Provider Identified</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Q24</a:t>
                      </a:r>
                    </a:p>
                  </a:txBody>
                  <a:tcPr>
                    <a:noFill/>
                  </a:tcPr>
                </a:tc>
                <a:tc>
                  <a:txBody>
                    <a:bodyPr/>
                    <a:lstStyle/>
                    <a:p>
                      <a:pPr>
                        <a:defRPr sz="1400">
                          <a:solidFill>
                            <a:schemeClr val="tx1"/>
                          </a:solidFill>
                        </a:defRPr>
                      </a:pPr>
                      <a:r>
                        <a:t>Do you have one or more managed service providers who handle the workloads in scope for migration or modernization? What is their current role -- application operator and infrastructure operations? Is it clear what their roles will be post migration?  Is there a desire to alter the insourcing/outsourcing philosophy?</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7387794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08437"/>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AMI/Patching</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Q66</a:t>
                      </a:r>
                    </a:p>
                  </a:txBody>
                  <a:tcPr>
                    <a:noFill/>
                  </a:tcPr>
                </a:tc>
                <a:tc>
                  <a:txBody>
                    <a:bodyPr/>
                    <a:lstStyle/>
                    <a:p>
                      <a:pPr>
                        <a:defRPr sz="1400">
                          <a:solidFill>
                            <a:schemeClr val="tx1"/>
                          </a:solidFill>
                        </a:defRPr>
                      </a:pPr>
                      <a:r>
                        <a:t>Do you currently have automated patching capabilities? Do you have a patching approach tailored to managing instances in AWS?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5920770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30471"/>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Backup</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Q62</a:t>
                      </a:r>
                    </a:p>
                  </a:txBody>
                  <a:tcPr>
                    <a:noFill/>
                  </a:tcPr>
                </a:tc>
                <a:tc>
                  <a:txBody>
                    <a:bodyPr/>
                    <a:lstStyle/>
                    <a:p>
                      <a:pPr>
                        <a:defRPr sz="1400">
                          <a:solidFill>
                            <a:schemeClr val="tx1"/>
                          </a:solidFill>
                        </a:defRPr>
                      </a:pPr>
                      <a:r>
                        <a:t>Have your backup processes been tailored to take advantage of AWS storage services (such as Amazon S3)?</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8214658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50736"/>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Asset Management</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Q68</a:t>
                      </a:r>
                    </a:p>
                  </a:txBody>
                  <a:tcPr>
                    <a:noFill/>
                  </a:tcPr>
                </a:tc>
                <a:tc>
                  <a:txBody>
                    <a:bodyPr/>
                    <a:lstStyle/>
                    <a:p>
                      <a:pPr>
                        <a:defRPr sz="1400">
                          <a:solidFill>
                            <a:schemeClr val="tx1"/>
                          </a:solidFill>
                        </a:defRPr>
                      </a:pPr>
                      <a:r>
                        <a:t>If you use an IT Service Management tool such as ServiceNow, do you have an integration strategy defined with AWS services?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Q69</a:t>
                      </a:r>
                    </a:p>
                  </a:txBody>
                  <a:tcPr>
                    <a:noFill/>
                  </a:tcPr>
                </a:tc>
                <a:tc>
                  <a:txBody>
                    <a:bodyPr/>
                    <a:lstStyle/>
                    <a:p>
                      <a:pPr>
                        <a:defRPr sz="1400">
                          <a:solidFill>
                            <a:schemeClr val="tx1"/>
                          </a:solidFill>
                        </a:defRPr>
                      </a:pPr>
                      <a:r>
                        <a:t>Do you have a tagging strategy (allocating the cost for each line of business) defined and enforced for AWS resources? Do you understand how it helps control and monitor AWS spend?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9239168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96903"/>
            <a:ext cx="14204383"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3200" b="1" dirty="0"/>
              <a:t>Config Management &amp; Change Management</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Q64</a:t>
                      </a:r>
                    </a:p>
                  </a:txBody>
                  <a:tcPr>
                    <a:noFill/>
                  </a:tcPr>
                </a:tc>
                <a:tc>
                  <a:txBody>
                    <a:bodyPr/>
                    <a:lstStyle/>
                    <a:p>
                      <a:pPr>
                        <a:defRPr sz="1400">
                          <a:solidFill>
                            <a:schemeClr val="tx1"/>
                          </a:solidFill>
                        </a:defRPr>
                      </a:pPr>
                      <a:r>
                        <a:t>Have your change and configuration management processes been adjusted for cloud infrastructure and applications (for example, usage of Amazon Machine Images (AMIs) and golden AMIs)?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Q65</a:t>
                      </a:r>
                    </a:p>
                  </a:txBody>
                  <a:tcPr>
                    <a:noFill/>
                  </a:tcPr>
                </a:tc>
                <a:tc>
                  <a:txBody>
                    <a:bodyPr/>
                    <a:lstStyle/>
                    <a:p>
                      <a:pPr>
                        <a:defRPr sz="1400">
                          <a:solidFill>
                            <a:schemeClr val="tx1"/>
                          </a:solidFill>
                        </a:defRPr>
                      </a:pPr>
                      <a:r>
                        <a:t>Do you have a code deployment policy tailored to AWS application stacks (for example, a CI/CD pipeline tailored to AWS)?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1793547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30471"/>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BCP/DR</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Q61</a:t>
                      </a:r>
                    </a:p>
                  </a:txBody>
                  <a:tcPr>
                    <a:noFill/>
                  </a:tcPr>
                </a:tc>
                <a:tc>
                  <a:txBody>
                    <a:bodyPr/>
                    <a:lstStyle/>
                    <a:p>
                      <a:pPr>
                        <a:defRPr sz="1400">
                          <a:solidFill>
                            <a:schemeClr val="tx1"/>
                          </a:solidFill>
                        </a:defRPr>
                      </a:pPr>
                      <a:r>
                        <a:t>Has your business continuity plan been adjusted or enhanced to account for cloud capabilities?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1791785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63521"/>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Service Catalog</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Q57</a:t>
                      </a:r>
                    </a:p>
                  </a:txBody>
                  <a:tcPr>
                    <a:noFill/>
                  </a:tcPr>
                </a:tc>
                <a:tc>
                  <a:txBody>
                    <a:bodyPr/>
                    <a:lstStyle/>
                    <a:p>
                      <a:pPr>
                        <a:defRPr sz="1400">
                          <a:solidFill>
                            <a:schemeClr val="tx1"/>
                          </a:solidFill>
                        </a:defRPr>
                      </a:pPr>
                      <a:r>
                        <a:t>Do you leverage code to instantiate standard architectures? Do you have a service catalog that allows users to see and request service offerings? Is your infrastructure managed through coding or scripting frameworks? Are your configuration management systems updated as changes occur in the environment?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9297135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54629"/>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Cost Management</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508760"/>
        </p:xfrm>
        <a:graphic>
          <a:graphicData uri="http://schemas.openxmlformats.org/drawingml/2006/table">
            <a:tbl>
              <a:tblPr firstRow="1" bandRow="1">
                <a:tableStyleId>{5C22544A-7EE6-4342-B048-85BDC9FD1C3A}</a:tableStyleId>
              </a:tblPr>
              <a:tblGrid>
                <a:gridCol w="685800"/>
                <a:gridCol w="4572000"/>
                <a:gridCol w="1005840"/>
                <a:gridCol w="7315200"/>
              </a:tblGrid>
              <a:tr h="37719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77190">
                <a:tc>
                  <a:txBody>
                    <a:bodyPr/>
                    <a:lstStyle/>
                    <a:p>
                      <a:pPr>
                        <a:defRPr sz="1400">
                          <a:solidFill>
                            <a:schemeClr val="tx1"/>
                          </a:solidFill>
                        </a:defRPr>
                      </a:pPr>
                      <a:r>
                        <a:t>Q30</a:t>
                      </a:r>
                    </a:p>
                  </a:txBody>
                  <a:tcPr>
                    <a:noFill/>
                  </a:tcPr>
                </a:tc>
                <a:tc>
                  <a:txBody>
                    <a:bodyPr/>
                    <a:lstStyle/>
                    <a:p>
                      <a:pPr>
                        <a:defRPr sz="1400">
                          <a:solidFill>
                            <a:schemeClr val="tx1"/>
                          </a:solidFill>
                        </a:defRPr>
                      </a:pPr>
                      <a:r>
                        <a:t>How will you allocate and manage cloud costs? Will it be through centralized billing, or bill back or show back to application teams? What is your current practice for on-premises systems?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Q31</a:t>
                      </a:r>
                    </a:p>
                  </a:txBody>
                  <a:tcPr>
                    <a:noFill/>
                  </a:tcPr>
                </a:tc>
                <a:tc>
                  <a:txBody>
                    <a:bodyPr/>
                    <a:lstStyle/>
                    <a:p>
                      <a:pPr>
                        <a:defRPr sz="1400">
                          <a:solidFill>
                            <a:schemeClr val="tx1"/>
                          </a:solidFill>
                        </a:defRPr>
                      </a:pPr>
                      <a:r>
                        <a:t>Are your cost reporting requirements defined and documented? Do AWS run costs need to be ingested into your accounting and cost reporting systems? Are requirements for financial governance (allocation, chargeback, showback)  documented?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77190">
                <a:tc>
                  <a:txBody>
                    <a:bodyPr/>
                    <a:lstStyle/>
                    <a:p>
                      <a:pPr>
                        <a:defRPr sz="1400">
                          <a:solidFill>
                            <a:schemeClr val="tx1"/>
                          </a:solidFill>
                        </a:defRPr>
                      </a:pPr>
                      <a:r>
                        <a:t>Q32</a:t>
                      </a:r>
                    </a:p>
                  </a:txBody>
                  <a:tcPr>
                    <a:noFill/>
                  </a:tcPr>
                </a:tc>
                <a:tc>
                  <a:txBody>
                    <a:bodyPr/>
                    <a:lstStyle/>
                    <a:p>
                      <a:pPr>
                        <a:defRPr sz="1400">
                          <a:solidFill>
                            <a:schemeClr val="tx1"/>
                          </a:solidFill>
                        </a:defRPr>
                      </a:pPr>
                      <a:r>
                        <a:t>How familiar are you with the controls that need to be in place with your local team to control and monitor your AWS spend? What is your local teams’ level of cloud finance and economics experience?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6147080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296903"/>
            <a:ext cx="13954129" cy="677108"/>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3200" b="1" dirty="0"/>
              <a:t>Cloud Ready Operational Processes &amp; Run Books</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Q59</a:t>
                      </a:r>
                    </a:p>
                  </a:txBody>
                  <a:tcPr>
                    <a:noFill/>
                  </a:tcPr>
                </a:tc>
                <a:tc>
                  <a:txBody>
                    <a:bodyPr/>
                    <a:lstStyle/>
                    <a:p>
                      <a:pPr>
                        <a:defRPr sz="1400">
                          <a:solidFill>
                            <a:schemeClr val="tx1"/>
                          </a:solidFill>
                        </a:defRPr>
                      </a:pPr>
                      <a:r>
                        <a:t>Do you have well-documented operational processes and runbooks? Have your operational processes and runbooks been tailored to AWS?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Q60</a:t>
                      </a:r>
                    </a:p>
                  </a:txBody>
                  <a:tcPr>
                    <a:noFill/>
                  </a:tcPr>
                </a:tc>
                <a:tc>
                  <a:txBody>
                    <a:bodyPr/>
                    <a:lstStyle/>
                    <a:p>
                      <a:pPr>
                        <a:defRPr sz="1400">
                          <a:solidFill>
                            <a:schemeClr val="tx1"/>
                          </a:solidFill>
                        </a:defRPr>
                      </a:pPr>
                      <a:r>
                        <a:t>Do you test your operational capabilities at a regular cadence to ensure that people, processes, and tools are being tailored to AWS (chaos testing)?</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431759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CI/CD Pipelines</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Q56</a:t>
                      </a:r>
                    </a:p>
                  </a:txBody>
                  <a:tcPr>
                    <a:noFill/>
                  </a:tcPr>
                </a:tc>
                <a:tc>
                  <a:txBody>
                    <a:bodyPr/>
                    <a:lstStyle/>
                    <a:p>
                      <a:pPr>
                        <a:defRPr sz="1400">
                          <a:solidFill>
                            <a:schemeClr val="tx1"/>
                          </a:solidFill>
                        </a:defRPr>
                      </a:pPr>
                      <a:r>
                        <a:t>Do you apply CI/CD or application lifecycle management (ALM) practices across the application portfolio? Do you have DevOps capabilities and automated deployment and/or automated builds? How are these releases integrated with your change management process?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Q58</a:t>
                      </a:r>
                    </a:p>
                  </a:txBody>
                  <a:tcPr>
                    <a:noFill/>
                  </a:tcPr>
                </a:tc>
                <a:tc>
                  <a:txBody>
                    <a:bodyPr/>
                    <a:lstStyle/>
                    <a:p>
                      <a:pPr>
                        <a:defRPr sz="1400">
                          <a:solidFill>
                            <a:schemeClr val="tx1"/>
                          </a:solidFill>
                        </a:defRPr>
                      </a:pPr>
                      <a:r>
                        <a:t>Do you have automated unit or product testing across key applications or critical functionality?</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9357937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Operating Model - </a:t>
            </a:r>
            <a:r>
              <a:rPr lang="en-US" sz="4000" b="1" dirty="0"/>
              <a:t>Incident Response</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Q63</a:t>
                      </a:r>
                    </a:p>
                  </a:txBody>
                  <a:tcPr>
                    <a:noFill/>
                  </a:tcPr>
                </a:tc>
                <a:tc>
                  <a:txBody>
                    <a:bodyPr/>
                    <a:lstStyle/>
                    <a:p>
                      <a:pPr>
                        <a:defRPr sz="1400">
                          <a:solidFill>
                            <a:schemeClr val="tx1"/>
                          </a:solidFill>
                        </a:defRPr>
                      </a:pPr>
                      <a:r>
                        <a:t>Have your incident and problem management processes been adjusted for infrastructure and services running in the cloud?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8708023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Security Strategy</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2011680"/>
        </p:xfrm>
        <a:graphic>
          <a:graphicData uri="http://schemas.openxmlformats.org/drawingml/2006/table">
            <a:tbl>
              <a:tblPr firstRow="1" bandRow="1">
                <a:tableStyleId>{5C22544A-7EE6-4342-B048-85BDC9FD1C3A}</a:tableStyleId>
              </a:tblPr>
              <a:tblGrid>
                <a:gridCol w="685800"/>
                <a:gridCol w="4572000"/>
                <a:gridCol w="1005840"/>
                <a:gridCol w="7315200"/>
              </a:tblGrid>
              <a:tr h="402336">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402336">
                <a:tc>
                  <a:txBody>
                    <a:bodyPr/>
                    <a:lstStyle/>
                    <a:p>
                      <a:pPr>
                        <a:defRPr sz="1400">
                          <a:solidFill>
                            <a:schemeClr val="tx1"/>
                          </a:solidFill>
                        </a:defRPr>
                      </a:pPr>
                      <a:r>
                        <a:t>Q70</a:t>
                      </a:r>
                    </a:p>
                  </a:txBody>
                  <a:tcPr>
                    <a:noFill/>
                  </a:tcPr>
                </a:tc>
                <a:tc>
                  <a:txBody>
                    <a:bodyPr/>
                    <a:lstStyle/>
                    <a:p>
                      <a:pPr>
                        <a:defRPr sz="1400">
                          <a:solidFill>
                            <a:schemeClr val="tx1"/>
                          </a:solidFill>
                        </a:defRPr>
                      </a:pPr>
                      <a:r>
                        <a:t>Have your security policies been updated to accommodate the usage of AWS, and are they aligned to the operating model?</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Q71</a:t>
                      </a:r>
                    </a:p>
                  </a:txBody>
                  <a:tcPr>
                    <a:noFill/>
                  </a:tcPr>
                </a:tc>
                <a:tc>
                  <a:txBody>
                    <a:bodyPr/>
                    <a:lstStyle/>
                    <a:p>
                      <a:pPr>
                        <a:defRPr sz="1400">
                          <a:solidFill>
                            <a:schemeClr val="tx1"/>
                          </a:solidFill>
                        </a:defRPr>
                      </a:pPr>
                      <a:r>
                        <a:t>Has your security leadership (CISO or equivalent) signed off on AWS adoption, and have they provided input to migration/modernization discussions?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Q72</a:t>
                      </a:r>
                    </a:p>
                  </a:txBody>
                  <a:tcPr>
                    <a:noFill/>
                  </a:tcPr>
                </a:tc>
                <a:tc>
                  <a:txBody>
                    <a:bodyPr/>
                    <a:lstStyle/>
                    <a:p>
                      <a:pPr>
                        <a:defRPr sz="1400">
                          <a:solidFill>
                            <a:schemeClr val="tx1"/>
                          </a:solidFill>
                        </a:defRPr>
                      </a:pPr>
                      <a:r>
                        <a:t>Do you have clearly defined security, risk, and compliance (SRC) governance guiding principles to oversee the implementation of the cloud strategy?</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02336">
                <a:tc>
                  <a:txBody>
                    <a:bodyPr/>
                    <a:lstStyle/>
                    <a:p>
                      <a:pPr>
                        <a:defRPr sz="1400">
                          <a:solidFill>
                            <a:schemeClr val="tx1"/>
                          </a:solidFill>
                        </a:defRPr>
                      </a:pPr>
                      <a:r>
                        <a:t>Q73</a:t>
                      </a:r>
                    </a:p>
                  </a:txBody>
                  <a:tcPr>
                    <a:noFill/>
                  </a:tcPr>
                </a:tc>
                <a:tc>
                  <a:txBody>
                    <a:bodyPr/>
                    <a:lstStyle/>
                    <a:p>
                      <a:pPr>
                        <a:defRPr sz="1400">
                          <a:solidFill>
                            <a:schemeClr val="tx1"/>
                          </a:solidFill>
                        </a:defRPr>
                      </a:pPr>
                      <a:r>
                        <a:t>Has your infrastructure security approach been modified for AWS? This includes creating custom templates to configure AWS services to meet requirements, implementing security architecture patterns and security operations plays as code, crafting custom security solutions from AWS services, using patch management strategies like blue/green deployments, reducing the exposed attack surface, and validating the efficacy of deployments.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29539665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Security Reference Architecture</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Q74</a:t>
                      </a:r>
                    </a:p>
                  </a:txBody>
                  <a:tcPr>
                    <a:noFill/>
                  </a:tcPr>
                </a:tc>
                <a:tc>
                  <a:txBody>
                    <a:bodyPr/>
                    <a:lstStyle/>
                    <a:p>
                      <a:pPr>
                        <a:defRPr sz="1400">
                          <a:solidFill>
                            <a:schemeClr val="tx1"/>
                          </a:solidFill>
                        </a:defRPr>
                      </a:pPr>
                      <a:r>
                        <a:t>Have your identity and access management approach and integration been completed with AWS accounts? This would include entitlement mapping/grants/audit, secret material management, enforcing separation of duties and least privilege access, just-in-time privilege management, and reducing reliance on long-term credentials.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6876360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3rd Party Risk</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Q34</a:t>
                      </a:r>
                    </a:p>
                  </a:txBody>
                  <a:tcPr>
                    <a:noFill/>
                  </a:tcPr>
                </a:tc>
                <a:tc>
                  <a:txBody>
                    <a:bodyPr/>
                    <a:lstStyle/>
                    <a:p>
                      <a:pPr>
                        <a:defRPr sz="1400">
                          <a:solidFill>
                            <a:schemeClr val="tx1"/>
                          </a:solidFill>
                        </a:defRPr>
                      </a:pPr>
                      <a:r>
                        <a:t>Security-sensitive customers often have a third-party risk assessment process to practice continuous due diligence on their information supply chain. Do you have third-party risk certifications? If so, has AWS been verified as a supplier?</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7114490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Governance, Risk &amp; Compliance</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3017520"/>
        </p:xfrm>
        <a:graphic>
          <a:graphicData uri="http://schemas.openxmlformats.org/drawingml/2006/table">
            <a:tbl>
              <a:tblPr firstRow="1" bandRow="1">
                <a:tableStyleId>{5C22544A-7EE6-4342-B048-85BDC9FD1C3A}</a:tableStyleId>
              </a:tblPr>
              <a:tblGrid>
                <a:gridCol w="685800"/>
                <a:gridCol w="4572000"/>
                <a:gridCol w="1005840"/>
                <a:gridCol w="7315200"/>
              </a:tblGrid>
              <a:tr h="431074">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431074">
                <a:tc>
                  <a:txBody>
                    <a:bodyPr/>
                    <a:lstStyle/>
                    <a:p>
                      <a:pPr>
                        <a:defRPr sz="1400">
                          <a:solidFill>
                            <a:schemeClr val="tx1"/>
                          </a:solidFill>
                        </a:defRPr>
                      </a:pPr>
                      <a:r>
                        <a:t>Q75</a:t>
                      </a:r>
                    </a:p>
                  </a:txBody>
                  <a:tcPr>
                    <a:noFill/>
                  </a:tcPr>
                </a:tc>
                <a:tc>
                  <a:txBody>
                    <a:bodyPr/>
                    <a:lstStyle/>
                    <a:p>
                      <a:pPr>
                        <a:defRPr sz="1400">
                          <a:solidFill>
                            <a:schemeClr val="tx1"/>
                          </a:solidFill>
                        </a:defRPr>
                      </a:pPr>
                      <a:r>
                        <a:t>Control framework mapping (assurance framework and security requirements) helps you gain a better understanding of security capabilities provided by AWS. Do you understand control framework mapping and the shared responsibility model per AWS documentation and services?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Q76</a:t>
                      </a:r>
                    </a:p>
                  </a:txBody>
                  <a:tcPr>
                    <a:noFill/>
                  </a:tcPr>
                </a:tc>
                <a:tc>
                  <a:txBody>
                    <a:bodyPr/>
                    <a:lstStyle/>
                    <a:p>
                      <a:pPr>
                        <a:defRPr sz="1400">
                          <a:solidFill>
                            <a:schemeClr val="tx1"/>
                          </a:solidFill>
                        </a:defRPr>
                      </a:pPr>
                      <a:r>
                        <a:t>Do you have a risk framework such as the NIST CSF or ISO 31000:2018 that you are applying to your cloud adoption (processes associated with Security Steering Committee, IT Governance Board, etc.)? Are there any gaps in oversight?</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Q77</a:t>
                      </a:r>
                    </a:p>
                  </a:txBody>
                  <a:tcPr>
                    <a:noFill/>
                  </a:tcPr>
                </a:tc>
                <a:tc>
                  <a:txBody>
                    <a:bodyPr/>
                    <a:lstStyle/>
                    <a:p>
                      <a:pPr>
                        <a:defRPr sz="1400">
                          <a:solidFill>
                            <a:schemeClr val="tx1"/>
                          </a:solidFill>
                        </a:defRPr>
                      </a:pPr>
                      <a:r>
                        <a:t>Is the organization's business environment well understood, prioritized, and incorporating security risk to critical functions and dependencies for delivery of services?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Q78</a:t>
                      </a:r>
                    </a:p>
                  </a:txBody>
                  <a:tcPr>
                    <a:noFill/>
                  </a:tcPr>
                </a:tc>
                <a:tc>
                  <a:txBody>
                    <a:bodyPr/>
                    <a:lstStyle/>
                    <a:p>
                      <a:pPr>
                        <a:defRPr sz="1400">
                          <a:solidFill>
                            <a:schemeClr val="tx1"/>
                          </a:solidFill>
                        </a:defRPr>
                      </a:pPr>
                      <a:r>
                        <a:t>Are you able to adjust the SRC risk appetite and SRC risk tolerance levels for your cloud initiative(s) to meet your business goals? Can you share the methodology for adjusting risk tolerance?</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4">
                <a:tc>
                  <a:txBody>
                    <a:bodyPr/>
                    <a:lstStyle/>
                    <a:p>
                      <a:pPr>
                        <a:defRPr sz="1400">
                          <a:solidFill>
                            <a:schemeClr val="tx1"/>
                          </a:solidFill>
                        </a:defRPr>
                      </a:pPr>
                      <a:r>
                        <a:t>Q79</a:t>
                      </a:r>
                    </a:p>
                  </a:txBody>
                  <a:tcPr>
                    <a:noFill/>
                  </a:tcPr>
                </a:tc>
                <a:tc>
                  <a:txBody>
                    <a:bodyPr/>
                    <a:lstStyle/>
                    <a:p>
                      <a:pPr>
                        <a:defRPr sz="1400">
                          <a:solidFill>
                            <a:schemeClr val="tx1"/>
                          </a:solidFill>
                        </a:defRPr>
                      </a:pPr>
                      <a:r>
                        <a:t>Do you currently leverage a framework/methodology to evaluate criteria such as policy, regulation, and performance to make decisions?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431076">
                <a:tc>
                  <a:txBody>
                    <a:bodyPr/>
                    <a:lstStyle/>
                    <a:p>
                      <a:pPr>
                        <a:defRPr sz="1400">
                          <a:solidFill>
                            <a:schemeClr val="tx1"/>
                          </a:solidFill>
                        </a:defRPr>
                      </a:pPr>
                      <a:r>
                        <a:t>Q80</a:t>
                      </a:r>
                    </a:p>
                  </a:txBody>
                  <a:tcPr>
                    <a:noFill/>
                  </a:tcPr>
                </a:tc>
                <a:tc>
                  <a:txBody>
                    <a:bodyPr/>
                    <a:lstStyle/>
                    <a:p>
                      <a:pPr>
                        <a:defRPr sz="1400">
                          <a:solidFill>
                            <a:schemeClr val="tx1"/>
                          </a:solidFill>
                        </a:defRPr>
                      </a:pPr>
                      <a:r>
                        <a:t>Are their data governance policies and practices in place? What are the relevant regulations or compliance requirements (for example, GDPR, HIPAA, PCI-DSS)?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41612400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Logging &amp; Monitoring</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Q67</a:t>
                      </a:r>
                    </a:p>
                  </a:txBody>
                  <a:tcPr>
                    <a:noFill/>
                  </a:tcPr>
                </a:tc>
                <a:tc>
                  <a:txBody>
                    <a:bodyPr/>
                    <a:lstStyle/>
                    <a:p>
                      <a:pPr>
                        <a:defRPr sz="1400">
                          <a:solidFill>
                            <a:schemeClr val="tx1"/>
                          </a:solidFill>
                        </a:defRPr>
                      </a:pPr>
                      <a:r>
                        <a:t>Do your performance and operational health dashboards include cloud-based infrastructure and applications? Which tools or capabilities exist for logging, aggregating logs, and log analysis?  Which tools are used for monitoring and performance management? Do you utilize any synthetic transactions and monitoring capabilities?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0529531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Lifecycle Security Capabilities</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1005840"/>
        </p:xfrm>
        <a:graphic>
          <a:graphicData uri="http://schemas.openxmlformats.org/drawingml/2006/table">
            <a:tbl>
              <a:tblPr firstRow="1" bandRow="1">
                <a:tableStyleId>{5C22544A-7EE6-4342-B048-85BDC9FD1C3A}</a:tableStyleId>
              </a:tblPr>
              <a:tblGrid>
                <a:gridCol w="685800"/>
                <a:gridCol w="4572000"/>
                <a:gridCol w="1005840"/>
                <a:gridCol w="7315200"/>
              </a:tblGrid>
              <a:tr h="33528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335280">
                <a:tc>
                  <a:txBody>
                    <a:bodyPr/>
                    <a:lstStyle/>
                    <a:p>
                      <a:pPr>
                        <a:defRPr sz="1400">
                          <a:solidFill>
                            <a:schemeClr val="tx1"/>
                          </a:solidFill>
                        </a:defRPr>
                      </a:pPr>
                      <a:r>
                        <a:t>Q81</a:t>
                      </a:r>
                    </a:p>
                  </a:txBody>
                  <a:tcPr>
                    <a:noFill/>
                  </a:tcPr>
                </a:tc>
                <a:tc>
                  <a:txBody>
                    <a:bodyPr/>
                    <a:lstStyle/>
                    <a:p>
                      <a:pPr>
                        <a:defRPr sz="1400">
                          <a:solidFill>
                            <a:schemeClr val="tx1"/>
                          </a:solidFill>
                        </a:defRPr>
                      </a:pPr>
                      <a:r>
                        <a:t>How do you currently control ingress/egress from your corporate network, and do you use any network appliances?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r h="335280">
                <a:tc>
                  <a:txBody>
                    <a:bodyPr/>
                    <a:lstStyle/>
                    <a:p>
                      <a:pPr>
                        <a:defRPr sz="1400">
                          <a:solidFill>
                            <a:schemeClr val="tx1"/>
                          </a:solidFill>
                        </a:defRPr>
                      </a:pPr>
                      <a:r>
                        <a:t>Q82</a:t>
                      </a:r>
                    </a:p>
                  </a:txBody>
                  <a:tcPr>
                    <a:noFill/>
                  </a:tcPr>
                </a:tc>
                <a:tc>
                  <a:txBody>
                    <a:bodyPr/>
                    <a:lstStyle/>
                    <a:p>
                      <a:pPr>
                        <a:defRPr sz="1400">
                          <a:solidFill>
                            <a:schemeClr val="tx1"/>
                          </a:solidFill>
                        </a:defRPr>
                      </a:pPr>
                      <a:r>
                        <a:t>Have you determined how to leverage the encryption in transit and encryption at rest capabilities of  AWS? Will AES-256 satisfy your encryption at rest requirements?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7224168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DevSecOps Principles</a:t>
            </a:r>
            <a:endParaRPr lang="en-US" sz="3800" b="1" dirty="0">
              <a:cs typeface="Calibri" pitchFamily="34" charset="0"/>
            </a:endParaRP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Q83</a:t>
                      </a:r>
                    </a:p>
                  </a:txBody>
                  <a:tcPr>
                    <a:noFill/>
                  </a:tcPr>
                </a:tc>
                <a:tc>
                  <a:txBody>
                    <a:bodyPr/>
                    <a:lstStyle/>
                    <a:p>
                      <a:pPr>
                        <a:defRPr sz="1400">
                          <a:solidFill>
                            <a:schemeClr val="tx1"/>
                          </a:solidFill>
                        </a:defRPr>
                      </a:pPr>
                      <a:r>
                        <a:t>Are your security capabilities automatically implemented through automation and DevOps capabilities?</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16077698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AA76235A-C388-EF4F-BA77-8A4C3A8ACAE3}"/>
              </a:ext>
            </a:extLst>
          </p:cNvPr>
          <p:cNvSpPr txBox="1"/>
          <p:nvPr/>
        </p:nvSpPr>
        <p:spPr>
          <a:xfrm>
            <a:off x="426017" y="98268"/>
            <a:ext cx="13954129" cy="707886"/>
          </a:xfrm>
          <a:prstGeom prst="rect">
            <a:avLst/>
          </a:prstGeom>
          <a:noFill/>
        </p:spPr>
        <p:txBody>
          <a:bodyPr wrap="square" rtlCol="0">
            <a:spAutoFit/>
          </a:bodyPr>
          <a:lstStyle/>
          <a:p>
            <a:r>
              <a:rPr lang="en-US" sz="3800" b="1" dirty="0">
                <a:ea typeface="Amazon Ember" panose="020B0603020204020204" pitchFamily="34" charset="0"/>
                <a:cs typeface="Amazon Ember" panose="020B0603020204020204" pitchFamily="34" charset="0"/>
              </a:rPr>
              <a:t>Security &amp; Compliance - </a:t>
            </a:r>
            <a:r>
              <a:rPr lang="en-US" sz="4000" b="1" dirty="0"/>
              <a:t>Security Operations Playbook</a:t>
            </a:r>
          </a:p>
        </p:txBody>
      </p:sp>
      <p:graphicFrame>
        <p:nvGraphicFramePr>
          <p:cNvPr id="53" name="Table 52"/>
          <p:cNvGraphicFramePr>
            <a:graphicFrameLocks noGrp="1"/>
          </p:cNvGraphicFramePr>
          <p:nvPr/>
        </p:nvGraphicFramePr>
        <p:xfrm>
          <a:off x="580860" y="1330485"/>
          <a:ext cx="13578840" cy="502920"/>
        </p:xfrm>
        <a:graphic>
          <a:graphicData uri="http://schemas.openxmlformats.org/drawingml/2006/table">
            <a:tbl>
              <a:tblPr firstRow="1" bandRow="1">
                <a:tableStyleId>{5C22544A-7EE6-4342-B048-85BDC9FD1C3A}</a:tableStyleId>
              </a:tblPr>
              <a:tblGrid>
                <a:gridCol w="685800"/>
                <a:gridCol w="4572000"/>
                <a:gridCol w="1005840"/>
                <a:gridCol w="7315200"/>
              </a:tblGrid>
              <a:tr h="251460">
                <a:tc>
                  <a:txBody>
                    <a:bodyPr/>
                    <a:lstStyle/>
                    <a:p>
                      <a:pPr>
                        <a:defRPr sz="1400">
                          <a:solidFill>
                            <a:schemeClr val="accent1"/>
                          </a:solidFill>
                        </a:defRPr>
                      </a:pPr>
                      <a:r>
                        <a:t>#</a:t>
                      </a:r>
                    </a:p>
                  </a:txBody>
                  <a:tcPr>
                    <a:noFill/>
                  </a:tcPr>
                </a:tc>
                <a:tc>
                  <a:txBody>
                    <a:bodyPr/>
                    <a:lstStyle/>
                    <a:p>
                      <a:pPr>
                        <a:defRPr sz="1400">
                          <a:solidFill>
                            <a:schemeClr val="accent1"/>
                          </a:solidFill>
                        </a:defRPr>
                      </a:pPr>
                      <a:r>
                        <a:t>Question</a:t>
                      </a:r>
                    </a:p>
                  </a:txBody>
                  <a:tcPr>
                    <a:noFill/>
                  </a:tcPr>
                </a:tc>
                <a:tc>
                  <a:txBody>
                    <a:bodyPr/>
                    <a:lstStyle/>
                    <a:p>
                      <a:pPr>
                        <a:defRPr sz="1400">
                          <a:solidFill>
                            <a:schemeClr val="accent1"/>
                          </a:solidFill>
                        </a:defRPr>
                      </a:pPr>
                      <a:r>
                        <a:t>Response</a:t>
                      </a:r>
                    </a:p>
                  </a:txBody>
                  <a:tcPr>
                    <a:noFill/>
                  </a:tcPr>
                </a:tc>
                <a:tc>
                  <a:txBody>
                    <a:bodyPr/>
                    <a:lstStyle/>
                    <a:p>
                      <a:pPr>
                        <a:defRPr sz="1400">
                          <a:solidFill>
                            <a:schemeClr val="accent1"/>
                          </a:solidFill>
                        </a:defRPr>
                      </a:pPr>
                      <a:r>
                        <a:t>Comments</a:t>
                      </a:r>
                    </a:p>
                  </a:txBody>
                  <a:tcPr>
                    <a:noFill/>
                  </a:tcPr>
                </a:tc>
              </a:tr>
              <a:tr h="251460">
                <a:tc>
                  <a:txBody>
                    <a:bodyPr/>
                    <a:lstStyle/>
                    <a:p>
                      <a:pPr>
                        <a:defRPr sz="1400">
                          <a:solidFill>
                            <a:schemeClr val="tx1"/>
                          </a:solidFill>
                        </a:defRPr>
                      </a:pPr>
                      <a:r>
                        <a:t>Q84</a:t>
                      </a:r>
                    </a:p>
                  </a:txBody>
                  <a:tcPr>
                    <a:noFill/>
                  </a:tcPr>
                </a:tc>
                <a:tc>
                  <a:txBody>
                    <a:bodyPr/>
                    <a:lstStyle/>
                    <a:p>
                      <a:pPr>
                        <a:defRPr sz="1400">
                          <a:solidFill>
                            <a:schemeClr val="tx1"/>
                          </a:solidFill>
                        </a:defRPr>
                      </a:pPr>
                      <a:r>
                        <a:t>Are your cloud security operations and processes tested?</a:t>
                      </a:r>
                    </a:p>
                  </a:txBody>
                  <a:tcPr>
                    <a:noFill/>
                  </a:tcPr>
                </a:tc>
                <a:tc>
                  <a:txBody>
                    <a:bodyPr/>
                    <a:lstStyle/>
                    <a:p>
                      <a:pPr>
                        <a:defRPr sz="1400">
                          <a:solidFill>
                            <a:schemeClr val="tx1"/>
                          </a:solidFill>
                        </a:defRPr>
                      </a:pPr>
                      <a:r>
                        <a:t/>
                      </a:r>
                    </a:p>
                  </a:txBody>
                  <a:tcPr>
                    <a:noFill/>
                  </a:tcPr>
                </a:tc>
                <a:tc>
                  <a:txBody>
                    <a:bodyPr/>
                    <a:lstStyle/>
                    <a:p>
                      <a:pPr>
                        <a:defRPr sz="1400">
                          <a:solidFill>
                            <a:schemeClr val="tx1"/>
                          </a:solidFill>
                        </a:defRPr>
                      </a:pPr>
                      <a:r>
                        <a:t/>
                      </a:r>
                    </a:p>
                  </a:txBody>
                  <a:tcPr>
                    <a:noFill/>
                  </a:tcPr>
                </a:tc>
              </a:tr>
            </a:tbl>
          </a:graphicData>
        </a:graphic>
      </p:graphicFrame>
    </p:spTree>
    <p:extLst>
      <p:ext uri="{BB962C8B-B14F-4D97-AF65-F5344CB8AC3E}">
        <p14:creationId xmlns:p14="http://schemas.microsoft.com/office/powerpoint/2010/main" val="34350374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16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WS Confidential Dark">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55" id="{7742EFB1-5D65-BC43-8C5A-52FA295D9C6D}" vid="{5211384F-8CF6-A242-84FF-8111C087FB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597C89A-FD0C-431E-81F6-90225B937683}">
  <ds:schemaRefs>
    <ds:schemaRef ds:uri="http://www.w3.org/XML/1998/namespace"/>
    <ds:schemaRef ds:uri="http://schemas.microsoft.com/office/2006/documentManagement/types"/>
    <ds:schemaRef ds:uri="http://schemas.openxmlformats.org/package/2006/metadata/core-properties"/>
    <ds:schemaRef ds:uri="http://purl.org/dc/terms/"/>
    <ds:schemaRef ds:uri="http://schemas.microsoft.com/office/2006/metadata/properties"/>
    <ds:schemaRef ds:uri="http://purl.org/dc/elements/1.1/"/>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705B35A6-8B52-46A5-AE45-B98C6459DC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96689</TotalTime>
  <Words>9040</Words>
  <Application>Microsoft Macintosh PowerPoint</Application>
  <PresentationFormat>Custom</PresentationFormat>
  <Paragraphs>1250</Paragraphs>
  <Slides>90</Slides>
  <Notes>76</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90</vt:i4>
      </vt:variant>
    </vt:vector>
  </HeadingPairs>
  <TitlesOfParts>
    <vt:vector size="101" baseType="lpstr">
      <vt:lpstr>Ember</vt:lpstr>
      <vt:lpstr>Amazon Ember</vt:lpstr>
      <vt:lpstr>Amazon Ember Display</vt:lpstr>
      <vt:lpstr>Amazon Ember Light</vt:lpstr>
      <vt:lpstr>Amazon Ember Medium</vt:lpstr>
      <vt:lpstr>Amazon Ember Regular</vt:lpstr>
      <vt:lpstr>Arial</vt:lpstr>
      <vt:lpstr>Calibri</vt:lpstr>
      <vt:lpstr>Helvetica Neue Medium</vt:lpstr>
      <vt:lpstr>Wingdings</vt:lpstr>
      <vt:lpstr>AWS Confidential Dark</vt:lpstr>
      <vt:lpstr>Guidance for using this deck</vt:lpstr>
      <vt:lpstr>Migration Readiness Assessment (MRA) </vt:lpstr>
      <vt:lpstr>PowerPoint Presentation</vt:lpstr>
      <vt:lpstr>PowerPoint Presentation</vt:lpstr>
      <vt:lpstr>PowerPoint Presentation</vt:lpstr>
      <vt:lpstr>MRA Workstream Summary</vt:lpstr>
      <vt:lpstr>MRA Readiness Scores</vt:lpstr>
      <vt:lpstr>MRA Readiness Scores</vt:lpstr>
      <vt:lpstr>MRA Areas of Focus</vt:lpstr>
      <vt:lpstr>MRA Areas of Focus</vt:lpstr>
      <vt:lpstr>PowerPoint Presentation</vt:lpstr>
      <vt:lpstr>Migration Readiness Assessment (MRA) </vt:lpstr>
      <vt:lpstr>Agenda</vt:lpstr>
      <vt:lpstr>MRA Executive Summary</vt:lpstr>
      <vt:lpstr>MRA Activity Outputs</vt:lpstr>
      <vt:lpstr>MRA Activity Outputs</vt:lpstr>
      <vt:lpstr>MRA Readiness Scores I</vt:lpstr>
      <vt:lpstr>MRA Readiness Scores II</vt:lpstr>
      <vt:lpstr>PowerPoint Presentation</vt:lpstr>
      <vt:lpstr>MRA Observations &amp; Actions – All Workstreams</vt:lpstr>
      <vt:lpstr>MRA Prioritized List of Actions</vt:lpstr>
      <vt:lpstr>Post-MRA Cloud Migration Journey</vt:lpstr>
      <vt:lpstr>Agenda</vt:lpstr>
      <vt:lpstr>Post-MRA Cloud Migration Journey – Assess Phase</vt:lpstr>
      <vt:lpstr>Post-MRA Cloud Migration Journey – Assess Phase</vt:lpstr>
      <vt:lpstr>Post-MRA Cloud Migration Journey – Assess Phase</vt:lpstr>
      <vt:lpstr>Agenda</vt:lpstr>
      <vt:lpstr>Mobilize Overview</vt:lpstr>
      <vt:lpstr>Post-MRA Cloud Migration Journey – Mobilize Phase</vt:lpstr>
      <vt:lpstr>Post-MRA Cloud Migration Journey – Mobilize Phase</vt:lpstr>
      <vt:lpstr>Mobilize Cost Breakdown by Scope</vt:lpstr>
      <vt:lpstr>Mobilize Cost Breakdown by Role </vt:lpstr>
      <vt:lpstr>Agenda</vt:lpstr>
      <vt:lpstr>Next Steps</vt:lpstr>
      <vt:lpstr>PowerPoint Presentation</vt:lpstr>
      <vt:lpstr>PowerPoint Presentation</vt:lpstr>
      <vt:lpstr>Quick 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MRA readout (template)</dc:title>
  <dc:creator/>
  <cp:lastModifiedBy/>
  <cp:revision>2661</cp:revision>
  <dcterms:created xsi:type="dcterms:W3CDTF">2016-06-17T18:22:10Z</dcterms:created>
  <dcterms:modified xsi:type="dcterms:W3CDTF">2024-02-02T00:59:17Z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